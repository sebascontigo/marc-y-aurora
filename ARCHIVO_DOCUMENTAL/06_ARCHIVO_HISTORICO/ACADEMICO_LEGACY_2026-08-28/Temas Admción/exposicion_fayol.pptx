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1" r:id="rId19"/>
    <p:sldId id="282" r:id="rId20"/>
    <p:sldId id="283" r:id="rId21"/>
    <p:sldId id="284" r:id="rId22"/>
    <p:sldId id="275" r:id="rId23"/>
    <p:sldId id="276" r:id="rId24"/>
    <p:sldId id="277" r:id="rId25"/>
    <p:sldId id="278" r:id="rId26"/>
    <p:sldId id="316" r:id="rId27"/>
    <p:sldId id="279" r:id="rId28"/>
    <p:sldId id="280" r:id="rId29"/>
    <p:sldId id="285" r:id="rId30"/>
    <p:sldId id="286" r:id="rId31"/>
    <p:sldId id="287" r:id="rId32"/>
    <p:sldId id="288" r:id="rId33"/>
    <p:sldId id="289" r:id="rId34"/>
    <p:sldId id="317" r:id="rId35"/>
    <p:sldId id="290" r:id="rId36"/>
    <p:sldId id="292" r:id="rId37"/>
    <p:sldId id="293" r:id="rId38"/>
    <p:sldId id="294" r:id="rId39"/>
    <p:sldId id="295" r:id="rId40"/>
    <p:sldId id="296" r:id="rId41"/>
    <p:sldId id="297" r:id="rId42"/>
    <p:sldId id="313" r:id="rId43"/>
    <p:sldId id="299" r:id="rId44"/>
    <p:sldId id="315" r:id="rId45"/>
    <p:sldId id="311" r:id="rId46"/>
    <p:sldId id="312" r:id="rId47"/>
    <p:sldId id="318" r:id="rId48"/>
    <p:sldId id="319" r:id="rId49"/>
    <p:sldId id="300" r:id="rId50"/>
    <p:sldId id="309" r:id="rId51"/>
    <p:sldId id="310" r:id="rId52"/>
    <p:sldId id="314" r:id="rId53"/>
    <p:sldId id="301" r:id="rId54"/>
    <p:sldId id="302" r:id="rId55"/>
    <p:sldId id="303" r:id="rId5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9CCE7-B04F-4B3B-B0E9-068BE59E2608}" type="doc">
      <dgm:prSet loTypeId="urn:microsoft.com/office/officeart/2005/8/layout/cycle3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CO"/>
        </a:p>
      </dgm:t>
    </dgm:pt>
    <dgm:pt modelId="{6230ECFC-6ECB-4617-A136-B361164763D4}">
      <dgm:prSet phldrT="[Texto]"/>
      <dgm:spPr/>
      <dgm:t>
        <a:bodyPr/>
        <a:lstStyle/>
        <a:p>
          <a:r>
            <a:rPr lang="es-CO" dirty="0" smtClean="0"/>
            <a:t>PREVEER </a:t>
          </a:r>
          <a:r>
            <a:rPr lang="es-CO" dirty="0" smtClean="0"/>
            <a:t>O</a:t>
          </a:r>
        </a:p>
        <a:p>
          <a:r>
            <a:rPr lang="es-CO" dirty="0" smtClean="0"/>
            <a:t>PLANEAR </a:t>
          </a:r>
          <a:endParaRPr lang="es-CO" dirty="0"/>
        </a:p>
      </dgm:t>
    </dgm:pt>
    <dgm:pt modelId="{5E15BA72-B4D4-410E-A251-747DD9A004D1}" type="parTrans" cxnId="{69E4CD99-90A0-43A8-86AD-15BBF2FC63E0}">
      <dgm:prSet/>
      <dgm:spPr/>
      <dgm:t>
        <a:bodyPr/>
        <a:lstStyle/>
        <a:p>
          <a:endParaRPr lang="es-CO"/>
        </a:p>
      </dgm:t>
    </dgm:pt>
    <dgm:pt modelId="{3741E381-2A4C-4116-8602-4837A046C10C}" type="sibTrans" cxnId="{69E4CD99-90A0-43A8-86AD-15BBF2FC63E0}">
      <dgm:prSet/>
      <dgm:spPr/>
      <dgm:t>
        <a:bodyPr/>
        <a:lstStyle/>
        <a:p>
          <a:endParaRPr lang="es-CO"/>
        </a:p>
      </dgm:t>
    </dgm:pt>
    <dgm:pt modelId="{30BCB704-52A0-4778-89E1-C5731FB3691A}">
      <dgm:prSet phldrT="[Texto]"/>
      <dgm:spPr/>
      <dgm:t>
        <a:bodyPr/>
        <a:lstStyle/>
        <a:p>
          <a:r>
            <a:rPr lang="es-CO" dirty="0" smtClean="0"/>
            <a:t>DIRIRGIR</a:t>
          </a:r>
          <a:endParaRPr lang="es-CO" dirty="0"/>
        </a:p>
      </dgm:t>
    </dgm:pt>
    <dgm:pt modelId="{8FA4B5C9-2C89-43EB-B5AE-7865D14FB5DE}" type="parTrans" cxnId="{3A13E889-FA62-4A89-8B21-DE9EC45D4C94}">
      <dgm:prSet/>
      <dgm:spPr/>
      <dgm:t>
        <a:bodyPr/>
        <a:lstStyle/>
        <a:p>
          <a:endParaRPr lang="es-CO"/>
        </a:p>
      </dgm:t>
    </dgm:pt>
    <dgm:pt modelId="{54FBCCD6-2B5F-462D-9463-04D9070E3958}" type="sibTrans" cxnId="{3A13E889-FA62-4A89-8B21-DE9EC45D4C94}">
      <dgm:prSet/>
      <dgm:spPr/>
      <dgm:t>
        <a:bodyPr/>
        <a:lstStyle/>
        <a:p>
          <a:endParaRPr lang="es-CO"/>
        </a:p>
      </dgm:t>
    </dgm:pt>
    <dgm:pt modelId="{D353BE87-B860-454B-AB58-8D1C5BED87C9}">
      <dgm:prSet phldrT="[Texto]"/>
      <dgm:spPr/>
      <dgm:t>
        <a:bodyPr/>
        <a:lstStyle/>
        <a:p>
          <a:r>
            <a:rPr lang="es-CO" dirty="0" smtClean="0"/>
            <a:t>CONTROLAR</a:t>
          </a:r>
          <a:endParaRPr lang="es-CO" dirty="0"/>
        </a:p>
      </dgm:t>
    </dgm:pt>
    <dgm:pt modelId="{293405F9-694A-42AC-B0D5-360EF4852CCF}" type="parTrans" cxnId="{B81C5A22-008C-40BD-AB86-DAE77ABEBF4F}">
      <dgm:prSet/>
      <dgm:spPr/>
      <dgm:t>
        <a:bodyPr/>
        <a:lstStyle/>
        <a:p>
          <a:endParaRPr lang="es-CO"/>
        </a:p>
      </dgm:t>
    </dgm:pt>
    <dgm:pt modelId="{4FF28119-9EC2-449F-B47E-B0E7A12C8B6B}" type="sibTrans" cxnId="{B81C5A22-008C-40BD-AB86-DAE77ABEBF4F}">
      <dgm:prSet/>
      <dgm:spPr/>
      <dgm:t>
        <a:bodyPr/>
        <a:lstStyle/>
        <a:p>
          <a:endParaRPr lang="es-CO"/>
        </a:p>
      </dgm:t>
    </dgm:pt>
    <dgm:pt modelId="{F987AFD5-46D3-4F0D-9FF6-C2A473B31E99}">
      <dgm:prSet phldrT="[Texto]"/>
      <dgm:spPr/>
      <dgm:t>
        <a:bodyPr/>
        <a:lstStyle/>
        <a:p>
          <a:r>
            <a:rPr lang="es-CO" dirty="0" smtClean="0"/>
            <a:t>COORDINAR</a:t>
          </a:r>
          <a:endParaRPr lang="es-CO" dirty="0"/>
        </a:p>
      </dgm:t>
    </dgm:pt>
    <dgm:pt modelId="{6A3F7631-4F08-433C-AFC0-FA3E38387ECC}" type="parTrans" cxnId="{F4F26229-55F1-4C70-83FE-68F0AF870BFC}">
      <dgm:prSet/>
      <dgm:spPr/>
      <dgm:t>
        <a:bodyPr/>
        <a:lstStyle/>
        <a:p>
          <a:endParaRPr lang="es-CO"/>
        </a:p>
      </dgm:t>
    </dgm:pt>
    <dgm:pt modelId="{624D71A9-A4AE-44E6-BE30-64E6A84C3941}" type="sibTrans" cxnId="{F4F26229-55F1-4C70-83FE-68F0AF870BFC}">
      <dgm:prSet/>
      <dgm:spPr/>
      <dgm:t>
        <a:bodyPr/>
        <a:lstStyle/>
        <a:p>
          <a:endParaRPr lang="es-CO"/>
        </a:p>
      </dgm:t>
    </dgm:pt>
    <dgm:pt modelId="{A9AF64C6-4A85-44BD-B53C-A5128F3799A0}">
      <dgm:prSet phldrT="[Texto]"/>
      <dgm:spPr/>
      <dgm:t>
        <a:bodyPr/>
        <a:lstStyle/>
        <a:p>
          <a:r>
            <a:rPr lang="es-CO" dirty="0" smtClean="0"/>
            <a:t>ORGANIZAR</a:t>
          </a:r>
          <a:endParaRPr lang="es-CO" dirty="0"/>
        </a:p>
      </dgm:t>
    </dgm:pt>
    <dgm:pt modelId="{02F73C53-6F8A-4E33-A93C-CAEB6BC3A327}" type="parTrans" cxnId="{BE5D9E50-19BE-411E-A634-8E5303BD66FC}">
      <dgm:prSet/>
      <dgm:spPr/>
      <dgm:t>
        <a:bodyPr/>
        <a:lstStyle/>
        <a:p>
          <a:endParaRPr lang="es-CO"/>
        </a:p>
      </dgm:t>
    </dgm:pt>
    <dgm:pt modelId="{1EC5D41A-CF25-4D9E-8C6A-99E60B608667}" type="sibTrans" cxnId="{BE5D9E50-19BE-411E-A634-8E5303BD66FC}">
      <dgm:prSet/>
      <dgm:spPr/>
      <dgm:t>
        <a:bodyPr/>
        <a:lstStyle/>
        <a:p>
          <a:endParaRPr lang="es-CO"/>
        </a:p>
      </dgm:t>
    </dgm:pt>
    <dgm:pt modelId="{233E1A1B-B85F-4945-B480-06663154081F}" type="pres">
      <dgm:prSet presAssocID="{7E09CCE7-B04F-4B3B-B0E9-068BE59E260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2C2CFC4F-2A8D-495B-90EA-37738E9962A2}" type="pres">
      <dgm:prSet presAssocID="{7E09CCE7-B04F-4B3B-B0E9-068BE59E2608}" presName="cycle" presStyleCnt="0"/>
      <dgm:spPr/>
    </dgm:pt>
    <dgm:pt modelId="{8903DBA7-84D4-4EFF-8FC0-663DA8ACFC26}" type="pres">
      <dgm:prSet presAssocID="{6230ECFC-6ECB-4617-A136-B361164763D4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8D883B56-2461-435C-B3CB-170865A56C85}" type="pres">
      <dgm:prSet presAssocID="{3741E381-2A4C-4116-8602-4837A046C10C}" presName="sibTransFirstNode" presStyleLbl="bgShp" presStyleIdx="0" presStyleCnt="1"/>
      <dgm:spPr/>
      <dgm:t>
        <a:bodyPr/>
        <a:lstStyle/>
        <a:p>
          <a:endParaRPr lang="es-CO"/>
        </a:p>
      </dgm:t>
    </dgm:pt>
    <dgm:pt modelId="{D3DB5674-0680-4E25-9E59-DD38EF78198A}" type="pres">
      <dgm:prSet presAssocID="{30BCB704-52A0-4778-89E1-C5731FB3691A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250785D2-0C14-4C2D-B5EC-92F3A2AF6C13}" type="pres">
      <dgm:prSet presAssocID="{D353BE87-B860-454B-AB58-8D1C5BED87C9}" presName="nodeFollowingNodes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BDD8A58-8A0E-45BF-83C7-C24EF0E4F7E8}" type="pres">
      <dgm:prSet presAssocID="{F987AFD5-46D3-4F0D-9FF6-C2A473B31E99}" presName="nodeFollowingNodes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8DD772C6-71ED-4102-B1BB-547F88330775}" type="pres">
      <dgm:prSet presAssocID="{A9AF64C6-4A85-44BD-B53C-A5128F3799A0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B81C5A22-008C-40BD-AB86-DAE77ABEBF4F}" srcId="{7E09CCE7-B04F-4B3B-B0E9-068BE59E2608}" destId="{D353BE87-B860-454B-AB58-8D1C5BED87C9}" srcOrd="2" destOrd="0" parTransId="{293405F9-694A-42AC-B0D5-360EF4852CCF}" sibTransId="{4FF28119-9EC2-449F-B47E-B0E7A12C8B6B}"/>
    <dgm:cxn modelId="{855A3841-0354-4B3B-B0CC-001BDF72834B}" type="presOf" srcId="{D353BE87-B860-454B-AB58-8D1C5BED87C9}" destId="{250785D2-0C14-4C2D-B5EC-92F3A2AF6C13}" srcOrd="0" destOrd="0" presId="urn:microsoft.com/office/officeart/2005/8/layout/cycle3"/>
    <dgm:cxn modelId="{5DBC2D14-97E6-40B0-BC9F-985C60E60C64}" type="presOf" srcId="{6230ECFC-6ECB-4617-A136-B361164763D4}" destId="{8903DBA7-84D4-4EFF-8FC0-663DA8ACFC26}" srcOrd="0" destOrd="0" presId="urn:microsoft.com/office/officeart/2005/8/layout/cycle3"/>
    <dgm:cxn modelId="{BE5D9E50-19BE-411E-A634-8E5303BD66FC}" srcId="{7E09CCE7-B04F-4B3B-B0E9-068BE59E2608}" destId="{A9AF64C6-4A85-44BD-B53C-A5128F3799A0}" srcOrd="4" destOrd="0" parTransId="{02F73C53-6F8A-4E33-A93C-CAEB6BC3A327}" sibTransId="{1EC5D41A-CF25-4D9E-8C6A-99E60B608667}"/>
    <dgm:cxn modelId="{0BF5D4EA-76D4-4778-939B-B3BA8FD6A2A4}" type="presOf" srcId="{30BCB704-52A0-4778-89E1-C5731FB3691A}" destId="{D3DB5674-0680-4E25-9E59-DD38EF78198A}" srcOrd="0" destOrd="0" presId="urn:microsoft.com/office/officeart/2005/8/layout/cycle3"/>
    <dgm:cxn modelId="{F4F26229-55F1-4C70-83FE-68F0AF870BFC}" srcId="{7E09CCE7-B04F-4B3B-B0E9-068BE59E2608}" destId="{F987AFD5-46D3-4F0D-9FF6-C2A473B31E99}" srcOrd="3" destOrd="0" parTransId="{6A3F7631-4F08-433C-AFC0-FA3E38387ECC}" sibTransId="{624D71A9-A4AE-44E6-BE30-64E6A84C3941}"/>
    <dgm:cxn modelId="{5C5C2868-3BF6-4F36-9C33-0CC62C609513}" type="presOf" srcId="{3741E381-2A4C-4116-8602-4837A046C10C}" destId="{8D883B56-2461-435C-B3CB-170865A56C85}" srcOrd="0" destOrd="0" presId="urn:microsoft.com/office/officeart/2005/8/layout/cycle3"/>
    <dgm:cxn modelId="{3A13E889-FA62-4A89-8B21-DE9EC45D4C94}" srcId="{7E09CCE7-B04F-4B3B-B0E9-068BE59E2608}" destId="{30BCB704-52A0-4778-89E1-C5731FB3691A}" srcOrd="1" destOrd="0" parTransId="{8FA4B5C9-2C89-43EB-B5AE-7865D14FB5DE}" sibTransId="{54FBCCD6-2B5F-462D-9463-04D9070E3958}"/>
    <dgm:cxn modelId="{51719501-D307-43F3-89C2-DE29E62BB0C7}" type="presOf" srcId="{A9AF64C6-4A85-44BD-B53C-A5128F3799A0}" destId="{8DD772C6-71ED-4102-B1BB-547F88330775}" srcOrd="0" destOrd="0" presId="urn:microsoft.com/office/officeart/2005/8/layout/cycle3"/>
    <dgm:cxn modelId="{D489862B-75B4-4F32-B938-4ADA8A9292ED}" type="presOf" srcId="{F987AFD5-46D3-4F0D-9FF6-C2A473B31E99}" destId="{CBDD8A58-8A0E-45BF-83C7-C24EF0E4F7E8}" srcOrd="0" destOrd="0" presId="urn:microsoft.com/office/officeart/2005/8/layout/cycle3"/>
    <dgm:cxn modelId="{69E4CD99-90A0-43A8-86AD-15BBF2FC63E0}" srcId="{7E09CCE7-B04F-4B3B-B0E9-068BE59E2608}" destId="{6230ECFC-6ECB-4617-A136-B361164763D4}" srcOrd="0" destOrd="0" parTransId="{5E15BA72-B4D4-410E-A251-747DD9A004D1}" sibTransId="{3741E381-2A4C-4116-8602-4837A046C10C}"/>
    <dgm:cxn modelId="{FEBF72D1-3295-4519-AB3A-E5A31F516553}" type="presOf" srcId="{7E09CCE7-B04F-4B3B-B0E9-068BE59E2608}" destId="{233E1A1B-B85F-4945-B480-06663154081F}" srcOrd="0" destOrd="0" presId="urn:microsoft.com/office/officeart/2005/8/layout/cycle3"/>
    <dgm:cxn modelId="{167EFE97-5DA4-43DF-B96E-7B25FEF481BE}" type="presParOf" srcId="{233E1A1B-B85F-4945-B480-06663154081F}" destId="{2C2CFC4F-2A8D-495B-90EA-37738E9962A2}" srcOrd="0" destOrd="0" presId="urn:microsoft.com/office/officeart/2005/8/layout/cycle3"/>
    <dgm:cxn modelId="{BBAE0F5F-DAB2-4196-B44A-83A28F9C625C}" type="presParOf" srcId="{2C2CFC4F-2A8D-495B-90EA-37738E9962A2}" destId="{8903DBA7-84D4-4EFF-8FC0-663DA8ACFC26}" srcOrd="0" destOrd="0" presId="urn:microsoft.com/office/officeart/2005/8/layout/cycle3"/>
    <dgm:cxn modelId="{A3D867ED-F7CD-4D7B-827F-AAA5B3FC0796}" type="presParOf" srcId="{2C2CFC4F-2A8D-495B-90EA-37738E9962A2}" destId="{8D883B56-2461-435C-B3CB-170865A56C85}" srcOrd="1" destOrd="0" presId="urn:microsoft.com/office/officeart/2005/8/layout/cycle3"/>
    <dgm:cxn modelId="{0C42C848-A58A-41D6-A7A1-AD8A1BC866DF}" type="presParOf" srcId="{2C2CFC4F-2A8D-495B-90EA-37738E9962A2}" destId="{D3DB5674-0680-4E25-9E59-DD38EF78198A}" srcOrd="2" destOrd="0" presId="urn:microsoft.com/office/officeart/2005/8/layout/cycle3"/>
    <dgm:cxn modelId="{28D615AE-DDC6-4AC6-9487-7B17E9AB6966}" type="presParOf" srcId="{2C2CFC4F-2A8D-495B-90EA-37738E9962A2}" destId="{250785D2-0C14-4C2D-B5EC-92F3A2AF6C13}" srcOrd="3" destOrd="0" presId="urn:microsoft.com/office/officeart/2005/8/layout/cycle3"/>
    <dgm:cxn modelId="{9C12E1B3-3307-484E-8C51-71AD8ACD50AF}" type="presParOf" srcId="{2C2CFC4F-2A8D-495B-90EA-37738E9962A2}" destId="{CBDD8A58-8A0E-45BF-83C7-C24EF0E4F7E8}" srcOrd="4" destOrd="0" presId="urn:microsoft.com/office/officeart/2005/8/layout/cycle3"/>
    <dgm:cxn modelId="{EACA5527-1F3C-4358-8888-37D919B521FD}" type="presParOf" srcId="{2C2CFC4F-2A8D-495B-90EA-37738E9962A2}" destId="{8DD772C6-71ED-4102-B1BB-547F88330775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D883B56-2461-435C-B3CB-170865A56C85}">
      <dsp:nvSpPr>
        <dsp:cNvPr id="0" name=""/>
        <dsp:cNvSpPr/>
      </dsp:nvSpPr>
      <dsp:spPr>
        <a:xfrm>
          <a:off x="1934194" y="-27629"/>
          <a:ext cx="4361210" cy="4361210"/>
        </a:xfrm>
        <a:prstGeom prst="circularArrow">
          <a:avLst>
            <a:gd name="adj1" fmla="val 5544"/>
            <a:gd name="adj2" fmla="val 330680"/>
            <a:gd name="adj3" fmla="val 13767782"/>
            <a:gd name="adj4" fmla="val 17390922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3DBA7-84D4-4EFF-8FC0-663DA8ACFC26}">
      <dsp:nvSpPr>
        <dsp:cNvPr id="0" name=""/>
        <dsp:cNvSpPr/>
      </dsp:nvSpPr>
      <dsp:spPr>
        <a:xfrm>
          <a:off x="3090118" y="180"/>
          <a:ext cx="2049363" cy="1024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PREVEER </a:t>
          </a:r>
          <a:r>
            <a:rPr lang="es-CO" sz="2200" kern="1200" dirty="0" smtClean="0"/>
            <a:t>O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PLANEAR </a:t>
          </a:r>
          <a:endParaRPr lang="es-CO" sz="2200" kern="1200" dirty="0"/>
        </a:p>
      </dsp:txBody>
      <dsp:txXfrm>
        <a:off x="3090118" y="180"/>
        <a:ext cx="2049363" cy="1024681"/>
      </dsp:txXfrm>
    </dsp:sp>
    <dsp:sp modelId="{D3DB5674-0680-4E25-9E59-DD38EF78198A}">
      <dsp:nvSpPr>
        <dsp:cNvPr id="0" name=""/>
        <dsp:cNvSpPr/>
      </dsp:nvSpPr>
      <dsp:spPr>
        <a:xfrm>
          <a:off x="4858885" y="1285264"/>
          <a:ext cx="2049363" cy="1024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DIRIRGIR</a:t>
          </a:r>
          <a:endParaRPr lang="es-CO" sz="2200" kern="1200" dirty="0"/>
        </a:p>
      </dsp:txBody>
      <dsp:txXfrm>
        <a:off x="4858885" y="1285264"/>
        <a:ext cx="2049363" cy="1024681"/>
      </dsp:txXfrm>
    </dsp:sp>
    <dsp:sp modelId="{250785D2-0C14-4C2D-B5EC-92F3A2AF6C13}">
      <dsp:nvSpPr>
        <dsp:cNvPr id="0" name=""/>
        <dsp:cNvSpPr/>
      </dsp:nvSpPr>
      <dsp:spPr>
        <a:xfrm>
          <a:off x="4183276" y="3364574"/>
          <a:ext cx="2049363" cy="1024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CONTROLAR</a:t>
          </a:r>
          <a:endParaRPr lang="es-CO" sz="2200" kern="1200" dirty="0"/>
        </a:p>
      </dsp:txBody>
      <dsp:txXfrm>
        <a:off x="4183276" y="3364574"/>
        <a:ext cx="2049363" cy="1024681"/>
      </dsp:txXfrm>
    </dsp:sp>
    <dsp:sp modelId="{CBDD8A58-8A0E-45BF-83C7-C24EF0E4F7E8}">
      <dsp:nvSpPr>
        <dsp:cNvPr id="0" name=""/>
        <dsp:cNvSpPr/>
      </dsp:nvSpPr>
      <dsp:spPr>
        <a:xfrm>
          <a:off x="1996960" y="3364574"/>
          <a:ext cx="2049363" cy="1024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COORDINAR</a:t>
          </a:r>
          <a:endParaRPr lang="es-CO" sz="2200" kern="1200" dirty="0"/>
        </a:p>
      </dsp:txBody>
      <dsp:txXfrm>
        <a:off x="1996960" y="3364574"/>
        <a:ext cx="2049363" cy="1024681"/>
      </dsp:txXfrm>
    </dsp:sp>
    <dsp:sp modelId="{8DD772C6-71ED-4102-B1BB-547F88330775}">
      <dsp:nvSpPr>
        <dsp:cNvPr id="0" name=""/>
        <dsp:cNvSpPr/>
      </dsp:nvSpPr>
      <dsp:spPr>
        <a:xfrm>
          <a:off x="1321351" y="1285264"/>
          <a:ext cx="2049363" cy="1024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200" kern="1200" dirty="0" smtClean="0"/>
            <a:t>ORGANIZAR</a:t>
          </a:r>
          <a:endParaRPr lang="es-CO" sz="2200" kern="1200" dirty="0"/>
        </a:p>
      </dsp:txBody>
      <dsp:txXfrm>
        <a:off x="1321351" y="1285264"/>
        <a:ext cx="2049363" cy="1024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4EE3E6E-706E-4340-9A6D-B9E515BEBC8F}" type="datetimeFigureOut">
              <a:rPr lang="es-CO" smtClean="0"/>
              <a:pPr/>
              <a:t>19/09/2011</a:t>
            </a:fld>
            <a:endParaRPr lang="es-CO" dirty="0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5A3613D-E393-4008-BC0B-379DC23A5606}" type="slidenum">
              <a:rPr lang="es-CO" smtClean="0"/>
              <a:pPr/>
              <a:t>‹Nº›</a:t>
            </a:fld>
            <a:endParaRPr lang="es-CO" dirty="0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://www.google.com.co/imgres?imgurl=http://www.ubergizmo.com/photos/2007/6/control-a-kid.jpg&amp;imgrefurl=http://www.ubergizmo.com/es/2007/06/gadgets/control_remoto_para_los_hijos/&amp;usg=__Xk3QnPgDO0UhLu6TJLvZgJiMW30=&amp;h=468&amp;w=468&amp;sz=24&amp;hl=es&amp;start=5&amp;zoom=1&amp;um=1&amp;itbs=1&amp;tbnid=zzNUEMk7A8VQ3M:&amp;tbnh=128&amp;tbnw=128&amp;prev=/images?q=control&amp;um=1&amp;hl=es&amp;tbs=isch: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www.google.com.co/imgres?imgurl=http://3.bp.blogspot.com/_2553WjzQWhI/SdJ0bj_01XI/AAAAAAAAABg/2wbTG__pcyo/s320/vocacion-y-motivacion.gif&amp;imgrefurl=http://logisticamotivacionaldelasociedad.blogspot.com/2009/03/motivacion-laboral.html&amp;usg=__5MfaFKcELPNl74CSANLtOJZLPWQ=&amp;h=223&amp;w=254&amp;sz=7&amp;hl=es&amp;start=7&amp;zoom=1&amp;um=1&amp;itbs=1&amp;tbnid=K7vSVGtQZ4_0MM:&amp;tbnh=97&amp;tbnw=111&amp;prev=/images?q=motivacion+laboral&amp;um=1&amp;hl=es&amp;tbs=isch: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google.com.co/imgres?imgurl=http://www.protomedicos.com/wp-content/uploads/2009/04/dmdls.jpg&amp;imgrefurl=http://www.protomedicos.com/2009/04/07/feliz-dia-mundial-de-la-salud/&amp;usg=__Th10IDGoWUm4__L-lUcPVmj6Iv8=&amp;h=494&amp;w=345&amp;sz=33&amp;hl=es&amp;start=5&amp;zoom=1&amp;um=1&amp;itbs=1&amp;tbnid=4cpUO7VW02XSwM:&amp;tbnh=130&amp;tbnw=91&amp;prev=/images?q=salud&amp;um=1&amp;hl=es&amp;tbs=isch:1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google.com.co/imgres?imgurl=http://www.sabiduria.com/images/inteligencia.jpg&amp;imgrefurl=http://www.sabiduria.com/liderazgo/musica-inteligencia/&amp;usg=__eM5FiyRuPYoWv_w7VU6F7SbwC6I=&amp;h=291&amp;w=281&amp;sz=198&amp;hl=es&amp;start=1&amp;zoom=1&amp;um=1&amp;itbs=1&amp;tbnid=oU1cS6YqbBE2PM:&amp;tbnh=115&amp;tbnw=111&amp;prev=/images?q=inteligencia&amp;um=1&amp;hl=es&amp;tbs=isch:1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www.google.com.co/imgres?imgurl=http://finvest.es/images/informes.jpg&amp;imgrefurl=http://finvest.es/index.php?id=ce7&amp;usg=__tPecZ4yJOzLmTKPJxgWGVNjHUL8=&amp;h=450&amp;w=650&amp;sz=64&amp;hl=es&amp;start=8&amp;zoom=1&amp;um=1&amp;itbs=1&amp;tbnid=U3jI19Fw8j254M:&amp;tbnh=95&amp;tbnw=137&amp;prev=/images?q=informes&amp;um=1&amp;hl=es&amp;tbs=isch:1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418484"/>
          </a:xfrm>
        </p:spPr>
        <p:txBody>
          <a:bodyPr/>
          <a:lstStyle/>
          <a:p>
            <a:r>
              <a:rPr lang="es-CO" sz="8000" dirty="0" smtClean="0"/>
              <a:t>      </a:t>
            </a:r>
            <a:r>
              <a:rPr lang="es-CO" dirty="0" smtClean="0"/>
              <a:t>   </a:t>
            </a:r>
            <a:r>
              <a:rPr lang="es-CO" sz="6000" dirty="0" smtClean="0">
                <a:latin typeface="Algerian" pitchFamily="82" charset="0"/>
              </a:rPr>
              <a:t>HENRY FAYOL</a:t>
            </a:r>
            <a:endParaRPr lang="es-CO" sz="6000" dirty="0">
              <a:latin typeface="Algerian" pitchFamily="82" charset="0"/>
            </a:endParaRPr>
          </a:p>
        </p:txBody>
      </p:sp>
      <p:pic>
        <p:nvPicPr>
          <p:cNvPr id="6" name="5 Marcador de contenido" descr="Fayo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14546" y="1744698"/>
            <a:ext cx="4071966" cy="368456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957506" cy="1162050"/>
          </a:xfrm>
        </p:spPr>
        <p:txBody>
          <a:bodyPr/>
          <a:lstStyle/>
          <a:p>
            <a:r>
              <a:rPr lang="es-CO" sz="3200" dirty="0" smtClean="0">
                <a:latin typeface="Algerian" pitchFamily="82" charset="0"/>
              </a:rPr>
              <a:t>HENRY FAYOL</a:t>
            </a:r>
            <a:endParaRPr lang="es-CO" sz="3200" dirty="0">
              <a:latin typeface="Algerian" pitchFamily="82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(1841-1925)</a:t>
            </a:r>
          </a:p>
          <a:p>
            <a:r>
              <a:rPr lang="es-CO" sz="3600" dirty="0" smtClean="0">
                <a:latin typeface="+mj-lt"/>
              </a:rPr>
              <a:t>Nació en Constantinopla.</a:t>
            </a:r>
          </a:p>
          <a:p>
            <a:r>
              <a:rPr lang="es-CO" sz="3600" dirty="0" smtClean="0">
                <a:latin typeface="+mj-lt"/>
              </a:rPr>
              <a:t>Murió en París.</a:t>
            </a:r>
          </a:p>
          <a:p>
            <a:r>
              <a:rPr lang="es-CO" sz="3600" dirty="0" smtClean="0">
                <a:latin typeface="+mj-lt"/>
              </a:rPr>
              <a:t>Familia burguesa</a:t>
            </a:r>
            <a:r>
              <a:rPr lang="es-CO" sz="3600" dirty="0" smtClean="0"/>
              <a:t>.</a:t>
            </a:r>
            <a:endParaRPr lang="es-CO" sz="3600" dirty="0"/>
          </a:p>
        </p:txBody>
      </p:sp>
      <p:pic>
        <p:nvPicPr>
          <p:cNvPr id="7" name="6 Imagen" descr="henr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1928802"/>
            <a:ext cx="2622304" cy="3508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O" sz="4800" dirty="0" smtClean="0">
                <a:latin typeface="Algerian" pitchFamily="82" charset="0"/>
              </a:rPr>
              <a:t> ESTUDIOS  DE   HENRY FAYOL</a:t>
            </a:r>
            <a:endParaRPr lang="es-CO" sz="4800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Primer estudio :en el liceo de Lyon  en Francia.</a:t>
            </a:r>
          </a:p>
          <a:p>
            <a:r>
              <a:rPr lang="es-CO" sz="3600" dirty="0" smtClean="0">
                <a:latin typeface="+mj-lt"/>
              </a:rPr>
              <a:t>Escuela Nacional de  Minas  aquí se graduó como ingeniero.</a:t>
            </a:r>
            <a:endParaRPr lang="es-CO" sz="36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        </a:t>
            </a:r>
            <a:r>
              <a:rPr lang="es-CO" dirty="0" smtClean="0">
                <a:latin typeface="Algerian" pitchFamily="82" charset="0"/>
              </a:rPr>
              <a:t>HENRY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Trabajo  en el consorcio francés :COMMENTRY FOURCHAMBAULT COMPANY .</a:t>
            </a:r>
          </a:p>
          <a:p>
            <a:r>
              <a:rPr lang="es-CO" sz="3600" dirty="0" smtClean="0">
                <a:latin typeface="+mj-lt"/>
              </a:rPr>
              <a:t>Trabaja toda su vida en esta compañía.</a:t>
            </a:r>
          </a:p>
          <a:p>
            <a:r>
              <a:rPr lang="es-CO" sz="3600" dirty="0" smtClean="0">
                <a:latin typeface="+mj-lt"/>
              </a:rPr>
              <a:t>Como ingeniero desarrolla técnicas.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           </a:t>
            </a:r>
            <a:r>
              <a:rPr lang="es-CO" dirty="0" smtClean="0">
                <a:latin typeface="Algerian" pitchFamily="82" charset="0"/>
              </a:rPr>
              <a:t>HENRY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200" dirty="0" smtClean="0">
                <a:latin typeface="+mj-lt"/>
              </a:rPr>
              <a:t>La empresa entra en crisis  por no pagar </a:t>
            </a:r>
            <a:r>
              <a:rPr lang="es-CO" sz="3200" dirty="0" smtClean="0">
                <a:latin typeface="+mj-lt"/>
              </a:rPr>
              <a:t>dividendos.</a:t>
            </a:r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31  </a:t>
            </a:r>
            <a:r>
              <a:rPr lang="es-CO" sz="3200" dirty="0" smtClean="0">
                <a:latin typeface="+mj-lt"/>
              </a:rPr>
              <a:t>años:  </a:t>
            </a:r>
            <a:r>
              <a:rPr lang="es-CO" sz="3200" dirty="0" smtClean="0">
                <a:latin typeface="+mj-lt"/>
              </a:rPr>
              <a:t>asciende  al cargo de </a:t>
            </a:r>
            <a:r>
              <a:rPr lang="es-CO" sz="3200" dirty="0" smtClean="0">
                <a:latin typeface="+mj-lt"/>
              </a:rPr>
              <a:t>director; con el encargo de liquidar la Compañía.</a:t>
            </a:r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Fayol recupera  la estabilidad de la empresa.  </a:t>
            </a:r>
          </a:p>
          <a:p>
            <a:r>
              <a:rPr lang="es-CO" sz="3200" dirty="0" smtClean="0">
                <a:latin typeface="+mj-lt"/>
              </a:rPr>
              <a:t>Hoy es el mayor grupo minero  y metalúrgico de Francia</a:t>
            </a:r>
            <a:r>
              <a:rPr lang="es-CO" dirty="0" smtClean="0">
                <a:latin typeface="+mj-lt"/>
              </a:rPr>
              <a:t>.</a:t>
            </a:r>
            <a:endParaRPr lang="es-CO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       </a:t>
            </a:r>
            <a:r>
              <a:rPr lang="es-CO" dirty="0" smtClean="0">
                <a:latin typeface="Algerian" pitchFamily="82" charset="0"/>
              </a:rPr>
              <a:t>HENRY FAYOL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600" dirty="0" smtClean="0">
                <a:latin typeface="+mj-lt"/>
              </a:rPr>
              <a:t>Para lograr esto  cerro la </a:t>
            </a:r>
            <a:r>
              <a:rPr lang="es-CO" sz="3600" dirty="0" smtClean="0">
                <a:latin typeface="+mj-lt"/>
              </a:rPr>
              <a:t>Fundición </a:t>
            </a:r>
            <a:r>
              <a:rPr lang="es-CO" sz="3600" dirty="0" smtClean="0">
                <a:latin typeface="+mj-lt"/>
              </a:rPr>
              <a:t>de </a:t>
            </a:r>
            <a:r>
              <a:rPr lang="es-CO" sz="3600" dirty="0" err="1" smtClean="0">
                <a:latin typeface="+mj-lt"/>
              </a:rPr>
              <a:t>Fourchambad</a:t>
            </a:r>
            <a:r>
              <a:rPr lang="es-CO" sz="3600" dirty="0" smtClean="0">
                <a:latin typeface="+mj-lt"/>
              </a:rPr>
              <a:t>  </a:t>
            </a:r>
            <a:r>
              <a:rPr lang="es-CO" sz="3600" dirty="0" smtClean="0">
                <a:latin typeface="+mj-lt"/>
              </a:rPr>
              <a:t>y </a:t>
            </a:r>
            <a:r>
              <a:rPr lang="es-CO" sz="3600" dirty="0" smtClean="0">
                <a:latin typeface="+mj-lt"/>
              </a:rPr>
              <a:t>centraliz</a:t>
            </a:r>
            <a:r>
              <a:rPr lang="es-CO" sz="3600" dirty="0" smtClean="0">
                <a:latin typeface="+mj-lt"/>
              </a:rPr>
              <a:t>ó</a:t>
            </a:r>
            <a:r>
              <a:rPr lang="es-CO" sz="3600" dirty="0" smtClean="0">
                <a:latin typeface="+mj-lt"/>
              </a:rPr>
              <a:t> </a:t>
            </a:r>
            <a:r>
              <a:rPr lang="es-CO" sz="3600" dirty="0" smtClean="0">
                <a:latin typeface="+mj-lt"/>
              </a:rPr>
              <a:t>la producción </a:t>
            </a:r>
            <a:r>
              <a:rPr lang="es-CO" sz="3600" dirty="0" smtClean="0">
                <a:latin typeface="+mj-lt"/>
              </a:rPr>
              <a:t>en </a:t>
            </a:r>
            <a:r>
              <a:rPr lang="es-CO" sz="3600" dirty="0" err="1" smtClean="0">
                <a:latin typeface="+mj-lt"/>
              </a:rPr>
              <a:t>Monttucon</a:t>
            </a:r>
            <a:r>
              <a:rPr lang="es-CO" sz="3600" dirty="0" smtClean="0">
                <a:latin typeface="+mj-lt"/>
              </a:rPr>
              <a:t>  que era otra planta del consorcio</a:t>
            </a:r>
            <a:r>
              <a:rPr lang="es-CO" dirty="0" smtClean="0">
                <a:latin typeface="+mj-lt"/>
              </a:rPr>
              <a:t>.</a:t>
            </a:r>
            <a:endParaRPr lang="es-CO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  </a:t>
            </a:r>
            <a:r>
              <a:rPr lang="es-CO" dirty="0" smtClean="0">
                <a:latin typeface="Algerian" pitchFamily="82" charset="0"/>
              </a:rPr>
              <a:t>SEGÚN HENRY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El éxito de una organización  depende mas de  las habilidades administrativas  de sus lideres  que de sus habilidades  técnicas.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275608"/>
          </a:xfrm>
        </p:spPr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  </a:t>
            </a:r>
            <a:r>
              <a:rPr lang="es-CO" dirty="0" smtClean="0">
                <a:latin typeface="Algerian" pitchFamily="82" charset="0"/>
              </a:rPr>
              <a:t>DE LA TEORIA </a:t>
            </a:r>
            <a:r>
              <a:rPr lang="es-CO" dirty="0" smtClean="0">
                <a:latin typeface="Algerian" pitchFamily="82" charset="0"/>
              </a:rPr>
              <a:t>ADMINISTRATIVA DE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s-CO" sz="3600" dirty="0" smtClean="0">
                <a:latin typeface="+mj-lt"/>
              </a:rPr>
              <a:t>	Estos </a:t>
            </a:r>
            <a:r>
              <a:rPr lang="es-CO" sz="3600" dirty="0" smtClean="0">
                <a:latin typeface="+mj-lt"/>
              </a:rPr>
              <a:t>elementos tienen como </a:t>
            </a:r>
            <a:r>
              <a:rPr lang="es-CO" sz="3600" dirty="0" smtClean="0">
                <a:latin typeface="+mj-lt"/>
              </a:rPr>
              <a:t>objetivo organizar </a:t>
            </a:r>
            <a:r>
              <a:rPr lang="es-CO" sz="3600" dirty="0" smtClean="0">
                <a:latin typeface="+mj-lt"/>
              </a:rPr>
              <a:t>las cosas  y evitar  el caos  y  la desorganización  .</a:t>
            </a:r>
            <a:endParaRPr lang="es-CO" sz="36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  de la teoría  de la administración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42910" y="2643182"/>
            <a:ext cx="1857388" cy="2428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administrativas</a:t>
            </a:r>
            <a:endParaRPr lang="es-CO" dirty="0"/>
          </a:p>
        </p:txBody>
      </p:sp>
      <p:sp>
        <p:nvSpPr>
          <p:cNvPr id="6" name="5 Flecha derecha"/>
          <p:cNvSpPr/>
          <p:nvPr/>
        </p:nvSpPr>
        <p:spPr>
          <a:xfrm>
            <a:off x="2571736" y="2214554"/>
            <a:ext cx="71438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6 Elipse"/>
          <p:cNvSpPr/>
          <p:nvPr/>
        </p:nvSpPr>
        <p:spPr>
          <a:xfrm>
            <a:off x="3571868" y="1857364"/>
            <a:ext cx="2500330" cy="857256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 técnicas</a:t>
            </a:r>
            <a:endParaRPr lang="es-CO" dirty="0"/>
          </a:p>
        </p:txBody>
      </p:sp>
      <p:sp>
        <p:nvSpPr>
          <p:cNvPr id="8" name="7 Flecha derecha"/>
          <p:cNvSpPr/>
          <p:nvPr/>
        </p:nvSpPr>
        <p:spPr>
          <a:xfrm>
            <a:off x="2571736" y="3000372"/>
            <a:ext cx="642942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8 Elipse"/>
          <p:cNvSpPr/>
          <p:nvPr/>
        </p:nvSpPr>
        <p:spPr>
          <a:xfrm>
            <a:off x="3357554" y="2857496"/>
            <a:ext cx="2286016" cy="5715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comerciales</a:t>
            </a:r>
            <a:endParaRPr lang="es-CO" dirty="0"/>
          </a:p>
        </p:txBody>
      </p:sp>
      <p:sp>
        <p:nvSpPr>
          <p:cNvPr id="10" name="9 Flecha derecha"/>
          <p:cNvSpPr/>
          <p:nvPr/>
        </p:nvSpPr>
        <p:spPr>
          <a:xfrm>
            <a:off x="2571736" y="3786190"/>
            <a:ext cx="642942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10 Elipse"/>
          <p:cNvSpPr/>
          <p:nvPr/>
        </p:nvSpPr>
        <p:spPr>
          <a:xfrm>
            <a:off x="3357554" y="3714752"/>
            <a:ext cx="2500330" cy="64294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 financieras</a:t>
            </a:r>
          </a:p>
        </p:txBody>
      </p:sp>
      <p:sp>
        <p:nvSpPr>
          <p:cNvPr id="12" name="11 Flecha derecha"/>
          <p:cNvSpPr/>
          <p:nvPr/>
        </p:nvSpPr>
        <p:spPr>
          <a:xfrm>
            <a:off x="2571736" y="4572008"/>
            <a:ext cx="642942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3357554" y="4429132"/>
            <a:ext cx="2286016" cy="85725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de seguridad</a:t>
            </a:r>
            <a:endParaRPr lang="es-CO" dirty="0"/>
          </a:p>
        </p:txBody>
      </p:sp>
      <p:sp>
        <p:nvSpPr>
          <p:cNvPr id="14" name="13 Flecha derecha"/>
          <p:cNvSpPr/>
          <p:nvPr/>
        </p:nvSpPr>
        <p:spPr>
          <a:xfrm>
            <a:off x="2500298" y="5572140"/>
            <a:ext cx="642942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3286116" y="5572140"/>
            <a:ext cx="2286016" cy="785818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Operaciones contables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Operaciones técnicas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Son las tareas relacionadas  con la transformación  y la producción  de bienes  o servicios. </a:t>
            </a:r>
            <a:endParaRPr lang="es-CO" sz="3600" dirty="0">
              <a:latin typeface="+mj-lt"/>
            </a:endParaRPr>
          </a:p>
        </p:txBody>
      </p:sp>
      <p:pic>
        <p:nvPicPr>
          <p:cNvPr id="4" name="3 Imagen" descr="http://www.attendis.com/fotos/Tecnicas_de_trabajo_y_estr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3929066"/>
            <a:ext cx="50673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 comerciales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Son las relacionadas  con los trabajos asociados  con las transacciones  de compra  y venta .</a:t>
            </a:r>
            <a:endParaRPr lang="es-CO" sz="3600" dirty="0">
              <a:latin typeface="+mj-lt"/>
            </a:endParaRPr>
          </a:p>
        </p:txBody>
      </p:sp>
      <p:pic>
        <p:nvPicPr>
          <p:cNvPr id="4" name="3 Imagen" descr="http://files.nireblog.com/blogs3/vania-salinas-com18/files/comercio-internaciona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3143248"/>
            <a:ext cx="428625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financieras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/>
              <a:t>Son las labores conectadas  con la captación y  el buen uso  del capital.</a:t>
            </a:r>
            <a:endParaRPr lang="es-CO" sz="3600" dirty="0"/>
          </a:p>
        </p:txBody>
      </p:sp>
      <p:pic>
        <p:nvPicPr>
          <p:cNvPr id="4" name="3 Imagen" descr="http://www.cajaprevprof.org.ar/images/financiero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3571876"/>
            <a:ext cx="295275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 de seguridad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600" dirty="0" smtClean="0">
                <a:latin typeface="+mj-lt"/>
              </a:rPr>
              <a:t>Son las funciones cuyo objetivo es  la preservación  y la protección  de las personas y los bienes. </a:t>
            </a:r>
            <a:r>
              <a:rPr lang="es-CO" dirty="0" smtClean="0"/>
              <a:t>.</a:t>
            </a:r>
            <a:endParaRPr lang="es-CO" dirty="0"/>
          </a:p>
        </p:txBody>
      </p:sp>
      <p:pic>
        <p:nvPicPr>
          <p:cNvPr id="45058" name="Picture 2" descr="http://derechoypoliticachiapas.com/wp-content/uploads/2010/04/policia_peru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3047973"/>
            <a:ext cx="2857520" cy="38100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Operaciones  contables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600" dirty="0" smtClean="0">
                <a:latin typeface="+mj-lt"/>
              </a:rPr>
              <a:t>Tareas destinadas  a facilitar  los controles y los registros .</a:t>
            </a:r>
            <a:endParaRPr lang="es-CO" sz="3600" dirty="0">
              <a:latin typeface="+mj-lt"/>
            </a:endParaRPr>
          </a:p>
        </p:txBody>
      </p:sp>
      <p:pic>
        <p:nvPicPr>
          <p:cNvPr id="4" name="3 Imagen" descr="http://pinotyasociados.com/files/contab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0430" y="3857628"/>
            <a:ext cx="3357586" cy="2218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Operaciones administrativas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200" dirty="0" smtClean="0">
                <a:latin typeface="+mj-lt"/>
              </a:rPr>
              <a:t>Contiene a todas las demás  y son las  acciones  </a:t>
            </a:r>
            <a:r>
              <a:rPr lang="es-CO" sz="3200" dirty="0" smtClean="0">
                <a:latin typeface="+mj-lt"/>
              </a:rPr>
              <a:t>orientadas a</a:t>
            </a:r>
            <a:r>
              <a:rPr lang="es-CO" sz="3200" dirty="0" smtClean="0">
                <a:latin typeface="+mj-lt"/>
              </a:rPr>
              <a:t> </a:t>
            </a:r>
            <a:r>
              <a:rPr lang="es-CO" sz="3200" dirty="0" smtClean="0">
                <a:latin typeface="+mj-lt"/>
              </a:rPr>
              <a:t>la integración  de todas las operaciones  de la organización .</a:t>
            </a:r>
          </a:p>
          <a:p>
            <a:endParaRPr lang="es-CO" dirty="0"/>
          </a:p>
        </p:txBody>
      </p:sp>
      <p:pic>
        <p:nvPicPr>
          <p:cNvPr id="4" name="3 Imagen" descr="http://www.definicionabc.com/wp-content/uploads/admi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3429000"/>
            <a:ext cx="414340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FUNCIONES DE LA ADMINISTRACION</a:t>
            </a:r>
            <a:endParaRPr lang="es-CO" dirty="0">
              <a:latin typeface="Algerian" pitchFamily="82" charset="0"/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/>
            </a:r>
            <a:br>
              <a:rPr lang="es-CO" dirty="0" smtClean="0">
                <a:latin typeface="Algerian" pitchFamily="82" charset="0"/>
              </a:rPr>
            </a:br>
            <a:r>
              <a:rPr lang="es-CO" dirty="0" smtClean="0">
                <a:latin typeface="Algerian" pitchFamily="82" charset="0"/>
              </a:rPr>
              <a:t>FUNCIONES  </a:t>
            </a:r>
            <a:r>
              <a:rPr lang="es-CO" dirty="0" smtClean="0">
                <a:latin typeface="Algerian" pitchFamily="82" charset="0"/>
              </a:rPr>
              <a:t>DE LA ADMINISTRACION 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sz="3200" b="1" dirty="0" smtClean="0">
              <a:latin typeface="+mj-lt"/>
            </a:endParaRPr>
          </a:p>
          <a:p>
            <a:r>
              <a:rPr lang="es-CO" sz="3200" b="1" dirty="0" smtClean="0">
                <a:latin typeface="+mj-lt"/>
              </a:rPr>
              <a:t>Prever </a:t>
            </a:r>
            <a:r>
              <a:rPr lang="es-CO" sz="3200" b="1" dirty="0" smtClean="0">
                <a:latin typeface="+mj-lt"/>
              </a:rPr>
              <a:t>o planeación</a:t>
            </a:r>
            <a:r>
              <a:rPr lang="es-CO" sz="3200" b="1" dirty="0" smtClean="0"/>
              <a:t>: </a:t>
            </a:r>
            <a:r>
              <a:rPr lang="es-CO" sz="3200" dirty="0" smtClean="0">
                <a:latin typeface="+mj-lt"/>
              </a:rPr>
              <a:t>Evaluar </a:t>
            </a:r>
            <a:r>
              <a:rPr lang="es-CO" sz="3200" dirty="0" smtClean="0">
                <a:latin typeface="+mj-lt"/>
              </a:rPr>
              <a:t>el </a:t>
            </a:r>
            <a:r>
              <a:rPr lang="es-CO" sz="3200" dirty="0" smtClean="0">
                <a:latin typeface="+mj-lt"/>
              </a:rPr>
              <a:t>futuro</a:t>
            </a:r>
            <a:r>
              <a:rPr lang="es-CO" sz="3200" dirty="0" smtClean="0">
                <a:latin typeface="+mj-lt"/>
              </a:rPr>
              <a:t>; tratar de anticipar como va ser su comportamiento.</a:t>
            </a:r>
            <a:endParaRPr lang="es-CO" sz="3200" dirty="0" smtClean="0">
              <a:latin typeface="+mj-lt"/>
            </a:endParaRPr>
          </a:p>
          <a:p>
            <a:pPr>
              <a:buNone/>
            </a:pPr>
            <a:endParaRPr lang="es-CO" sz="3200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FUNCIONES  DE LA ADMINISTRACION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ORGANIZAR: movilizar los recursos y materiales para poner  el plan de acción.</a:t>
            </a:r>
            <a:endParaRPr lang="es-CO" sz="3200" dirty="0">
              <a:latin typeface="+mj-lt"/>
            </a:endParaRPr>
          </a:p>
        </p:txBody>
      </p:sp>
      <p:pic>
        <p:nvPicPr>
          <p:cNvPr id="5" name="4 Imagen" descr="http://casaoriginal.com/wp-content/uploads/ordenar-organizar-cocinas-pequenas-5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876558"/>
            <a:ext cx="6143668" cy="362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FUNCIONES  DE LA ADMINISTRACION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DIRIGIR: establecer  orientaciones  para los empleados  y conseguir que las tareas se cumplan.</a:t>
            </a:r>
            <a:endParaRPr lang="es-CO" sz="3200" dirty="0">
              <a:latin typeface="+mj-lt"/>
            </a:endParaRPr>
          </a:p>
        </p:txBody>
      </p:sp>
      <p:pic>
        <p:nvPicPr>
          <p:cNvPr id="4" name="3 Imagen" descr="http://ideasvida.files.wordpress.com/2008/02/pinguinos-organizacion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3429000"/>
            <a:ext cx="5612130" cy="323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FUNCIONES  DE LA ADMINISTRACION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COORDINAR: conseguir la unificación y la armonía  de todas las actividades y los esfuerzos.</a:t>
            </a:r>
          </a:p>
          <a:p>
            <a:endParaRPr lang="es-CO" sz="3200" dirty="0">
              <a:latin typeface="+mj-lt"/>
            </a:endParaRPr>
          </a:p>
        </p:txBody>
      </p:sp>
      <p:pic>
        <p:nvPicPr>
          <p:cNvPr id="4" name="3 Imagen" descr="http://www.eseune.edu/executivemba/dirigi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50" y="3000372"/>
            <a:ext cx="28479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FUNCIONES  DE LA ADMINISTRACION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CONTROLAR: verificar que las tareas se cumplan  conforma a las reglas   establecidas  y expresadas  por la dirección.</a:t>
            </a:r>
            <a:endParaRPr lang="es-CO" sz="3200" dirty="0">
              <a:latin typeface="+mj-lt"/>
            </a:endParaRPr>
          </a:p>
        </p:txBody>
      </p:sp>
      <p:pic>
        <p:nvPicPr>
          <p:cNvPr id="5" name="ipfzzNUEMk7A8VQ3M:" descr="http://t0.gstatic.com/images?q=tbn:zzNUEMk7A8VQ3M:http://www.ubergizmo.com/photos/2007/6/control-a-kid.jp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6050" y="3714752"/>
            <a:ext cx="371477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71472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s-CO" sz="3200" b="1" dirty="0" smtClean="0">
                <a:latin typeface="+mj-lt"/>
              </a:rPr>
              <a:t>DIVISION DEL TRABAJO</a:t>
            </a:r>
            <a:r>
              <a:rPr lang="es-CO" sz="3200" dirty="0" smtClean="0">
                <a:latin typeface="+mj-lt"/>
              </a:rPr>
              <a:t>: </a:t>
            </a:r>
            <a:r>
              <a:rPr lang="es-CO" sz="3200" dirty="0" smtClean="0">
                <a:latin typeface="+mj-lt"/>
              </a:rPr>
              <a:t>distribución y asignación  </a:t>
            </a:r>
            <a:r>
              <a:rPr lang="es-CO" sz="3200" dirty="0" smtClean="0">
                <a:latin typeface="+mj-lt"/>
              </a:rPr>
              <a:t>de </a:t>
            </a:r>
            <a:r>
              <a:rPr lang="es-CO" sz="3200" dirty="0" smtClean="0">
                <a:latin typeface="+mj-lt"/>
              </a:rPr>
              <a:t>tareas específicas.</a:t>
            </a:r>
            <a:endParaRPr lang="es-CO" sz="3200" dirty="0" smtClean="0">
              <a:latin typeface="+mj-lt"/>
            </a:endParaRPr>
          </a:p>
        </p:txBody>
      </p:sp>
      <p:pic>
        <p:nvPicPr>
          <p:cNvPr id="4" name="3 Imagen" descr="http://www.profesorenlinea.cl/imagenbiografias/SmithAdam004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996953"/>
            <a:ext cx="4438276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O" sz="3200" b="1" dirty="0" smtClean="0">
              <a:latin typeface="+mj-lt"/>
            </a:endParaRPr>
          </a:p>
          <a:p>
            <a:pPr algn="just"/>
            <a:r>
              <a:rPr lang="es-CO" sz="3200" b="1" dirty="0" smtClean="0">
                <a:latin typeface="+mj-lt"/>
              </a:rPr>
              <a:t>AUTORIDAD </a:t>
            </a:r>
            <a:r>
              <a:rPr lang="es-CO" sz="3200" b="1" dirty="0" smtClean="0">
                <a:latin typeface="+mj-lt"/>
              </a:rPr>
              <a:t>Y RESPONSABILIDAD</a:t>
            </a:r>
            <a:r>
              <a:rPr lang="es-CO" sz="3200" dirty="0" smtClean="0">
                <a:latin typeface="+mj-lt"/>
              </a:rPr>
              <a:t>: derecho a dar ordenes  y poder, para conseguir </a:t>
            </a:r>
            <a:r>
              <a:rPr lang="es-CO" sz="3200" dirty="0" smtClean="0">
                <a:latin typeface="+mj-lt"/>
              </a:rPr>
              <a:t>obediencia.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b="1" dirty="0" smtClean="0"/>
          </a:p>
          <a:p>
            <a:pPr algn="just"/>
            <a:r>
              <a:rPr lang="es-CO" b="1" dirty="0" smtClean="0"/>
              <a:t>DISCIPLINA</a:t>
            </a:r>
            <a:r>
              <a:rPr lang="es-CO" b="1" dirty="0" smtClean="0"/>
              <a:t>:  </a:t>
            </a:r>
            <a:r>
              <a:rPr lang="es-CO" sz="3200" dirty="0" smtClean="0">
                <a:latin typeface="+mj-lt"/>
              </a:rPr>
              <a:t>los trabajadores realicen  </a:t>
            </a:r>
            <a:r>
              <a:rPr lang="es-CO" sz="3200" dirty="0" smtClean="0">
                <a:latin typeface="+mj-lt"/>
              </a:rPr>
              <a:t>esfuerzos comunes  </a:t>
            </a:r>
            <a:r>
              <a:rPr lang="es-CO" sz="3200" dirty="0" smtClean="0">
                <a:latin typeface="+mj-lt"/>
              </a:rPr>
              <a:t>en forma ordenada</a:t>
            </a:r>
            <a:r>
              <a:rPr lang="es-CO" b="1" dirty="0" smtClean="0"/>
              <a:t>.</a:t>
            </a:r>
            <a:endParaRPr lang="es-CO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UNIDAD </a:t>
            </a:r>
            <a:r>
              <a:rPr lang="es-CO" sz="3200" dirty="0" smtClean="0">
                <a:latin typeface="+mj-lt"/>
              </a:rPr>
              <a:t>DE MANDO: los trabajadores de las organizaciones  deben recibir ordenes  de un solo administrador 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600" dirty="0" smtClean="0">
                <a:latin typeface="+mj-lt"/>
              </a:rPr>
              <a:t>UNIDAD DE DIRECCION</a:t>
            </a:r>
            <a:r>
              <a:rPr lang="es-CO" dirty="0" smtClean="0"/>
              <a:t>: </a:t>
            </a:r>
            <a:r>
              <a:rPr lang="es-CO" sz="3600" dirty="0" smtClean="0">
                <a:solidFill>
                  <a:srgbClr val="FF0000"/>
                </a:solidFill>
                <a:latin typeface="+mj-lt"/>
              </a:rPr>
              <a:t>toda la organización se debe mover en la misma dirección . </a:t>
            </a:r>
            <a:endParaRPr lang="es-CO" sz="36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3200" dirty="0" smtClean="0">
                <a:latin typeface="+mj-lt"/>
              </a:rPr>
              <a:t>REMUNERACION DEL PERSONAL: el pago debe de ser </a:t>
            </a:r>
            <a:r>
              <a:rPr lang="es-CO" sz="3200" dirty="0" smtClean="0">
                <a:latin typeface="+mj-lt"/>
              </a:rPr>
              <a:t>justo, y </a:t>
            </a:r>
            <a:r>
              <a:rPr lang="es-CO" sz="3200" dirty="0" smtClean="0">
                <a:latin typeface="+mj-lt"/>
              </a:rPr>
              <a:t>debe ser por tiempo y producción , además de las recompensas no financieras.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7143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CENTRALIZACION</a:t>
            </a:r>
            <a:r>
              <a:rPr lang="es-CO" sz="3200" dirty="0" smtClean="0">
                <a:latin typeface="+mj-lt"/>
              </a:rPr>
              <a:t>: </a:t>
            </a:r>
            <a:r>
              <a:rPr lang="es-CO" sz="3200" dirty="0" smtClean="0">
                <a:solidFill>
                  <a:srgbClr val="FF0000"/>
                </a:solidFill>
                <a:latin typeface="+mj-lt"/>
              </a:rPr>
              <a:t>reducir la importancia del papel del subordinado.</a:t>
            </a:r>
            <a:endParaRPr lang="es-CO" sz="32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/>
              <a:t>CADENA ESCALAR</a:t>
            </a:r>
            <a:r>
              <a:rPr lang="es-CO" sz="3200" dirty="0" smtClean="0"/>
              <a:t>: Deben existir líneas </a:t>
            </a:r>
            <a:r>
              <a:rPr lang="es-CO" sz="3200" dirty="0" smtClean="0"/>
              <a:t>de autoridad.</a:t>
            </a:r>
            <a:endParaRPr lang="es-CO" sz="3200" dirty="0"/>
          </a:p>
        </p:txBody>
      </p:sp>
      <p:pic>
        <p:nvPicPr>
          <p:cNvPr id="4" name="3 Imagen" descr="http://3.bp.blogspot.com/_cdFOaeAUQT4/SL7nXX5N_SI/AAAAAAAAABQ/4MM4EotS1B4/s400/JERQUIA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2780928"/>
            <a:ext cx="300039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ORDEN</a:t>
            </a:r>
            <a:r>
              <a:rPr lang="es-CO" sz="3200" dirty="0" smtClean="0">
                <a:latin typeface="+mj-lt"/>
              </a:rPr>
              <a:t>: aumentar la eficiencia  y la coordinación </a:t>
            </a:r>
            <a:r>
              <a:rPr lang="es-CO" dirty="0" smtClean="0"/>
              <a:t>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EQUIDAD: los empleados deben ser tratados de la forma más igualitaria.</a:t>
            </a:r>
            <a:endParaRPr lang="es-CO" sz="3200" dirty="0">
              <a:latin typeface="+mj-lt"/>
            </a:endParaRPr>
          </a:p>
        </p:txBody>
      </p:sp>
      <p:pic>
        <p:nvPicPr>
          <p:cNvPr id="4" name="3 Imagen" descr="http://www.campussur.net/userfiles/image/foros/equidadgeneros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2928934"/>
            <a:ext cx="4572032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ESTABILIDAD </a:t>
            </a:r>
            <a:r>
              <a:rPr lang="es-CO" sz="3200" dirty="0" smtClean="0">
                <a:latin typeface="+mj-lt"/>
              </a:rPr>
              <a:t>DEL PERSONAL EN SUS CARGOS: </a:t>
            </a:r>
            <a:r>
              <a:rPr lang="es-CO" sz="3200" dirty="0" smtClean="0">
                <a:latin typeface="+mj-lt"/>
              </a:rPr>
              <a:t>Se deben retener los </a:t>
            </a:r>
            <a:r>
              <a:rPr lang="es-CO" sz="3200" dirty="0" smtClean="0">
                <a:latin typeface="+mj-lt"/>
              </a:rPr>
              <a:t>trabajadores más </a:t>
            </a:r>
            <a:r>
              <a:rPr lang="es-CO" sz="3200" dirty="0" smtClean="0">
                <a:latin typeface="+mj-lt"/>
              </a:rPr>
              <a:t>productivos.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/>
              <a:t>INICIATIVA: motivar la iniciativa del trabajador </a:t>
            </a:r>
            <a:endParaRPr lang="es-CO" sz="3200" dirty="0"/>
          </a:p>
        </p:txBody>
      </p:sp>
      <p:pic>
        <p:nvPicPr>
          <p:cNvPr id="5" name="ipfK7vSVGtQZ4_0MM:" descr="http://t2.gstatic.com/images?q=tbn:K7vSVGtQZ4_0MM:http://3.bp.blogspot.com/_2553WjzQWhI/SdJ0bj_01XI/AAAAAAAAABg/2wbTG__pcyo/s320/vocacion-y-motivacion.gif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298" y="2967037"/>
            <a:ext cx="3571900" cy="239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3200" dirty="0" smtClean="0">
                <a:latin typeface="+mj-lt"/>
              </a:rPr>
              <a:t>SUBORDINACION DEL INTERES INDIVIDUAL AL INTERES GENERAL</a:t>
            </a:r>
            <a:r>
              <a:rPr lang="es-CO" sz="3200" dirty="0" smtClean="0">
                <a:latin typeface="+mj-lt"/>
              </a:rPr>
              <a:t>:</a:t>
            </a:r>
          </a:p>
          <a:p>
            <a:pPr algn="just">
              <a:buNone/>
            </a:pPr>
            <a:r>
              <a:rPr lang="es-CO" sz="3200" dirty="0" smtClean="0">
                <a:latin typeface="+mj-lt"/>
              </a:rPr>
              <a:t>	Los</a:t>
            </a:r>
            <a:r>
              <a:rPr lang="es-CO" sz="3200" dirty="0" smtClean="0">
                <a:latin typeface="+mj-lt"/>
              </a:rPr>
              <a:t> </a:t>
            </a:r>
            <a:r>
              <a:rPr lang="es-CO" sz="3200" dirty="0" smtClean="0">
                <a:latin typeface="+mj-lt"/>
              </a:rPr>
              <a:t>intereses de las personas  no deben prevalecer sobre las metas de la organización. 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Principios administrativos generales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ESPIRITUD  </a:t>
            </a:r>
            <a:r>
              <a:rPr lang="es-CO" sz="3200" dirty="0" smtClean="0">
                <a:latin typeface="+mj-lt"/>
              </a:rPr>
              <a:t>DE EQUIPO: propiciar armonía  y la buena voluntad  general  de los empleados </a:t>
            </a:r>
            <a:r>
              <a:rPr lang="es-CO" dirty="0" smtClean="0"/>
              <a:t>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Describió gran parte de sus escritos  a la elaboración  de conceptos  y criterios relativos  a las características que debe tener un  administrador de empresa.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CUALIDADES DE UN ADMINISTRADOR 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SALUD Y VIGOR  FISICO: la salud tiene que ser optima para soportar presiones jornada  y tareas complejas</a:t>
            </a:r>
            <a:endParaRPr lang="es-CO" sz="3200" dirty="0">
              <a:latin typeface="+mj-lt"/>
            </a:endParaRPr>
          </a:p>
        </p:txBody>
      </p:sp>
      <p:pic>
        <p:nvPicPr>
          <p:cNvPr id="4" name="ipf4cpUO7VW02XSwM:" descr="http://t0.gstatic.com/images?q=tbn:4cpUO7VW02XSwM:http://www.protomedicos.com/wp-content/uploads/2009/04/dmdls.jp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3571876"/>
            <a:ext cx="2571768" cy="2476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CUALIDADES DE UN ADMINISTRADOR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sz="3200" dirty="0" smtClean="0">
                <a:latin typeface="+mj-lt"/>
              </a:rPr>
              <a:t>INTELIGENCIA Y  VIGOR INTELECTUAL: capacidad  de </a:t>
            </a:r>
            <a:r>
              <a:rPr lang="es-CO" sz="3200" dirty="0" smtClean="0">
                <a:latin typeface="+mj-lt"/>
              </a:rPr>
              <a:t>entender, aprender, </a:t>
            </a:r>
            <a:r>
              <a:rPr lang="es-CO" sz="3200" dirty="0" smtClean="0">
                <a:latin typeface="+mj-lt"/>
              </a:rPr>
              <a:t>comprender  y </a:t>
            </a:r>
            <a:r>
              <a:rPr lang="es-CO" sz="3200" dirty="0" smtClean="0">
                <a:latin typeface="+mj-lt"/>
              </a:rPr>
              <a:t> asimilar</a:t>
            </a:r>
            <a:r>
              <a:rPr lang="es-CO" dirty="0" smtClean="0"/>
              <a:t>.</a:t>
            </a:r>
            <a:endParaRPr lang="es-CO" dirty="0"/>
          </a:p>
        </p:txBody>
      </p:sp>
      <p:pic>
        <p:nvPicPr>
          <p:cNvPr id="5" name="ipfoU1cS6YqbBE2PM:" descr="http://t0.gstatic.com/images?q=tbn:oU1cS6YqbBE2PM:http://www.sabiduria.com/images/inteligencia.jp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3714752"/>
            <a:ext cx="3357586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CUALIDADES DE UN ADMINISTRADOR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dirty="0" smtClean="0"/>
              <a:t>CUALIDADES </a:t>
            </a:r>
            <a:r>
              <a:rPr lang="es-CO" dirty="0" smtClean="0"/>
              <a:t>MORALES: </a:t>
            </a:r>
            <a:endParaRPr lang="es-CO" dirty="0" smtClean="0"/>
          </a:p>
          <a:p>
            <a:pPr>
              <a:buNone/>
            </a:pPr>
            <a:r>
              <a:rPr lang="es-CO" sz="3200" dirty="0" smtClean="0">
                <a:latin typeface="+mj-lt"/>
              </a:rPr>
              <a:t>	</a:t>
            </a:r>
            <a:r>
              <a:rPr lang="es-CO" sz="3200" dirty="0" smtClean="0">
                <a:latin typeface="+mj-lt"/>
              </a:rPr>
              <a:t>Debe </a:t>
            </a:r>
            <a:r>
              <a:rPr lang="es-CO" sz="3200" dirty="0" smtClean="0">
                <a:latin typeface="+mj-lt"/>
              </a:rPr>
              <a:t>ser ejemplo y tener </a:t>
            </a:r>
            <a:r>
              <a:rPr lang="es-CO" sz="3200" dirty="0" smtClean="0">
                <a:latin typeface="+mj-lt"/>
              </a:rPr>
              <a:t>carácter,  </a:t>
            </a:r>
            <a:r>
              <a:rPr lang="es-CO" sz="3200" dirty="0" smtClean="0">
                <a:latin typeface="+mj-lt"/>
              </a:rPr>
              <a:t>firmeza , </a:t>
            </a:r>
            <a:r>
              <a:rPr lang="es-CO" sz="3200" dirty="0" smtClean="0">
                <a:latin typeface="+mj-lt"/>
              </a:rPr>
              <a:t>honestidad, disciplina y  rectitud. 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CUALIDADES DE UN ADMINISTRADOR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dirty="0" smtClean="0"/>
              <a:t>CULTURA</a:t>
            </a:r>
            <a:r>
              <a:rPr lang="es-CO" dirty="0" smtClean="0"/>
              <a:t>: </a:t>
            </a:r>
            <a:r>
              <a:rPr lang="es-CO" sz="3200" dirty="0" smtClean="0">
                <a:latin typeface="+mj-lt"/>
              </a:rPr>
              <a:t>Un administrador debe desarrollar una cultura  general  </a:t>
            </a:r>
            <a:r>
              <a:rPr lang="es-CO" sz="3200" dirty="0" smtClean="0">
                <a:latin typeface="+mj-lt"/>
              </a:rPr>
              <a:t>humanística, </a:t>
            </a:r>
            <a:r>
              <a:rPr lang="es-CO" sz="3200" dirty="0" smtClean="0">
                <a:latin typeface="+mj-lt"/>
              </a:rPr>
              <a:t>científica  y universal.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CUALIDADES DE UN ADMINISTRADOR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CONOCIMIENTO  ADMINISTRATIVO: </a:t>
            </a:r>
            <a:endParaRPr lang="es-CO" dirty="0" smtClean="0"/>
          </a:p>
          <a:p>
            <a:pPr algn="just">
              <a:buNone/>
            </a:pPr>
            <a:r>
              <a:rPr lang="es-CO" sz="3200" dirty="0" smtClean="0">
                <a:latin typeface="+mj-lt"/>
              </a:rPr>
              <a:t>	Conocer teorías de </a:t>
            </a:r>
            <a:r>
              <a:rPr lang="es-CO" sz="3200" dirty="0" smtClean="0">
                <a:latin typeface="+mj-lt"/>
              </a:rPr>
              <a:t>técnicas  administrativas,  </a:t>
            </a:r>
            <a:r>
              <a:rPr lang="es-CO" sz="3200" dirty="0" smtClean="0">
                <a:latin typeface="+mj-lt"/>
              </a:rPr>
              <a:t>relacionadas  con la organización del trabajo.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TEORIA DE LA ADMINISTRACION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Definición:  Colección  de principios , reglas ,  métodos  y procedimientos  comprobados  y verificados por la experiencia en general. Basada en la división del trabajo, la especialización, la coordinación  y las actividades de la línea de staff.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Método de administración positiva.</a:t>
            </a:r>
          </a:p>
          <a:p>
            <a:r>
              <a:rPr lang="es-CO" sz="3200" dirty="0" smtClean="0">
                <a:latin typeface="+mj-lt"/>
              </a:rPr>
              <a:t>Abordar  la  enseñanza  de la administración en la universidad  y más aun propuso enseñarla en la escuela primaria.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Demostró que  el  complejo proceso  administrativo  puede ser dividido  en aéreas de responsabilidad  o de funciones interdependientes.</a:t>
            </a:r>
          </a:p>
          <a:p>
            <a:r>
              <a:rPr lang="es-CO" sz="3200" dirty="0" smtClean="0">
                <a:latin typeface="+mj-lt"/>
              </a:rPr>
              <a:t>Figura del jefe máximo.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Menciona  la necesidad  de contar  con diagramas  de la organización , realizar reuniones  y elaborar  informes , y crear un sistema de contabilidad .</a:t>
            </a:r>
          </a:p>
          <a:p>
            <a:pPr>
              <a:buNone/>
            </a:pPr>
            <a:endParaRPr lang="es-CO" sz="3200" dirty="0">
              <a:latin typeface="+mj-lt"/>
            </a:endParaRPr>
          </a:p>
        </p:txBody>
      </p:sp>
      <p:pic>
        <p:nvPicPr>
          <p:cNvPr id="4" name="ipfU3jI19Fw8j254M:" descr="http://t0.gstatic.com/images?q=tbn:U3jI19Fw8j254M:http://finvest.es/images/informes.jp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4143380"/>
            <a:ext cx="378621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sz="3200" dirty="0" smtClean="0">
              <a:latin typeface="+mj-lt"/>
            </a:endParaRPr>
          </a:p>
          <a:p>
            <a:r>
              <a:rPr lang="es-CO" sz="3200" dirty="0" smtClean="0">
                <a:latin typeface="+mj-lt"/>
              </a:rPr>
              <a:t>Presidió </a:t>
            </a:r>
            <a:r>
              <a:rPr lang="es-CO" sz="3200" dirty="0" smtClean="0">
                <a:latin typeface="+mj-lt"/>
              </a:rPr>
              <a:t>el  centro de estudios administrativos  para promover el avance del pensamiento administrativos </a:t>
            </a:r>
            <a:r>
              <a:rPr lang="es-CO" dirty="0" smtClean="0"/>
              <a:t>.</a:t>
            </a:r>
            <a:endParaRPr lang="es-CO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CO" sz="3200" dirty="0" smtClean="0">
                <a:latin typeface="+mj-lt"/>
              </a:rPr>
              <a:t>Desarrolla los primeros estudios y análisis de los aspectos de dirección y administración de las organizaciones.  </a:t>
            </a:r>
          </a:p>
          <a:p>
            <a:r>
              <a:rPr lang="es-CO" sz="3200" dirty="0" smtClean="0">
                <a:latin typeface="+mj-lt"/>
              </a:rPr>
              <a:t>Enuncia </a:t>
            </a:r>
            <a:r>
              <a:rPr lang="es-CO" sz="3200" dirty="0" smtClean="0">
                <a:latin typeface="+mj-lt"/>
              </a:rPr>
              <a:t>los 14 clásicos principios de Administración. </a:t>
            </a:r>
            <a:br>
              <a:rPr lang="es-CO" sz="3200" dirty="0" smtClean="0">
                <a:latin typeface="+mj-lt"/>
              </a:rPr>
            </a:br>
            <a:endParaRPr lang="es-CO" sz="3200" dirty="0">
              <a:latin typeface="+mj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OTROS APORTES DE FAYOL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CO" sz="3200" dirty="0" smtClean="0">
                <a:latin typeface="+mj-lt"/>
              </a:rPr>
              <a:t>Aplica un concepto de división de la Empresa en áreas y una importante metodología administrativa la cual integra un importante punto de partida para la administración.  </a:t>
            </a:r>
          </a:p>
          <a:p>
            <a:pPr>
              <a:buNone/>
            </a:pPr>
            <a:r>
              <a:rPr lang="es-CO" sz="3200" dirty="0" smtClean="0">
                <a:latin typeface="+mj-lt"/>
              </a:rPr>
              <a:t/>
            </a:r>
            <a:br>
              <a:rPr lang="es-CO" sz="3200" dirty="0" smtClean="0">
                <a:latin typeface="+mj-lt"/>
              </a:rPr>
            </a:br>
            <a:endParaRPr lang="es-CO" sz="3200" dirty="0">
              <a:latin typeface="+mj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  </a:t>
            </a:r>
            <a:r>
              <a:rPr lang="es-CO" dirty="0" smtClean="0">
                <a:latin typeface="Algerian" pitchFamily="82" charset="0"/>
              </a:rPr>
              <a:t>OBRAS DE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En 1900  presenta su obra principal  “administración  industrial y general”.  Donde afirma que  todos los empleados de una organización  participan de mayor o menor grado , en la función administrativa.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OBRAS DE FAYOL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Con esto afirma que los que son particularmente talentoso  pueden subir de los grados más  bajos a los más altos de la jerarquía de la organización.</a:t>
            </a:r>
            <a:endParaRPr lang="es-CO" dirty="0"/>
          </a:p>
        </p:txBody>
      </p:sp>
      <p:pic>
        <p:nvPicPr>
          <p:cNvPr id="4" name="3 Imagen" descr="http://management.iprofesional.com/adjuntos/imagenes/15/031151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3357562"/>
            <a:ext cx="5612130" cy="311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OBRAS DE FAYOL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3200" dirty="0" smtClean="0">
                <a:latin typeface="+mj-lt"/>
              </a:rPr>
              <a:t>En 1908 lanza un folleto para  el jubileo  de la sociedad  industrial minera  en el cual hay avances del pensamiento administrativo</a:t>
            </a:r>
            <a:r>
              <a:rPr lang="es-CO" dirty="0" smtClean="0"/>
              <a:t>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Algerian" pitchFamily="82" charset="0"/>
              </a:rPr>
              <a:t>SEGUIDORES DE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Luther Gulik            Lyndall F.        James D mooney</a:t>
            </a:r>
            <a:endParaRPr lang="es-CO" dirty="0"/>
          </a:p>
        </p:txBody>
      </p:sp>
      <p:pic>
        <p:nvPicPr>
          <p:cNvPr id="4" name="3 Imagen" descr="http://www.spfldcol.edu/home.nsf/YMCA_92_Luther-H.-Gulick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357430"/>
            <a:ext cx="119062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4 Imagen" descr="http://www.facebook.com/profile/pic.php?uid=AAAAAQAQBQ5RzqOmczRVfqkvTFgHgAAAAArmuDjOMe41wxZgsU9DZ-xO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714620"/>
            <a:ext cx="142876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main_image" descr="click to zoom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8" y="2643182"/>
            <a:ext cx="3219445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CRITICAS a la teoría clásica  de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Si bien los propósitos  de las organizaciones  pueden variar , un proceso de  administrativo  básico  siempre es el mismo  en todas ellas.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>
                <a:latin typeface="Algerian" pitchFamily="82" charset="0"/>
              </a:rPr>
              <a:t>Criticas a la teoría clásica  de FAYOL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 smtClean="0">
                <a:latin typeface="+mj-lt"/>
              </a:rPr>
              <a:t>Para  especializar el trabajo  administrativo ,la organización debería restringir  al estudio de su estructura  que comprenden  los órganos y las actividades  eran realizadas  y la respectiva  interlineación  e interrelaciones </a:t>
            </a:r>
            <a:endParaRPr lang="es-CO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   </a:t>
            </a:r>
            <a:r>
              <a:rPr lang="es-CO" dirty="0" smtClean="0">
                <a:latin typeface="Algerian" pitchFamily="82" charset="0"/>
              </a:rPr>
              <a:t>TAYLOR  Y   FAYOL</a:t>
            </a:r>
            <a:endParaRPr lang="es-CO" dirty="0">
              <a:latin typeface="Algerian" pitchFamily="82" charset="0"/>
            </a:endParaRPr>
          </a:p>
        </p:txBody>
      </p:sp>
      <p:sp>
        <p:nvSpPr>
          <p:cNvPr id="6" name="5 Flecha abajo"/>
          <p:cNvSpPr/>
          <p:nvPr/>
        </p:nvSpPr>
        <p:spPr>
          <a:xfrm>
            <a:off x="2000232" y="1785926"/>
            <a:ext cx="714380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6 Flecha abajo"/>
          <p:cNvSpPr/>
          <p:nvPr/>
        </p:nvSpPr>
        <p:spPr>
          <a:xfrm>
            <a:off x="5500694" y="1714488"/>
            <a:ext cx="1000132" cy="7143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5000628" y="2571744"/>
            <a:ext cx="271464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Teoría de la administración clásica.</a:t>
            </a:r>
            <a:endParaRPr lang="es-CO" dirty="0"/>
          </a:p>
        </p:txBody>
      </p:sp>
      <p:sp>
        <p:nvSpPr>
          <p:cNvPr id="9" name="8 Rectángulo"/>
          <p:cNvSpPr/>
          <p:nvPr/>
        </p:nvSpPr>
        <p:spPr>
          <a:xfrm>
            <a:off x="714348" y="2571744"/>
            <a:ext cx="300039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Teoría de la administración científica</a:t>
            </a:r>
            <a:endParaRPr lang="es-CO" dirty="0"/>
          </a:p>
        </p:txBody>
      </p:sp>
      <p:sp>
        <p:nvSpPr>
          <p:cNvPr id="10" name="9 Flecha derecha"/>
          <p:cNvSpPr/>
          <p:nvPr/>
        </p:nvSpPr>
        <p:spPr>
          <a:xfrm>
            <a:off x="5572132" y="3500438"/>
            <a:ext cx="357190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6143636" y="3786190"/>
            <a:ext cx="214314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Hincapié en la estructura  organizacional</a:t>
            </a:r>
            <a:endParaRPr lang="es-CO" dirty="0"/>
          </a:p>
        </p:txBody>
      </p:sp>
      <p:sp>
        <p:nvSpPr>
          <p:cNvPr id="12" name="11 Flecha abajo"/>
          <p:cNvSpPr/>
          <p:nvPr/>
        </p:nvSpPr>
        <p:spPr>
          <a:xfrm>
            <a:off x="6786578" y="4572008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5000628" y="4929198"/>
            <a:ext cx="3571900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Objetivo: aumentar la eficiencia  organizacional  por medio de la definición  de diversos niveles de responsabilidad</a:t>
            </a:r>
            <a:endParaRPr lang="es-CO" dirty="0"/>
          </a:p>
        </p:txBody>
      </p:sp>
      <p:sp>
        <p:nvSpPr>
          <p:cNvPr id="14" name="13 Flecha abajo"/>
          <p:cNvSpPr/>
          <p:nvPr/>
        </p:nvSpPr>
        <p:spPr>
          <a:xfrm>
            <a:off x="642910" y="3571876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4 Rectángulo"/>
          <p:cNvSpPr/>
          <p:nvPr/>
        </p:nvSpPr>
        <p:spPr>
          <a:xfrm>
            <a:off x="1142976" y="3786190"/>
            <a:ext cx="250033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Hincapié  en la  definición  de las tareas  de los empleados </a:t>
            </a:r>
            <a:endParaRPr lang="es-CO" dirty="0"/>
          </a:p>
        </p:txBody>
      </p:sp>
      <p:sp>
        <p:nvSpPr>
          <p:cNvPr id="16" name="15 Flecha abajo"/>
          <p:cNvSpPr/>
          <p:nvPr/>
        </p:nvSpPr>
        <p:spPr>
          <a:xfrm>
            <a:off x="2357422" y="4643446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16 Rectángulo"/>
          <p:cNvSpPr/>
          <p:nvPr/>
        </p:nvSpPr>
        <p:spPr>
          <a:xfrm>
            <a:off x="1142976" y="5072074"/>
            <a:ext cx="3214710" cy="1143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Objetivo: Aumentar  la eficiencia  organizacional  por medio  de la especialización  de los obreros 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598</TotalTime>
  <Words>1164</Words>
  <Application>Microsoft Office PowerPoint</Application>
  <PresentationFormat>Presentación en pantalla (4:3)</PresentationFormat>
  <Paragraphs>151</Paragraphs>
  <Slides>55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56" baseType="lpstr">
      <vt:lpstr>Flujo</vt:lpstr>
      <vt:lpstr>         HENRY FAYOL</vt:lpstr>
      <vt:lpstr>HENRY FAYOL</vt:lpstr>
      <vt:lpstr> ESTUDIOS  DE   HENRY FAYOL</vt:lpstr>
      <vt:lpstr>           HENRY FAYOL</vt:lpstr>
      <vt:lpstr>              HENRY FAYOL</vt:lpstr>
      <vt:lpstr>          HENRY FAYOL </vt:lpstr>
      <vt:lpstr>     SEGÚN HENRY FAYOL</vt:lpstr>
      <vt:lpstr>operaciones   DE LA TEORIA ADMINISTRATIVA DE FAYOL</vt:lpstr>
      <vt:lpstr>Operaciones   de la teoría  de la administración</vt:lpstr>
      <vt:lpstr>Operaciones técnicas</vt:lpstr>
      <vt:lpstr>Operaciones  comerciales </vt:lpstr>
      <vt:lpstr>Operaciones financieras </vt:lpstr>
      <vt:lpstr>Operaciones  de seguridad</vt:lpstr>
      <vt:lpstr>Operaciones  contables </vt:lpstr>
      <vt:lpstr>Operaciones administrativas </vt:lpstr>
      <vt:lpstr>FUNCIONES DE LA ADMINISTRACION</vt:lpstr>
      <vt:lpstr>       FUNCIONES  DE LA ADMINISTRACION .</vt:lpstr>
      <vt:lpstr>FUNCIONES  DE LA ADMINISTRACION</vt:lpstr>
      <vt:lpstr>FUNCIONES  DE LA ADMINISTRACION</vt:lpstr>
      <vt:lpstr>FUNCIONES  DE LA ADMINISTRACION</vt:lpstr>
      <vt:lpstr>FUNCIONES  DE LA ADMINISTRACION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Principios administrativos generales</vt:lpstr>
      <vt:lpstr>OTROS APORTES DE FAYOL </vt:lpstr>
      <vt:lpstr>CUALIDADES DE UN ADMINISTRADOR </vt:lpstr>
      <vt:lpstr>CUALIDADES DE UN ADMINISTRADOR </vt:lpstr>
      <vt:lpstr>CUALIDADES DE UN ADMINISTRADOR </vt:lpstr>
      <vt:lpstr>CUALIDADES DE UN ADMINISTRADOR </vt:lpstr>
      <vt:lpstr>CUALIDADES DE UN ADMINISTRADOR </vt:lpstr>
      <vt:lpstr>TEORIA DE LA ADMINISTRACION</vt:lpstr>
      <vt:lpstr>OTROS APORTES DE FAYOL </vt:lpstr>
      <vt:lpstr>OTROS APORTES DE FAYOL </vt:lpstr>
      <vt:lpstr>OTROS APORTES DE FAYOL </vt:lpstr>
      <vt:lpstr>OTROS APORTES DE FAYOL </vt:lpstr>
      <vt:lpstr>OTROS APORTES DE FAYOL </vt:lpstr>
      <vt:lpstr>OTROS APORTES DE FAYOL </vt:lpstr>
      <vt:lpstr>     OBRAS DE FAYOL</vt:lpstr>
      <vt:lpstr>OBRAS DE FAYOL</vt:lpstr>
      <vt:lpstr>OBRAS DE FAYOL</vt:lpstr>
      <vt:lpstr>SEGUIDORES DE FAYOL</vt:lpstr>
      <vt:lpstr>CRITICAS a la teoría clásica  de FAYOL</vt:lpstr>
      <vt:lpstr>Criticas a la teoría clásica  de FAYOL</vt:lpstr>
      <vt:lpstr>   TAYLOR  Y   FAYOL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FAYOL</dc:title>
  <dc:creator>USUARIO</dc:creator>
  <cp:lastModifiedBy>jorge lopez</cp:lastModifiedBy>
  <cp:revision>67</cp:revision>
  <dcterms:created xsi:type="dcterms:W3CDTF">2010-08-29T17:38:04Z</dcterms:created>
  <dcterms:modified xsi:type="dcterms:W3CDTF">2011-09-20T00:09:44Z</dcterms:modified>
</cp:coreProperties>
</file>