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53"/>
  </p:notesMasterIdLst>
  <p:handoutMasterIdLst>
    <p:handoutMasterId r:id="rId54"/>
  </p:handoutMasterIdLst>
  <p:sldIdLst>
    <p:sldId id="256" r:id="rId2"/>
    <p:sldId id="265" r:id="rId3"/>
    <p:sldId id="257" r:id="rId4"/>
    <p:sldId id="258" r:id="rId5"/>
    <p:sldId id="259" r:id="rId6"/>
    <p:sldId id="260" r:id="rId7"/>
    <p:sldId id="272" r:id="rId8"/>
    <p:sldId id="261" r:id="rId9"/>
    <p:sldId id="266" r:id="rId10"/>
    <p:sldId id="267" r:id="rId11"/>
    <p:sldId id="268" r:id="rId12"/>
    <p:sldId id="283" r:id="rId13"/>
    <p:sldId id="271" r:id="rId14"/>
    <p:sldId id="284" r:id="rId15"/>
    <p:sldId id="273" r:id="rId16"/>
    <p:sldId id="282" r:id="rId17"/>
    <p:sldId id="274" r:id="rId18"/>
    <p:sldId id="285" r:id="rId19"/>
    <p:sldId id="286" r:id="rId20"/>
    <p:sldId id="287" r:id="rId21"/>
    <p:sldId id="288" r:id="rId22"/>
    <p:sldId id="289" r:id="rId23"/>
    <p:sldId id="306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303" r:id="rId32"/>
    <p:sldId id="309" r:id="rId33"/>
    <p:sldId id="308" r:id="rId34"/>
    <p:sldId id="302" r:id="rId35"/>
    <p:sldId id="304" r:id="rId36"/>
    <p:sldId id="307" r:id="rId37"/>
    <p:sldId id="298" r:id="rId38"/>
    <p:sldId id="301" r:id="rId39"/>
    <p:sldId id="299" r:id="rId40"/>
    <p:sldId id="300" r:id="rId41"/>
    <p:sldId id="262" r:id="rId42"/>
    <p:sldId id="263" r:id="rId43"/>
    <p:sldId id="290" r:id="rId44"/>
    <p:sldId id="264" r:id="rId45"/>
    <p:sldId id="291" r:id="rId46"/>
    <p:sldId id="310" r:id="rId47"/>
    <p:sldId id="311" r:id="rId48"/>
    <p:sldId id="292" r:id="rId49"/>
    <p:sldId id="293" r:id="rId50"/>
    <p:sldId id="294" r:id="rId51"/>
    <p:sldId id="296" r:id="rId5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</p:showPr>
  <p:clrMru>
    <a:srgbClr val="003399"/>
    <a:srgbClr val="336699"/>
    <a:srgbClr val="008080"/>
    <a:srgbClr val="009999"/>
    <a:srgbClr val="FF9966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787"/>
    <p:restoredTop sz="90929"/>
  </p:normalViewPr>
  <p:slideViewPr>
    <p:cSldViewPr>
      <p:cViewPr varScale="1">
        <p:scale>
          <a:sx n="53" d="100"/>
          <a:sy n="53" d="100"/>
        </p:scale>
        <p:origin x="-726" y="-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B0EFF597-8BFE-4A8E-8FA9-61C37597CC3B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noProof="0" smtClean="0"/>
              <a:t>Haga clic para modificar el estilo de texto del patrón</a:t>
            </a:r>
          </a:p>
          <a:p>
            <a:pPr lvl="1"/>
            <a:r>
              <a:rPr lang="es-ES" noProof="0" smtClean="0"/>
              <a:t>Segundo nivel</a:t>
            </a:r>
          </a:p>
          <a:p>
            <a:pPr lvl="2"/>
            <a:r>
              <a:rPr lang="es-ES" noProof="0" smtClean="0"/>
              <a:t>Tercer nivel</a:t>
            </a:r>
          </a:p>
          <a:p>
            <a:pPr lvl="3"/>
            <a:r>
              <a:rPr lang="es-ES" noProof="0" smtClean="0"/>
              <a:t>Cuarto nivel</a:t>
            </a:r>
          </a:p>
          <a:p>
            <a:pPr lvl="4"/>
            <a:r>
              <a:rPr lang="es-ES" noProof="0" smtClean="0"/>
              <a:t>Quinto nivel</a:t>
            </a: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Times New Roman" charset="0"/>
              </a:defRPr>
            </a:lvl1pPr>
          </a:lstStyle>
          <a:p>
            <a:pPr>
              <a:defRPr/>
            </a:pPr>
            <a:fld id="{86C62FC5-CE4C-42E3-8CAA-84C155A6141E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54C74D0-152E-42C9-9E78-ADB99BB55E9E}" type="slidenum">
              <a:rPr lang="es-ES" smtClean="0">
                <a:latin typeface="Times New Roman" pitchFamily="18" charset="0"/>
              </a:rPr>
              <a:pPr/>
              <a:t>1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1638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99CB3E0-EA8B-4E9D-A2F7-F2CE38C0F649}" type="slidenum">
              <a:rPr lang="es-ES" smtClean="0">
                <a:latin typeface="Times New Roman" pitchFamily="18" charset="0"/>
              </a:rPr>
              <a:pPr/>
              <a:t>3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194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0927689-9CE5-45C6-B2E0-87F13E2CFF80}" type="slidenum">
              <a:rPr lang="es-ES" smtClean="0">
                <a:latin typeface="Times New Roman" pitchFamily="18" charset="0"/>
              </a:rPr>
              <a:pPr/>
              <a:t>4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1506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F2746BA-0CE0-4A4F-BC1B-AB912D868301}" type="slidenum">
              <a:rPr lang="es-ES" smtClean="0">
                <a:latin typeface="Times New Roman" pitchFamily="18" charset="0"/>
              </a:rPr>
              <a:pPr/>
              <a:t>5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3554" name="Rectangle 512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512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2CF4720-3821-4048-A0DD-D8BD486536BE}" type="slidenum">
              <a:rPr lang="es-ES" smtClean="0">
                <a:latin typeface="Times New Roman" pitchFamily="18" charset="0"/>
              </a:rPr>
              <a:pPr/>
              <a:t>6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5602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027DAB4-92F0-41D3-8944-2DBECD1BB25B}" type="slidenum">
              <a:rPr lang="es-ES" smtClean="0">
                <a:latin typeface="Times New Roman" pitchFamily="18" charset="0"/>
              </a:rPr>
              <a:pPr/>
              <a:t>8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96F73495-4EDC-4D2C-B620-9B9AA46B1F59}" type="slidenum">
              <a:rPr lang="es-ES" smtClean="0">
                <a:latin typeface="Times New Roman" pitchFamily="18" charset="0"/>
              </a:rPr>
              <a:pPr/>
              <a:t>41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80A3ED4A-365B-4C32-95B3-366205B953FC}" type="slidenum">
              <a:rPr lang="es-ES" smtClean="0">
                <a:latin typeface="Times New Roman" pitchFamily="18" charset="0"/>
              </a:rPr>
              <a:pPr/>
              <a:t>42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552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B9F18E2-B59D-406B-B57C-29CB31EAAC46}" type="slidenum">
              <a:rPr lang="es-ES" smtClean="0">
                <a:latin typeface="Times New Roman" pitchFamily="18" charset="0"/>
              </a:rPr>
              <a:pPr/>
              <a:t>44</a:t>
            </a:fld>
            <a:endParaRPr lang="es-ES" dirty="0" smtClean="0">
              <a:latin typeface="Times New Roman" pitchFamily="18" charset="0"/>
            </a:endParaRPr>
          </a:p>
        </p:txBody>
      </p:sp>
      <p:sp>
        <p:nvSpPr>
          <p:cNvPr id="583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-1035050" y="1552575"/>
            <a:ext cx="10179050" cy="5305425"/>
            <a:chOff x="-652" y="978"/>
            <a:chExt cx="6412" cy="3342"/>
          </a:xfrm>
        </p:grpSpPr>
        <p:sp>
          <p:nvSpPr>
            <p:cNvPr id="5" name="Freeform 3"/>
            <p:cNvSpPr>
              <a:spLocks/>
            </p:cNvSpPr>
            <p:nvPr/>
          </p:nvSpPr>
          <p:spPr bwMode="auto">
            <a:xfrm>
              <a:off x="2061" y="1707"/>
              <a:ext cx="3699" cy="2613"/>
            </a:xfrm>
            <a:custGeom>
              <a:avLst/>
              <a:gdLst/>
              <a:ahLst/>
              <a:cxnLst>
                <a:cxn ang="0">
                  <a:pos x="1523" y="2611"/>
                </a:cxn>
                <a:cxn ang="0">
                  <a:pos x="3698" y="2612"/>
                </a:cxn>
                <a:cxn ang="0">
                  <a:pos x="3698" y="2228"/>
                </a:cxn>
                <a:cxn ang="0">
                  <a:pos x="0" y="0"/>
                </a:cxn>
                <a:cxn ang="0">
                  <a:pos x="160" y="118"/>
                </a:cxn>
                <a:cxn ang="0">
                  <a:pos x="292" y="219"/>
                </a:cxn>
                <a:cxn ang="0">
                  <a:pos x="441" y="347"/>
                </a:cxn>
                <a:cxn ang="0">
                  <a:pos x="585" y="482"/>
                </a:cxn>
                <a:cxn ang="0">
                  <a:pos x="796" y="711"/>
                </a:cxn>
                <a:cxn ang="0">
                  <a:pos x="983" y="955"/>
                </a:cxn>
                <a:cxn ang="0">
                  <a:pos x="1119" y="1168"/>
                </a:cxn>
                <a:cxn ang="0">
                  <a:pos x="1238" y="1388"/>
                </a:cxn>
                <a:cxn ang="0">
                  <a:pos x="1331" y="1608"/>
                </a:cxn>
                <a:cxn ang="0">
                  <a:pos x="1400" y="1809"/>
                </a:cxn>
                <a:cxn ang="0">
                  <a:pos x="1447" y="1979"/>
                </a:cxn>
                <a:cxn ang="0">
                  <a:pos x="1490" y="2190"/>
                </a:cxn>
                <a:cxn ang="0">
                  <a:pos x="1511" y="2374"/>
                </a:cxn>
                <a:cxn ang="0">
                  <a:pos x="1523" y="2611"/>
                </a:cxn>
              </a:cxnLst>
              <a:rect l="0" t="0" r="r" b="b"/>
              <a:pathLst>
                <a:path w="3699" h="2613">
                  <a:moveTo>
                    <a:pt x="1523" y="2611"/>
                  </a:moveTo>
                  <a:lnTo>
                    <a:pt x="3698" y="2612"/>
                  </a:lnTo>
                  <a:lnTo>
                    <a:pt x="3698" y="2228"/>
                  </a:lnTo>
                  <a:lnTo>
                    <a:pt x="0" y="0"/>
                  </a:lnTo>
                  <a:lnTo>
                    <a:pt x="160" y="118"/>
                  </a:lnTo>
                  <a:lnTo>
                    <a:pt x="292" y="219"/>
                  </a:lnTo>
                  <a:lnTo>
                    <a:pt x="441" y="347"/>
                  </a:lnTo>
                  <a:lnTo>
                    <a:pt x="585" y="482"/>
                  </a:lnTo>
                  <a:lnTo>
                    <a:pt x="796" y="711"/>
                  </a:lnTo>
                  <a:lnTo>
                    <a:pt x="983" y="955"/>
                  </a:lnTo>
                  <a:lnTo>
                    <a:pt x="1119" y="1168"/>
                  </a:lnTo>
                  <a:lnTo>
                    <a:pt x="1238" y="1388"/>
                  </a:lnTo>
                  <a:lnTo>
                    <a:pt x="1331" y="1608"/>
                  </a:lnTo>
                  <a:lnTo>
                    <a:pt x="1400" y="1809"/>
                  </a:lnTo>
                  <a:lnTo>
                    <a:pt x="1447" y="1979"/>
                  </a:lnTo>
                  <a:lnTo>
                    <a:pt x="1490" y="2190"/>
                  </a:lnTo>
                  <a:lnTo>
                    <a:pt x="1511" y="2374"/>
                  </a:lnTo>
                  <a:lnTo>
                    <a:pt x="1523" y="2611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  <p:sp>
          <p:nvSpPr>
            <p:cNvPr id="6" name="Arc 4"/>
            <p:cNvSpPr>
              <a:spLocks/>
            </p:cNvSpPr>
            <p:nvPr/>
          </p:nvSpPr>
          <p:spPr bwMode="auto">
            <a:xfrm>
              <a:off x="-652" y="978"/>
              <a:ext cx="4237" cy="3342"/>
            </a:xfrm>
            <a:custGeom>
              <a:avLst/>
              <a:gdLst>
                <a:gd name="G0" fmla="+- 0 0 0"/>
                <a:gd name="G1" fmla="+- 21231 0 0"/>
                <a:gd name="G2" fmla="+- 21600 0 0"/>
                <a:gd name="T0" fmla="*/ 3977 w 21600"/>
                <a:gd name="T1" fmla="*/ 0 h 21231"/>
                <a:gd name="T2" fmla="*/ 21600 w 21600"/>
                <a:gd name="T3" fmla="*/ 21231 h 21231"/>
                <a:gd name="T4" fmla="*/ 0 w 21600"/>
                <a:gd name="T5" fmla="*/ 21231 h 21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231" fill="none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</a:path>
                <a:path w="21600" h="21231" stroke="0" extrusionOk="0">
                  <a:moveTo>
                    <a:pt x="3976" y="0"/>
                  </a:moveTo>
                  <a:cubicBezTo>
                    <a:pt x="14194" y="1914"/>
                    <a:pt x="21600" y="10835"/>
                    <a:pt x="21600" y="21231"/>
                  </a:cubicBezTo>
                  <a:lnTo>
                    <a:pt x="0" y="21231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</p:grpSp>
      <p:sp>
        <p:nvSpPr>
          <p:cNvPr id="34821" name="Rectangle 5"/>
          <p:cNvSpPr>
            <a:spLocks noGrp="1" noChangeArrowheads="1"/>
          </p:cNvSpPr>
          <p:nvPr>
            <p:ph type="ctrTitle" sz="quarter"/>
          </p:nvPr>
        </p:nvSpPr>
        <p:spPr>
          <a:xfrm>
            <a:off x="1293813" y="762000"/>
            <a:ext cx="77724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4822" name="Rectangle 6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85800" y="3429000"/>
            <a:ext cx="6400800" cy="1752600"/>
          </a:xfrm>
        </p:spPr>
        <p:txBody>
          <a:bodyPr lIns="92075" tIns="46038" rIns="92075" bIns="46038" anchor="ctr"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7" name="Rectangle 7"/>
          <p:cNvSpPr>
            <a:spLocks noGrp="1" noChangeArrowheads="1"/>
          </p:cNvSpPr>
          <p:nvPr>
            <p:ph type="dt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F81DEF-E45C-4F79-AC7E-1EF2DE27A390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8" name="Rectangle 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Rectangle 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B3EFAD-A34F-49E9-8EEC-1F95D21909E4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A9DEC8-0E48-4078-851B-18B1F197E899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A6075D-9444-4A32-8857-764C8C390FFF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CFD01E-BADF-454A-B6F2-FA29814DC495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4CED15-2A82-49ED-8FAA-EEB785A7DEC2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8DEC42-E726-417B-BE46-B11EB2279AC4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18EDF-0709-49A4-BB15-CD0F7C127775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4639F-4DDF-4530-BF43-0C15CF7500B2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8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9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F15B6D-D523-4252-BDEF-B61F8A0EB315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28C42B6-4C54-4CD8-A75F-AC82004854C6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5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611718-2435-4EA5-B93D-FCA76B7F25CA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E370B1-FDD4-4EAA-B4CD-B8849091A6AA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3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4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E6522C2-C215-40AD-8A5A-ECB7C770C2ED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811816-168B-492F-A611-FBC51035F330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9FD772-FD3C-49FF-B726-B36D41CEC1DA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s-ES" noProof="0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CF1D3A-1ADE-45CC-B2CF-7E9C57394A30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7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FAC03B-016F-4BA9-91E7-C273AE49AFC9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91518A-B3E5-4D84-9E4A-F8D6C0BAA007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6426F6-2712-40F7-9835-BC968250DCB4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B7D16F-99AE-416B-B45D-159D8BD6751D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5" name="Rectangle 7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6" name="Rectangle 8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977883-7D5A-4C79-A7EA-78DC5C722332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2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1588"/>
            <a:ext cx="9132888" cy="6845300"/>
            <a:chOff x="0" y="1"/>
            <a:chExt cx="5753" cy="4312"/>
          </a:xfrm>
        </p:grpSpPr>
        <p:sp>
          <p:nvSpPr>
            <p:cNvPr id="33795" name="Freeform 3"/>
            <p:cNvSpPr>
              <a:spLocks/>
            </p:cNvSpPr>
            <p:nvPr/>
          </p:nvSpPr>
          <p:spPr bwMode="auto">
            <a:xfrm>
              <a:off x="3394" y="999"/>
              <a:ext cx="2359" cy="3314"/>
            </a:xfrm>
            <a:custGeom>
              <a:avLst/>
              <a:gdLst/>
              <a:ahLst/>
              <a:cxnLst>
                <a:cxn ang="0">
                  <a:pos x="1905" y="3312"/>
                </a:cxn>
                <a:cxn ang="0">
                  <a:pos x="2358" y="3313"/>
                </a:cxn>
                <a:cxn ang="0">
                  <a:pos x="2358" y="1437"/>
                </a:cxn>
                <a:cxn ang="0">
                  <a:pos x="0" y="0"/>
                </a:cxn>
                <a:cxn ang="0">
                  <a:pos x="201" y="150"/>
                </a:cxn>
                <a:cxn ang="0">
                  <a:pos x="366" y="279"/>
                </a:cxn>
                <a:cxn ang="0">
                  <a:pos x="552" y="441"/>
                </a:cxn>
                <a:cxn ang="0">
                  <a:pos x="732" y="612"/>
                </a:cxn>
                <a:cxn ang="0">
                  <a:pos x="996" y="903"/>
                </a:cxn>
                <a:cxn ang="0">
                  <a:pos x="1230" y="1212"/>
                </a:cxn>
                <a:cxn ang="0">
                  <a:pos x="1400" y="1482"/>
                </a:cxn>
                <a:cxn ang="0">
                  <a:pos x="1548" y="1761"/>
                </a:cxn>
                <a:cxn ang="0">
                  <a:pos x="1665" y="2040"/>
                </a:cxn>
                <a:cxn ang="0">
                  <a:pos x="1751" y="2295"/>
                </a:cxn>
                <a:cxn ang="0">
                  <a:pos x="1809" y="2511"/>
                </a:cxn>
                <a:cxn ang="0">
                  <a:pos x="1863" y="2778"/>
                </a:cxn>
                <a:cxn ang="0">
                  <a:pos x="1890" y="3012"/>
                </a:cxn>
                <a:cxn ang="0">
                  <a:pos x="1905" y="3312"/>
                </a:cxn>
              </a:cxnLst>
              <a:rect l="0" t="0" r="r" b="b"/>
              <a:pathLst>
                <a:path w="2359" h="3314">
                  <a:moveTo>
                    <a:pt x="1905" y="3312"/>
                  </a:moveTo>
                  <a:lnTo>
                    <a:pt x="2358" y="3313"/>
                  </a:lnTo>
                  <a:lnTo>
                    <a:pt x="2358" y="1437"/>
                  </a:lnTo>
                  <a:lnTo>
                    <a:pt x="0" y="0"/>
                  </a:lnTo>
                  <a:lnTo>
                    <a:pt x="201" y="150"/>
                  </a:lnTo>
                  <a:lnTo>
                    <a:pt x="366" y="279"/>
                  </a:lnTo>
                  <a:lnTo>
                    <a:pt x="552" y="441"/>
                  </a:lnTo>
                  <a:lnTo>
                    <a:pt x="732" y="612"/>
                  </a:lnTo>
                  <a:lnTo>
                    <a:pt x="996" y="903"/>
                  </a:lnTo>
                  <a:lnTo>
                    <a:pt x="1230" y="1212"/>
                  </a:lnTo>
                  <a:lnTo>
                    <a:pt x="1400" y="1482"/>
                  </a:lnTo>
                  <a:lnTo>
                    <a:pt x="1548" y="1761"/>
                  </a:lnTo>
                  <a:lnTo>
                    <a:pt x="1665" y="2040"/>
                  </a:lnTo>
                  <a:lnTo>
                    <a:pt x="1751" y="2295"/>
                  </a:lnTo>
                  <a:lnTo>
                    <a:pt x="1809" y="2511"/>
                  </a:lnTo>
                  <a:lnTo>
                    <a:pt x="1863" y="2778"/>
                  </a:lnTo>
                  <a:lnTo>
                    <a:pt x="1890" y="3012"/>
                  </a:lnTo>
                  <a:lnTo>
                    <a:pt x="1905" y="3312"/>
                  </a:lnTo>
                </a:path>
              </a:pathLst>
            </a:custGeom>
            <a:gradFill rotWithShape="0">
              <a:gsLst>
                <a:gs pos="0">
                  <a:schemeClr val="accent2">
                    <a:gamma/>
                    <a:shade val="46275"/>
                    <a:invGamma/>
                  </a:schemeClr>
                </a:gs>
                <a:gs pos="100000">
                  <a:schemeClr val="accent2"/>
                </a:gs>
              </a:gsLst>
              <a:lin ang="0" scaled="1"/>
            </a:gradFill>
            <a:ln w="9525" cap="rnd">
              <a:noFill/>
              <a:round/>
              <a:headEnd/>
              <a:tailEnd/>
            </a:ln>
            <a:effectLst/>
          </p:spPr>
          <p:txBody>
            <a:bodyPr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  <p:sp>
          <p:nvSpPr>
            <p:cNvPr id="33796" name="Arc 4"/>
            <p:cNvSpPr>
              <a:spLocks/>
            </p:cNvSpPr>
            <p:nvPr/>
          </p:nvSpPr>
          <p:spPr bwMode="auto">
            <a:xfrm>
              <a:off x="0" y="1"/>
              <a:ext cx="5298" cy="4312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 cap="rnd">
              <a:solidFill>
                <a:schemeClr val="accent2"/>
              </a:solidFill>
              <a:round/>
              <a:headEnd type="none" w="sm" len="sm"/>
              <a:tailEnd type="none" w="sm" len="sm"/>
            </a:ln>
            <a:effectLst/>
          </p:spPr>
          <p:txBody>
            <a:bodyPr wrap="none" anchor="ctr"/>
            <a:lstStyle/>
            <a:p>
              <a:pPr>
                <a:defRPr/>
              </a:pPr>
              <a:endParaRPr lang="es-ES" dirty="0">
                <a:latin typeface="Times New Roman" charset="0"/>
              </a:endParaRPr>
            </a:p>
          </p:txBody>
        </p:sp>
      </p:grpSp>
      <p:sp>
        <p:nvSpPr>
          <p:cNvPr id="33797" name="Rectangle 5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título del patrón</a:t>
            </a:r>
          </a:p>
        </p:txBody>
      </p:sp>
      <p:sp>
        <p:nvSpPr>
          <p:cNvPr id="33798" name="Rectangle 6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011FD0AA-10C4-4603-BE02-69B04FF3C1D3}" type="datetime1">
              <a:rPr lang="es-ES"/>
              <a:pPr>
                <a:defRPr/>
              </a:pPr>
              <a:t>08/07/2010</a:t>
            </a:fld>
            <a:endParaRPr lang="es-ES" dirty="0"/>
          </a:p>
        </p:txBody>
      </p:sp>
      <p:sp>
        <p:nvSpPr>
          <p:cNvPr id="33799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charset="0"/>
              </a:defRPr>
            </a:lvl1pPr>
          </a:lstStyle>
          <a:p>
            <a:pPr>
              <a:defRPr/>
            </a:pPr>
            <a:endParaRPr lang="es-ES" dirty="0"/>
          </a:p>
        </p:txBody>
      </p:sp>
      <p:sp>
        <p:nvSpPr>
          <p:cNvPr id="33800" name="Rectangle 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charset="0"/>
              </a:defRPr>
            </a:lvl1pPr>
          </a:lstStyle>
          <a:p>
            <a:pPr>
              <a:defRPr/>
            </a:pPr>
            <a:fld id="{A4E7593C-4338-4A9D-8255-E655ACC10DD6}" type="slidenum">
              <a:rPr lang="es-ES"/>
              <a:pPr>
                <a:defRPr/>
              </a:pPr>
              <a:t>‹Nº›</a:t>
            </a:fld>
            <a:endParaRPr lang="es-ES" dirty="0"/>
          </a:p>
        </p:txBody>
      </p:sp>
      <p:sp>
        <p:nvSpPr>
          <p:cNvPr id="1031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62" r:id="rId1"/>
    <p:sldLayoutId id="2147483661" r:id="rId2"/>
    <p:sldLayoutId id="2147483660" r:id="rId3"/>
    <p:sldLayoutId id="2147483659" r:id="rId4"/>
    <p:sldLayoutId id="2147483658" r:id="rId5"/>
    <p:sldLayoutId id="2147483657" r:id="rId6"/>
    <p:sldLayoutId id="2147483656" r:id="rId7"/>
    <p:sldLayoutId id="2147483655" r:id="rId8"/>
    <p:sldLayoutId id="2147483654" r:id="rId9"/>
    <p:sldLayoutId id="2147483653" r:id="rId10"/>
    <p:sldLayoutId id="214748365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Constantia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itchFamily="2" charset="2"/>
        <a:buChar char="l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90000"/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0000"/>
        <a:buFont typeface="Wingdings" pitchFamily="2" charset="2"/>
        <a:buChar char="l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Char char="•"/>
        <a:defRPr sz="2000">
          <a:solidFill>
            <a:schemeClr val="tx1"/>
          </a:solidFill>
          <a:latin typeface="+mn-lt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2" name="Rectangle 6"/>
          <p:cNvSpPr>
            <a:spLocks noGrp="1" noChangeArrowheads="1"/>
          </p:cNvSpPr>
          <p:nvPr>
            <p:ph type="ctrTitle" sz="quarter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sz="3600" dirty="0"/>
              <a:t>FUNDAMENTOS DE PENSAMIENTO ADMINISTRATIVO</a:t>
            </a:r>
            <a:endParaRPr lang="es-ES" sz="3600" dirty="0"/>
          </a:p>
        </p:txBody>
      </p:sp>
      <p:sp>
        <p:nvSpPr>
          <p:cNvPr id="15362" name="Rectangle 7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785938" y="2643188"/>
            <a:ext cx="6400800" cy="1752600"/>
          </a:xfrm>
        </p:spPr>
        <p:txBody>
          <a:bodyPr/>
          <a:lstStyle/>
          <a:p>
            <a:pPr eaLnBrk="1" hangingPunct="1"/>
            <a:r>
              <a:rPr lang="es-ES_tradnl" dirty="0" smtClean="0">
                <a:latin typeface="Arial Black" pitchFamily="34" charset="0"/>
              </a:rPr>
              <a:t>TEORIAS Y CONCEPTOS SOBRE ADMINISTRACION</a:t>
            </a:r>
            <a:endParaRPr lang="es-ES" dirty="0" smtClean="0">
              <a:latin typeface="Arial Black" pitchFamily="34" charset="0"/>
            </a:endParaRPr>
          </a:p>
        </p:txBody>
      </p:sp>
      <p:sp>
        <p:nvSpPr>
          <p:cNvPr id="15363" name="Rectangle 9"/>
          <p:cNvSpPr>
            <a:spLocks noGrp="1" noChangeArrowheads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E6AE746-D15E-4773-B1CC-C5E7BE7A1057}" type="slidenum">
              <a:rPr lang="es-ES" smtClean="0">
                <a:latin typeface="Times New Roman" pitchFamily="18" charset="0"/>
              </a:rPr>
              <a:pPr/>
              <a:t>1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type="title"/>
          </p:nvPr>
        </p:nvSpPr>
        <p:spPr>
          <a:xfrm>
            <a:off x="785813" y="642938"/>
            <a:ext cx="77724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s-ES_tradnl" dirty="0"/>
              <a:t>Origen de la Administración</a:t>
            </a:r>
            <a:endParaRPr lang="es-ES" dirty="0"/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s-ES_tradnl" dirty="0" smtClean="0"/>
              <a:t>Nace de la necesidad humana de cumplir metas, haciendo un uso racional y concienzudo de los recursos disponibles.</a:t>
            </a:r>
          </a:p>
          <a:p>
            <a:pPr eaLnBrk="1" hangingPunct="1"/>
            <a:endParaRPr lang="es-ES_tradnl" dirty="0" smtClean="0"/>
          </a:p>
          <a:p>
            <a:pPr algn="just" eaLnBrk="1" hangingPunct="1"/>
            <a:r>
              <a:rPr lang="es-ES_tradnl" dirty="0" smtClean="0"/>
              <a:t>Se puede afirmar entonces que desde siempre el ser humano a procurado este fin.</a:t>
            </a:r>
            <a:endParaRPr lang="es-ES" dirty="0" smtClean="0"/>
          </a:p>
        </p:txBody>
      </p:sp>
      <p:sp>
        <p:nvSpPr>
          <p:cNvPr id="1741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C50ED744-574D-449B-A35E-3A20E27CF9B7}" type="slidenum">
              <a:rPr lang="es-ES" smtClean="0">
                <a:latin typeface="Times New Roman" pitchFamily="18" charset="0"/>
              </a:rPr>
              <a:pPr/>
              <a:t>2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Época primitiva</a:t>
            </a:r>
            <a:endParaRPr lang="es-ES" dirty="0"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5127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lnSpc>
                <a:spcPct val="90000"/>
              </a:lnSpc>
              <a:defRPr/>
            </a:pPr>
            <a:r>
              <a:rPr lang="es-ES_tradnl" dirty="0"/>
              <a:t>Cuando el hombre empezó a trabajar en  grupo surgió la administración como una asociación</a:t>
            </a:r>
            <a:r>
              <a:rPr lang="es-ES_tradnl" sz="2800" dirty="0"/>
              <a:t>.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s-ES_tradnl" sz="2800" dirty="0"/>
              <a:t>                                           		     				</a:t>
            </a:r>
            <a:r>
              <a:rPr lang="es-ES_tradnl" sz="4400" dirty="0">
                <a:solidFill>
                  <a:schemeClr val="bg2"/>
                </a:solidFill>
                <a:latin typeface="+mj-lt"/>
              </a:rPr>
              <a:t>Periodo   Agrícola</a:t>
            </a:r>
          </a:p>
          <a:p>
            <a:pPr eaLnBrk="1" hangingPunct="1">
              <a:lnSpc>
                <a:spcPct val="90000"/>
              </a:lnSpc>
              <a:defRPr/>
            </a:pPr>
            <a:endParaRPr lang="es-ES_tradnl" sz="4000" dirty="0">
              <a:solidFill>
                <a:schemeClr val="bg2"/>
              </a:solidFill>
            </a:endParaRPr>
          </a:p>
          <a:p>
            <a:pPr algn="just" eaLnBrk="1" hangingPunct="1">
              <a:lnSpc>
                <a:spcPct val="90000"/>
              </a:lnSpc>
              <a:defRPr/>
            </a:pPr>
            <a:r>
              <a:rPr lang="es-ES_tradnl" sz="4000" dirty="0"/>
              <a:t>La organización social de tipo patriarcal se acentuó.</a:t>
            </a:r>
            <a:endParaRPr lang="es-ES" sz="4000" dirty="0"/>
          </a:p>
        </p:txBody>
      </p:sp>
      <p:sp>
        <p:nvSpPr>
          <p:cNvPr id="1843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118C1538-C2A2-4315-98D2-8CEFBD3465CD}" type="slidenum">
              <a:rPr lang="es-ES" smtClean="0">
                <a:latin typeface="Times New Roman" pitchFamily="18" charset="0"/>
              </a:rPr>
              <a:pPr/>
              <a:t>3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Antigüedad grecolatina</a:t>
            </a:r>
            <a:endParaRPr lang="es-ES" dirty="0"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s-ES_tradnl" dirty="0"/>
              <a:t>Esta forma de organización fue en gran parte la caída del imperio romano.</a:t>
            </a:r>
          </a:p>
          <a:p>
            <a:pPr eaLnBrk="1" hangingPunct="1">
              <a:lnSpc>
                <a:spcPct val="90000"/>
              </a:lnSpc>
              <a:defRPr/>
            </a:pPr>
            <a:endParaRPr lang="es-ES_tradnl" sz="2800" dirty="0"/>
          </a:p>
          <a:p>
            <a:pPr lvl="4" eaLnBrk="1" hangingPunct="1">
              <a:lnSpc>
                <a:spcPct val="90000"/>
              </a:lnSpc>
              <a:buFontTx/>
              <a:buNone/>
              <a:defRPr/>
            </a:pPr>
            <a:r>
              <a:rPr lang="es-ES_tradnl" sz="4000" dirty="0"/>
              <a:t>	</a:t>
            </a:r>
            <a:r>
              <a:rPr lang="es-ES_tradnl" sz="4400" dirty="0">
                <a:solidFill>
                  <a:schemeClr val="bg2"/>
                </a:solidFill>
                <a:latin typeface="+mj-lt"/>
              </a:rPr>
              <a:t>Época feudal</a:t>
            </a:r>
          </a:p>
          <a:p>
            <a:pPr lvl="4" eaLnBrk="1" hangingPunct="1">
              <a:lnSpc>
                <a:spcPct val="90000"/>
              </a:lnSpc>
              <a:buFontTx/>
              <a:buNone/>
              <a:defRPr/>
            </a:pPr>
            <a:endParaRPr lang="es-ES_tradnl" sz="4400" dirty="0">
              <a:solidFill>
                <a:schemeClr val="bg2"/>
              </a:solidFill>
            </a:endParaRPr>
          </a:p>
          <a:p>
            <a:pPr lvl="4" algn="r" eaLnBrk="1" hangingPunct="1">
              <a:lnSpc>
                <a:spcPct val="90000"/>
              </a:lnSpc>
              <a:buFontTx/>
              <a:buNone/>
              <a:defRPr/>
            </a:pPr>
            <a:r>
              <a:rPr lang="es-ES_tradnl" sz="3200" dirty="0"/>
              <a:t>La administración estaba sujeta al criterio del señor  feudal</a:t>
            </a:r>
          </a:p>
          <a:p>
            <a:pPr lvl="4" eaLnBrk="1" hangingPunct="1">
              <a:lnSpc>
                <a:spcPct val="90000"/>
              </a:lnSpc>
              <a:buFontTx/>
              <a:buNone/>
              <a:defRPr/>
            </a:pPr>
            <a:endParaRPr lang="es-ES" sz="3200" dirty="0"/>
          </a:p>
        </p:txBody>
      </p:sp>
      <p:sp>
        <p:nvSpPr>
          <p:cNvPr id="2048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E849EC3-1FB7-4B31-859C-8B3FDB1644B3}" type="slidenum">
              <a:rPr lang="es-ES" smtClean="0">
                <a:latin typeface="Times New Roman" pitchFamily="18" charset="0"/>
              </a:rPr>
              <a:pPr/>
              <a:t>4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>
                <a:solidFill>
                  <a:schemeClr val="bg2"/>
                </a:solidFill>
                <a:effectLst>
                  <a:outerShdw blurRad="38100" dist="38100" dir="2700000" algn="tl">
                    <a:srgbClr val="FFFFFF"/>
                  </a:outerShdw>
                </a:effectLst>
              </a:rPr>
              <a:t>Revolución industrial</a:t>
            </a:r>
            <a:endParaRPr lang="es-ES" dirty="0">
              <a:solidFill>
                <a:schemeClr val="bg2"/>
              </a:solidFill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7175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defRPr/>
            </a:pPr>
            <a:r>
              <a:rPr lang="es-ES_tradnl" dirty="0"/>
              <a:t>Surge la especialización y la producción en serie.</a:t>
            </a:r>
          </a:p>
          <a:p>
            <a:pPr eaLnBrk="1" hangingPunct="1">
              <a:defRPr/>
            </a:pPr>
            <a:r>
              <a:rPr lang="es-ES_tradnl" sz="4400" dirty="0">
                <a:latin typeface="+mj-lt"/>
              </a:rPr>
              <a:t>                      </a:t>
            </a:r>
            <a:r>
              <a:rPr lang="es-ES_tradnl" sz="4400" dirty="0">
                <a:solidFill>
                  <a:schemeClr val="bg2"/>
                </a:solidFill>
                <a:latin typeface="+mj-lt"/>
              </a:rPr>
              <a:t>Siglo XX</a:t>
            </a:r>
          </a:p>
          <a:p>
            <a:pPr algn="just" eaLnBrk="1" hangingPunct="1">
              <a:defRPr/>
            </a:pPr>
            <a:r>
              <a:rPr lang="es-ES_tradnl" sz="3600" dirty="0"/>
              <a:t>La administración se torna indispensable en el manejo de cualquier empresa</a:t>
            </a:r>
          </a:p>
          <a:p>
            <a:pPr eaLnBrk="1" hangingPunct="1">
              <a:defRPr/>
            </a:pPr>
            <a:endParaRPr lang="es-ES" sz="3600" dirty="0"/>
          </a:p>
        </p:txBody>
      </p:sp>
      <p:sp>
        <p:nvSpPr>
          <p:cNvPr id="2253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79F0BCE-F346-49B8-88A6-C4D1A8AA6886}" type="slidenum">
              <a:rPr lang="es-ES" smtClean="0">
                <a:latin typeface="Times New Roman" pitchFamily="18" charset="0"/>
              </a:rPr>
              <a:pPr/>
              <a:t>5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8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ADMINISTRACIÓN</a:t>
            </a:r>
            <a:endParaRPr lang="es-ES" dirty="0"/>
          </a:p>
        </p:txBody>
      </p:sp>
      <p:sp>
        <p:nvSpPr>
          <p:cNvPr id="24578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s-ES_tradnl" dirty="0" smtClean="0"/>
          </a:p>
          <a:p>
            <a:pPr algn="ctr" eaLnBrk="1" hangingPunct="1">
              <a:buFont typeface="Wingdings" pitchFamily="2" charset="2"/>
              <a:buNone/>
            </a:pPr>
            <a:r>
              <a:rPr lang="es-ES_tradnl" dirty="0" smtClean="0"/>
              <a:t>Es el proceso de trabajar en grupo con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s-ES_tradnl" dirty="0" smtClean="0"/>
              <a:t>gente y recursos para alcanzar las metas</a:t>
            </a:r>
          </a:p>
          <a:p>
            <a:pPr algn="ctr" eaLnBrk="1" hangingPunct="1">
              <a:buFont typeface="Wingdings" pitchFamily="2" charset="2"/>
              <a:buNone/>
            </a:pPr>
            <a:r>
              <a:rPr lang="es-ES_tradnl" dirty="0" smtClean="0"/>
              <a:t>de la organización.</a:t>
            </a:r>
          </a:p>
          <a:p>
            <a:pPr eaLnBrk="1" hangingPunct="1">
              <a:buFont typeface="Wingdings" pitchFamily="2" charset="2"/>
              <a:buNone/>
            </a:pPr>
            <a:endParaRPr lang="es-ES_tradnl" dirty="0" smtClean="0"/>
          </a:p>
          <a:p>
            <a:pPr eaLnBrk="1" hangingPunct="1">
              <a:buFont typeface="Wingdings" pitchFamily="2" charset="2"/>
              <a:buNone/>
            </a:pPr>
            <a:endParaRPr lang="es-ES" dirty="0" smtClean="0"/>
          </a:p>
        </p:txBody>
      </p:sp>
      <p:sp>
        <p:nvSpPr>
          <p:cNvPr id="2457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AA8203D-7053-493E-8665-C15C9FEC4C8C}" type="slidenum">
              <a:rPr lang="es-ES" smtClean="0">
                <a:latin typeface="Times New Roman" pitchFamily="18" charset="0"/>
              </a:rPr>
              <a:pPr/>
              <a:t>6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MX" sz="3600" dirty="0" smtClean="0"/>
              <a:t>IMPORTANCIA DE LA ADMINISTRACIÓN</a:t>
            </a:r>
            <a:endParaRPr lang="es-ES" sz="3600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r>
              <a:rPr lang="es-MX" dirty="0" smtClean="0"/>
              <a:t>La Administración es importante porque se aplica en cualquier tipo de organización con deseos de aumentar su productividad y lograr el éxito.</a:t>
            </a:r>
            <a:endParaRPr lang="es-ES" dirty="0" smtClean="0"/>
          </a:p>
          <a:p>
            <a:pPr algn="just" eaLnBrk="1" hangingPunct="1"/>
            <a:r>
              <a:rPr lang="es-MX" dirty="0" smtClean="0"/>
              <a:t>Ayuda a obtener mejor personal, equipo, materiales, dinero y relaciones humanas.</a:t>
            </a:r>
            <a:endParaRPr lang="es-ES" dirty="0" smtClean="0"/>
          </a:p>
          <a:p>
            <a:pPr algn="ctr" eaLnBrk="1" hangingPunct="1">
              <a:buFont typeface="Wingdings" pitchFamily="2" charset="2"/>
              <a:buNone/>
            </a:pPr>
            <a:endParaRPr lang="es-ES" dirty="0" smtClean="0"/>
          </a:p>
        </p:txBody>
      </p:sp>
      <p:sp>
        <p:nvSpPr>
          <p:cNvPr id="2662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F845C63-524D-479B-B041-3DB952F0313E}" type="slidenum">
              <a:rPr lang="es-ES" smtClean="0">
                <a:latin typeface="Times New Roman" pitchFamily="18" charset="0"/>
              </a:rPr>
              <a:pPr/>
              <a:t>7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2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Conceptos de autores</a:t>
            </a:r>
            <a:br>
              <a:rPr lang="es-ES_tradnl" dirty="0"/>
            </a:br>
            <a:r>
              <a:rPr lang="es-ES_tradnl" dirty="0"/>
              <a:t>Contemporáneos</a:t>
            </a:r>
            <a:endParaRPr lang="es-ES" dirty="0"/>
          </a:p>
        </p:txBody>
      </p:sp>
      <p:sp>
        <p:nvSpPr>
          <p:cNvPr id="9223" name="Rectangle 7"/>
          <p:cNvSpPr>
            <a:spLocks noGrp="1" noChangeArrowheads="1"/>
          </p:cNvSpPr>
          <p:nvPr>
            <p:ph idx="1"/>
          </p:nvPr>
        </p:nvSpPr>
        <p:spPr>
          <a:xfrm>
            <a:off x="571500" y="1928813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George Terry : </a:t>
            </a:r>
            <a:endParaRPr lang="es-ES_tradnl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 </a:t>
            </a:r>
            <a:r>
              <a:rPr lang="es-ES_tradnl" dirty="0"/>
              <a:t>administración consiste en </a:t>
            </a:r>
            <a:r>
              <a:rPr lang="es-ES_tradnl" dirty="0" smtClean="0"/>
              <a:t>La planeación,  organización</a:t>
            </a:r>
            <a:r>
              <a:rPr lang="es-ES_tradnl" dirty="0"/>
              <a:t>, dirección 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/>
              <a:t>ejecución y control del trabajo.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Carlos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Dávila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 </a:t>
            </a:r>
            <a:r>
              <a:rPr lang="es-ES_tradnl" dirty="0"/>
              <a:t>Manejo de los recursos 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/>
              <a:t>a través  del proceso administrativo.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" dirty="0"/>
          </a:p>
        </p:txBody>
      </p:sp>
      <p:sp>
        <p:nvSpPr>
          <p:cNvPr id="2765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E0C3C98-3B00-4072-93CD-E83AAC6B0934}" type="slidenum">
              <a:rPr lang="es-ES" smtClean="0">
                <a:latin typeface="Times New Roman" pitchFamily="18" charset="0"/>
              </a:rPr>
              <a:pPr/>
              <a:t>8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Conceptos de autores</a:t>
            </a:r>
            <a:br>
              <a:rPr lang="es-ES_tradnl" dirty="0" smtClean="0"/>
            </a:br>
            <a:r>
              <a:rPr lang="es-ES_tradnl" dirty="0" smtClean="0"/>
              <a:t>Contemporáneos</a:t>
            </a:r>
            <a:endParaRPr lang="es-ES" dirty="0"/>
          </a:p>
        </p:txBody>
      </p:sp>
      <p:sp>
        <p:nvSpPr>
          <p:cNvPr id="409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Harold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Koontz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 </a:t>
            </a:r>
            <a:r>
              <a:rPr lang="es-ES_tradnl" dirty="0"/>
              <a:t>La dirección de un </a:t>
            </a:r>
            <a:r>
              <a:rPr lang="es-ES_tradnl" dirty="0" smtClean="0"/>
              <a:t>Organismo </a:t>
            </a:r>
            <a:r>
              <a:rPr lang="es-ES_tradnl" dirty="0"/>
              <a:t>social y su efectividad en </a:t>
            </a:r>
            <a:r>
              <a:rPr lang="es-ES_tradnl" dirty="0" smtClean="0"/>
              <a:t>alcanzar Objetivos</a:t>
            </a:r>
            <a:r>
              <a:rPr lang="es-ES_tradnl" dirty="0"/>
              <a:t>, fundada en la habilidad </a:t>
            </a:r>
            <a:r>
              <a:rPr lang="es-ES_tradnl" dirty="0" smtClean="0"/>
              <a:t>de </a:t>
            </a:r>
            <a:r>
              <a:rPr lang="es-ES_tradnl" dirty="0"/>
              <a:t>conducir a sus integrantes.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Elton 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Mayo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 </a:t>
            </a:r>
            <a:r>
              <a:rPr lang="es-ES_tradnl" dirty="0"/>
              <a:t>mejoría en la </a:t>
            </a:r>
            <a:r>
              <a:rPr lang="es-ES_tradnl" dirty="0" smtClean="0"/>
              <a:t>productividad Se </a:t>
            </a:r>
            <a:r>
              <a:rPr lang="es-ES_tradnl" dirty="0"/>
              <a:t>debe a factores sociales. </a:t>
            </a:r>
            <a:endParaRPr lang="es-ES" dirty="0"/>
          </a:p>
        </p:txBody>
      </p:sp>
      <p:sp>
        <p:nvSpPr>
          <p:cNvPr id="2969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E172BBB-3CFB-499C-B5B6-17F4CC0F65A5}" type="slidenum">
              <a:rPr lang="es-ES" smtClean="0">
                <a:latin typeface="Times New Roman" pitchFamily="18" charset="0"/>
              </a:rPr>
              <a:pPr/>
              <a:t>9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Conceptos de autores</a:t>
            </a:r>
            <a:br>
              <a:rPr lang="es-ES_tradnl" dirty="0" smtClean="0"/>
            </a:br>
            <a:r>
              <a:rPr lang="es-ES_tradnl" dirty="0" smtClean="0"/>
              <a:t>Contemporáneos</a:t>
            </a:r>
            <a:endParaRPr lang="es-ES" dirty="0"/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Henry 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Fayol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:</a:t>
            </a: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Considerado </a:t>
            </a:r>
            <a:r>
              <a:rPr lang="es-ES_tradnl" dirty="0"/>
              <a:t>el padre de la </a:t>
            </a:r>
            <a:r>
              <a:rPr lang="es-ES_tradnl" dirty="0" smtClean="0"/>
              <a:t>Administración </a:t>
            </a:r>
            <a:r>
              <a:rPr lang="es-ES_tradnl" dirty="0"/>
              <a:t>moderna, se baso en </a:t>
            </a:r>
            <a:r>
              <a:rPr lang="es-ES_tradnl" dirty="0" smtClean="0"/>
              <a:t>organizar, Mandar</a:t>
            </a:r>
            <a:r>
              <a:rPr lang="es-ES_tradnl" dirty="0"/>
              <a:t>, coordinar y controlar.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err="1" smtClean="0">
                <a:solidFill>
                  <a:schemeClr val="accent1">
                    <a:lumMod val="75000"/>
                  </a:schemeClr>
                </a:solidFill>
              </a:rPr>
              <a:t>Idalberto</a:t>
            </a: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ES_tradnl" dirty="0" err="1">
                <a:solidFill>
                  <a:schemeClr val="accent1">
                    <a:lumMod val="75000"/>
                  </a:schemeClr>
                </a:solidFill>
              </a:rPr>
              <a:t>Chaveneto</a:t>
            </a:r>
            <a:r>
              <a:rPr lang="es-ES_tradnl" dirty="0">
                <a:solidFill>
                  <a:schemeClr val="accent1">
                    <a:lumMod val="75000"/>
                  </a:schemeClr>
                </a:solidFill>
              </a:rPr>
              <a:t> : </a:t>
            </a:r>
            <a:endParaRPr lang="es-ES_tradnl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 </a:t>
            </a:r>
            <a:r>
              <a:rPr lang="es-ES_tradnl" dirty="0"/>
              <a:t>administración </a:t>
            </a:r>
            <a:r>
              <a:rPr lang="es-ES_tradnl" dirty="0" smtClean="0"/>
              <a:t>se basa </a:t>
            </a:r>
            <a:r>
              <a:rPr lang="es-ES_tradnl" dirty="0"/>
              <a:t>en el esfuerzo cooperativo del </a:t>
            </a:r>
            <a:r>
              <a:rPr lang="es-ES_tradnl" dirty="0" smtClean="0"/>
              <a:t>hombre </a:t>
            </a:r>
            <a:r>
              <a:rPr lang="es-ES_tradnl" dirty="0"/>
              <a:t>por medio de las organizaciones.</a:t>
            </a:r>
            <a:endParaRPr lang="es-ES" dirty="0"/>
          </a:p>
        </p:txBody>
      </p:sp>
      <p:sp>
        <p:nvSpPr>
          <p:cNvPr id="3072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ABAE6F-58EF-443B-8FD9-272319755423}" type="slidenum">
              <a:rPr lang="es-ES" smtClean="0">
                <a:latin typeface="Times New Roman" pitchFamily="18" charset="0"/>
              </a:rPr>
              <a:pPr/>
              <a:t>10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s-ES_tradnl" sz="4000" dirty="0" smtClean="0">
                <a:latin typeface="Arial" charset="0"/>
              </a:rPr>
              <a:t>Conceptos de autores</a:t>
            </a:r>
            <a:br>
              <a:rPr lang="es-ES_tradnl" sz="4000" dirty="0" smtClean="0">
                <a:latin typeface="Arial" charset="0"/>
              </a:rPr>
            </a:br>
            <a:r>
              <a:rPr lang="es-ES_tradnl" sz="4000" dirty="0" smtClean="0">
                <a:latin typeface="Arial" charset="0"/>
              </a:rPr>
              <a:t>Contemporáneos</a:t>
            </a:r>
            <a:br>
              <a:rPr lang="es-ES_tradnl" sz="4000" dirty="0" smtClean="0">
                <a:latin typeface="Arial" charset="0"/>
              </a:rPr>
            </a:br>
            <a:endParaRPr lang="es-ES" sz="4000" dirty="0">
              <a:latin typeface="Arial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571500" y="1643063"/>
            <a:ext cx="7772400" cy="4114800"/>
          </a:xfrm>
        </p:spPr>
        <p:txBody>
          <a:bodyPr/>
          <a:lstStyle/>
          <a:p>
            <a:pPr lvl="1" eaLnBrk="1" hangingPunct="1">
              <a:buFontTx/>
              <a:buNone/>
              <a:defRPr/>
            </a:pPr>
            <a:r>
              <a:rPr lang="es-ES_tradnl" dirty="0" smtClean="0">
                <a:solidFill>
                  <a:schemeClr val="accent1">
                    <a:lumMod val="75000"/>
                  </a:schemeClr>
                </a:solidFill>
              </a:rPr>
              <a:t>Frederick Taylor</a:t>
            </a:r>
            <a:endParaRPr lang="es-ES_tradnl" dirty="0">
              <a:solidFill>
                <a:schemeClr val="accent1">
                  <a:lumMod val="75000"/>
                </a:schemeClr>
              </a:solidFill>
            </a:endParaRPr>
          </a:p>
          <a:p>
            <a:pPr lvl="1" algn="just" eaLnBrk="1" hangingPunct="1">
              <a:buFontTx/>
              <a:buNone/>
              <a:defRPr/>
            </a:pPr>
            <a:r>
              <a:rPr lang="es-MX" sz="2400" dirty="0" smtClean="0"/>
              <a:t>	</a:t>
            </a:r>
            <a:r>
              <a:rPr lang="es-MX" dirty="0" smtClean="0"/>
              <a:t>Se le llama "el padre de la administración científica”, dedicó la mayor parte de su vida a estudiar y encontrar la mejor manera de ejecutar el trabajo a través de los estudios de los tiempos y movimientos y de la forma más adecuada para remunerar a los trabajadores con el fin de incrementar la productividad</a:t>
            </a: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</p:txBody>
      </p:sp>
      <p:sp>
        <p:nvSpPr>
          <p:cNvPr id="3174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BA635AC-29CC-46A1-9567-A3369CC9D3A1}" type="slidenum">
              <a:rPr lang="es-ES" smtClean="0">
                <a:latin typeface="Times New Roman" pitchFamily="18" charset="0"/>
              </a:rPr>
              <a:pPr/>
              <a:t>11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lvl="1" eaLnBrk="1" hangingPunct="1">
              <a:defRPr/>
            </a:pPr>
            <a:r>
              <a:rPr lang="es-ES_tradnl" dirty="0" smtClean="0">
                <a:latin typeface="Arial" charset="0"/>
              </a:rPr>
              <a:t>Conceptos de autores</a:t>
            </a:r>
            <a:br>
              <a:rPr lang="es-ES_tradnl" dirty="0" smtClean="0">
                <a:latin typeface="Arial" charset="0"/>
              </a:rPr>
            </a:br>
            <a:r>
              <a:rPr lang="es-ES_tradnl" dirty="0" smtClean="0">
                <a:latin typeface="Arial" charset="0"/>
              </a:rPr>
              <a:t>Contemporáneos</a:t>
            </a:r>
            <a:endParaRPr lang="es-ES" dirty="0">
              <a:latin typeface="Arial" charset="0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itchFamily="2" charset="2"/>
              <a:buNone/>
              <a:defRPr/>
            </a:pPr>
            <a:r>
              <a:rPr lang="es-MX" sz="2800" dirty="0" err="1" smtClean="0">
                <a:solidFill>
                  <a:schemeClr val="accent1">
                    <a:lumMod val="75000"/>
                  </a:schemeClr>
                </a:solidFill>
              </a:rPr>
              <a:t>Luther</a:t>
            </a:r>
            <a:r>
              <a:rPr lang="es-MX" sz="2800" dirty="0" smtClean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s-MX" sz="2800" dirty="0" err="1" smtClean="0">
                <a:solidFill>
                  <a:schemeClr val="accent1">
                    <a:lumMod val="75000"/>
                  </a:schemeClr>
                </a:solidFill>
              </a:rPr>
              <a:t>Gulick</a:t>
            </a:r>
            <a:endParaRPr lang="es-MX" sz="2800" dirty="0" smtClean="0">
              <a:solidFill>
                <a:schemeClr val="accent1">
                  <a:lumMod val="75000"/>
                </a:schemeClr>
              </a:solidFill>
            </a:endParaRPr>
          </a:p>
          <a:p>
            <a:pPr algn="just" eaLnBrk="1" hangingPunct="1">
              <a:buFont typeface="Wingdings" pitchFamily="2" charset="2"/>
              <a:buNone/>
              <a:defRPr/>
            </a:pPr>
            <a:r>
              <a:rPr lang="es-MX" sz="2800" dirty="0" smtClean="0"/>
              <a:t>	Para este pensador la administración la define como un sistema por medio del cual las personas establecen relaciones, predicen resultados e influyen  en las consecuencias de cualquier situación en que se organicen para trabajar unidos en el logro de propósitos comunes</a:t>
            </a:r>
            <a:endParaRPr lang="es-ES" sz="2800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MX" sz="2400" dirty="0" smtClean="0"/>
              <a:t>	</a:t>
            </a:r>
            <a:endParaRPr lang="es-ES_tradnl" sz="2400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  <a:p>
            <a:pPr lvl="1" eaLnBrk="1" hangingPunct="1">
              <a:buFontTx/>
              <a:buNone/>
              <a:defRPr/>
            </a:pPr>
            <a:endParaRPr lang="es-ES_tradnl" dirty="0"/>
          </a:p>
        </p:txBody>
      </p:sp>
      <p:sp>
        <p:nvSpPr>
          <p:cNvPr id="3277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5FB40606-89A1-46D1-B2EC-161C75E73393}" type="slidenum">
              <a:rPr lang="es-ES" smtClean="0">
                <a:latin typeface="Times New Roman" pitchFamily="18" charset="0"/>
              </a:rPr>
              <a:pPr/>
              <a:t>12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/>
              <a:t>Teorías del pensamiento</a:t>
            </a:r>
            <a:br>
              <a:rPr lang="es-ES_tradnl"/>
            </a:br>
            <a:r>
              <a:rPr lang="es-ES_tradnl"/>
              <a:t>Administrativo.</a:t>
            </a:r>
            <a:endParaRPr lang="es-ES"/>
          </a:p>
        </p:txBody>
      </p:sp>
      <p:sp>
        <p:nvSpPr>
          <p:cNvPr id="34818" name="Rectangle 3"/>
          <p:cNvSpPr>
            <a:spLocks noGrp="1" noChangeArrowheads="1"/>
          </p:cNvSpPr>
          <p:nvPr>
            <p:ph sz="half" idx="1"/>
          </p:nvPr>
        </p:nvSpPr>
        <p:spPr/>
        <p:txBody>
          <a:bodyPr/>
          <a:lstStyle/>
          <a:p>
            <a:pPr lvl="1" eaLnBrk="1" hangingPunct="1">
              <a:buFontTx/>
              <a:buNone/>
            </a:pPr>
            <a:r>
              <a:rPr lang="es-ES_tradnl" smtClean="0"/>
              <a:t>1903 Admón. Científica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1909 Teoría de la 		    burocracia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1916 Teoría Clásica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1932 Teoría de las      relaciones humanas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1947 Teoría          estructuralista</a:t>
            </a:r>
          </a:p>
          <a:p>
            <a:pPr lvl="1" eaLnBrk="1" hangingPunct="1">
              <a:buFontTx/>
              <a:buNone/>
            </a:pPr>
            <a:r>
              <a:rPr lang="es-ES_tradnl" smtClean="0"/>
              <a:t>1951 Teoría de los sistemas</a:t>
            </a:r>
          </a:p>
          <a:p>
            <a:pPr lvl="1" eaLnBrk="1" hangingPunct="1">
              <a:buFontTx/>
              <a:buNone/>
            </a:pPr>
            <a:endParaRPr lang="es-ES" smtClean="0"/>
          </a:p>
        </p:txBody>
      </p:sp>
      <p:sp>
        <p:nvSpPr>
          <p:cNvPr id="34819" name="Rectangle 4"/>
          <p:cNvSpPr>
            <a:spLocks noGrp="1" noChangeArrowheads="1"/>
          </p:cNvSpPr>
          <p:nvPr>
            <p:ph sz="half" idx="2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1953 Enfoque Socio técnico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1954 Teoría Neoclásica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1957 Teoría conductual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1962 Desarrollo Organizacional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1972 Teoría de la contingencia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smtClean="0"/>
              <a:t>1990 Nuevos enfoques</a:t>
            </a:r>
            <a:endParaRPr lang="es-ES" smtClean="0"/>
          </a:p>
        </p:txBody>
      </p:sp>
      <p:sp>
        <p:nvSpPr>
          <p:cNvPr id="34820" name="6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80874BA-521F-4A5A-ADD8-80DDA58001DB}" type="slidenum">
              <a:rPr lang="es-ES" smtClean="0">
                <a:latin typeface="Times New Roman" pitchFamily="18" charset="0"/>
              </a:rPr>
              <a:pPr/>
              <a:t>13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Objetivo de la Administración</a:t>
            </a:r>
            <a:endParaRPr lang="es-ES" dirty="0"/>
          </a:p>
        </p:txBody>
      </p:sp>
      <p:sp>
        <p:nvSpPr>
          <p:cNvPr id="471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  <a:defRPr/>
            </a:pPr>
            <a:r>
              <a:rPr lang="es-MX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“El objetivo debe tener significado y valor”</a:t>
            </a:r>
            <a:endParaRPr lang="es-ES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endParaRPr lang="es-MX" dirty="0" smtClean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MX" dirty="0" smtClean="0"/>
              <a:t>	Estos son de vital importancia para llegar a los resultados deseados, deben ser definidos con claridad para que los comprendan todos los miembros de la empresa y se logre llegar a la meta fijada</a:t>
            </a:r>
            <a:endParaRPr lang="es-ES" dirty="0"/>
          </a:p>
        </p:txBody>
      </p:sp>
      <p:sp>
        <p:nvSpPr>
          <p:cNvPr id="3584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F04016C-97FB-4D1C-996E-A4D01B4D3899}" type="slidenum">
              <a:rPr lang="es-ES" smtClean="0">
                <a:latin typeface="Times New Roman" pitchFamily="18" charset="0"/>
              </a:rPr>
              <a:pPr/>
              <a:t>14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/>
              <a:t>Características de la administración</a:t>
            </a:r>
            <a:endParaRPr lang="es-ES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Universalidad: </a:t>
            </a:r>
            <a:r>
              <a:rPr lang="es-MX" sz="2800" dirty="0" smtClean="0"/>
              <a:t>La administración se da en todos los organismos sociales (estado, ejército, empresa, iglesias, familia, etc.)</a:t>
            </a: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Flexibilidad: </a:t>
            </a:r>
            <a:r>
              <a:rPr lang="es-MX" sz="2800" dirty="0" smtClean="0"/>
              <a:t>La administración se adapta a las necesidades particulares de cada organización.</a:t>
            </a: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Intangible:</a:t>
            </a:r>
            <a:r>
              <a:rPr lang="es-MX" sz="2800" b="1" dirty="0" smtClean="0"/>
              <a:t> </a:t>
            </a:r>
            <a:r>
              <a:rPr lang="es-MX" sz="2800" dirty="0" smtClean="0"/>
              <a:t>Su presencia queda evidenciada por el resultado del esfuerzo de los integrantes de la organización</a:t>
            </a:r>
            <a:endParaRPr lang="es-ES" sz="2800" dirty="0"/>
          </a:p>
        </p:txBody>
      </p:sp>
      <p:sp>
        <p:nvSpPr>
          <p:cNvPr id="3686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DCFABFEA-E865-4DBC-8060-84D3A0013C82}" type="slidenum">
              <a:rPr lang="es-ES" smtClean="0">
                <a:latin typeface="Times New Roman" pitchFamily="18" charset="0"/>
              </a:rPr>
              <a:pPr/>
              <a:t>15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Características de la </a:t>
            </a:r>
            <a:r>
              <a:rPr lang="es-ES_tradnl" dirty="0" smtClean="0"/>
              <a:t>administración</a:t>
            </a:r>
            <a:endParaRPr lang="es-ES" dirty="0"/>
          </a:p>
        </p:txBody>
      </p:sp>
      <p:sp>
        <p:nvSpPr>
          <p:cNvPr id="4813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La administración no son personas</a:t>
            </a:r>
            <a:r>
              <a:rPr lang="es-MX" sz="2800" b="1" dirty="0" smtClean="0"/>
              <a:t>, </a:t>
            </a:r>
            <a:r>
              <a:rPr lang="es-MX" sz="2800" u="sng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es una actividad</a:t>
            </a:r>
            <a:r>
              <a:rPr lang="es-MX" sz="2800" dirty="0" smtClean="0"/>
              <a:t>; las personas que administran pueden ser designadas como Directores, Gerentes de áreas, Jefes, etc.</a:t>
            </a:r>
            <a:endParaRPr lang="es-ES" sz="2800" dirty="0" smtClean="0"/>
          </a:p>
          <a:p>
            <a:pPr eaLnBrk="1" hangingPunct="1">
              <a:defRPr/>
            </a:pPr>
            <a:r>
              <a:rPr lang="es-MX" sz="28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Se logra mediante los esfuerzos</a:t>
            </a:r>
            <a:r>
              <a:rPr lang="es-MX" sz="2800" b="1" dirty="0" smtClean="0"/>
              <a:t>.  </a:t>
            </a:r>
            <a:r>
              <a:rPr lang="es-MX" sz="2800" dirty="0" smtClean="0"/>
              <a:t>Para participar en la administración se necesita dejar la costumbre de hacer las cosas por uno mismo y hace que las tareas se cumplan mediante esfuerzos de otros.</a:t>
            </a:r>
            <a:endParaRPr lang="es-ES" sz="2800" dirty="0" smtClean="0"/>
          </a:p>
          <a:p>
            <a:pPr eaLnBrk="1" hangingPunct="1">
              <a:buFont typeface="Wingdings" pitchFamily="2" charset="2"/>
              <a:buNone/>
              <a:defRPr/>
            </a:pPr>
            <a:endParaRPr lang="es-ES" sz="2800" dirty="0"/>
          </a:p>
        </p:txBody>
      </p:sp>
      <p:sp>
        <p:nvSpPr>
          <p:cNvPr id="3789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8B3DF71-B3B3-492F-90CA-F67A9F2BAFAB}" type="slidenum">
              <a:rPr lang="es-ES" smtClean="0">
                <a:latin typeface="Times New Roman" pitchFamily="18" charset="0"/>
              </a:rPr>
              <a:pPr/>
              <a:t>16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/>
              <a:t>Funciones de la Administración</a:t>
            </a:r>
            <a:endParaRPr lang="es-ES"/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smtClean="0"/>
              <a:t>Planeación</a:t>
            </a:r>
          </a:p>
          <a:p>
            <a:pPr eaLnBrk="1" hangingPunct="1"/>
            <a:r>
              <a:rPr lang="es-ES" smtClean="0"/>
              <a:t>Organización</a:t>
            </a:r>
          </a:p>
          <a:p>
            <a:pPr eaLnBrk="1" hangingPunct="1"/>
            <a:r>
              <a:rPr lang="es-ES" smtClean="0"/>
              <a:t>Integración Personal</a:t>
            </a:r>
          </a:p>
          <a:p>
            <a:pPr eaLnBrk="1" hangingPunct="1"/>
            <a:r>
              <a:rPr lang="es-ES" smtClean="0"/>
              <a:t>Dirección</a:t>
            </a:r>
          </a:p>
          <a:p>
            <a:pPr eaLnBrk="1" hangingPunct="1"/>
            <a:r>
              <a:rPr lang="es-ES" smtClean="0"/>
              <a:t>Control</a:t>
            </a:r>
          </a:p>
        </p:txBody>
      </p:sp>
      <p:sp>
        <p:nvSpPr>
          <p:cNvPr id="3891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2DD572D0-43F1-451B-85BD-D92D173C0FD4}" type="slidenum">
              <a:rPr lang="es-ES" smtClean="0">
                <a:latin typeface="Times New Roman" pitchFamily="18" charset="0"/>
              </a:rPr>
              <a:pPr/>
              <a:t>17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PLANEACION</a:t>
            </a:r>
            <a:endParaRPr lang="es-ES" dirty="0"/>
          </a:p>
        </p:txBody>
      </p:sp>
      <p:sp>
        <p:nvSpPr>
          <p:cNvPr id="39938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 eaLnBrk="1" hangingPunct="1"/>
            <a:endParaRPr lang="es-ES" smtClean="0"/>
          </a:p>
          <a:p>
            <a:pPr algn="just" eaLnBrk="1" hangingPunct="1"/>
            <a:r>
              <a:rPr lang="es-ES" smtClean="0">
                <a:cs typeface="Arial" charset="0"/>
              </a:rPr>
              <a:t>Es el proceso de definir METAS, OBJETIVOS y ESTRATEGIAS de una organización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" smtClean="0">
                <a:cs typeface="Arial" charset="0"/>
              </a:rPr>
              <a:t>.</a:t>
            </a:r>
          </a:p>
        </p:txBody>
      </p:sp>
      <p:sp>
        <p:nvSpPr>
          <p:cNvPr id="39939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B986AD3-53AC-4EB6-A5E9-04B92EBC4055}" type="slidenum">
              <a:rPr lang="es-ES" smtClean="0">
                <a:latin typeface="Times New Roman" pitchFamily="18" charset="0"/>
              </a:rPr>
              <a:pPr/>
              <a:t>18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ORGANIZACION</a:t>
            </a:r>
            <a:endParaRPr lang="es-ES" dirty="0"/>
          </a:p>
        </p:txBody>
      </p:sp>
      <p:sp>
        <p:nvSpPr>
          <p:cNvPr id="40962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Es la manera como se lleva a cabo los planes</a:t>
            </a:r>
          </a:p>
        </p:txBody>
      </p:sp>
      <p:sp>
        <p:nvSpPr>
          <p:cNvPr id="40963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89B9C11-047B-4EC2-B84F-EB1CF8145696}" type="slidenum">
              <a:rPr lang="es-ES" smtClean="0">
                <a:latin typeface="Times New Roman" pitchFamily="18" charset="0"/>
              </a:rPr>
              <a:pPr/>
              <a:t>19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INTEGRACION DEL RECURSO HUMANO</a:t>
            </a:r>
            <a:endParaRPr lang="es-ES" dirty="0"/>
          </a:p>
        </p:txBody>
      </p:sp>
      <p:sp>
        <p:nvSpPr>
          <p:cNvPr id="41986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Personal competente en la organización.</a:t>
            </a:r>
          </a:p>
        </p:txBody>
      </p:sp>
      <p:sp>
        <p:nvSpPr>
          <p:cNvPr id="41987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90738349-6718-4885-A9A9-062BEF3E6B6D}" type="slidenum">
              <a:rPr lang="es-ES" smtClean="0">
                <a:latin typeface="Times New Roman" pitchFamily="18" charset="0"/>
              </a:rPr>
              <a:pPr/>
              <a:t>20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DIRECCION</a:t>
            </a:r>
            <a:endParaRPr lang="es-ES" dirty="0"/>
          </a:p>
        </p:txBody>
      </p:sp>
      <p:sp>
        <p:nvSpPr>
          <p:cNvPr id="43010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Motivación, liderazgo</a:t>
            </a:r>
          </a:p>
        </p:txBody>
      </p:sp>
      <p:sp>
        <p:nvSpPr>
          <p:cNvPr id="43011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ADFD03D-CB2D-4AE1-942A-2EF7535348C4}" type="slidenum">
              <a:rPr lang="es-ES" smtClean="0">
                <a:latin typeface="Times New Roman" pitchFamily="18" charset="0"/>
              </a:rPr>
              <a:pPr/>
              <a:t>21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CONTROL</a:t>
            </a:r>
            <a:endParaRPr lang="es-ES" dirty="0"/>
          </a:p>
        </p:txBody>
      </p:sp>
      <p:sp>
        <p:nvSpPr>
          <p:cNvPr id="44034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s-ES" smtClean="0"/>
          </a:p>
          <a:p>
            <a:pPr eaLnBrk="1" hangingPunct="1"/>
            <a:r>
              <a:rPr lang="es-ES" smtClean="0"/>
              <a:t>Es el seguimiento de las actividades de acuerdo con lo planeado</a:t>
            </a:r>
          </a:p>
        </p:txBody>
      </p:sp>
      <p:sp>
        <p:nvSpPr>
          <p:cNvPr id="44035" name="3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81DB25E-54C6-42D2-A892-00819B2ED726}" type="slidenum">
              <a:rPr lang="es-ES" smtClean="0">
                <a:latin typeface="Times New Roman" pitchFamily="18" charset="0"/>
              </a:rPr>
              <a:pPr/>
              <a:t>22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 smtClean="0"/>
              <a:t>Evolución del Pensamiento </a:t>
            </a:r>
            <a:r>
              <a:rPr lang="es-ES_tradnl" dirty="0"/>
              <a:t>Administrativo</a:t>
            </a:r>
            <a:br>
              <a:rPr lang="es-ES_tradnl" dirty="0"/>
            </a:br>
            <a:endParaRPr lang="es-ES" dirty="0"/>
          </a:p>
        </p:txBody>
      </p:sp>
      <p:sp>
        <p:nvSpPr>
          <p:cNvPr id="3379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endParaRPr lang="es-ES" dirty="0" smtClean="0"/>
          </a:p>
        </p:txBody>
      </p:sp>
      <p:sp>
        <p:nvSpPr>
          <p:cNvPr id="3379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4D716AD-4E8B-43F2-9F5F-FE789416E839}" type="slidenum">
              <a:rPr lang="es-ES" smtClean="0">
                <a:latin typeface="Times New Roman" pitchFamily="18" charset="0"/>
              </a:rPr>
              <a:pPr/>
              <a:t>23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Administración Tradicional</a:t>
            </a:r>
            <a:endParaRPr lang="es-ES" dirty="0"/>
          </a:p>
        </p:txBody>
      </p:sp>
      <p:sp>
        <p:nvSpPr>
          <p:cNvPr id="45058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928813"/>
            <a:ext cx="7772400" cy="4114800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endParaRPr lang="es-ES_tradnl" smtClean="0"/>
          </a:p>
          <a:p>
            <a:pPr algn="just" eaLnBrk="1" hangingPunct="1">
              <a:buFont typeface="Wingdings" pitchFamily="2" charset="2"/>
              <a:buNone/>
            </a:pPr>
            <a:r>
              <a:rPr lang="es-ES_tradnl" smtClean="0"/>
              <a:t>    Esta fundamentada en la disciplina obediencia y el orden al igual que en las diferentes creencias de la época y comportamientos del Individuo.</a:t>
            </a:r>
          </a:p>
          <a:p>
            <a:pPr eaLnBrk="1" hangingPunct="1">
              <a:buFont typeface="Wingdings" pitchFamily="2" charset="2"/>
              <a:buNone/>
            </a:pPr>
            <a:endParaRPr lang="es-ES_tradnl" smtClean="0"/>
          </a:p>
          <a:p>
            <a:pPr eaLnBrk="1" hangingPunct="1">
              <a:buFont typeface="Wingdings" pitchFamily="2" charset="2"/>
              <a:buNone/>
            </a:pPr>
            <a:endParaRPr lang="es-ES" smtClean="0"/>
          </a:p>
        </p:txBody>
      </p:sp>
      <p:sp>
        <p:nvSpPr>
          <p:cNvPr id="4505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0D50AA96-F7DB-42B8-B029-96C64E245568}" type="slidenum">
              <a:rPr lang="es-ES" smtClean="0">
                <a:latin typeface="Times New Roman" pitchFamily="18" charset="0"/>
              </a:rPr>
              <a:pPr/>
              <a:t>24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Administración Moderna</a:t>
            </a:r>
            <a:endParaRPr lang="es-ES" dirty="0"/>
          </a:p>
        </p:txBody>
      </p:sp>
      <p:sp>
        <p:nvSpPr>
          <p:cNvPr id="46082" name="Rectangle 3"/>
          <p:cNvSpPr>
            <a:spLocks noGrp="1" noChangeArrowheads="1"/>
          </p:cNvSpPr>
          <p:nvPr>
            <p:ph idx="1"/>
          </p:nvPr>
        </p:nvSpPr>
        <p:spPr>
          <a:xfrm>
            <a:off x="714375" y="1928813"/>
            <a:ext cx="7986713" cy="432911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Nacen los administradores y las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 organizaciones.</a:t>
            </a:r>
          </a:p>
          <a:p>
            <a:pPr eaLnBrk="1" hangingPunct="1">
              <a:buFont typeface="Wingdings" pitchFamily="2" charset="2"/>
              <a:buNone/>
            </a:pPr>
            <a:endParaRPr lang="es-ES_tradnl" smtClean="0"/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Se fortalecen las teorías y se crean las nuevas.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/>
          </a:p>
        </p:txBody>
      </p:sp>
      <p:sp>
        <p:nvSpPr>
          <p:cNvPr id="46083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B99FC066-5069-4EA0-BC8C-13FC5D11C9C5}" type="slidenum">
              <a:rPr lang="es-ES" smtClean="0">
                <a:latin typeface="Times New Roman" pitchFamily="18" charset="0"/>
              </a:rPr>
              <a:pPr/>
              <a:t>25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Perspectivas futuras</a:t>
            </a:r>
            <a:br>
              <a:rPr lang="es-ES_tradnl" dirty="0"/>
            </a:br>
            <a:r>
              <a:rPr lang="es-ES_tradnl" dirty="0"/>
              <a:t>en la administración</a:t>
            </a:r>
            <a:endParaRPr lang="es-ES" dirty="0"/>
          </a:p>
        </p:txBody>
      </p:sp>
      <p:sp>
        <p:nvSpPr>
          <p:cNvPr id="53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Cada época desarrolla una forma organizacional propia, de acuerdo a sus propias características.</a:t>
            </a: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 smtClean="0"/>
              <a:t>Las organizaciones actuales no serán apropiadas en el futuro, por  la presencia de fenómenos o factores que las afectan, tales como:  </a:t>
            </a:r>
            <a:endParaRPr lang="es-ES_tradnl" dirty="0"/>
          </a:p>
          <a:p>
            <a:pPr eaLnBrk="1" hangingPunct="1">
              <a:buFont typeface="Wingdings" pitchFamily="2" charset="2"/>
              <a:buNone/>
              <a:defRPr/>
            </a:pPr>
            <a:endParaRPr lang="es-ES_tradnl" dirty="0"/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Los cambios rápidos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_tradn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El crecimiento o expansión</a:t>
            </a:r>
          </a:p>
          <a:p>
            <a:pPr eaLnBrk="1" hangingPunct="1">
              <a:buFont typeface="Wingdings" pitchFamily="2" charset="2"/>
              <a:buNone/>
              <a:defRPr/>
            </a:pPr>
            <a:endParaRPr lang="es-ES_tradnl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pPr eaLnBrk="1" hangingPunct="1">
              <a:buFont typeface="Wingdings" pitchFamily="2" charset="2"/>
              <a:buNone/>
              <a:defRPr/>
            </a:pPr>
            <a:r>
              <a:rPr lang="es-ES_tradnl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Las actividades</a:t>
            </a:r>
            <a:endParaRPr lang="es-ES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710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AAC3FDA-6FE9-4EE2-B69C-AA1CF4BAB92E}" type="slidenum">
              <a:rPr lang="es-ES" smtClean="0">
                <a:latin typeface="Times New Roman" pitchFamily="18" charset="0"/>
              </a:rPr>
              <a:pPr/>
              <a:t>26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endParaRPr lang="es-E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*El crecimiento de las organizaciones.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competencia.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sofisticación de la tecnología.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*Tasas de inflación.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globalización de la economía e internacionalización de los negocios.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*La mayor visibilidad de las rganizaciones.</a:t>
            </a:r>
            <a:endParaRPr lang="es-ES" smtClean="0"/>
          </a:p>
        </p:txBody>
      </p:sp>
      <p:sp>
        <p:nvSpPr>
          <p:cNvPr id="48131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8292514A-80E6-4450-9D98-AF09F70D0B4B}" type="slidenum">
              <a:rPr lang="es-ES" smtClean="0">
                <a:latin typeface="Times New Roman" pitchFamily="18" charset="0"/>
              </a:rPr>
              <a:pPr/>
              <a:t>27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_tradnl" dirty="0"/>
              <a:t>Transformaciones o mega tendencias de la</a:t>
            </a:r>
            <a:br>
              <a:rPr lang="es-ES_tradnl" dirty="0"/>
            </a:br>
            <a:r>
              <a:rPr lang="es-ES_tradnl" dirty="0" smtClean="0"/>
              <a:t>sociedad</a:t>
            </a:r>
            <a:endParaRPr lang="es-ES" dirty="0"/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928813"/>
            <a:ext cx="7772400" cy="4114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endParaRPr lang="es-ES_tradnl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sociedad industrial ala sociedad de la información.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tecnología simple a la sofisticada.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economía nacional a la mundial.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-Del corto al largo plazo.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</a:pPr>
            <a:r>
              <a:rPr lang="es-ES_tradnl" dirty="0" smtClean="0"/>
              <a:t>-De la democracia representativa a la participativa.</a:t>
            </a:r>
            <a:endParaRPr lang="es-ES" dirty="0" smtClean="0"/>
          </a:p>
        </p:txBody>
      </p:sp>
      <p:sp>
        <p:nvSpPr>
          <p:cNvPr id="4915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6A4C5E26-9DD7-4394-8FA2-4CB89BA38F14}" type="slidenum">
              <a:rPr lang="es-ES" smtClean="0">
                <a:latin typeface="Times New Roman" pitchFamily="18" charset="0"/>
              </a:rPr>
              <a:pPr/>
              <a:t>28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Transformaciones o mega tendencias de la administración</a:t>
            </a:r>
            <a:endParaRPr lang="es-ES" dirty="0"/>
          </a:p>
        </p:txBody>
      </p:sp>
      <p:sp>
        <p:nvSpPr>
          <p:cNvPr id="5017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2357438"/>
            <a:ext cx="7772400" cy="3738562"/>
          </a:xfrm>
        </p:spPr>
        <p:txBody>
          <a:bodyPr/>
          <a:lstStyle/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las jerarquías a la comunicación lateral intensiva.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 opción dual a la múltiple.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 centralización a la descentralización.</a:t>
            </a:r>
          </a:p>
          <a:p>
            <a:pPr eaLnBrk="1" hangingPunct="1">
              <a:buFont typeface="Wingdings" pitchFamily="2" charset="2"/>
              <a:buNone/>
            </a:pPr>
            <a:r>
              <a:rPr lang="es-ES_tradnl" smtClean="0"/>
              <a:t>-De la ayuda institucional a la autoayuda.</a:t>
            </a:r>
          </a:p>
          <a:p>
            <a:pPr eaLnBrk="1" hangingPunct="1">
              <a:buFont typeface="Wingdings" pitchFamily="2" charset="2"/>
              <a:buNone/>
            </a:pPr>
            <a:endParaRPr lang="es-ES" smtClean="0"/>
          </a:p>
        </p:txBody>
      </p:sp>
      <p:sp>
        <p:nvSpPr>
          <p:cNvPr id="50179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3402FCB-34C3-4BF7-AE13-0BA522F55561}" type="slidenum">
              <a:rPr lang="es-ES" smtClean="0">
                <a:latin typeface="Times New Roman" pitchFamily="18" charset="0"/>
              </a:rPr>
              <a:pPr/>
              <a:t>29</a:t>
            </a:fld>
            <a:endParaRPr lang="es-ES" smtClean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 smtClean="0"/>
              <a:t>ORGANIZACIÓN VS. ADMINISTRACIÓN</a:t>
            </a:r>
            <a:endParaRPr lang="es-ES" dirty="0"/>
          </a:p>
        </p:txBody>
      </p:sp>
      <p:sp>
        <p:nvSpPr>
          <p:cNvPr id="51202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F4BD75F3-6368-4405-9974-8192A937B6D4}" type="slidenum">
              <a:rPr lang="es-ES" smtClean="0">
                <a:latin typeface="Times New Roman" pitchFamily="18" charset="0"/>
              </a:rPr>
              <a:pPr/>
              <a:t>30</a:t>
            </a:fld>
            <a:endParaRPr lang="es-ES" smtClean="0">
              <a:latin typeface="Times New Roman" pitchFamily="18" charset="0"/>
            </a:endParaRPr>
          </a:p>
        </p:txBody>
      </p:sp>
      <p:sp>
        <p:nvSpPr>
          <p:cNvPr id="51203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GRUPOS DE PERSONAS QUE TRABAJAN JUNTAS PARA LOGRAR  OBJETIVOS Y METAS COMUNES.</a:t>
            </a:r>
          </a:p>
          <a:p>
            <a:pPr eaLnBrk="1" hangingPunct="1"/>
            <a:endParaRPr lang="es-ES" dirty="0" smtClean="0"/>
          </a:p>
          <a:p>
            <a:pPr eaLnBrk="1" hangingPunct="1"/>
            <a:r>
              <a:rPr lang="es-ES" dirty="0" smtClean="0"/>
              <a:t>SEGÚN SU FIN LA ORGANIZACIÓN SE CLASIFICA Y TIENE DIFERENTE NIVELES.</a:t>
            </a:r>
          </a:p>
          <a:p>
            <a:pPr algn="just" eaLnBrk="1" hangingPunct="1"/>
            <a:endParaRPr lang="es-ES" dirty="0" smtClean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CLASES DE ORGANIZACIONES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31</a:t>
            </a:fld>
            <a:endParaRPr lang="es-ES" dirty="0"/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O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PRODUCTIVIDAD, EFECTIVIDAD Y EFICIENCIA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/>
                </a:solidFill>
              </a:rPr>
              <a:t>PRODUCTIVIDAD:</a:t>
            </a:r>
            <a:r>
              <a:rPr lang="es-ES" dirty="0" smtClean="0"/>
              <a:t> Excedente logrado  a </a:t>
            </a:r>
            <a:r>
              <a:rPr lang="es-ES" dirty="0" err="1" smtClean="0"/>
              <a:t>traves</a:t>
            </a:r>
            <a:r>
              <a:rPr lang="es-ES" dirty="0" smtClean="0"/>
              <a:t> de una salida o venta dentro de un periodo, considerando la calidad</a:t>
            </a:r>
          </a:p>
          <a:p>
            <a:r>
              <a:rPr lang="es-ES" dirty="0" smtClean="0">
                <a:solidFill>
                  <a:schemeClr val="accent1"/>
                </a:solidFill>
              </a:rPr>
              <a:t>EFECTIVIDAD:</a:t>
            </a:r>
            <a:r>
              <a:rPr lang="es-ES" dirty="0" smtClean="0"/>
              <a:t> Logro de objetivos.</a:t>
            </a:r>
          </a:p>
          <a:p>
            <a:r>
              <a:rPr lang="es-ES" dirty="0" smtClean="0">
                <a:solidFill>
                  <a:schemeClr val="accent1"/>
                </a:solidFill>
              </a:rPr>
              <a:t>EFICIENCIA: </a:t>
            </a:r>
            <a:r>
              <a:rPr lang="es-ES" dirty="0" smtClean="0"/>
              <a:t> Alcanzar el fin con el </a:t>
            </a:r>
            <a:r>
              <a:rPr lang="es-ES" dirty="0" err="1" smtClean="0"/>
              <a:t>minimo</a:t>
            </a:r>
            <a:r>
              <a:rPr lang="es-ES" dirty="0" smtClean="0"/>
              <a:t> de los recursos</a:t>
            </a:r>
            <a:endParaRPr lang="es-ES" dirty="0" smtClean="0">
              <a:solidFill>
                <a:schemeClr val="accent1"/>
              </a:solidFill>
            </a:endParaRPr>
          </a:p>
          <a:p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32</a:t>
            </a:fld>
            <a:endParaRPr lang="es-E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ADMINISTRADOR VS ADMINISTRACION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33</a:t>
            </a:fld>
            <a:endParaRPr lang="es-E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QUE ES UNA EMPRESA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34</a:t>
            </a:fld>
            <a:endParaRPr lang="es-E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TIPOLOGIA DE LAS EMPRESAS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s-ES" dirty="0" smtClean="0"/>
              <a:t>Por su origen, sus objetivos, el destino de sus recursos y de sus utilidades, la pertenencia, tipo de aportes, recursos y participación de sus miembros, su régimen jurídico, por su tamaño, ámbito territorial de su actividad</a:t>
            </a:r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35</a:t>
            </a:fld>
            <a:endParaRPr lang="es-ES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DIFERENCIAS ENTRE ORGANIZACIÓN Y EMPRESA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36</a:t>
            </a:fld>
            <a:endParaRPr lang="es-ES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RELACION DE LA ADMINISTRACION CON OTRAS CIENCIAS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37</a:t>
            </a:fld>
            <a:endParaRPr lang="es-ES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CIENCIAS DEL COMPORTAMIENTO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SOCIOLOGIA</a:t>
            </a:r>
          </a:p>
          <a:p>
            <a:pPr>
              <a:buNone/>
            </a:pPr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s-ES" dirty="0" smtClean="0"/>
              <a:t>Trata el fenómeno social dentro de una organización.</a:t>
            </a:r>
          </a:p>
          <a:p>
            <a:pPr>
              <a:buNone/>
            </a:pPr>
            <a:endParaRPr lang="es-ES" dirty="0" smtClean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PSICOLOGIA</a:t>
            </a:r>
          </a:p>
          <a:p>
            <a:pPr>
              <a:buNone/>
            </a:pPr>
            <a:r>
              <a:rPr lang="es-ES" dirty="0" smtClean="0">
                <a:solidFill>
                  <a:schemeClr val="accent1">
                    <a:lumMod val="75000"/>
                  </a:schemeClr>
                </a:solidFill>
              </a:rPr>
              <a:t>	</a:t>
            </a:r>
            <a:r>
              <a:rPr lang="es-ES" dirty="0" smtClean="0"/>
              <a:t>Ayuda a comprender el comportamiento humano en el trabajo.</a:t>
            </a:r>
            <a:endParaRPr lang="es-ES" dirty="0" smtClean="0">
              <a:solidFill>
                <a:schemeClr val="accent1">
                  <a:lumMod val="75000"/>
                </a:schemeClr>
              </a:solidFill>
            </a:endParaRPr>
          </a:p>
          <a:p>
            <a:endParaRPr lang="es-ES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38</a:t>
            </a:fld>
            <a:endParaRPr lang="es-ES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CIENCIAS CUANTITATIVAS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/>
                </a:solidFill>
              </a:rPr>
              <a:t>TEORIA CONTABLE Y FINANCIERA</a:t>
            </a:r>
          </a:p>
          <a:p>
            <a:endParaRPr lang="es-ES" dirty="0" smtClean="0">
              <a:solidFill>
                <a:schemeClr val="accent1"/>
              </a:solidFill>
            </a:endParaRPr>
          </a:p>
          <a:p>
            <a:endParaRPr lang="es-ES" dirty="0" smtClean="0">
              <a:solidFill>
                <a:schemeClr val="accent1"/>
              </a:solidFill>
            </a:endParaRPr>
          </a:p>
          <a:p>
            <a:r>
              <a:rPr lang="es-ES" dirty="0" smtClean="0">
                <a:solidFill>
                  <a:schemeClr val="accent1"/>
                </a:solidFill>
              </a:rPr>
              <a:t>MATEMATICAS Y ESTDISTICAS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39</a:t>
            </a:fld>
            <a:endParaRPr lang="es-ES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/>
              <a:t>CIENCIAS SOCIALES</a:t>
            </a:r>
            <a:endParaRPr lang="es-ES" dirty="0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 smtClean="0">
                <a:solidFill>
                  <a:schemeClr val="accent1"/>
                </a:solidFill>
              </a:rPr>
              <a:t>ECONOMIA</a:t>
            </a:r>
          </a:p>
          <a:p>
            <a:endParaRPr lang="es-ES" dirty="0" smtClean="0">
              <a:solidFill>
                <a:schemeClr val="accent1"/>
              </a:solidFill>
            </a:endParaRPr>
          </a:p>
          <a:p>
            <a:r>
              <a:rPr lang="es-ES" dirty="0" smtClean="0">
                <a:solidFill>
                  <a:schemeClr val="accent1"/>
                </a:solidFill>
              </a:rPr>
              <a:t>DERECHO</a:t>
            </a:r>
          </a:p>
          <a:p>
            <a:endParaRPr lang="es-ES" dirty="0" smtClean="0">
              <a:solidFill>
                <a:schemeClr val="accent1"/>
              </a:solidFill>
            </a:endParaRPr>
          </a:p>
          <a:p>
            <a:r>
              <a:rPr lang="es-ES" dirty="0" smtClean="0">
                <a:solidFill>
                  <a:schemeClr val="accent1"/>
                </a:solidFill>
              </a:rPr>
              <a:t>HISTORIA Y FILOSOFIA</a:t>
            </a:r>
            <a:endParaRPr lang="es-ES" dirty="0">
              <a:solidFill>
                <a:schemeClr val="accent1"/>
              </a:solidFill>
            </a:endParaRPr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40</a:t>
            </a:fld>
            <a:endParaRPr lang="es-ES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6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/>
              <a:t>La vida real</a:t>
            </a:r>
          </a:p>
        </p:txBody>
      </p:sp>
      <p:sp>
        <p:nvSpPr>
          <p:cNvPr id="52226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Dar ejemplos o contar anécdotas de la vida real</a:t>
            </a:r>
          </a:p>
          <a:p>
            <a:pPr eaLnBrk="1" hangingPunct="1"/>
            <a:r>
              <a:rPr lang="es-ES" dirty="0" smtClean="0"/>
              <a:t>Mostrar interés por la situación de la audiencia, si resulta apropiado</a:t>
            </a:r>
          </a:p>
        </p:txBody>
      </p:sp>
      <p:sp>
        <p:nvSpPr>
          <p:cNvPr id="5222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48698E1E-EF8B-4D11-83DD-64DDEEC9AC36}" type="slidenum">
              <a:rPr lang="es-ES" smtClean="0">
                <a:latin typeface="Times New Roman" pitchFamily="18" charset="0"/>
              </a:rPr>
              <a:pPr/>
              <a:t>41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0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/>
              <a:t>Qué significa esto</a:t>
            </a:r>
          </a:p>
        </p:txBody>
      </p:sp>
      <p:sp>
        <p:nvSpPr>
          <p:cNvPr id="54274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Agregar una declaración de su opinión acerca del tema</a:t>
            </a:r>
          </a:p>
          <a:p>
            <a:pPr eaLnBrk="1" hangingPunct="1"/>
            <a:r>
              <a:rPr lang="es-ES" dirty="0" smtClean="0"/>
              <a:t>Resumir los puntos principales que desee que la audiencia recuerde</a:t>
            </a:r>
          </a:p>
        </p:txBody>
      </p:sp>
      <p:sp>
        <p:nvSpPr>
          <p:cNvPr id="54275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E40AB0E5-6F43-4E25-8AA5-D8A3A3C5549A}" type="slidenum">
              <a:rPr lang="es-ES" smtClean="0">
                <a:latin typeface="Times New Roman" pitchFamily="18" charset="0"/>
              </a:rPr>
              <a:pPr/>
              <a:t>42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 smtClean="0">
                <a:effectLst/>
              </a:rPr>
              <a:t>LA ADMINISTRACIÓN: CIENCIA,TECNICA O ARTE?</a:t>
            </a:r>
            <a:endParaRPr lang="es-ES" dirty="0" smtClean="0">
              <a:effectLst/>
            </a:endParaRPr>
          </a:p>
        </p:txBody>
      </p:sp>
      <p:sp>
        <p:nvSpPr>
          <p:cNvPr id="5632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s-ES" dirty="0" smtClean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4" name="Rectangle 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s-ES" dirty="0"/>
              <a:t>Pasos siguientes </a:t>
            </a:r>
          </a:p>
        </p:txBody>
      </p:sp>
      <p:sp>
        <p:nvSpPr>
          <p:cNvPr id="57346" name="Rectangle 7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s-ES" dirty="0" smtClean="0"/>
              <a:t>Resumir cualquier acción que deban realizar los participantes</a:t>
            </a:r>
          </a:p>
          <a:p>
            <a:pPr eaLnBrk="1" hangingPunct="1"/>
            <a:r>
              <a:rPr lang="es-ES" dirty="0" smtClean="0"/>
              <a:t>Resumir los elementos de acción que se deben llevar a cabo</a:t>
            </a:r>
          </a:p>
        </p:txBody>
      </p:sp>
      <p:sp>
        <p:nvSpPr>
          <p:cNvPr id="57347" name="5 Marcador de número de diapositiva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fld id="{70255F59-88D4-4F96-B89C-B7F0B265609F}" type="slidenum">
              <a:rPr lang="es-ES" smtClean="0">
                <a:latin typeface="Times New Roman" pitchFamily="18" charset="0"/>
              </a:rPr>
              <a:pPr/>
              <a:t>44</a:t>
            </a:fld>
            <a:endParaRPr lang="es-ES" dirty="0" smtClean="0">
              <a:latin typeface="Times New Roman" pitchFamily="18" charset="0"/>
            </a:endParaRPr>
          </a:p>
        </p:txBody>
      </p:sp>
    </p:spTree>
  </p:cSld>
  <p:clrMapOvr>
    <a:masterClrMapping/>
  </p:clrMapOvr>
  <p:transition>
    <p:cut/>
  </p:transition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CONCEPTO DE CIENCIA</a:t>
            </a:r>
            <a:endParaRPr lang="es-ES" sz="4000" dirty="0" smtClean="0">
              <a:effectLst/>
            </a:endParaRPr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smtClean="0"/>
              <a:t>Proceso racional que mediante pasos sistematizados y graduales busca predecir el comportamiento de un objeto para la construcción de leyes que nos permitan comprender tal comportamiento.</a:t>
            </a:r>
          </a:p>
          <a:p>
            <a:pPr algn="just"/>
            <a:r>
              <a:rPr lang="es-AR" dirty="0" smtClean="0"/>
              <a:t>Es el conjunto de conocimientos sistematizados sobre un objeto</a:t>
            </a:r>
          </a:p>
          <a:p>
            <a:pPr algn="just"/>
            <a:r>
              <a:rPr lang="es-AR" dirty="0" smtClean="0"/>
              <a:t>Existen tres niveles de conocimiento:</a:t>
            </a:r>
            <a:endParaRPr lang="es-ES" dirty="0" smtClean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Conocimiento popular</a:t>
            </a:r>
          </a:p>
          <a:p>
            <a:r>
              <a:rPr lang="es-CO" dirty="0" smtClean="0"/>
              <a:t>Conocimiento de divulgación</a:t>
            </a:r>
          </a:p>
          <a:p>
            <a:r>
              <a:rPr lang="es-CO" dirty="0" smtClean="0"/>
              <a:t>Conocimiento Científico</a:t>
            </a:r>
          </a:p>
          <a:p>
            <a:r>
              <a:rPr lang="es-CO" dirty="0" smtClean="0"/>
              <a:t>El Método Científico</a:t>
            </a:r>
          </a:p>
          <a:p>
            <a:r>
              <a:rPr lang="es-CO" dirty="0" smtClean="0"/>
              <a:t>Pasos o etapas del método científico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46</a:t>
            </a:fld>
            <a:endParaRPr lang="es-ES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CO" dirty="0" smtClean="0"/>
              <a:t>El concepto de Técnica</a:t>
            </a:r>
          </a:p>
          <a:p>
            <a:endParaRPr lang="es-CO" dirty="0" smtClean="0"/>
          </a:p>
          <a:p>
            <a:r>
              <a:rPr lang="es-CO" dirty="0" smtClean="0"/>
              <a:t>El concepto de Arte</a:t>
            </a:r>
          </a:p>
          <a:p>
            <a:r>
              <a:rPr lang="es-CO" dirty="0" smtClean="0"/>
              <a:t>El fenómeno administrativo considerado como objeto de estudio científico</a:t>
            </a:r>
          </a:p>
          <a:p>
            <a:r>
              <a:rPr lang="es-CO" dirty="0" smtClean="0"/>
              <a:t>Existe un método de investigación en la Administración?</a:t>
            </a:r>
          </a:p>
          <a:p>
            <a:r>
              <a:rPr lang="es-CO" dirty="0" smtClean="0"/>
              <a:t>La Administración como Ciencia</a:t>
            </a:r>
            <a:endParaRPr lang="es-CO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9A6075D-9444-4A32-8857-764C8C390FFF}" type="slidenum">
              <a:rPr lang="es-ES" smtClean="0"/>
              <a:pPr>
                <a:defRPr/>
              </a:pPr>
              <a:t>47</a:t>
            </a:fld>
            <a:endParaRPr lang="es-ES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ADMINISTRACION COMO TECNICA</a:t>
            </a:r>
            <a:endParaRPr lang="es-ES" sz="4000" dirty="0" smtClean="0">
              <a:effectLst/>
            </a:endParaRP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smtClean="0"/>
              <a:t>Conjunto de instrumentos reglas, procedimientos y conocimientos, cuyo objeto es la aplicación utilitaria.</a:t>
            </a:r>
            <a:endParaRPr lang="es-ES" dirty="0" smtClean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ADMINISTRACION COMO ARTE</a:t>
            </a:r>
            <a:endParaRPr lang="es-ES" sz="4000" dirty="0" smtClean="0">
              <a:effectLst/>
            </a:endParaRPr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AR" dirty="0" smtClean="0"/>
              <a:t>Conjunto de preceptos y reglas necesarias para hacer bien una cosa</a:t>
            </a:r>
          </a:p>
          <a:p>
            <a:endParaRPr lang="es-AR" dirty="0" smtClean="0"/>
          </a:p>
          <a:p>
            <a:r>
              <a:rPr lang="es-AR" dirty="0" smtClean="0"/>
              <a:t>Profundizar en el documento de Claudia </a:t>
            </a:r>
            <a:r>
              <a:rPr lang="es-AR" smtClean="0"/>
              <a:t>Liliana Padrón.</a:t>
            </a:r>
            <a:endParaRPr lang="es-ES" dirty="0" smtClean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r>
              <a:rPr lang="es-AR" sz="4000" dirty="0" smtClean="0">
                <a:effectLst/>
              </a:rPr>
              <a:t>LA ADMINISTRACION CON OTRAS CIENCIAS</a:t>
            </a:r>
            <a:endParaRPr lang="es-ES" sz="4000" dirty="0" smtClean="0">
              <a:effectLst/>
            </a:endParaRPr>
          </a:p>
        </p:txBody>
      </p:sp>
      <p:sp>
        <p:nvSpPr>
          <p:cNvPr id="634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Wingdings" pitchFamily="2" charset="2"/>
              <a:buNone/>
            </a:pPr>
            <a:r>
              <a:rPr lang="es-AR" dirty="0" smtClean="0"/>
              <a:t>La administración  ha logrado su status de ciencia gracias a los aportes de tantas otras disciplinas que le han entregado instrumentos para poder precisar su objeto de estudio y método</a:t>
            </a:r>
            <a:endParaRPr lang="es-ES" dirty="0" smtClean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>
          <a:noFill/>
          <a:ln/>
        </p:spPr>
        <p:txBody>
          <a:bodyPr/>
          <a:lstStyle/>
          <a:p>
            <a:endParaRPr lang="es-ES" dirty="0" smtClean="0">
              <a:effectLst/>
            </a:endParaRPr>
          </a:p>
        </p:txBody>
      </p:sp>
      <p:sp>
        <p:nvSpPr>
          <p:cNvPr id="655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 smtClean="0"/>
              <a:t>Moral: La moral dicta reglas supremas a las que deberá someterse la actividad humana.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uelo sin motor">
  <a:themeElements>
    <a:clrScheme name="Vuelo sin motor 1">
      <a:dk1>
        <a:srgbClr val="000000"/>
      </a:dk1>
      <a:lt1>
        <a:srgbClr val="FFFFFF"/>
      </a:lt1>
      <a:dk2>
        <a:srgbClr val="0000FF"/>
      </a:dk2>
      <a:lt2>
        <a:srgbClr val="FFCC66"/>
      </a:lt2>
      <a:accent1>
        <a:srgbClr val="00FFFF"/>
      </a:accent1>
      <a:accent2>
        <a:srgbClr val="3366FF"/>
      </a:accent2>
      <a:accent3>
        <a:srgbClr val="AAAAFF"/>
      </a:accent3>
      <a:accent4>
        <a:srgbClr val="DADADA"/>
      </a:accent4>
      <a:accent5>
        <a:srgbClr val="AAFFFF"/>
      </a:accent5>
      <a:accent6>
        <a:srgbClr val="2D5CE7"/>
      </a:accent6>
      <a:hlink>
        <a:srgbClr val="FF0033"/>
      </a:hlink>
      <a:folHlink>
        <a:srgbClr val="FFFF00"/>
      </a:folHlink>
    </a:clrScheme>
    <a:fontScheme name="Papel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charset="0"/>
          </a:defRPr>
        </a:defPPr>
      </a:lstStyle>
    </a:lnDef>
  </a:objectDefaults>
  <a:extraClrSchemeLst>
    <a:extraClrScheme>
      <a:clrScheme name="Vuelo sin motor 1">
        <a:dk1>
          <a:srgbClr val="000000"/>
        </a:dk1>
        <a:lt1>
          <a:srgbClr val="FFFFFF"/>
        </a:lt1>
        <a:dk2>
          <a:srgbClr val="0000FF"/>
        </a:dk2>
        <a:lt2>
          <a:srgbClr val="FFCC66"/>
        </a:lt2>
        <a:accent1>
          <a:srgbClr val="00FFFF"/>
        </a:accent1>
        <a:accent2>
          <a:srgbClr val="3366FF"/>
        </a:accent2>
        <a:accent3>
          <a:srgbClr val="AAAAFF"/>
        </a:accent3>
        <a:accent4>
          <a:srgbClr val="DADADA"/>
        </a:accent4>
        <a:accent5>
          <a:srgbClr val="AAFFFF"/>
        </a:accent5>
        <a:accent6>
          <a:srgbClr val="2D5CE7"/>
        </a:accent6>
        <a:hlink>
          <a:srgbClr val="FF0033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uelo sin motor 2">
        <a:dk1>
          <a:srgbClr val="000000"/>
        </a:dk1>
        <a:lt1>
          <a:srgbClr val="FFFFFF"/>
        </a:lt1>
        <a:dk2>
          <a:srgbClr val="000000"/>
        </a:dk2>
        <a:lt2>
          <a:srgbClr val="CCECFF"/>
        </a:lt2>
        <a:accent1>
          <a:srgbClr val="6699FF"/>
        </a:accent1>
        <a:accent2>
          <a:srgbClr val="66CCFF"/>
        </a:accent2>
        <a:accent3>
          <a:srgbClr val="FFFFFF"/>
        </a:accent3>
        <a:accent4>
          <a:srgbClr val="000000"/>
        </a:accent4>
        <a:accent5>
          <a:srgbClr val="B8CAFF"/>
        </a:accent5>
        <a:accent6>
          <a:srgbClr val="5CB9E7"/>
        </a:accent6>
        <a:hlink>
          <a:srgbClr val="CC99FF"/>
        </a:hlink>
        <a:folHlink>
          <a:srgbClr val="00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uelo sin motor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CBCBCB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D4D4D4"/>
        </a:accent6>
        <a:hlink>
          <a:srgbClr val="5F5F5F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Vuelo sin motor 4">
        <a:dk1>
          <a:srgbClr val="000000"/>
        </a:dk1>
        <a:lt1>
          <a:srgbClr val="FFFFFF"/>
        </a:lt1>
        <a:dk2>
          <a:srgbClr val="008080"/>
        </a:dk2>
        <a:lt2>
          <a:srgbClr val="FFCC66"/>
        </a:lt2>
        <a:accent1>
          <a:srgbClr val="0099CC"/>
        </a:accent1>
        <a:accent2>
          <a:srgbClr val="009999"/>
        </a:accent2>
        <a:accent3>
          <a:srgbClr val="AAC0C0"/>
        </a:accent3>
        <a:accent4>
          <a:srgbClr val="DADADA"/>
        </a:accent4>
        <a:accent5>
          <a:srgbClr val="AACAE2"/>
        </a:accent5>
        <a:accent6>
          <a:srgbClr val="008A8A"/>
        </a:accent6>
        <a:hlink>
          <a:srgbClr val="6600CC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Vuelo sin motor 5">
        <a:dk1>
          <a:srgbClr val="000000"/>
        </a:dk1>
        <a:lt1>
          <a:srgbClr val="FFFFFF"/>
        </a:lt1>
        <a:dk2>
          <a:srgbClr val="993300"/>
        </a:dk2>
        <a:lt2>
          <a:srgbClr val="FFCC66"/>
        </a:lt2>
        <a:accent1>
          <a:srgbClr val="FF6633"/>
        </a:accent1>
        <a:accent2>
          <a:srgbClr val="CC6600"/>
        </a:accent2>
        <a:accent3>
          <a:srgbClr val="CAADAA"/>
        </a:accent3>
        <a:accent4>
          <a:srgbClr val="DADADA"/>
        </a:accent4>
        <a:accent5>
          <a:srgbClr val="FFB8AD"/>
        </a:accent5>
        <a:accent6>
          <a:srgbClr val="B95C00"/>
        </a:accent6>
        <a:hlink>
          <a:srgbClr val="CC0000"/>
        </a:hlink>
        <a:folHlink>
          <a:srgbClr val="FFFF0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</TotalTime>
  <Words>1246</Words>
  <Application>Microsoft Office PowerPoint</Application>
  <PresentationFormat>Presentación en pantalla (4:3)</PresentationFormat>
  <Paragraphs>261</Paragraphs>
  <Slides>51</Slides>
  <Notes>9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51</vt:i4>
      </vt:variant>
    </vt:vector>
  </HeadingPairs>
  <TitlesOfParts>
    <vt:vector size="52" baseType="lpstr">
      <vt:lpstr>Vuelo sin motor</vt:lpstr>
      <vt:lpstr>FUNDAMENTOS DE PENSAMIENTO ADMINISTRATIVO</vt:lpstr>
      <vt:lpstr>Origen de la Administración</vt:lpstr>
      <vt:lpstr>Época primitiva</vt:lpstr>
      <vt:lpstr>Antigüedad grecolatina</vt:lpstr>
      <vt:lpstr>Revolución industrial</vt:lpstr>
      <vt:lpstr>ADMINISTRACIÓN</vt:lpstr>
      <vt:lpstr>IMPORTANCIA DE LA ADMINISTRACIÓN</vt:lpstr>
      <vt:lpstr>Conceptos de autores Contemporáneos</vt:lpstr>
      <vt:lpstr>Conceptos de autores Contemporáneos</vt:lpstr>
      <vt:lpstr>Conceptos de autores Contemporáneos</vt:lpstr>
      <vt:lpstr>Conceptos de autores Contemporáneos </vt:lpstr>
      <vt:lpstr>Conceptos de autores Contemporáneos</vt:lpstr>
      <vt:lpstr>Teorías del pensamiento Administrativo.</vt:lpstr>
      <vt:lpstr>Objetivo de la Administración</vt:lpstr>
      <vt:lpstr>Características de la administración</vt:lpstr>
      <vt:lpstr>Características de la administración</vt:lpstr>
      <vt:lpstr>Funciones de la Administración</vt:lpstr>
      <vt:lpstr>PLANEACION</vt:lpstr>
      <vt:lpstr>ORGANIZACION</vt:lpstr>
      <vt:lpstr>INTEGRACION DEL RECURSO HUMANO</vt:lpstr>
      <vt:lpstr>DIRECCION</vt:lpstr>
      <vt:lpstr>CONTROL</vt:lpstr>
      <vt:lpstr>Evolución del Pensamiento Administrativo </vt:lpstr>
      <vt:lpstr>Administración Tradicional</vt:lpstr>
      <vt:lpstr>Administración Moderna</vt:lpstr>
      <vt:lpstr>Perspectivas futuras en la administración</vt:lpstr>
      <vt:lpstr>Diapositiva 27</vt:lpstr>
      <vt:lpstr>Transformaciones o mega tendencias de la sociedad</vt:lpstr>
      <vt:lpstr>Transformaciones o mega tendencias de la administración</vt:lpstr>
      <vt:lpstr>ORGANIZACIÓN VS. ADMINISTRACIÓN</vt:lpstr>
      <vt:lpstr>CLASES DE ORGANIZACIONES</vt:lpstr>
      <vt:lpstr>PRODUCTIVIDAD, EFECTIVIDAD Y EFICIENCIA</vt:lpstr>
      <vt:lpstr>ADMINISTRADOR VS ADMINISTRACION</vt:lpstr>
      <vt:lpstr>QUE ES UNA EMPRESA</vt:lpstr>
      <vt:lpstr>TIPOLOGIA DE LAS EMPRESAS</vt:lpstr>
      <vt:lpstr>DIFERENCIAS ENTRE ORGANIZACIÓN Y EMPRESA</vt:lpstr>
      <vt:lpstr>RELACION DE LA ADMINISTRACION CON OTRAS CIENCIAS</vt:lpstr>
      <vt:lpstr>CIENCIAS DEL COMPORTAMIENTO</vt:lpstr>
      <vt:lpstr>CIENCIAS CUANTITATIVAS</vt:lpstr>
      <vt:lpstr>CIENCIAS SOCIALES</vt:lpstr>
      <vt:lpstr>La vida real</vt:lpstr>
      <vt:lpstr>Qué significa esto</vt:lpstr>
      <vt:lpstr>LA ADMINISTRACIÓN: CIENCIA,TECNICA O ARTE?</vt:lpstr>
      <vt:lpstr>Pasos siguientes </vt:lpstr>
      <vt:lpstr>CONCEPTO DE CIENCIA</vt:lpstr>
      <vt:lpstr>Diapositiva 46</vt:lpstr>
      <vt:lpstr>Diapositiva 47</vt:lpstr>
      <vt:lpstr>ADMINISTRACION COMO TECNICA</vt:lpstr>
      <vt:lpstr>ADMINISTRACION COMO ARTE</vt:lpstr>
      <vt:lpstr>LA ADMINISTRACION CON OTRAS CIENCIAS</vt:lpstr>
      <vt:lpstr>Diapositiva 51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FUNDAMENTOS DE PENSAMIENTO ADMINISTRATIVO</dc:title>
  <dc:creator>Jorge Hernán López Martínez</dc:creator>
  <cp:lastModifiedBy>jorge lopez</cp:lastModifiedBy>
  <cp:revision>30</cp:revision>
  <dcterms:modified xsi:type="dcterms:W3CDTF">2010-07-09T01:00:52Z</dcterms:modified>
</cp:coreProperties>
</file>