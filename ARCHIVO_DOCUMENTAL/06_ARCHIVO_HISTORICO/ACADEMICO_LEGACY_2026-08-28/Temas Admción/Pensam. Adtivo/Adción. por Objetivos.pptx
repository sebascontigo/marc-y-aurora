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3.xml" ContentType="application/vnd.openxmlformats-officedocument.themeOverride+xml"/>
  <Override PartName="/ppt/theme/themeOverride4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9" r:id="rId3"/>
    <p:sldId id="280" r:id="rId4"/>
    <p:sldId id="266" r:id="rId5"/>
    <p:sldId id="270" r:id="rId6"/>
    <p:sldId id="281" r:id="rId7"/>
    <p:sldId id="272" r:id="rId8"/>
    <p:sldId id="267" r:id="rId9"/>
    <p:sldId id="268" r:id="rId10"/>
    <p:sldId id="290" r:id="rId11"/>
    <p:sldId id="287" r:id="rId12"/>
    <p:sldId id="274" r:id="rId13"/>
    <p:sldId id="276" r:id="rId14"/>
    <p:sldId id="264" r:id="rId15"/>
    <p:sldId id="289" r:id="rId16"/>
    <p:sldId id="284" r:id="rId17"/>
    <p:sldId id="285" r:id="rId18"/>
    <p:sldId id="286" r:id="rId19"/>
    <p:sldId id="271" r:id="rId20"/>
  </p:sldIdLst>
  <p:sldSz cx="9144000" cy="6858000" type="screen4x3"/>
  <p:notesSz cx="9144000" cy="6858000"/>
  <p:defaultTextStyle>
    <a:defPPr>
      <a:defRPr lang="es-CO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591" autoAdjust="0"/>
    <p:restoredTop sz="94667" autoAdjust="0"/>
  </p:normalViewPr>
  <p:slideViewPr>
    <p:cSldViewPr>
      <p:cViewPr>
        <p:scale>
          <a:sx n="100" d="100"/>
          <a:sy n="100" d="100"/>
        </p:scale>
        <p:origin x="-504" y="-78"/>
      </p:cViewPr>
      <p:guideLst>
        <p:guide orient="horz" pos="216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9E55D-4704-4E1B-85EA-4FB7502B6FFF}" type="datetimeFigureOut">
              <a:rPr lang="es-CO" smtClean="0"/>
              <a:pPr/>
              <a:t>29/04/2009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7FEEF-58A6-4D61-A9BE-BF1BFF227F05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782EA31-2105-49A8-B40C-67590A50892E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s-CO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FD841B0-43FA-4C53-AEA8-190A3BF161B7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23" charset="-128"/>
        <a:cs typeface="ＭＳ Ｐゴシック" pitchFamily="-12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2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2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2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23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1 Marcador de imagen de diapositiva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728611-7891-406D-B581-7DA1D8A6B7CF}" type="slidenum">
              <a:rPr lang="es-CO" smtClean="0"/>
              <a:pPr>
                <a:defRPr/>
              </a:pPr>
              <a:t>11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9 Triángulo rectángulo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grpSp>
        <p:nvGrpSpPr>
          <p:cNvPr id="5" name="1 Grupo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6 Forma libre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7 Forma libre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cxnSp>
          <p:nvCxnSpPr>
            <p:cNvPr id="10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11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391ED25-704E-4255-BF91-D60E9C146F1F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12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3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56626F1-3AC6-440A-86DC-59063572E9B9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E83E8-9339-49C8-886D-8FB7919E5B0A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64D91-1394-437A-8C8F-482F2505B946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Cheurón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5" name="7 Cheurón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95D74-0C8F-40BD-BDE6-0417E3A08D6A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D7C31-9DE1-40D6-887F-3CF86F9DAA6F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660E-A03F-45A0-B1FF-81BFFFDB987A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1A206-7506-407F-9304-43199AB4824F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7E527-E6FC-4E84-99B4-027420B49441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C8811-E9DA-4884-A6FD-3177E634594C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26548-C501-4E5A-ABB7-46656B150906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ED4C0-2910-4011-AD80-F857B4217A87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4C706-649E-48CF-A7AC-90B4944C2964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3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A3681-753A-43A9-B1A4-EEFF28B4E576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BF40E-A441-479E-8DD7-3DA3A301B774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3847C-211D-45EB-9085-7FFC61F1C8F5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Forma libre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8 Forma libre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cxnSp>
        <p:nvCxnSpPr>
          <p:cNvPr id="8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11 Cheurón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0" name="12 Cheurón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 dirty="0" smtClean="0"/>
              <a:t>Haga clic en el icono para agregar una imagen</a:t>
            </a:r>
            <a:endParaRPr lang="en-US" noProof="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1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4C3CB4E-14EA-4172-A695-1B0F1E7E7CDB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12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3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E0F852-8956-40B0-B252-09C31FA61C8F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7E36D-6F96-44B0-9EE2-AF5872119251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BFA69-679C-4161-BC6A-3A3FE58E46A1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51519-D385-4CCB-8670-D525A0B4BEE9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42952-B62E-40E1-BCBD-D56A193951B6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Click to edit Master title style</a:t>
            </a:r>
            <a:endParaRPr lang="en-US"/>
          </a:p>
        </p:txBody>
      </p:sp>
      <p:sp>
        <p:nvSpPr>
          <p:cNvPr id="1033" name="29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3D58421-35AF-4E6E-9C01-7CA883505086}" type="datetimeFigureOut">
              <a:rPr lang="es-CO"/>
              <a:pPr>
                <a:defRPr/>
              </a:pPr>
              <a:t>29/04/2009</a:t>
            </a:fld>
            <a:endParaRPr lang="es-CO" dirty="0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554963F-B6A8-49CC-9B2E-3BD799369670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3" r:id="rId2"/>
    <p:sldLayoutId id="2147483685" r:id="rId3"/>
    <p:sldLayoutId id="2147483686" r:id="rId4"/>
    <p:sldLayoutId id="2147483687" r:id="rId5"/>
    <p:sldLayoutId id="2147483688" r:id="rId6"/>
    <p:sldLayoutId id="2147483682" r:id="rId7"/>
    <p:sldLayoutId id="2147483689" r:id="rId8"/>
    <p:sldLayoutId id="2147483690" r:id="rId9"/>
    <p:sldLayoutId id="2147483681" r:id="rId10"/>
    <p:sldLayoutId id="214748368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-123" charset="-128"/>
          <a:cs typeface="ＭＳ Ｐゴシック" pitchFamily="-123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0"/>
          <a:ea typeface="ＭＳ Ｐゴシック" pitchFamily="-123" charset="-128"/>
          <a:cs typeface="ＭＳ Ｐゴシック" pitchFamily="-123" charset="-128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123" charset="2"/>
        <a:buChar char=""/>
        <a:defRPr sz="2700" kern="1200">
          <a:solidFill>
            <a:schemeClr val="tx1"/>
          </a:solidFill>
          <a:latin typeface="+mn-lt"/>
          <a:ea typeface="ＭＳ Ｐゴシック" pitchFamily="-123" charset="-128"/>
          <a:cs typeface="ＭＳ Ｐゴシック" pitchFamily="-123" charset="-128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123" charset="0"/>
        <a:buChar char="◦"/>
        <a:defRPr sz="2300" kern="1200">
          <a:solidFill>
            <a:schemeClr val="tx1"/>
          </a:solidFill>
          <a:latin typeface="+mn-lt"/>
          <a:ea typeface="ＭＳ Ｐゴシック" pitchFamily="-123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123" charset="2"/>
        <a:buChar char=""/>
        <a:defRPr sz="2100" kern="1200">
          <a:solidFill>
            <a:schemeClr val="tx1"/>
          </a:solidFill>
          <a:latin typeface="+mn-lt"/>
          <a:ea typeface="ＭＳ Ｐゴシック" pitchFamily="-123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23" charset="2"/>
        <a:buChar char=""/>
        <a:defRPr sz="1900" kern="1200">
          <a:solidFill>
            <a:schemeClr val="tx1"/>
          </a:solidFill>
          <a:latin typeface="+mn-lt"/>
          <a:ea typeface="ＭＳ Ｐゴシック" pitchFamily="-123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23" charset="2"/>
        <a:buChar char=""/>
        <a:defRPr kern="1200">
          <a:solidFill>
            <a:schemeClr val="tx1"/>
          </a:solidFill>
          <a:latin typeface="+mn-lt"/>
          <a:ea typeface="ＭＳ Ｐゴシック" pitchFamily="-123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images.google.com.co/imgres?imgurl=http://1.bp.blogspot.com/_g7zl6mTKmy0/R1aTEVRr5PI/AAAAAAAAAGU/LHLEyjcnZqQ/s320/foto-objetivos%5b1%5d.gif&amp;imgrefurl=http://modelosadministrativos-unesr.blogspot.com/2007/12/resumen-unidad-6-administracin-por.html&amp;usg=__Pxg7w9KJV4ri7QG4ryLBNCIPjJQ=&amp;h=300&amp;w=300&amp;sz=26&amp;hl=es&amp;start=3&amp;tbnid=mL6GPxAsH1kQ9M:&amp;tbnh=116&amp;tbnw=116&amp;prev=/images?q=administracion+por+objetivos&amp;gbv=2&amp;hl=e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images.google.com.co/imgres?imgurl=http://farm1.static.flickr.com/206/502984892_3f0503b74f.jpg&amp;imgrefurl=http://edutainmentspa.wordpress.com/category/edutainment/&amp;usg=__o4Wds1KPSwc_6JcasPMpjq-lUCI=&amp;h=463&amp;w=369&amp;sz=76&amp;hl=es&amp;start=12&amp;tbnid=zHseGvq7KUgAkM:&amp;tbnh=128&amp;tbnw=102&amp;prev=/images?q=administracion+por+objetivos&amp;gbv=2&amp;hl=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images.google.com.co/imgres?imgurl=http://3.bp.blogspot.com/_FT6a3kdpXGs/R1SXbWJn5oI/AAAAAAAAAIQ/Rs2jiPKJpj8/s1600-R/manos.jpg&amp;imgrefurl=http://modelosadministrativos1.blogspot.com/&amp;usg=__g_hYVRgmwjCG3hDZOGkDLNl1g8k=&amp;h=264&amp;w=400&amp;sz=14&amp;hl=es&amp;start=15&amp;tbnid=ACj-aTO6-GM0mM:&amp;tbnh=82&amp;tbnw=124&amp;prev=/images?q=administracion+por+objetivos&amp;gbv=2&amp;hl=es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owwwmarketing.files.wordpress.com/2008/05/objetivos-organizacionales31.gif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images.google.com.co/imgres?imgurl=http://www.plus.es/recorte.php?xref=20080228pluutmsrs_6&amp;id=XLCO&amp;type=Ies&amp;img=&amp;imgrefurl=http://www.plus.es/esp/MadMen/fotogaleria/_esp_//index.html?id=20080228pluutmsrs_6.Ies&amp;type=imagessee&amp;usg=__p17N12k2_BSuS1xRnIQ8xN2cFR8=&amp;h=350&amp;w=437&amp;sz=22&amp;hl=es&amp;start=6&amp;tbnid=6cnjOuKmHfT0oM:&amp;tbnh=101&amp;tbnw=126&amp;prev=/images?q=ejecutivo+aburrido&amp;gbv=2&amp;hl=e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3 CuadroTexto"/>
          <p:cNvSpPr txBox="1">
            <a:spLocks noChangeArrowheads="1"/>
          </p:cNvSpPr>
          <p:nvPr/>
        </p:nvSpPr>
        <p:spPr bwMode="auto">
          <a:xfrm>
            <a:off x="714375" y="1785938"/>
            <a:ext cx="75723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O" sz="6600">
                <a:latin typeface="Lucida Sans Unicode" charset="0"/>
              </a:rPr>
              <a:t>ADMINISTRACION POR OBJETIVOS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1 CuadroTexto"/>
          <p:cNvSpPr txBox="1">
            <a:spLocks noChangeArrowheads="1"/>
          </p:cNvSpPr>
          <p:nvPr/>
        </p:nvSpPr>
        <p:spPr bwMode="auto">
          <a:xfrm>
            <a:off x="2643188" y="1214438"/>
            <a:ext cx="36433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O" sz="4000"/>
              <a:t>ORIGEN</a:t>
            </a:r>
          </a:p>
        </p:txBody>
      </p:sp>
      <p:sp>
        <p:nvSpPr>
          <p:cNvPr id="15362" name="2 CuadroTexto"/>
          <p:cNvSpPr txBox="1">
            <a:spLocks noChangeArrowheads="1"/>
          </p:cNvSpPr>
          <p:nvPr/>
        </p:nvSpPr>
        <p:spPr bwMode="auto">
          <a:xfrm>
            <a:off x="642938" y="2571750"/>
            <a:ext cx="4643437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/>
            <a:r>
              <a:rPr lang="es-CO" dirty="0"/>
              <a:t>Existe abismo entre dirigentes y subordinados creciendo de esta manera la preocupación de cómo para que y porque administrar.</a:t>
            </a:r>
          </a:p>
          <a:p>
            <a:pPr algn="just"/>
            <a:r>
              <a:rPr lang="es-CO" dirty="0"/>
              <a:t>Surge la Administración por objetivos (APO) en 1954 por Peter </a:t>
            </a:r>
            <a:r>
              <a:rPr lang="es-CO" dirty="0" err="1"/>
              <a:t>Drucker</a:t>
            </a:r>
            <a:r>
              <a:rPr lang="es-CO" dirty="0"/>
              <a:t> como método de evaluación y control.</a:t>
            </a:r>
          </a:p>
        </p:txBody>
      </p:sp>
      <p:pic>
        <p:nvPicPr>
          <p:cNvPr id="15363" name="Picture 2" descr="http://tbn2.google.com/images?q=tbn:mL6GPxAsH1kQ9M:http://1.bp.blogspot.com/_g7zl6mTKmy0/R1aTEVRr5PI/AAAAAAAAAGU/LHLEyjcnZqQ/s320/foto-objetivos%255B1%255D.gif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25" y="3214688"/>
            <a:ext cx="314325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1 CuadroTexto"/>
          <p:cNvSpPr txBox="1">
            <a:spLocks noChangeArrowheads="1"/>
          </p:cNvSpPr>
          <p:nvPr/>
        </p:nvSpPr>
        <p:spPr bwMode="auto">
          <a:xfrm>
            <a:off x="2286000" y="785813"/>
            <a:ext cx="31432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O" sz="3200"/>
              <a:t>DEFINICION</a:t>
            </a:r>
          </a:p>
        </p:txBody>
      </p:sp>
      <p:sp>
        <p:nvSpPr>
          <p:cNvPr id="16386" name="2 CuadroTexto"/>
          <p:cNvSpPr txBox="1">
            <a:spLocks noChangeArrowheads="1"/>
          </p:cNvSpPr>
          <p:nvPr/>
        </p:nvSpPr>
        <p:spPr bwMode="auto">
          <a:xfrm>
            <a:off x="357188" y="2071688"/>
            <a:ext cx="50720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/>
            <a:r>
              <a:rPr lang="es-CO" dirty="0"/>
              <a:t>Es un sistema integral en el que se combinan en forma sistémica muchas actividades administrativas básicas y el cual persigue deliberadamente un cumplimiento eficaz y eficiente de los objetivos organizacionales e individuales.</a:t>
            </a:r>
          </a:p>
        </p:txBody>
      </p:sp>
      <p:pic>
        <p:nvPicPr>
          <p:cNvPr id="16387" name="Picture 2" descr="http://tbn2.google.com/images?q=tbn:zHseGvq7KUgAkM:http://farm1.static.flickr.com/206/502984892_3f0503b74f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1785938"/>
            <a:ext cx="2643188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Placeholder 2"/>
          <p:cNvSpPr>
            <a:spLocks noGrp="1"/>
          </p:cNvSpPr>
          <p:nvPr>
            <p:ph type="title" idx="4294967295"/>
          </p:nvPr>
        </p:nvSpPr>
        <p:spPr bwMode="auto">
          <a:xfrm>
            <a:off x="457200" y="457200"/>
            <a:ext cx="8001000" cy="381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2400" dirty="0">
                <a:effectLst/>
              </a:rPr>
              <a:t/>
            </a:r>
            <a:br>
              <a:rPr lang="es-ES_tradnl" sz="2400" dirty="0">
                <a:effectLst/>
              </a:rPr>
            </a:br>
            <a:r>
              <a:rPr lang="es-ES_tradnl" sz="2400" dirty="0">
                <a:effectLst/>
              </a:rPr>
              <a:t/>
            </a:r>
            <a:br>
              <a:rPr lang="es-ES_tradnl" sz="2400" dirty="0">
                <a:effectLst/>
              </a:rPr>
            </a:br>
            <a:r>
              <a:rPr lang="es-ES_tradnl" sz="2400" dirty="0">
                <a:effectLst/>
              </a:rPr>
              <a:t/>
            </a:r>
            <a:br>
              <a:rPr lang="es-ES_tradnl" sz="2400" dirty="0">
                <a:effectLst/>
              </a:rPr>
            </a:br>
            <a:r>
              <a:rPr lang="es-ES_tradnl" dirty="0">
                <a:solidFill>
                  <a:schemeClr val="tx1"/>
                </a:solidFill>
                <a:effectLst/>
                <a:latin typeface="Times New Roman" pitchFamily="-123" charset="0"/>
              </a:rPr>
              <a:t/>
            </a:r>
            <a:br>
              <a:rPr lang="es-ES_tradnl" dirty="0">
                <a:solidFill>
                  <a:schemeClr val="tx1"/>
                </a:solidFill>
                <a:effectLst/>
                <a:latin typeface="Times New Roman" pitchFamily="-123" charset="0"/>
              </a:rPr>
            </a:br>
            <a:r>
              <a:rPr lang="es-ES_tradnl" sz="1800" dirty="0">
                <a:solidFill>
                  <a:schemeClr val="tx1"/>
                </a:solidFill>
                <a:effectLst/>
                <a:latin typeface="Times New Roman" pitchFamily="-123" charset="0"/>
              </a:rPr>
              <a:t/>
            </a:r>
            <a:br>
              <a:rPr lang="es-ES_tradnl" sz="1800" dirty="0">
                <a:solidFill>
                  <a:schemeClr val="tx1"/>
                </a:solidFill>
                <a:effectLst/>
                <a:latin typeface="Times New Roman" pitchFamily="-123" charset="0"/>
              </a:rPr>
            </a:br>
            <a:r>
              <a:rPr lang="es-ES_tradnl" dirty="0">
                <a:solidFill>
                  <a:schemeClr val="tx1"/>
                </a:solidFill>
                <a:effectLst/>
                <a:latin typeface="Times New Roman" pitchFamily="-123" charset="0"/>
              </a:rPr>
              <a:t/>
            </a:r>
            <a:br>
              <a:rPr lang="es-ES_tradnl" dirty="0">
                <a:solidFill>
                  <a:schemeClr val="tx1"/>
                </a:solidFill>
                <a:effectLst/>
                <a:latin typeface="Times New Roman" pitchFamily="-123" charset="0"/>
              </a:rPr>
            </a:br>
            <a:endParaRPr lang="es-ES_tradnl" dirty="0">
              <a:solidFill>
                <a:schemeClr val="tx1"/>
              </a:solidFill>
              <a:effectLst/>
              <a:latin typeface="Times New Roman" pitchFamily="-123" charset="0"/>
            </a:endParaRPr>
          </a:p>
        </p:txBody>
      </p:sp>
      <p:sp>
        <p:nvSpPr>
          <p:cNvPr id="17410" name="Rectangle 1026"/>
          <p:cNvSpPr>
            <a:spLocks noChangeArrowheads="1"/>
          </p:cNvSpPr>
          <p:nvPr/>
        </p:nvSpPr>
        <p:spPr bwMode="auto">
          <a:xfrm>
            <a:off x="533400" y="1219200"/>
            <a:ext cx="7620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_tradnl" sz="2000" b="1" dirty="0">
                <a:latin typeface="Times New Roman" pitchFamily="-123" charset="0"/>
              </a:rPr>
              <a:t>Austriaco nacido en Viena, de nacionalidad norteamericana por adopción</a:t>
            </a:r>
            <a:r>
              <a:rPr lang="en-GB" sz="2000" b="1" dirty="0">
                <a:latin typeface="Times New Roman" pitchFamily="-123" charset="0"/>
              </a:rPr>
              <a:t>on</a:t>
            </a:r>
            <a:br>
              <a:rPr lang="en-GB" sz="2000" b="1" dirty="0">
                <a:latin typeface="Times New Roman" pitchFamily="-123" charset="0"/>
              </a:rPr>
            </a:br>
            <a:r>
              <a:rPr lang="en-GB" sz="2000" b="1" dirty="0">
                <a:latin typeface="Times New Roman" pitchFamily="-123" charset="0"/>
              </a:rPr>
              <a:t/>
            </a:r>
            <a:br>
              <a:rPr lang="en-GB" sz="2000" b="1" dirty="0">
                <a:latin typeface="Times New Roman" pitchFamily="-123" charset="0"/>
              </a:rPr>
            </a:br>
            <a:r>
              <a:rPr lang="es-ES_tradnl" sz="2000" b="1" dirty="0">
                <a:latin typeface="Times New Roman" pitchFamily="-123" charset="0"/>
              </a:rPr>
              <a:t>Era una persona sencilla, visionario, con gran rigor intelectual, amable y buen sentido del humor</a:t>
            </a:r>
            <a:br>
              <a:rPr lang="es-ES_tradnl" sz="2000" b="1" dirty="0">
                <a:latin typeface="Times New Roman" pitchFamily="-123" charset="0"/>
              </a:rPr>
            </a:br>
            <a:endParaRPr lang="es-ES_tradnl" sz="2000" b="1" dirty="0">
              <a:latin typeface="Times New Roman" pitchFamily="-123" charset="0"/>
            </a:endParaRPr>
          </a:p>
          <a:p>
            <a:r>
              <a:rPr lang="es-ES_tradnl" sz="2000" b="1" dirty="0">
                <a:latin typeface="Times New Roman" pitchFamily="-123" charset="0"/>
              </a:rPr>
              <a:t>Se ha desempeñado como profesor, periodista, escritor, consultor….</a:t>
            </a:r>
          </a:p>
          <a:p>
            <a:r>
              <a:rPr lang="es-ES_tradnl" sz="2000" b="1" dirty="0">
                <a:latin typeface="Times New Roman" pitchFamily="-123" charset="0"/>
              </a:rPr>
              <a:t/>
            </a:r>
            <a:br>
              <a:rPr lang="es-ES_tradnl" sz="2000" b="1" dirty="0">
                <a:latin typeface="Times New Roman" pitchFamily="-123" charset="0"/>
              </a:rPr>
            </a:br>
            <a:r>
              <a:rPr lang="es-ES_tradnl" sz="2000" b="1" dirty="0">
                <a:latin typeface="Times New Roman" pitchFamily="-123" charset="0"/>
              </a:rPr>
              <a:t>Considerado hoy el padre del Management </a:t>
            </a:r>
          </a:p>
          <a:p>
            <a:endParaRPr lang="es-ES_tradnl" sz="2000" b="1" dirty="0">
              <a:latin typeface="Times New Roman" pitchFamily="-123" charset="0"/>
            </a:endParaRPr>
          </a:p>
          <a:p>
            <a:r>
              <a:rPr lang="es-ES_tradnl" sz="2000" b="1" dirty="0">
                <a:latin typeface="Times New Roman" pitchFamily="-123" charset="0"/>
              </a:rPr>
              <a:t>SE CARACTERIZO POR SER UN TRABAJADOR DEL CONOCIMIENTO</a:t>
            </a:r>
            <a:br>
              <a:rPr lang="es-ES_tradnl" sz="2000" b="1" dirty="0">
                <a:latin typeface="Times New Roman" pitchFamily="-123" charset="0"/>
              </a:rPr>
            </a:br>
            <a:r>
              <a:rPr lang="es-ES_tradnl" sz="2000" b="1" dirty="0">
                <a:latin typeface="Times New Roman" pitchFamily="-123" charset="0"/>
              </a:rPr>
              <a:t/>
            </a:r>
            <a:br>
              <a:rPr lang="es-ES_tradnl" sz="2000" b="1" dirty="0">
                <a:latin typeface="Times New Roman" pitchFamily="-123" charset="0"/>
              </a:rPr>
            </a:br>
            <a:r>
              <a:rPr lang="es-ES_tradnl" sz="2000" b="1" dirty="0">
                <a:latin typeface="Times New Roman" pitchFamily="-123" charset="0"/>
              </a:rPr>
              <a:t>Es considerado el mas grande pensador y líder en el campo de la administración</a:t>
            </a:r>
            <a:r>
              <a:rPr lang="en-GB" sz="2000" b="1" dirty="0">
                <a:latin typeface="Times New Roman" pitchFamily="-123" charset="0"/>
              </a:rPr>
              <a:t>on </a:t>
            </a:r>
            <a:r>
              <a:rPr lang="es-ES_tradnl" sz="2000" b="1" dirty="0">
                <a:latin typeface="Times New Roman" pitchFamily="-123" charset="0"/>
              </a:rPr>
              <a:t>de empresas del siglo XX</a:t>
            </a:r>
            <a:br>
              <a:rPr lang="es-ES_tradnl" sz="2000" b="1" dirty="0">
                <a:latin typeface="Times New Roman" pitchFamily="-123" charset="0"/>
              </a:rPr>
            </a:br>
            <a:r>
              <a:rPr lang="es-ES_tradnl" sz="1800" b="1" dirty="0">
                <a:latin typeface="Times New Roman" pitchFamily="-123" charset="0"/>
              </a:rPr>
              <a:t/>
            </a:r>
            <a:br>
              <a:rPr lang="es-ES_tradnl" sz="1800" b="1" dirty="0">
                <a:latin typeface="Times New Roman" pitchFamily="-123" charset="0"/>
              </a:rPr>
            </a:br>
            <a:endParaRPr lang="es-ES_tradnl" sz="1800" b="1" dirty="0">
              <a:latin typeface="Times New Roman" pitchFamily="-123" charset="0"/>
            </a:endParaRPr>
          </a:p>
        </p:txBody>
      </p:sp>
      <p:sp>
        <p:nvSpPr>
          <p:cNvPr id="17411" name="Rectangle 1027"/>
          <p:cNvSpPr>
            <a:spLocks noChangeArrowheads="1"/>
          </p:cNvSpPr>
          <p:nvPr/>
        </p:nvSpPr>
        <p:spPr bwMode="auto">
          <a:xfrm>
            <a:off x="739775" y="457200"/>
            <a:ext cx="76422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b="1">
                <a:solidFill>
                  <a:schemeClr val="tx2"/>
                </a:solidFill>
                <a:latin typeface="Lucida Sans Unicode" charset="0"/>
              </a:rPr>
              <a:t>Peter Ferdinand Drucker</a:t>
            </a:r>
            <a:br>
              <a:rPr lang="es-ES_tradnl" b="1">
                <a:solidFill>
                  <a:schemeClr val="tx2"/>
                </a:solidFill>
                <a:latin typeface="Lucida Sans Unicode" charset="0"/>
              </a:rPr>
            </a:br>
            <a:r>
              <a:rPr lang="es-ES_tradnl" b="1">
                <a:solidFill>
                  <a:schemeClr val="tx2"/>
                </a:solidFill>
                <a:latin typeface="Lucida Sans Unicode" charset="0"/>
              </a:rPr>
              <a:t>(19 NOV. 1909 - 11 NOV 2005)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/>
          <a:lstStyle/>
          <a:p>
            <a:pPr algn="ctr"/>
            <a:r>
              <a:rPr lang="es-ES_tradnl">
                <a:effectLst/>
              </a:rPr>
              <a:t>Peter Drucker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457200" y="1524000"/>
            <a:ext cx="7696200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_tradnl" sz="2000" b="1" dirty="0">
                <a:latin typeface="Times New Roman" pitchFamily="-123" charset="0"/>
              </a:rPr>
              <a:t>Invento la administración</a:t>
            </a:r>
          </a:p>
          <a:p>
            <a:endParaRPr lang="es-ES_tradnl" sz="2000" b="1" dirty="0">
              <a:latin typeface="Times New Roman" pitchFamily="-123" charset="0"/>
            </a:endParaRPr>
          </a:p>
          <a:p>
            <a:r>
              <a:rPr lang="es-ES_tradnl" sz="2000" b="1" dirty="0">
                <a:latin typeface="Times New Roman" pitchFamily="-123" charset="0"/>
              </a:rPr>
              <a:t>Introduce la descentralización</a:t>
            </a:r>
            <a:r>
              <a:rPr lang="en-GB" sz="2000" b="1" dirty="0">
                <a:latin typeface="Times New Roman" pitchFamily="-123" charset="0"/>
              </a:rPr>
              <a:t>on </a:t>
            </a:r>
            <a:r>
              <a:rPr lang="es-ES_tradnl" sz="2000" b="1" dirty="0">
                <a:latin typeface="Times New Roman" pitchFamily="-123" charset="0"/>
              </a:rPr>
              <a:t>como uno de los principios de la organización</a:t>
            </a:r>
            <a:r>
              <a:rPr lang="en-GB" sz="2000" b="1" dirty="0">
                <a:latin typeface="Times New Roman" pitchFamily="-123" charset="0"/>
              </a:rPr>
              <a:t>on</a:t>
            </a:r>
          </a:p>
          <a:p>
            <a:endParaRPr lang="en-GB" sz="2000" b="1" dirty="0">
              <a:latin typeface="Times New Roman" pitchFamily="-123" charset="0"/>
            </a:endParaRPr>
          </a:p>
          <a:p>
            <a:r>
              <a:rPr lang="en-GB" sz="2000" b="1" dirty="0">
                <a:latin typeface="Times New Roman" pitchFamily="-123" charset="0"/>
              </a:rPr>
              <a:t>H</a:t>
            </a:r>
            <a:r>
              <a:rPr lang="es-ES_tradnl" sz="2000" b="1" dirty="0">
                <a:latin typeface="Times New Roman" pitchFamily="-123" charset="0"/>
              </a:rPr>
              <a:t>a creado conceptos como privatización, emprendimiento y trabajador del conocimiento y ha defendido la administración</a:t>
            </a:r>
            <a:r>
              <a:rPr lang="en-GB" sz="2000" b="1" dirty="0">
                <a:latin typeface="Times New Roman" pitchFamily="-123" charset="0"/>
              </a:rPr>
              <a:t>on </a:t>
            </a:r>
            <a:r>
              <a:rPr lang="es-ES_tradnl" sz="2000" b="1" dirty="0">
                <a:latin typeface="Times New Roman" pitchFamily="-123" charset="0"/>
              </a:rPr>
              <a:t>por objetivos </a:t>
            </a:r>
            <a:endParaRPr lang="en-GB" sz="2000" b="1" dirty="0">
              <a:latin typeface="Times New Roman" pitchFamily="-123" charset="0"/>
            </a:endParaRPr>
          </a:p>
          <a:p>
            <a:endParaRPr lang="en-GB" sz="2000" b="1" dirty="0">
              <a:latin typeface="Times New Roman" pitchFamily="-123" charset="0"/>
            </a:endParaRPr>
          </a:p>
          <a:p>
            <a:r>
              <a:rPr lang="es-ES_tradnl" sz="2000" b="1" dirty="0">
                <a:latin typeface="Times New Roman" pitchFamily="-123" charset="0"/>
              </a:rPr>
              <a:t>Plantea que toda empresa comercial debe preparar un verdadero equipo y mezclar los esfuerzos individuales en un esfuerzo común</a:t>
            </a:r>
          </a:p>
          <a:p>
            <a:endParaRPr lang="es-ES_tradnl" sz="2000" b="1" dirty="0">
              <a:latin typeface="Times New Roman" pitchFamily="-123" charset="0"/>
            </a:endParaRPr>
          </a:p>
          <a:p>
            <a:r>
              <a:rPr lang="es-ES_tradnl" sz="2000" b="1" dirty="0">
                <a:latin typeface="Times New Roman" pitchFamily="-123" charset="0"/>
              </a:rPr>
              <a:t>Critica el trabajo funcional</a:t>
            </a:r>
            <a:br>
              <a:rPr lang="es-ES_tradnl" sz="2000" b="1" dirty="0">
                <a:latin typeface="Times New Roman" pitchFamily="-123" charset="0"/>
              </a:rPr>
            </a:br>
            <a:endParaRPr lang="es-ES_tradnl" sz="2000" b="1" dirty="0">
              <a:latin typeface="Times New Roman" pitchFamily="-123" charset="0"/>
            </a:endParaRPr>
          </a:p>
          <a:p>
            <a:r>
              <a:rPr lang="es-ES_tradnl" sz="1800" b="1" dirty="0">
                <a:latin typeface="Times New Roman" pitchFamily="-123" charset="0"/>
              </a:rPr>
              <a:t/>
            </a:r>
            <a:br>
              <a:rPr lang="es-ES_tradnl" sz="1800" b="1" dirty="0">
                <a:latin typeface="Times New Roman" pitchFamily="-123" charset="0"/>
              </a:rPr>
            </a:br>
            <a:endParaRPr lang="es-ES_tradnl" sz="1800" b="1" dirty="0">
              <a:latin typeface="Times New Roman" pitchFamily="-12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1 CuadroTexto"/>
          <p:cNvSpPr txBox="1">
            <a:spLocks noChangeArrowheads="1"/>
          </p:cNvSpPr>
          <p:nvPr/>
        </p:nvSpPr>
        <p:spPr bwMode="auto">
          <a:xfrm>
            <a:off x="2214563" y="1000125"/>
            <a:ext cx="43576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3200"/>
              <a:t>CARACTERÍSTICAS</a:t>
            </a:r>
          </a:p>
        </p:txBody>
      </p:sp>
      <p:sp>
        <p:nvSpPr>
          <p:cNvPr id="19458" name="2 CuadroTexto"/>
          <p:cNvSpPr txBox="1">
            <a:spLocks noChangeArrowheads="1"/>
          </p:cNvSpPr>
          <p:nvPr/>
        </p:nvSpPr>
        <p:spPr bwMode="auto">
          <a:xfrm>
            <a:off x="571500" y="2000250"/>
            <a:ext cx="8001000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800100" lvl="1" indent="-342900" algn="just"/>
            <a:r>
              <a:rPr lang="es-CO" dirty="0"/>
              <a:t>1.Interacción entre superior y subordinado.</a:t>
            </a:r>
          </a:p>
          <a:p>
            <a:pPr marL="342900" indent="-342900" algn="just"/>
            <a:r>
              <a:rPr lang="es-CO" dirty="0"/>
              <a:t>2.Establecimiento de objetivos conjuntamente.</a:t>
            </a:r>
          </a:p>
          <a:p>
            <a:pPr marL="342900" indent="-342900" algn="just"/>
            <a:r>
              <a:rPr lang="es-CO" dirty="0"/>
              <a:t>3.Elaboración de planes y estrategias con énfasis en la medición y el control.</a:t>
            </a:r>
          </a:p>
          <a:p>
            <a:pPr marL="342900" indent="-342900" algn="just"/>
            <a:r>
              <a:rPr lang="es-CO" dirty="0"/>
              <a:t>4. Criterios de evaluación.</a:t>
            </a:r>
          </a:p>
          <a:p>
            <a:pPr marL="342900" indent="-342900" algn="just"/>
            <a:r>
              <a:rPr lang="es-CO" dirty="0"/>
              <a:t>5.Se miran los resultados no los medios</a:t>
            </a:r>
          </a:p>
          <a:p>
            <a:pPr marL="342900" indent="-342900" algn="just"/>
            <a:r>
              <a:rPr lang="es-CO" dirty="0"/>
              <a:t>6. Redefinición periódica de objetivos</a:t>
            </a:r>
          </a:p>
          <a:p>
            <a:pPr marL="342900" indent="-342900">
              <a:buFontTx/>
              <a:buAutoNum type="arabicPeriod"/>
            </a:pPr>
            <a:endParaRPr lang="es-CO" sz="1800" dirty="0"/>
          </a:p>
        </p:txBody>
      </p:sp>
      <p:pic>
        <p:nvPicPr>
          <p:cNvPr id="19459" name="Picture 2" descr="http://tbn2.google.com/images?q=tbn:ACj-aTO6-GM0mM:http://3.bp.blogspot.com/_FT6a3kdpXGs/R1SXbWJn5oI/AAAAAAAAAIQ/Rs2jiPKJpj8/s1600-R/manos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0" y="3286125"/>
            <a:ext cx="35718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/>
          <a:lstStyle/>
          <a:p>
            <a:pPr algn="ctr"/>
            <a:r>
              <a:rPr lang="es-ES_tradnl" b="0">
                <a:solidFill>
                  <a:schemeClr val="tx1"/>
                </a:solidFill>
                <a:effectLst/>
                <a:latin typeface="Lucida Sans" pitchFamily="-123" charset="0"/>
              </a:rPr>
              <a:t>Lo que hace un Gerente:</a:t>
            </a:r>
            <a:endParaRPr lang="es-ES_tradnl">
              <a:effectLst/>
            </a:endParaRPr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1189038" y="15954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838200" y="1676400"/>
            <a:ext cx="73152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/>
            <a:endParaRPr lang="es-ES_tradnl" dirty="0"/>
          </a:p>
          <a:p>
            <a:pPr algn="just"/>
            <a:r>
              <a:rPr lang="es-ES_tradnl" dirty="0"/>
              <a:t>- Un gerente </a:t>
            </a:r>
            <a:r>
              <a:rPr lang="es-ES_tradnl" b="1" i="1" dirty="0"/>
              <a:t>establece objetivos</a:t>
            </a:r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- Un gerente </a:t>
            </a:r>
            <a:r>
              <a:rPr lang="es-ES_tradnl" b="1" i="1" dirty="0"/>
              <a:t>organiza</a:t>
            </a:r>
            <a:r>
              <a:rPr lang="es-ES_tradnl" dirty="0"/>
              <a:t>.</a:t>
            </a:r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- Un gerente </a:t>
            </a:r>
            <a:r>
              <a:rPr lang="es-ES_tradnl" b="1" i="1" dirty="0"/>
              <a:t>motiva y comunica.</a:t>
            </a:r>
            <a:endParaRPr lang="es-ES_tradnl" dirty="0"/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- Un gerente, al establecer criterios, </a:t>
            </a:r>
            <a:r>
              <a:rPr lang="es-ES_tradnl" b="1" i="1" dirty="0"/>
              <a:t>mide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r>
              <a:rPr lang="es-ES_tradnl" dirty="0"/>
              <a:t>- Un gerente </a:t>
            </a:r>
            <a:r>
              <a:rPr lang="es-ES_tradnl" b="1" i="1" dirty="0"/>
              <a:t>hace que la gente se desarrolle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Placeholder 2"/>
          <p:cNvSpPr>
            <a:spLocks noGrp="1"/>
          </p:cNvSpPr>
          <p:nvPr>
            <p:ph type="title" idx="4294967295"/>
          </p:nvPr>
        </p:nvSpPr>
        <p:spPr bwMode="auto">
          <a:xfrm>
            <a:off x="357188" y="714375"/>
            <a:ext cx="8229600" cy="1143000"/>
          </a:xfrm>
          <a:noFill/>
        </p:spPr>
        <p:txBody>
          <a:bodyPr/>
          <a:lstStyle/>
          <a:p>
            <a:pPr algn="ctr" eaLnBrk="1" hangingPunct="1"/>
            <a:r>
              <a:rPr lang="es-ES_tradnl" smtClean="0">
                <a:effectLst/>
              </a:rPr>
              <a:t>Fijación de Objetivos</a:t>
            </a:r>
          </a:p>
        </p:txBody>
      </p:sp>
      <p:sp>
        <p:nvSpPr>
          <p:cNvPr id="21506" name="Rectangle 1026"/>
          <p:cNvSpPr>
            <a:spLocks noChangeArrowheads="1"/>
          </p:cNvSpPr>
          <p:nvPr/>
        </p:nvSpPr>
        <p:spPr bwMode="auto">
          <a:xfrm>
            <a:off x="1714500" y="2143125"/>
            <a:ext cx="6808788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_tradnl" dirty="0"/>
              <a:t>*Proporcionan una finalidad común</a:t>
            </a:r>
          </a:p>
          <a:p>
            <a:r>
              <a:rPr lang="es-ES_tradnl" dirty="0"/>
              <a:t>*Permiten el trabajo en equipo</a:t>
            </a:r>
          </a:p>
          <a:p>
            <a:r>
              <a:rPr lang="es-ES_tradnl" dirty="0"/>
              <a:t>*Sirven de base para evaluar planes</a:t>
            </a:r>
          </a:p>
          <a:p>
            <a:r>
              <a:rPr lang="es-ES_tradnl" dirty="0"/>
              <a:t>*Mejoran las posibilidades de previsión del futuro</a:t>
            </a:r>
          </a:p>
          <a:p>
            <a:r>
              <a:rPr lang="es-ES_tradnl" dirty="0"/>
              <a:t>*Ayudan a orientar y prever</a:t>
            </a:r>
          </a:p>
          <a:p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Placeholder 2"/>
          <p:cNvSpPr>
            <a:spLocks noGrp="1"/>
          </p:cNvSpPr>
          <p:nvPr>
            <p:ph type="title" idx="4294967295"/>
          </p:nvPr>
        </p:nvSpPr>
        <p:spPr bwMode="auto">
          <a:xfrm>
            <a:off x="381000" y="304800"/>
            <a:ext cx="8229600" cy="1143000"/>
          </a:xfrm>
          <a:noFill/>
        </p:spPr>
        <p:txBody>
          <a:bodyPr/>
          <a:lstStyle/>
          <a:p>
            <a:pPr algn="ctr" eaLnBrk="1" hangingPunct="1"/>
            <a:r>
              <a:rPr lang="es-ES_tradnl">
                <a:effectLst/>
              </a:rPr>
              <a:t>Criterios de selección</a:t>
            </a:r>
          </a:p>
        </p:txBody>
      </p:sp>
      <p:sp>
        <p:nvSpPr>
          <p:cNvPr id="22530" name="Rectangle 1026"/>
          <p:cNvSpPr>
            <a:spLocks noChangeArrowheads="1"/>
          </p:cNvSpPr>
          <p:nvPr/>
        </p:nvSpPr>
        <p:spPr bwMode="auto">
          <a:xfrm>
            <a:off x="609600" y="1905000"/>
            <a:ext cx="1527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22531" name="Rectangle 1028"/>
          <p:cNvSpPr>
            <a:spLocks noChangeArrowheads="1"/>
          </p:cNvSpPr>
          <p:nvPr/>
        </p:nvSpPr>
        <p:spPr bwMode="auto">
          <a:xfrm>
            <a:off x="790575" y="1795463"/>
            <a:ext cx="59944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itchFamily="-123" charset="0"/>
              <a:buNone/>
            </a:pPr>
            <a:r>
              <a:rPr lang="es-ES_tradnl"/>
              <a:t>Especificidad			 Mensurabilidad</a:t>
            </a:r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r>
              <a:rPr lang="es-ES_tradnl"/>
              <a:t>Aceptabilidad	          	Accesibilidad</a:t>
            </a:r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r>
              <a:rPr lang="es-ES_tradnl"/>
              <a:t>Flexibilidad			 Congruencia</a:t>
            </a:r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  <a:p>
            <a:pPr marL="457200" indent="-457200">
              <a:buFont typeface="Arial" pitchFamily="-123" charset="0"/>
              <a:buNone/>
            </a:pPr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2000250" y="4714875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928813" y="3143250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714750" y="5214938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5357813" y="4643438"/>
            <a:ext cx="1500187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5214938" y="3143250"/>
            <a:ext cx="1500187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3571875" y="2857500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3571875" y="1428750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3571875" y="42863"/>
            <a:ext cx="1390650" cy="1314450"/>
          </a:xfrm>
          <a:prstGeom prst="flowChartConnector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s-CO"/>
          </a:p>
        </p:txBody>
      </p:sp>
      <p:sp>
        <p:nvSpPr>
          <p:cNvPr id="10" name="9 Flecha abajo"/>
          <p:cNvSpPr/>
          <p:nvPr/>
        </p:nvSpPr>
        <p:spPr>
          <a:xfrm>
            <a:off x="6000750" y="4500563"/>
            <a:ext cx="71438" cy="142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1" name="10 Flecha abajo"/>
          <p:cNvSpPr/>
          <p:nvPr/>
        </p:nvSpPr>
        <p:spPr>
          <a:xfrm>
            <a:off x="4286250" y="2786063"/>
            <a:ext cx="46038" cy="714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4" name="13 Flecha derecha"/>
          <p:cNvSpPr/>
          <p:nvPr/>
        </p:nvSpPr>
        <p:spPr>
          <a:xfrm>
            <a:off x="5000625" y="3500438"/>
            <a:ext cx="142875" cy="460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5" name="14 Flecha abajo"/>
          <p:cNvSpPr/>
          <p:nvPr/>
        </p:nvSpPr>
        <p:spPr>
          <a:xfrm>
            <a:off x="4286250" y="1357313"/>
            <a:ext cx="46038" cy="714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6" name="15 Flecha izquierda"/>
          <p:cNvSpPr/>
          <p:nvPr/>
        </p:nvSpPr>
        <p:spPr>
          <a:xfrm>
            <a:off x="5286375" y="5786438"/>
            <a:ext cx="285750" cy="1428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8" name="17 Flecha derecha"/>
          <p:cNvSpPr/>
          <p:nvPr/>
        </p:nvSpPr>
        <p:spPr>
          <a:xfrm>
            <a:off x="3357563" y="3500438"/>
            <a:ext cx="142875" cy="460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0" name="19 Flecha arriba"/>
          <p:cNvSpPr/>
          <p:nvPr/>
        </p:nvSpPr>
        <p:spPr>
          <a:xfrm flipH="1">
            <a:off x="2643188" y="4500563"/>
            <a:ext cx="117475" cy="1428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23568" name="20 CuadroTexto"/>
          <p:cNvSpPr txBox="1">
            <a:spLocks noChangeArrowheads="1"/>
          </p:cNvSpPr>
          <p:nvPr/>
        </p:nvSpPr>
        <p:spPr bwMode="auto">
          <a:xfrm>
            <a:off x="3714750" y="428625"/>
            <a:ext cx="12144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400"/>
              <a:t>OBJETIVOS GLOBALES</a:t>
            </a:r>
          </a:p>
        </p:txBody>
      </p:sp>
      <p:sp>
        <p:nvSpPr>
          <p:cNvPr id="23569" name="21 CuadroTexto"/>
          <p:cNvSpPr txBox="1">
            <a:spLocks noChangeArrowheads="1"/>
          </p:cNvSpPr>
          <p:nvPr/>
        </p:nvSpPr>
        <p:spPr bwMode="auto">
          <a:xfrm>
            <a:off x="3571875" y="1785938"/>
            <a:ext cx="135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300"/>
              <a:t>PLANEACION ESTRATEGICA</a:t>
            </a:r>
          </a:p>
        </p:txBody>
      </p:sp>
      <p:sp>
        <p:nvSpPr>
          <p:cNvPr id="23570" name="22 CuadroTexto"/>
          <p:cNvSpPr txBox="1">
            <a:spLocks noChangeArrowheads="1"/>
          </p:cNvSpPr>
          <p:nvPr/>
        </p:nvSpPr>
        <p:spPr bwMode="auto">
          <a:xfrm>
            <a:off x="3714750" y="3214688"/>
            <a:ext cx="1214438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200"/>
              <a:t>OBJETIVOS DEPARTAMENTALES</a:t>
            </a:r>
          </a:p>
        </p:txBody>
      </p:sp>
      <p:sp>
        <p:nvSpPr>
          <p:cNvPr id="23571" name="23 CuadroTexto"/>
          <p:cNvSpPr txBox="1">
            <a:spLocks noChangeArrowheads="1"/>
          </p:cNvSpPr>
          <p:nvPr/>
        </p:nvSpPr>
        <p:spPr bwMode="auto">
          <a:xfrm>
            <a:off x="5214938" y="3571875"/>
            <a:ext cx="1500187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200"/>
              <a:t>PLAN TACTICO DEPARTAMENTAL</a:t>
            </a:r>
          </a:p>
        </p:txBody>
      </p:sp>
      <p:sp>
        <p:nvSpPr>
          <p:cNvPr id="23572" name="24 CuadroTexto"/>
          <p:cNvSpPr txBox="1">
            <a:spLocks noChangeArrowheads="1"/>
          </p:cNvSpPr>
          <p:nvPr/>
        </p:nvSpPr>
        <p:spPr bwMode="auto">
          <a:xfrm>
            <a:off x="5429250" y="5000625"/>
            <a:ext cx="1500188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400"/>
              <a:t>DESDOBLAMIENTO PLAN TACTICO</a:t>
            </a:r>
          </a:p>
        </p:txBody>
      </p:sp>
      <p:sp>
        <p:nvSpPr>
          <p:cNvPr id="23573" name="25 CuadroTexto"/>
          <p:cNvSpPr txBox="1">
            <a:spLocks noChangeArrowheads="1"/>
          </p:cNvSpPr>
          <p:nvPr/>
        </p:nvSpPr>
        <p:spPr bwMode="auto">
          <a:xfrm>
            <a:off x="3786188" y="5572125"/>
            <a:ext cx="1500187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400"/>
              <a:t>EVALUACION DE LOS RESULTADOS</a:t>
            </a:r>
          </a:p>
        </p:txBody>
      </p:sp>
      <p:sp>
        <p:nvSpPr>
          <p:cNvPr id="23574" name="26 CuadroTexto"/>
          <p:cNvSpPr txBox="1">
            <a:spLocks noChangeArrowheads="1"/>
          </p:cNvSpPr>
          <p:nvPr/>
        </p:nvSpPr>
        <p:spPr bwMode="auto">
          <a:xfrm>
            <a:off x="1928813" y="3429000"/>
            <a:ext cx="1500187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400"/>
              <a:t>EVALUACION DE LOS RESULTADOS</a:t>
            </a:r>
          </a:p>
        </p:txBody>
      </p:sp>
      <p:sp>
        <p:nvSpPr>
          <p:cNvPr id="23575" name="27 CuadroTexto"/>
          <p:cNvSpPr txBox="1">
            <a:spLocks noChangeArrowheads="1"/>
          </p:cNvSpPr>
          <p:nvPr/>
        </p:nvSpPr>
        <p:spPr bwMode="auto">
          <a:xfrm>
            <a:off x="2071688" y="5072063"/>
            <a:ext cx="16430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1400"/>
              <a:t>REVISION DE LOS PLANES</a:t>
            </a:r>
          </a:p>
        </p:txBody>
      </p:sp>
      <p:sp>
        <p:nvSpPr>
          <p:cNvPr id="29" name="28 Flecha izquierda"/>
          <p:cNvSpPr/>
          <p:nvPr/>
        </p:nvSpPr>
        <p:spPr>
          <a:xfrm>
            <a:off x="3357563" y="5715000"/>
            <a:ext cx="285750" cy="1428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1 CuadroTexto"/>
          <p:cNvSpPr txBox="1">
            <a:spLocks noChangeArrowheads="1"/>
          </p:cNvSpPr>
          <p:nvPr/>
        </p:nvSpPr>
        <p:spPr bwMode="auto">
          <a:xfrm>
            <a:off x="2071688" y="1214438"/>
            <a:ext cx="4929187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O" sz="2800"/>
              <a:t>APLICACIÓN DE LA ADMINISTRACION POR OBJETIVOS</a:t>
            </a:r>
          </a:p>
        </p:txBody>
      </p:sp>
      <p:sp>
        <p:nvSpPr>
          <p:cNvPr id="24578" name="2 CuadroTexto"/>
          <p:cNvSpPr txBox="1">
            <a:spLocks noChangeArrowheads="1"/>
          </p:cNvSpPr>
          <p:nvPr/>
        </p:nvSpPr>
        <p:spPr bwMode="auto">
          <a:xfrm>
            <a:off x="1071563" y="3143250"/>
            <a:ext cx="714375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>
              <a:buFont typeface="Arial" pitchFamily="-123" charset="0"/>
              <a:buChar char="•"/>
            </a:pPr>
            <a:r>
              <a:rPr lang="es-CO" sz="3600"/>
              <a:t>Directivas autoritarias.</a:t>
            </a:r>
          </a:p>
          <a:p>
            <a:pPr algn="just">
              <a:buFont typeface="Arial" pitchFamily="-123" charset="0"/>
              <a:buChar char="•"/>
            </a:pPr>
            <a:r>
              <a:rPr lang="es-CO" sz="3600"/>
              <a:t>Persuasión.</a:t>
            </a:r>
          </a:p>
          <a:p>
            <a:pPr algn="just">
              <a:buFont typeface="Arial" pitchFamily="-123" charset="0"/>
              <a:buChar char="•"/>
            </a:pPr>
            <a:r>
              <a:rPr lang="es-CO" sz="3600"/>
              <a:t>Programas adicionales</a:t>
            </a:r>
            <a:r>
              <a:rPr lang="es-CO" sz="2800"/>
              <a:t>.</a:t>
            </a:r>
          </a:p>
          <a:p>
            <a:pPr algn="just">
              <a:buFont typeface="Arial" pitchFamily="-123" charset="0"/>
              <a:buChar char="•"/>
            </a:pPr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ChangeArrowheads="1"/>
          </p:cNvSpPr>
          <p:nvPr/>
        </p:nvSpPr>
        <p:spPr bwMode="auto">
          <a:xfrm>
            <a:off x="609600" y="457200"/>
            <a:ext cx="7696200" cy="224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_tradnl" sz="4100" b="1">
                <a:latin typeface="Times New Roman" pitchFamily="-123" charset="0"/>
              </a:rPr>
              <a:t/>
            </a:r>
            <a:br>
              <a:rPr lang="es-ES_tradnl" sz="4100" b="1">
                <a:latin typeface="Times New Roman" pitchFamily="-123" charset="0"/>
              </a:rPr>
            </a:br>
            <a:r>
              <a:rPr lang="es-ES_tradnl" sz="1800" b="1">
                <a:latin typeface="Times New Roman" pitchFamily="-123" charset="0"/>
              </a:rPr>
              <a:t/>
            </a:r>
            <a:br>
              <a:rPr lang="es-ES_tradnl" sz="1800" b="1">
                <a:latin typeface="Times New Roman" pitchFamily="-123" charset="0"/>
              </a:rPr>
            </a:br>
            <a:r>
              <a:rPr lang="es-ES_tradnl" sz="4100" b="1">
                <a:latin typeface="Times New Roman" pitchFamily="-123" charset="0"/>
              </a:rPr>
              <a:t/>
            </a:r>
            <a:br>
              <a:rPr lang="es-ES_tradnl" sz="4100" b="1">
                <a:latin typeface="Times New Roman" pitchFamily="-123" charset="0"/>
              </a:rPr>
            </a:br>
            <a:endParaRPr lang="es-ES_tradnl" sz="4100" b="1">
              <a:latin typeface="Times New Roman" pitchFamily="-123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57200" y="476250"/>
            <a:ext cx="792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/>
              <a:t>COMO ESTABLECER LOS OBJETIVOS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609600" y="1443038"/>
            <a:ext cx="7772400" cy="509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_tradnl" sz="2600" dirty="0"/>
              <a:t>Los individuos o grupos no puedes desempeñarse eficaz y eficientemente sin un propósito claro</a:t>
            </a:r>
          </a:p>
          <a:p>
            <a:endParaRPr lang="es-ES_tradnl" sz="2600" dirty="0"/>
          </a:p>
          <a:p>
            <a:pPr>
              <a:buFontTx/>
              <a:buChar char="•"/>
            </a:pPr>
            <a:r>
              <a:rPr lang="es-ES_tradnl" sz="2600" dirty="0"/>
              <a:t>Objetivos preliminares o de la cima</a:t>
            </a:r>
          </a:p>
          <a:p>
            <a:endParaRPr lang="es-ES_tradnl" sz="2600" dirty="0"/>
          </a:p>
          <a:p>
            <a:pPr>
              <a:buFontTx/>
              <a:buChar char="•"/>
            </a:pPr>
            <a:r>
              <a:rPr lang="es-ES_tradnl" sz="2600" dirty="0"/>
              <a:t>Establecimiento de objetivos de los subordinados</a:t>
            </a:r>
          </a:p>
          <a:p>
            <a:endParaRPr lang="es-ES_tradnl" sz="2600" dirty="0"/>
          </a:p>
          <a:p>
            <a:pPr>
              <a:buFontTx/>
              <a:buChar char="•"/>
            </a:pPr>
            <a:r>
              <a:rPr lang="es-ES_tradnl" sz="2600" dirty="0"/>
              <a:t>Elaborar los planes para alcanzar los objetivos</a:t>
            </a:r>
          </a:p>
          <a:p>
            <a:r>
              <a:rPr lang="es-ES_tradnl" sz="2600" dirty="0"/>
              <a:t>	</a:t>
            </a:r>
          </a:p>
          <a:p>
            <a:pPr lvl="1">
              <a:buFontTx/>
              <a:buChar char="•"/>
            </a:pPr>
            <a:r>
              <a:rPr lang="es-ES_tradnl" sz="2600" dirty="0"/>
              <a:t>Interrelación de los objetivos</a:t>
            </a:r>
          </a:p>
          <a:p>
            <a:pPr lvl="1">
              <a:buFontTx/>
              <a:buChar char="•"/>
            </a:pPr>
            <a:r>
              <a:rPr lang="es-ES_tradnl" sz="2600" dirty="0"/>
              <a:t>Constante evaluación y revisión</a:t>
            </a:r>
            <a:endParaRPr lang="es-ES_tradnl" dirty="0"/>
          </a:p>
          <a:p>
            <a:endParaRPr lang="es-ES_tradnl" dirty="0"/>
          </a:p>
          <a:p>
            <a:endParaRPr lang="es-ES_tradnl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274638"/>
            <a:ext cx="8458200" cy="4983162"/>
          </a:xfrm>
          <a:noFill/>
        </p:spPr>
        <p:txBody>
          <a:bodyPr/>
          <a:lstStyle/>
          <a:p>
            <a:pPr eaLnBrk="1" hangingPunct="1"/>
            <a:r>
              <a:rPr lang="es-ES_tradnl" sz="1800" b="0">
                <a:solidFill>
                  <a:schemeClr val="tx1"/>
                </a:solidFill>
                <a:effectLst/>
                <a:latin typeface="Arial" pitchFamily="-123" charset="0"/>
              </a:rPr>
              <a:t/>
            </a:r>
            <a:br>
              <a:rPr lang="es-ES_tradnl" sz="1800" b="0">
                <a:solidFill>
                  <a:schemeClr val="tx1"/>
                </a:solidFill>
                <a:effectLst/>
                <a:latin typeface="Arial" pitchFamily="-123" charset="0"/>
              </a:rPr>
            </a:b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>Los objetivos no solo deben indicar </a:t>
            </a:r>
            <a:r>
              <a:rPr lang="es-ES_tradnl" sz="2800" b="0" u="sng">
                <a:solidFill>
                  <a:schemeClr val="tx1"/>
                </a:solidFill>
                <a:effectLst/>
                <a:latin typeface="Arial" pitchFamily="-123" charset="0"/>
              </a:rPr>
              <a:t>que hacer </a:t>
            </a: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>y </a:t>
            </a:r>
            <a:r>
              <a:rPr lang="es-ES_tradnl" sz="2800" b="0" u="sng">
                <a:solidFill>
                  <a:schemeClr val="tx1"/>
                </a:solidFill>
                <a:effectLst/>
                <a:latin typeface="Arial" pitchFamily="-123" charset="0"/>
              </a:rPr>
              <a:t>cuando hacerlo</a:t>
            </a: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>, también debe indicarse </a:t>
            </a:r>
            <a:r>
              <a:rPr lang="es-ES_tradnl" sz="2800" b="0" u="sng">
                <a:solidFill>
                  <a:schemeClr val="tx1"/>
                </a:solidFill>
                <a:effectLst/>
                <a:latin typeface="Arial" pitchFamily="-123" charset="0"/>
              </a:rPr>
              <a:t>la calidad deseada</a:t>
            </a: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> </a:t>
            </a:r>
            <a:b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</a:b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/>
            </a:r>
            <a:b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</a:b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/>
            </a:r>
            <a:b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</a:br>
            <a:r>
              <a:rPr lang="es-ES_tradnl" sz="2800" b="0">
                <a:solidFill>
                  <a:schemeClr val="tx1"/>
                </a:solidFill>
                <a:effectLst/>
                <a:latin typeface="Arial" pitchFamily="-123" charset="0"/>
              </a:rPr>
              <a:t>Estos además deben implicar un reto, indicar prioridades y promover el crecimiento y desarrollo personal y profesional</a:t>
            </a:r>
            <a:r>
              <a:rPr lang="es-ES_tradnl" sz="2400" b="0">
                <a:solidFill>
                  <a:schemeClr val="tx1"/>
                </a:solidFill>
                <a:effectLst/>
                <a:latin typeface="Arial" pitchFamily="-123" charset="0"/>
              </a:rPr>
              <a:t/>
            </a:r>
            <a:br>
              <a:rPr lang="es-ES_tradnl" sz="2400" b="0">
                <a:solidFill>
                  <a:schemeClr val="tx1"/>
                </a:solidFill>
                <a:effectLst/>
                <a:latin typeface="Arial" pitchFamily="-123" charset="0"/>
              </a:rPr>
            </a:br>
            <a:r>
              <a:rPr lang="es-ES_tradnl" sz="1800" b="0">
                <a:solidFill>
                  <a:schemeClr val="tx1"/>
                </a:solidFill>
                <a:effectLst/>
                <a:latin typeface="Arial" pitchFamily="-123" charset="0"/>
              </a:rPr>
              <a:t/>
            </a:r>
            <a:br>
              <a:rPr lang="es-ES_tradnl" sz="1800" b="0">
                <a:solidFill>
                  <a:schemeClr val="tx1"/>
                </a:solidFill>
                <a:effectLst/>
                <a:latin typeface="Arial" pitchFamily="-123" charset="0"/>
              </a:rPr>
            </a:br>
            <a:endParaRPr lang="es-ES_tradnl" sz="1800" b="0">
              <a:solidFill>
                <a:schemeClr val="tx1"/>
              </a:solidFill>
              <a:effectLst/>
              <a:latin typeface="Arial" pitchFamily="-12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1 Rectángulo"/>
          <p:cNvSpPr>
            <a:spLocks noChangeArrowheads="1"/>
          </p:cNvSpPr>
          <p:nvPr/>
        </p:nvSpPr>
        <p:spPr bwMode="auto">
          <a:xfrm>
            <a:off x="1928813" y="857250"/>
            <a:ext cx="66436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/>
            <a:r>
              <a:rPr lang="es-CO" sz="3200">
                <a:latin typeface="Lucida Sans Unicode" charset="0"/>
              </a:rPr>
              <a:t>JERARQUÍA DE OBJETIVOS</a:t>
            </a:r>
          </a:p>
        </p:txBody>
      </p:sp>
      <p:sp>
        <p:nvSpPr>
          <p:cNvPr id="28674" name="2 CuadroTexto"/>
          <p:cNvSpPr txBox="1">
            <a:spLocks noChangeArrowheads="1"/>
          </p:cNvSpPr>
          <p:nvPr/>
        </p:nvSpPr>
        <p:spPr bwMode="auto">
          <a:xfrm>
            <a:off x="533400" y="1752600"/>
            <a:ext cx="6967538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 sz="2800">
                <a:latin typeface="Lucida Sans Unicode" charset="0"/>
              </a:rPr>
              <a:t>Los objetivos necesitan escalonarse en orden de importancia, de relevancia y prioridad.</a:t>
            </a:r>
          </a:p>
          <a:p>
            <a:endParaRPr lang="es-CO" sz="2800">
              <a:latin typeface="Lucida Sans Unicode" charset="0"/>
            </a:endParaRPr>
          </a:p>
          <a:p>
            <a:pPr>
              <a:buFont typeface="Arial" pitchFamily="-123" charset="0"/>
              <a:buChar char="•"/>
            </a:pPr>
            <a:r>
              <a:rPr lang="es-CO" sz="2800">
                <a:latin typeface="Lucida Sans Unicode" charset="0"/>
              </a:rPr>
              <a:t> </a:t>
            </a:r>
            <a:r>
              <a:rPr lang="es-CO" sz="3000">
                <a:latin typeface="Lucida Sans Unicode" charset="0"/>
              </a:rPr>
              <a:t>estratégicos</a:t>
            </a:r>
          </a:p>
          <a:p>
            <a:pPr>
              <a:buFont typeface="Arial" pitchFamily="-123" charset="0"/>
              <a:buChar char="•"/>
            </a:pPr>
            <a:r>
              <a:rPr lang="es-CO" sz="3000">
                <a:latin typeface="Lucida Sans Unicode" charset="0"/>
              </a:rPr>
              <a:t> tácticos</a:t>
            </a:r>
          </a:p>
          <a:p>
            <a:pPr>
              <a:buFont typeface="Arial" pitchFamily="-123" charset="0"/>
              <a:buChar char="•"/>
            </a:pPr>
            <a:r>
              <a:rPr lang="es-CO" sz="3000">
                <a:latin typeface="Lucida Sans Unicode" charset="0"/>
              </a:rPr>
              <a:t> operacionales</a:t>
            </a:r>
            <a:endParaRPr lang="es-CO">
              <a:latin typeface="Lucida Sans Unicode" charset="0"/>
            </a:endParaRPr>
          </a:p>
        </p:txBody>
      </p:sp>
      <p:pic>
        <p:nvPicPr>
          <p:cNvPr id="28675" name="Picture 3" descr="Ver imagen en tamaño completo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2895600"/>
            <a:ext cx="2928938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C:\Users\Paola\Documents\Mis archivos recibidos\Dibuj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5043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1 CuadroTexto"/>
          <p:cNvSpPr txBox="1">
            <a:spLocks noChangeArrowheads="1"/>
          </p:cNvSpPr>
          <p:nvPr/>
        </p:nvSpPr>
        <p:spPr bwMode="auto">
          <a:xfrm>
            <a:off x="2286000" y="1071563"/>
            <a:ext cx="4857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O" sz="3600"/>
              <a:t>CRITICAS</a:t>
            </a:r>
          </a:p>
        </p:txBody>
      </p:sp>
      <p:sp>
        <p:nvSpPr>
          <p:cNvPr id="30722" name="2 CuadroTexto"/>
          <p:cNvSpPr txBox="1">
            <a:spLocks noChangeArrowheads="1"/>
          </p:cNvSpPr>
          <p:nvPr/>
        </p:nvSpPr>
        <p:spPr bwMode="auto">
          <a:xfrm>
            <a:off x="2000250" y="2643188"/>
            <a:ext cx="3857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785813" y="2357438"/>
          <a:ext cx="7977213" cy="2085575"/>
        </p:xfrm>
        <a:graphic>
          <a:graphicData uri="http://schemas.openxmlformats.org/drawingml/2006/table">
            <a:tbl>
              <a:tblPr/>
              <a:tblGrid>
                <a:gridCol w="886357"/>
                <a:gridCol w="613837"/>
                <a:gridCol w="1158877"/>
                <a:gridCol w="886357"/>
                <a:gridCol w="886357"/>
                <a:gridCol w="886357"/>
                <a:gridCol w="886357"/>
                <a:gridCol w="886357"/>
                <a:gridCol w="886357"/>
              </a:tblGrid>
              <a:tr h="76554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HARRY LEVINSON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Cuanto mas alta es la </a:t>
                      </a:r>
                      <a:r>
                        <a:rPr lang="es-CO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jerarquía </a:t>
                      </a: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de un empleado y mas variadas y sutiles sus funciones, mas </a:t>
                      </a:r>
                      <a:r>
                        <a:rPr lang="es-CO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difícil resulta identificar</a:t>
                      </a:r>
                      <a:r>
                        <a:rPr lang="es-CO" sz="14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bien objetivo que representa mas de una fracción de su trabajo.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8225"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endParaRPr lang="es-CO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7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JOAO LODI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Tiende a exigir mucho de cada uno y que las personas deben ser preparadas para recibir 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</a:tr>
              <a:tr h="289791"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el </a:t>
                      </a:r>
                      <a:r>
                        <a:rPr lang="es-CO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método </a:t>
                      </a: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 poder aplicarlo con criterio de lo contario </a:t>
                      </a:r>
                      <a:r>
                        <a:rPr lang="es-CO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podrían </a:t>
                      </a: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venir diversos males.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</a:tr>
              <a:tr h="2897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JOHN W. HUMBLE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s-CO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DIEZ PECADOS CAPITALES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</a:tr>
              <a:tr h="289791"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67" marR="8467" marT="846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1 CuadroTexto"/>
          <p:cNvSpPr txBox="1">
            <a:spLocks noChangeArrowheads="1"/>
          </p:cNvSpPr>
          <p:nvPr/>
        </p:nvSpPr>
        <p:spPr bwMode="auto">
          <a:xfrm>
            <a:off x="428625" y="1285875"/>
            <a:ext cx="7143750" cy="243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just"/>
            <a:r>
              <a:rPr lang="es-CO" sz="2200"/>
              <a:t>1.No obtener participación de alta gerencia.</a:t>
            </a:r>
          </a:p>
          <a:p>
            <a:pPr algn="just"/>
            <a:r>
              <a:rPr lang="es-CO" sz="2200"/>
              <a:t>2.Decir a todos que la administración por objetivo es una técnica suprema capaz de resolver problemas</a:t>
            </a:r>
          </a:p>
          <a:p>
            <a:pPr algn="just"/>
            <a:r>
              <a:rPr lang="es-CO" sz="2200"/>
              <a:t>3. Adoptar la APO dentro de un programa acelerado</a:t>
            </a:r>
          </a:p>
          <a:p>
            <a:pPr algn="just"/>
            <a:r>
              <a:rPr lang="es-CO" sz="2200"/>
              <a:t>4. fijar solamente objetivos cuantificables.</a:t>
            </a:r>
          </a:p>
          <a:p>
            <a:pPr algn="just"/>
            <a:r>
              <a:rPr lang="es-CO" sz="2200"/>
              <a:t>5. Simplificar a los extremos todos los procedimientos.</a:t>
            </a:r>
          </a:p>
          <a:p>
            <a:pPr>
              <a:buFont typeface="Arial" pitchFamily="-123" charset="0"/>
              <a:buChar char="•"/>
            </a:pPr>
            <a:endParaRPr lang="es-CO" sz="2200"/>
          </a:p>
        </p:txBody>
      </p:sp>
      <p:pic>
        <p:nvPicPr>
          <p:cNvPr id="31746" name="Picture 2" descr="http://tbn3.google.com/images?q=tbn:6cnjOuKmHfT0oM:http://www.plus.es/recorte.php%3Fxref%3D20080228pluutmsrs_6%26id%3DXLCO%26type%3DIes%26img%3D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3429000"/>
            <a:ext cx="3475038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4 CuadroTexto"/>
          <p:cNvSpPr txBox="1">
            <a:spLocks noChangeArrowheads="1"/>
          </p:cNvSpPr>
          <p:nvPr/>
        </p:nvSpPr>
        <p:spPr bwMode="auto">
          <a:xfrm>
            <a:off x="2286000" y="357188"/>
            <a:ext cx="471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O"/>
              <a:t>PECADOS CAPITALES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1 CuadroTexto"/>
          <p:cNvSpPr txBox="1">
            <a:spLocks noChangeArrowheads="1"/>
          </p:cNvSpPr>
          <p:nvPr/>
        </p:nvSpPr>
        <p:spPr bwMode="auto">
          <a:xfrm>
            <a:off x="457200" y="609600"/>
            <a:ext cx="825817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s-CO" sz="2200"/>
          </a:p>
          <a:p>
            <a:endParaRPr lang="es-CO" sz="2200"/>
          </a:p>
          <a:p>
            <a:r>
              <a:rPr lang="es-CO" sz="2200"/>
              <a:t>6. Aplicar la APO en áreas aisladas, o sea no hacer participar globalmente a la empresa.</a:t>
            </a:r>
          </a:p>
          <a:p>
            <a:endParaRPr lang="es-CO" sz="2200"/>
          </a:p>
          <a:p>
            <a:r>
              <a:rPr lang="es-CO" sz="2200"/>
              <a:t>7. Delegar todo el proyecto de la APO al personal del nivel inferior </a:t>
            </a:r>
          </a:p>
          <a:p>
            <a:endParaRPr lang="es-CO" sz="2200"/>
          </a:p>
          <a:p>
            <a:r>
              <a:rPr lang="es-CO" sz="2200"/>
              <a:t>8. Concentrarse en individuos e ignorar los problemas en grupos</a:t>
            </a:r>
          </a:p>
          <a:p>
            <a:endParaRPr lang="es-CO" sz="2200"/>
          </a:p>
          <a:p>
            <a:r>
              <a:rPr lang="es-CO" sz="2200"/>
              <a:t>9. Inaugurar un sistema con una fiesta y después dejarlo ir solo</a:t>
            </a:r>
          </a:p>
          <a:p>
            <a:endParaRPr lang="es-CO" sz="2200"/>
          </a:p>
          <a:p>
            <a:r>
              <a:rPr lang="es-CO" sz="2200"/>
              <a:t>10. Ignorar las metas personales de los gerentes, concentrándose solo en los objetivos de la empresa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/>
          <p:cNvSpPr>
            <a:spLocks noChangeArrowheads="1"/>
          </p:cNvSpPr>
          <p:nvPr/>
        </p:nvSpPr>
        <p:spPr bwMode="auto">
          <a:xfrm>
            <a:off x="304800" y="1752600"/>
            <a:ext cx="830580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_tradnl" sz="4100" b="1">
                <a:latin typeface="Times New Roman" pitchFamily="-123" charset="0"/>
              </a:rPr>
              <a:t/>
            </a:r>
            <a:br>
              <a:rPr lang="es-ES_tradnl" sz="4100" b="1">
                <a:latin typeface="Times New Roman" pitchFamily="-123" charset="0"/>
              </a:rPr>
            </a:br>
            <a:endParaRPr lang="es-ES_tradnl" sz="4100" b="1">
              <a:latin typeface="Times New Roman" pitchFamily="-123" charset="0"/>
            </a:endParaRP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960438" y="1763713"/>
            <a:ext cx="7348537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s-ES_tradnl">
              <a:latin typeface="Times New Roman" pitchFamily="-123" charset="0"/>
            </a:endParaRPr>
          </a:p>
          <a:p>
            <a:pPr>
              <a:buFontTx/>
              <a:buChar char="•"/>
            </a:pPr>
            <a:r>
              <a:rPr lang="es-ES_tradnl" sz="2800">
                <a:latin typeface="Times New Roman" pitchFamily="-123" charset="0"/>
              </a:rPr>
              <a:t>Clara comunicación</a:t>
            </a:r>
            <a:r>
              <a:rPr lang="en-GB" sz="2800">
                <a:latin typeface="Times New Roman" pitchFamily="-123" charset="0"/>
              </a:rPr>
              <a:t> </a:t>
            </a:r>
            <a:r>
              <a:rPr lang="es-ES_tradnl" sz="2800">
                <a:latin typeface="Times New Roman" pitchFamily="-123" charset="0"/>
              </a:rPr>
              <a:t>entre jefe y colaborador.</a:t>
            </a:r>
          </a:p>
          <a:p>
            <a:endParaRPr lang="es-ES_tradnl" sz="2800">
              <a:latin typeface="Times New Roman" pitchFamily="-123" charset="0"/>
            </a:endParaRPr>
          </a:p>
          <a:p>
            <a:pPr>
              <a:buFontTx/>
              <a:buChar char="•"/>
            </a:pPr>
            <a:r>
              <a:rPr lang="es-ES_tradnl" sz="2800">
                <a:latin typeface="Times New Roman" pitchFamily="-123" charset="0"/>
              </a:rPr>
              <a:t>Medir cuantitativamente las metas.</a:t>
            </a:r>
          </a:p>
          <a:p>
            <a:endParaRPr lang="es-ES_tradnl" sz="2800">
              <a:latin typeface="Times New Roman" pitchFamily="-123" charset="0"/>
            </a:endParaRPr>
          </a:p>
          <a:p>
            <a:pPr>
              <a:buFontTx/>
              <a:buChar char="•"/>
            </a:pPr>
            <a:r>
              <a:rPr lang="es-ES_tradnl" sz="2800">
                <a:latin typeface="Times New Roman" pitchFamily="-123" charset="0"/>
              </a:rPr>
              <a:t>Metas alcanzables.</a:t>
            </a:r>
          </a:p>
          <a:p>
            <a:endParaRPr lang="es-ES_tradnl" sz="2800">
              <a:latin typeface="Times New Roman" pitchFamily="-123" charset="0"/>
            </a:endParaRPr>
          </a:p>
          <a:p>
            <a:pPr>
              <a:buFontTx/>
              <a:buChar char="•"/>
            </a:pPr>
            <a:r>
              <a:rPr lang="es-ES_tradnl" sz="2800">
                <a:latin typeface="Times New Roman" pitchFamily="-123" charset="0"/>
              </a:rPr>
              <a:t>Retroalimentación</a:t>
            </a:r>
            <a:r>
              <a:rPr lang="en-GB" sz="2800">
                <a:latin typeface="Times New Roman" pitchFamily="-123" charset="0"/>
              </a:rPr>
              <a:t> c</a:t>
            </a:r>
            <a:r>
              <a:rPr lang="es-ES_tradnl" sz="2800">
                <a:latin typeface="Times New Roman" pitchFamily="-123" charset="0"/>
              </a:rPr>
              <a:t>ontina del logro de las metas.</a:t>
            </a:r>
          </a:p>
          <a:p>
            <a:endParaRPr lang="es-ES_tradnl" sz="2800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228600" y="457200"/>
            <a:ext cx="807720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sz="4100">
                <a:latin typeface="Century" pitchFamily="-123" charset="0"/>
              </a:rPr>
              <a:t>Elementos clave de la Administración</a:t>
            </a:r>
            <a:r>
              <a:rPr lang="en-GB" sz="4100">
                <a:latin typeface="Century" pitchFamily="-123" charset="0"/>
              </a:rPr>
              <a:t> p</a:t>
            </a:r>
            <a:r>
              <a:rPr lang="es-ES_tradnl" sz="4100">
                <a:latin typeface="Century" pitchFamily="-123" charset="0"/>
              </a:rPr>
              <a:t>or Objetivos</a:t>
            </a:r>
            <a:endParaRPr lang="es-ES_tradnl">
              <a:latin typeface="Times New Roman" pitchFamily="-12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olsticio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ppt/theme/themeOverride2.xml><?xml version="1.0" encoding="utf-8"?>
<a:themeOverride xmlns:a="http://schemas.openxmlformats.org/drawingml/2006/main">
  <a:clrScheme name="Solsticio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ppt/theme/themeOverride3.xml><?xml version="1.0" encoding="utf-8"?>
<a:themeOverride xmlns:a="http://schemas.openxmlformats.org/drawingml/2006/main">
  <a:clrScheme name="Solsticio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ppt/theme/themeOverride4.xml><?xml version="1.0" encoding="utf-8"?>
<a:themeOverride xmlns:a="http://schemas.openxmlformats.org/drawingml/2006/main">
  <a:clrScheme name="Solsticio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613</Words>
  <Application>Microsoft Office PowerPoint</Application>
  <PresentationFormat>Presentación en pantalla (4:3)</PresentationFormat>
  <Paragraphs>141</Paragraphs>
  <Slides>19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Concurrencia</vt:lpstr>
      <vt:lpstr>Diapositiva 1</vt:lpstr>
      <vt:lpstr>Diapositiva 2</vt:lpstr>
      <vt:lpstr>Diapositiva 3</vt:lpstr>
      <vt:lpstr>      </vt:lpstr>
      <vt:lpstr>Peter Drucker</vt:lpstr>
      <vt:lpstr>Diapositiva 6</vt:lpstr>
      <vt:lpstr>Lo que hace un Gerente:</vt:lpstr>
      <vt:lpstr>Fijación de Objetivos</vt:lpstr>
      <vt:lpstr>Criterios de selección</vt:lpstr>
      <vt:lpstr>Diapositiva 10</vt:lpstr>
      <vt:lpstr>Diapositiva 11</vt:lpstr>
      <vt:lpstr>Diapositiva 12</vt:lpstr>
      <vt:lpstr> Los objetivos no solo deben indicar que hacer y cuando hacerlo, también debe indicarse la calidad deseada    Estos además deben implicar un reto, indicar prioridades y promover el crecimiento y desarrollo personal y profesional  </vt:lpstr>
      <vt:lpstr>Diapositiva 14</vt:lpstr>
      <vt:lpstr>Diapositiva 15</vt:lpstr>
      <vt:lpstr>Diapositiva 16</vt:lpstr>
      <vt:lpstr>Diapositiva 17</vt:lpstr>
      <vt:lpstr>Diapositiva 18</vt:lpstr>
      <vt:lpstr>Diapositiva 19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Paola</dc:creator>
  <cp:lastModifiedBy>jorge lopez</cp:lastModifiedBy>
  <cp:revision>44</cp:revision>
  <dcterms:created xsi:type="dcterms:W3CDTF">2009-04-18T22:23:27Z</dcterms:created>
  <dcterms:modified xsi:type="dcterms:W3CDTF">2009-04-29T18:44:27Z</dcterms:modified>
</cp:coreProperties>
</file>