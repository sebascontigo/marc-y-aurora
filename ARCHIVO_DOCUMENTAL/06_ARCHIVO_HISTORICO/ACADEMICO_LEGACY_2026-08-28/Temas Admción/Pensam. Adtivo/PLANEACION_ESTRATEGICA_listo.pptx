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11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s/slide120.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12.xml" ContentType="application/vnd.openxmlformats-officedocument.presentationml.notesSlide+xml"/>
  <Override PartName="/ppt/slides/slide99.xml" ContentType="application/vnd.openxmlformats-officedocument.presentationml.slide+xml"/>
  <Override PartName="/ppt/slides/slide118.xml" ContentType="application/vnd.openxmlformats-officedocument.presentationml.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Layouts/slideLayout7.xml" ContentType="application/vnd.openxmlformats-officedocument.presentationml.slideLayout+xml"/>
  <Override PartName="/ppt/notesSlides/notesSlide3.xml" ContentType="application/vnd.openxmlformats-officedocument.presentationml.notesSlide+xml"/>
  <Default Extension="png" ContentType="image/png"/>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slides/slide119.xml" ContentType="application/vnd.openxmlformats-officedocument.presentationml.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slides/slide89.xml" ContentType="application/vnd.openxmlformats-officedocument.presentationml.slide+xml"/>
  <Override PartName="/ppt/slides/slide98.xml" ContentType="application/vnd.openxmlformats-officedocument.presentationml.slide+xml"/>
  <Override PartName="/ppt/slides/slide108.xml" ContentType="application/vnd.openxmlformats-officedocument.presentationml.slide+xml"/>
  <Override PartName="/ppt/slides/slide117.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ppt/slides/slide115.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Override PartName="/ppt/notesSlides/notesSlide18.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slides/slide79.xml" ContentType="application/vnd.openxmlformats-officedocument.presentationml.slide+xml"/>
  <Override PartName="/ppt/slides/slide109.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9" r:id="rId1"/>
  </p:sldMasterIdLst>
  <p:notesMasterIdLst>
    <p:notesMasterId r:id="rId122"/>
  </p:notesMasterIdLst>
  <p:sldIdLst>
    <p:sldId id="258" r:id="rId2"/>
    <p:sldId id="422" r:id="rId3"/>
    <p:sldId id="259" r:id="rId4"/>
    <p:sldId id="260" r:id="rId5"/>
    <p:sldId id="261" r:id="rId6"/>
    <p:sldId id="328" r:id="rId7"/>
    <p:sldId id="404" r:id="rId8"/>
    <p:sldId id="405" r:id="rId9"/>
    <p:sldId id="331" r:id="rId10"/>
    <p:sldId id="332" r:id="rId11"/>
    <p:sldId id="333" r:id="rId12"/>
    <p:sldId id="334" r:id="rId13"/>
    <p:sldId id="335" r:id="rId14"/>
    <p:sldId id="336" r:id="rId15"/>
    <p:sldId id="330" r:id="rId16"/>
    <p:sldId id="279" r:id="rId17"/>
    <p:sldId id="280" r:id="rId18"/>
    <p:sldId id="282" r:id="rId19"/>
    <p:sldId id="283" r:id="rId20"/>
    <p:sldId id="284" r:id="rId21"/>
    <p:sldId id="285" r:id="rId22"/>
    <p:sldId id="286" r:id="rId23"/>
    <p:sldId id="287" r:id="rId24"/>
    <p:sldId id="291" r:id="rId25"/>
    <p:sldId id="292" r:id="rId26"/>
    <p:sldId id="296" r:id="rId27"/>
    <p:sldId id="299" r:id="rId28"/>
    <p:sldId id="300" r:id="rId29"/>
    <p:sldId id="303" r:id="rId30"/>
    <p:sldId id="304" r:id="rId31"/>
    <p:sldId id="305" r:id="rId32"/>
    <p:sldId id="309" r:id="rId33"/>
    <p:sldId id="310" r:id="rId34"/>
    <p:sldId id="311" r:id="rId35"/>
    <p:sldId id="314" r:id="rId36"/>
    <p:sldId id="337" r:id="rId37"/>
    <p:sldId id="338" r:id="rId38"/>
    <p:sldId id="339" r:id="rId39"/>
    <p:sldId id="321" r:id="rId40"/>
    <p:sldId id="257" r:id="rId41"/>
    <p:sldId id="323" r:id="rId42"/>
    <p:sldId id="263" r:id="rId43"/>
    <p:sldId id="264" r:id="rId44"/>
    <p:sldId id="265" r:id="rId45"/>
    <p:sldId id="266" r:id="rId46"/>
    <p:sldId id="267" r:id="rId47"/>
    <p:sldId id="268" r:id="rId48"/>
    <p:sldId id="269" r:id="rId49"/>
    <p:sldId id="270" r:id="rId50"/>
    <p:sldId id="271" r:id="rId51"/>
    <p:sldId id="272" r:id="rId52"/>
    <p:sldId id="273" r:id="rId53"/>
    <p:sldId id="274" r:id="rId54"/>
    <p:sldId id="275" r:id="rId55"/>
    <p:sldId id="276" r:id="rId56"/>
    <p:sldId id="277" r:id="rId57"/>
    <p:sldId id="278" r:id="rId58"/>
    <p:sldId id="354" r:id="rId59"/>
    <p:sldId id="355" r:id="rId60"/>
    <p:sldId id="356" r:id="rId61"/>
    <p:sldId id="357" r:id="rId62"/>
    <p:sldId id="358" r:id="rId63"/>
    <p:sldId id="359" r:id="rId64"/>
    <p:sldId id="360" r:id="rId65"/>
    <p:sldId id="361" r:id="rId66"/>
    <p:sldId id="362" r:id="rId67"/>
    <p:sldId id="363" r:id="rId68"/>
    <p:sldId id="364" r:id="rId69"/>
    <p:sldId id="365" r:id="rId70"/>
    <p:sldId id="366" r:id="rId71"/>
    <p:sldId id="413" r:id="rId72"/>
    <p:sldId id="414" r:id="rId73"/>
    <p:sldId id="415" r:id="rId74"/>
    <p:sldId id="416" r:id="rId75"/>
    <p:sldId id="417" r:id="rId76"/>
    <p:sldId id="418" r:id="rId77"/>
    <p:sldId id="420" r:id="rId78"/>
    <p:sldId id="421" r:id="rId79"/>
    <p:sldId id="367" r:id="rId80"/>
    <p:sldId id="342" r:id="rId81"/>
    <p:sldId id="341" r:id="rId82"/>
    <p:sldId id="368" r:id="rId83"/>
    <p:sldId id="369" r:id="rId84"/>
    <p:sldId id="370" r:id="rId85"/>
    <p:sldId id="371" r:id="rId86"/>
    <p:sldId id="412" r:id="rId87"/>
    <p:sldId id="372" r:id="rId88"/>
    <p:sldId id="407" r:id="rId89"/>
    <p:sldId id="343" r:id="rId90"/>
    <p:sldId id="344" r:id="rId91"/>
    <p:sldId id="345" r:id="rId92"/>
    <p:sldId id="346" r:id="rId93"/>
    <p:sldId id="347" r:id="rId94"/>
    <p:sldId id="381" r:id="rId95"/>
    <p:sldId id="382" r:id="rId96"/>
    <p:sldId id="383" r:id="rId97"/>
    <p:sldId id="384" r:id="rId98"/>
    <p:sldId id="385" r:id="rId99"/>
    <p:sldId id="386" r:id="rId100"/>
    <p:sldId id="387" r:id="rId101"/>
    <p:sldId id="388" r:id="rId102"/>
    <p:sldId id="389" r:id="rId103"/>
    <p:sldId id="390" r:id="rId104"/>
    <p:sldId id="391" r:id="rId105"/>
    <p:sldId id="392" r:id="rId106"/>
    <p:sldId id="393" r:id="rId107"/>
    <p:sldId id="394" r:id="rId108"/>
    <p:sldId id="395" r:id="rId109"/>
    <p:sldId id="396" r:id="rId110"/>
    <p:sldId id="397" r:id="rId111"/>
    <p:sldId id="408" r:id="rId112"/>
    <p:sldId id="409" r:id="rId113"/>
    <p:sldId id="410" r:id="rId114"/>
    <p:sldId id="411" r:id="rId115"/>
    <p:sldId id="398" r:id="rId116"/>
    <p:sldId id="399" r:id="rId117"/>
    <p:sldId id="400" r:id="rId118"/>
    <p:sldId id="401" r:id="rId119"/>
    <p:sldId id="402" r:id="rId120"/>
    <p:sldId id="403" r:id="rId121"/>
  </p:sldIdLst>
  <p:sldSz cx="9144000" cy="6858000" type="screen4x3"/>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E388B"/>
  </p:clrMru>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Estilo medio 1 - Énfasis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Estilo medio 1 - Énfasis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9941" autoAdjust="0"/>
    <p:restoredTop sz="94709" autoAdjust="0"/>
  </p:normalViewPr>
  <p:slideViewPr>
    <p:cSldViewPr>
      <p:cViewPr varScale="1">
        <p:scale>
          <a:sx n="58" d="100"/>
          <a:sy n="58" d="100"/>
        </p:scale>
        <p:origin x="-810"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7784"/>
    </p:cViewPr>
  </p:sorter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dirty="0"/>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FDB8B90-9DDD-410E-8AA4-78E88603CF42}" type="datetimeFigureOut">
              <a:rPr lang="es-ES" smtClean="0"/>
              <a:pPr/>
              <a:t>05/05/2009</a:t>
            </a:fld>
            <a:endParaRPr lang="es-ES" dirty="0"/>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ES" dirty="0"/>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dirty="0"/>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B2FA6CD-E112-4057-8E55-C985F42BB220}" type="slidenum">
              <a:rPr lang="es-ES" smtClean="0"/>
              <a:pPr/>
              <a:t>‹Nº›</a:t>
            </a:fld>
            <a:endParaRPr lang="es-E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F1124C9F-4247-435A-BD99-158BA422B8C6}" type="slidenum">
              <a:rPr lang="es-ES" smtClean="0"/>
              <a:pPr/>
              <a:t>16</a:t>
            </a:fld>
            <a:endParaRPr lang="es-ES" dirty="0" smtClean="0"/>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pPr eaLnBrk="1" hangingPunct="1"/>
            <a:endParaRPr lang="en-US" dirty="0"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p>
            <a:fld id="{0CE3B483-1A90-41B7-96E2-E1B802263FFF}" type="slidenum">
              <a:rPr lang="es-ES" smtClean="0"/>
              <a:pPr/>
              <a:t>17</a:t>
            </a:fld>
            <a:endParaRPr lang="es-ES" dirty="0" smtClean="0"/>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p:spPr>
        <p:txBody>
          <a:bodyPr/>
          <a:lstStyle/>
          <a:p>
            <a:pPr eaLnBrk="1" hangingPunct="1"/>
            <a:endParaRPr lang="en-US" dirty="0"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C6FCC3E5-3B37-483F-ACB5-665FAD48FE37}" type="slidenum">
              <a:rPr lang="es-ES" smtClean="0"/>
              <a:pPr/>
              <a:t>18</a:t>
            </a:fld>
            <a:endParaRPr lang="es-ES" dirty="0" smtClean="0"/>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p:spPr>
        <p:txBody>
          <a:bodyPr/>
          <a:lstStyle/>
          <a:p>
            <a:endParaRPr lang="en-US" dirty="0"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p>
            <a:fld id="{37AF2BD3-ED1E-4CAE-97BC-A68A3A5FFE2A}" type="slidenum">
              <a:rPr lang="es-ES" smtClean="0"/>
              <a:pPr/>
              <a:t>19</a:t>
            </a:fld>
            <a:endParaRPr lang="es-ES" dirty="0" smtClean="0"/>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p:spPr>
        <p:txBody>
          <a:bodyPr/>
          <a:lstStyle/>
          <a:p>
            <a:pPr eaLnBrk="1" hangingPunct="1"/>
            <a:endParaRPr lang="en-US" dirty="0"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5977F1B9-C475-4EF9-B002-2D0E20C7DBEB}" type="slidenum">
              <a:rPr lang="es-ES" smtClean="0"/>
              <a:pPr/>
              <a:t>20</a:t>
            </a:fld>
            <a:endParaRPr lang="es-ES" dirty="0" smtClean="0"/>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p:spPr>
        <p:txBody>
          <a:bodyPr/>
          <a:lstStyle/>
          <a:p>
            <a:pPr eaLnBrk="1" hangingPunct="1"/>
            <a:endParaRPr lang="en-US" dirty="0"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p>
            <a:fld id="{097F7962-2AA1-46F3-90EF-77BE7599FD90}" type="slidenum">
              <a:rPr lang="es-ES" smtClean="0"/>
              <a:pPr/>
              <a:t>21</a:t>
            </a:fld>
            <a:endParaRPr lang="es-ES" dirty="0" smtClean="0"/>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p:spPr>
        <p:txBody>
          <a:bodyPr/>
          <a:lstStyle/>
          <a:p>
            <a:pPr eaLnBrk="1" hangingPunct="1"/>
            <a:endParaRPr lang="en-US" dirty="0"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68AF3945-9712-435A-A992-666F2AD0CEF8}" type="slidenum">
              <a:rPr lang="es-ES" smtClean="0"/>
              <a:pPr/>
              <a:t>22</a:t>
            </a:fld>
            <a:endParaRPr lang="es-ES" dirty="0" smtClean="0"/>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p:spPr>
        <p:txBody>
          <a:bodyPr/>
          <a:lstStyle/>
          <a:p>
            <a:pPr eaLnBrk="1" hangingPunct="1"/>
            <a:endParaRPr lang="en-US" dirty="0"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57065F2A-BB8E-40DD-9864-2218A28B1DE4}" type="slidenum">
              <a:rPr lang="es-ES" smtClean="0"/>
              <a:pPr/>
              <a:t>23</a:t>
            </a:fld>
            <a:endParaRPr lang="es-ES" dirty="0" smtClean="0"/>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p:spPr>
        <p:txBody>
          <a:bodyPr/>
          <a:lstStyle/>
          <a:p>
            <a:pPr eaLnBrk="1" hangingPunct="1"/>
            <a:endParaRPr lang="en-US" dirty="0"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4BD05E07-64E3-4090-A4C0-F1FA2FA517EA}" type="slidenum">
              <a:rPr lang="es-ES" smtClean="0"/>
              <a:pPr/>
              <a:t>24</a:t>
            </a:fld>
            <a:endParaRPr lang="es-ES" dirty="0" smtClean="0"/>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pPr eaLnBrk="1" hangingPunct="1"/>
            <a:endParaRPr lang="en-US" dirty="0"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020208F6-E08C-4862-8A9C-5269A1DDB7DF}" type="slidenum">
              <a:rPr lang="es-ES" smtClean="0"/>
              <a:pPr/>
              <a:t>25</a:t>
            </a:fld>
            <a:endParaRPr lang="es-ES" dirty="0" smtClean="0"/>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p:spPr>
        <p:txBody>
          <a:bodyPr/>
          <a:lstStyle/>
          <a:p>
            <a:pPr eaLnBrk="1" hangingPunct="1"/>
            <a:endParaRPr lang="en-US" dirty="0"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519A844F-FFCF-46F3-952C-F4B211D9D843}" type="slidenum">
              <a:rPr lang="es-ES" smtClean="0"/>
              <a:pPr/>
              <a:t>26</a:t>
            </a:fld>
            <a:endParaRPr lang="es-ES" dirty="0" smtClean="0"/>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p:spPr>
        <p:txBody>
          <a:bodyPr/>
          <a:lstStyle/>
          <a:p>
            <a:pPr eaLnBrk="1" hangingPunct="1"/>
            <a:endParaRPr lang="en-US" dirty="0"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B24FA55B-10CF-4497-B714-9F89950A6F9F}" type="slidenum">
              <a:rPr lang="es-ES" smtClean="0"/>
              <a:pPr/>
              <a:t>27</a:t>
            </a:fld>
            <a:endParaRPr lang="es-ES" dirty="0" smtClean="0"/>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p:spPr>
        <p:txBody>
          <a:bodyPr/>
          <a:lstStyle/>
          <a:p>
            <a:pPr eaLnBrk="1" hangingPunct="1"/>
            <a:endParaRPr lang="en-US" dirty="0"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85C77241-373B-4CA6-BBB4-7570A746D066}" type="slidenum">
              <a:rPr lang="es-ES" smtClean="0"/>
              <a:pPr/>
              <a:t>28</a:t>
            </a:fld>
            <a:endParaRPr lang="es-ES" dirty="0" smtClean="0"/>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p:spPr>
        <p:txBody>
          <a:bodyPr/>
          <a:lstStyle/>
          <a:p>
            <a:pPr eaLnBrk="1" hangingPunct="1"/>
            <a:endParaRPr lang="en-US" dirty="0"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02CB51CB-E1D8-404B-B64B-5BAB53161BA8}" type="slidenum">
              <a:rPr lang="es-ES" smtClean="0"/>
              <a:pPr/>
              <a:t>29</a:t>
            </a:fld>
            <a:endParaRPr lang="es-ES" dirty="0" smtClean="0"/>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p:spPr>
        <p:txBody>
          <a:bodyPr/>
          <a:lstStyle/>
          <a:p>
            <a:pPr eaLnBrk="1" hangingPunct="1"/>
            <a:endParaRPr lang="en-US" dirty="0"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6AAB186D-571E-4C87-B745-D79908457816}" type="slidenum">
              <a:rPr lang="es-ES" smtClean="0"/>
              <a:pPr/>
              <a:t>30</a:t>
            </a:fld>
            <a:endParaRPr lang="es-ES" dirty="0" smtClean="0"/>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p:spPr>
        <p:txBody>
          <a:bodyPr/>
          <a:lstStyle/>
          <a:p>
            <a:pPr eaLnBrk="1" hangingPunct="1"/>
            <a:endParaRPr lang="en-US" dirty="0"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9DBA6EC5-BA56-4306-B58F-108CDCAD207B}" type="slidenum">
              <a:rPr lang="es-ES" smtClean="0"/>
              <a:pPr/>
              <a:t>31</a:t>
            </a:fld>
            <a:endParaRPr lang="es-ES" dirty="0" smtClean="0"/>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p:spPr>
        <p:txBody>
          <a:bodyPr/>
          <a:lstStyle/>
          <a:p>
            <a:pPr eaLnBrk="1" hangingPunct="1"/>
            <a:endParaRPr lang="en-US" dirty="0"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E7312DC2-4130-4807-9AC8-EFA5C5D5496F}" type="slidenum">
              <a:rPr lang="es-ES" smtClean="0"/>
              <a:pPr/>
              <a:t>32</a:t>
            </a:fld>
            <a:endParaRPr lang="es-ES" dirty="0" smtClean="0"/>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p:spPr>
        <p:txBody>
          <a:bodyPr/>
          <a:lstStyle/>
          <a:p>
            <a:pPr eaLnBrk="1" hangingPunct="1"/>
            <a:endParaRPr lang="en-US" dirty="0"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fld id="{634DE649-73DF-4951-8D3F-8F5AE51B1248}" type="slidenum">
              <a:rPr lang="es-ES" smtClean="0"/>
              <a:pPr/>
              <a:t>33</a:t>
            </a:fld>
            <a:endParaRPr lang="es-ES" dirty="0" smtClean="0"/>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p:spPr>
        <p:txBody>
          <a:bodyPr/>
          <a:lstStyle/>
          <a:p>
            <a:pPr eaLnBrk="1" hangingPunct="1"/>
            <a:endParaRPr lang="en-US" dirty="0"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BAB5E4A4-BD3E-4977-A937-A736F4E18180}" type="slidenum">
              <a:rPr lang="es-ES" smtClean="0"/>
              <a:pPr/>
              <a:t>34</a:t>
            </a:fld>
            <a:endParaRPr lang="es-ES" dirty="0"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eaLnBrk="1" hangingPunct="1"/>
            <a:endParaRPr lang="en-US" dirty="0"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p>
            <a:fld id="{15EB4666-EFBF-42E4-958A-0CB0F94DCB03}" type="slidenum">
              <a:rPr lang="es-ES" smtClean="0"/>
              <a:pPr/>
              <a:t>35</a:t>
            </a:fld>
            <a:endParaRPr lang="es-ES" dirty="0" smtClean="0"/>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p:spPr>
        <p:txBody>
          <a:bodyPr/>
          <a:lstStyle/>
          <a:p>
            <a:pPr eaLnBrk="1" hangingPunct="1"/>
            <a:endParaRPr lang="en-US" dirty="0"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2BD6B659-3EBB-4D1E-8B89-6499B4B10C09}" type="slidenum">
              <a:rPr lang="es-ES" smtClean="0"/>
              <a:pPr/>
              <a:t>102</a:t>
            </a:fld>
            <a:endParaRPr lang="es-E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Ref idx="1002">
        <a:schemeClr val="bg1"/>
      </p:bgRef>
    </p:bg>
    <p:spTree>
      <p:nvGrpSpPr>
        <p:cNvPr id="1" name=""/>
        <p:cNvGrpSpPr/>
        <p:nvPr/>
      </p:nvGrpSpPr>
      <p:grpSpPr>
        <a:xfrm>
          <a:off x="0" y="0"/>
          <a:ext cx="0" cy="0"/>
          <a:chOff x="0" y="0"/>
          <a:chExt cx="0" cy="0"/>
        </a:xfrm>
      </p:grpSpPr>
      <p:sp>
        <p:nvSpPr>
          <p:cNvPr id="8" name="7 Rectángulo"/>
          <p:cNvSpPr/>
          <p:nvPr/>
        </p:nvSpPr>
        <p:spPr>
          <a:xfrm flipH="1">
            <a:off x="2667000" y="0"/>
            <a:ext cx="6477000" cy="6858000"/>
          </a:xfrm>
          <a:prstGeom prst="rect">
            <a:avLst/>
          </a:prstGeom>
          <a:blipFill>
            <a:blip r:embed="rId2">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9" name="8 Conector recto"/>
          <p:cNvSpPr>
            <a:spLocks noChangeShapeType="1"/>
          </p:cNvSpPr>
          <p:nvPr/>
        </p:nvSpPr>
        <p:spPr bwMode="auto">
          <a:xfrm rot="16200000">
            <a:off x="-762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2" name="11 Título"/>
          <p:cNvSpPr>
            <a:spLocks noGrp="1"/>
          </p:cNvSpPr>
          <p:nvPr>
            <p:ph type="ctrTitle"/>
          </p:nvPr>
        </p:nvSpPr>
        <p:spPr>
          <a:xfrm>
            <a:off x="3366868" y="533400"/>
            <a:ext cx="5105400" cy="2868168"/>
          </a:xfrm>
        </p:spPr>
        <p:txBody>
          <a:bodyPr lIns="45720" tIns="0" rIns="45720">
            <a:noAutofit/>
          </a:bodyPr>
          <a:lstStyle>
            <a:lvl1pPr algn="r">
              <a:defRPr sz="4200" b="1"/>
            </a:lvl1pPr>
            <a:extLst/>
          </a:lstStyle>
          <a:p>
            <a:r>
              <a:rPr kumimoji="0" lang="es-ES" smtClean="0"/>
              <a:t>Haga clic para modificar el estilo de título del patrón</a:t>
            </a:r>
            <a:endParaRPr kumimoji="0" lang="en-US"/>
          </a:p>
        </p:txBody>
      </p:sp>
      <p:sp>
        <p:nvSpPr>
          <p:cNvPr id="25" name="24 Subtítulo"/>
          <p:cNvSpPr>
            <a:spLocks noGrp="1"/>
          </p:cNvSpPr>
          <p:nvPr>
            <p:ph type="subTitle" idx="1"/>
          </p:nvPr>
        </p:nvSpPr>
        <p:spPr>
          <a:xfrm>
            <a:off x="3354442" y="3539864"/>
            <a:ext cx="5114778"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s-ES" smtClean="0"/>
              <a:t>Haga clic para modificar el estilo de subtítulo del patrón</a:t>
            </a:r>
            <a:endParaRPr kumimoji="0" lang="en-US"/>
          </a:p>
        </p:txBody>
      </p:sp>
      <p:sp>
        <p:nvSpPr>
          <p:cNvPr id="31" name="30 Marcador de fecha"/>
          <p:cNvSpPr>
            <a:spLocks noGrp="1"/>
          </p:cNvSpPr>
          <p:nvPr>
            <p:ph type="dt" sz="half" idx="10"/>
          </p:nvPr>
        </p:nvSpPr>
        <p:spPr>
          <a:xfrm>
            <a:off x="5871224" y="6557946"/>
            <a:ext cx="2002464" cy="226902"/>
          </a:xfrm>
        </p:spPr>
        <p:txBody>
          <a:bodyPr/>
          <a:lstStyle>
            <a:lvl1pPr>
              <a:defRPr lang="en-US" smtClean="0">
                <a:solidFill>
                  <a:srgbClr val="FFFFFF"/>
                </a:solidFill>
              </a:defRPr>
            </a:lvl1pPr>
            <a:extLst/>
          </a:lstStyle>
          <a:p>
            <a:fld id="{B53E420E-4882-4BBB-9631-290A19D2D8A0}" type="datetimeFigureOut">
              <a:rPr lang="es-CO" smtClean="0"/>
              <a:pPr/>
              <a:t>05/05/2009</a:t>
            </a:fld>
            <a:endParaRPr lang="es-CO" dirty="0"/>
          </a:p>
        </p:txBody>
      </p:sp>
      <p:sp>
        <p:nvSpPr>
          <p:cNvPr id="18" name="17 Marcador de pie de página"/>
          <p:cNvSpPr>
            <a:spLocks noGrp="1"/>
          </p:cNvSpPr>
          <p:nvPr>
            <p:ph type="ftr" sz="quarter" idx="11"/>
          </p:nvPr>
        </p:nvSpPr>
        <p:spPr>
          <a:xfrm>
            <a:off x="2819400" y="6557946"/>
            <a:ext cx="2927722" cy="228600"/>
          </a:xfrm>
        </p:spPr>
        <p:txBody>
          <a:bodyPr/>
          <a:lstStyle>
            <a:lvl1pPr>
              <a:defRPr lang="en-US" dirty="0">
                <a:solidFill>
                  <a:srgbClr val="FFFFFF"/>
                </a:solidFill>
              </a:defRPr>
            </a:lvl1pPr>
            <a:extLst/>
          </a:lstStyle>
          <a:p>
            <a:endParaRPr lang="es-CO" dirty="0"/>
          </a:p>
        </p:txBody>
      </p:sp>
      <p:sp>
        <p:nvSpPr>
          <p:cNvPr id="29" name="28 Marcador de número de diapositiva"/>
          <p:cNvSpPr>
            <a:spLocks noGrp="1"/>
          </p:cNvSpPr>
          <p:nvPr>
            <p:ph type="sldNum" sz="quarter" idx="12"/>
          </p:nvPr>
        </p:nvSpPr>
        <p:spPr>
          <a:xfrm>
            <a:off x="7880884" y="6556248"/>
            <a:ext cx="588336" cy="228600"/>
          </a:xfrm>
        </p:spPr>
        <p:txBody>
          <a:bodyPr/>
          <a:lstStyle>
            <a:lvl1pPr>
              <a:defRPr lang="en-US" smtClean="0">
                <a:solidFill>
                  <a:srgbClr val="FFFFFF"/>
                </a:solidFill>
              </a:defRPr>
            </a:lvl1pPr>
            <a:extLst/>
          </a:lstStyle>
          <a:p>
            <a:fld id="{27239C9B-88D1-4C33-A30D-06B4F180BEFE}" type="slidenum">
              <a:rPr lang="es-CO" smtClean="0"/>
              <a:pPr/>
              <a:t>‹Nº›</a:t>
            </a:fld>
            <a:endParaRPr lang="es-CO"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extLst/>
          </a:lstStyle>
          <a:p>
            <a:r>
              <a:rPr kumimoji="0" lang="es-ES" smtClean="0"/>
              <a:t>Haga clic para modificar el estilo de título del patrón</a:t>
            </a:r>
            <a:endParaRPr kumimoji="0" lang="en-US"/>
          </a:p>
        </p:txBody>
      </p:sp>
      <p:sp>
        <p:nvSpPr>
          <p:cNvPr id="3" name="2 Marcador de contenido"/>
          <p:cNvSpPr>
            <a:spLocks noGrp="1"/>
          </p:cNvSpPr>
          <p:nvPr>
            <p:ph idx="1"/>
          </p:nvPr>
        </p:nvSpPr>
        <p:spPr/>
        <p:txBody>
          <a:bodyPr/>
          <a:lstStyle>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extLst/>
          </a:lstStyle>
          <a:p>
            <a:fld id="{B53E420E-4882-4BBB-9631-290A19D2D8A0}" type="datetimeFigureOut">
              <a:rPr lang="es-CO" smtClean="0"/>
              <a:pPr/>
              <a:t>05/05/2009</a:t>
            </a:fld>
            <a:endParaRPr lang="es-CO" dirty="0"/>
          </a:p>
        </p:txBody>
      </p:sp>
      <p:sp>
        <p:nvSpPr>
          <p:cNvPr id="5" name="4 Marcador de pie de página"/>
          <p:cNvSpPr>
            <a:spLocks noGrp="1"/>
          </p:cNvSpPr>
          <p:nvPr>
            <p:ph type="ftr" sz="quarter" idx="11"/>
          </p:nvPr>
        </p:nvSpPr>
        <p:spPr/>
        <p:txBody>
          <a:bodyPr/>
          <a:lstStyle>
            <a:extLst/>
          </a:lstStyle>
          <a:p>
            <a:endParaRPr lang="es-CO" dirty="0"/>
          </a:p>
        </p:txBody>
      </p:sp>
      <p:sp>
        <p:nvSpPr>
          <p:cNvPr id="6" name="5 Marcador de número de diapositiva"/>
          <p:cNvSpPr>
            <a:spLocks noGrp="1"/>
          </p:cNvSpPr>
          <p:nvPr>
            <p:ph type="sldNum" sz="quarter" idx="12"/>
          </p:nvPr>
        </p:nvSpPr>
        <p:spPr/>
        <p:txBody>
          <a:bodyPr/>
          <a:lstStyle>
            <a:extLst/>
          </a:lstStyle>
          <a:p>
            <a:fld id="{27239C9B-88D1-4C33-A30D-06B4F180BEFE}" type="slidenum">
              <a:rPr lang="es-CO" smtClean="0"/>
              <a:pPr/>
              <a:t>‹Nº›</a:t>
            </a:fld>
            <a:endParaRPr lang="es-CO"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bg>
      <p:bgRef idx="1001">
        <a:schemeClr val="bg1"/>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1066800" y="2821837"/>
            <a:ext cx="6255488" cy="1362075"/>
          </a:xfrm>
        </p:spPr>
        <p:txBody>
          <a:bodyPr tIns="0" anchor="t"/>
          <a:lstStyle>
            <a:lvl1pPr algn="r">
              <a:buNone/>
              <a:defRPr sz="4200" b="1" cap="all"/>
            </a:lvl1pPr>
            <a:extLst/>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1066800" y="1905000"/>
            <a:ext cx="6255488"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s-ES" smtClean="0"/>
              <a:t>Haga clic para modificar el estilo de texto del patrón</a:t>
            </a:r>
          </a:p>
        </p:txBody>
      </p:sp>
      <p:sp>
        <p:nvSpPr>
          <p:cNvPr id="4" name="3 Marcador de fecha"/>
          <p:cNvSpPr>
            <a:spLocks noGrp="1"/>
          </p:cNvSpPr>
          <p:nvPr>
            <p:ph type="dt" sz="half" idx="10"/>
          </p:nvPr>
        </p:nvSpPr>
        <p:spPr>
          <a:xfrm>
            <a:off x="4724238" y="6556810"/>
            <a:ext cx="2002464" cy="226902"/>
          </a:xfrm>
        </p:spPr>
        <p:txBody>
          <a:bodyPr bIns="0" anchor="b"/>
          <a:lstStyle>
            <a:lvl1pPr>
              <a:defRPr>
                <a:solidFill>
                  <a:schemeClr val="tx2"/>
                </a:solidFill>
              </a:defRPr>
            </a:lvl1pPr>
            <a:extLst/>
          </a:lstStyle>
          <a:p>
            <a:fld id="{B53E420E-4882-4BBB-9631-290A19D2D8A0}" type="datetimeFigureOut">
              <a:rPr lang="es-CO" smtClean="0"/>
              <a:pPr/>
              <a:t>05/05/2009</a:t>
            </a:fld>
            <a:endParaRPr lang="es-CO" dirty="0"/>
          </a:p>
        </p:txBody>
      </p:sp>
      <p:sp>
        <p:nvSpPr>
          <p:cNvPr id="5" name="4 Marcador de pie de página"/>
          <p:cNvSpPr>
            <a:spLocks noGrp="1"/>
          </p:cNvSpPr>
          <p:nvPr>
            <p:ph type="ftr" sz="quarter" idx="11"/>
          </p:nvPr>
        </p:nvSpPr>
        <p:spPr>
          <a:xfrm>
            <a:off x="1735358" y="6556810"/>
            <a:ext cx="2895600" cy="228600"/>
          </a:xfrm>
        </p:spPr>
        <p:txBody>
          <a:bodyPr bIns="0" anchor="b"/>
          <a:lstStyle>
            <a:lvl1pPr>
              <a:defRPr>
                <a:solidFill>
                  <a:schemeClr val="tx2"/>
                </a:solidFill>
              </a:defRPr>
            </a:lvl1pPr>
            <a:extLst/>
          </a:lstStyle>
          <a:p>
            <a:endParaRPr lang="es-CO" dirty="0"/>
          </a:p>
        </p:txBody>
      </p:sp>
      <p:sp>
        <p:nvSpPr>
          <p:cNvPr id="6" name="5 Marcador de número de diapositiva"/>
          <p:cNvSpPr>
            <a:spLocks noGrp="1"/>
          </p:cNvSpPr>
          <p:nvPr>
            <p:ph type="sldNum" sz="quarter" idx="12"/>
          </p:nvPr>
        </p:nvSpPr>
        <p:spPr>
          <a:xfrm>
            <a:off x="6733952" y="6555112"/>
            <a:ext cx="588336" cy="228600"/>
          </a:xfrm>
        </p:spPr>
        <p:txBody>
          <a:bodyPr/>
          <a:lstStyle>
            <a:extLst/>
          </a:lstStyle>
          <a:p>
            <a:fld id="{27239C9B-88D1-4C33-A30D-06B4F180BEFE}" type="slidenum">
              <a:rPr lang="es-CO" smtClean="0"/>
              <a:pPr/>
              <a:t>‹Nº›</a:t>
            </a:fld>
            <a:endParaRPr lang="es-CO"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320040"/>
            <a:ext cx="7242048" cy="1143000"/>
          </a:xfrm>
        </p:spPr>
        <p:txBody>
          <a:bodyPr/>
          <a:lstStyle>
            <a:extLst/>
          </a:lstStyle>
          <a:p>
            <a:r>
              <a:rPr kumimoji="0" lang="es-ES" smtClean="0"/>
              <a:t>Haga clic para modificar el estilo de título del patrón</a:t>
            </a:r>
            <a:endParaRPr kumimoji="0" lang="en-US"/>
          </a:p>
        </p:txBody>
      </p:sp>
      <p:sp>
        <p:nvSpPr>
          <p:cNvPr id="3" name="2 Marcador de contenido"/>
          <p:cNvSpPr>
            <a:spLocks noGrp="1"/>
          </p:cNvSpPr>
          <p:nvPr>
            <p:ph sz="half" idx="1"/>
          </p:nvPr>
        </p:nvSpPr>
        <p:spPr>
          <a:xfrm>
            <a:off x="457200"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contenido"/>
          <p:cNvSpPr>
            <a:spLocks noGrp="1"/>
          </p:cNvSpPr>
          <p:nvPr>
            <p:ph sz="half" idx="2"/>
          </p:nvPr>
        </p:nvSpPr>
        <p:spPr>
          <a:xfrm>
            <a:off x="4178808"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5" name="4 Marcador de fecha"/>
          <p:cNvSpPr>
            <a:spLocks noGrp="1"/>
          </p:cNvSpPr>
          <p:nvPr>
            <p:ph type="dt" sz="half" idx="10"/>
          </p:nvPr>
        </p:nvSpPr>
        <p:spPr/>
        <p:txBody>
          <a:bodyPr/>
          <a:lstStyle>
            <a:extLst/>
          </a:lstStyle>
          <a:p>
            <a:fld id="{B53E420E-4882-4BBB-9631-290A19D2D8A0}" type="datetimeFigureOut">
              <a:rPr lang="es-CO" smtClean="0"/>
              <a:pPr/>
              <a:t>05/05/2009</a:t>
            </a:fld>
            <a:endParaRPr lang="es-CO" dirty="0"/>
          </a:p>
        </p:txBody>
      </p:sp>
      <p:sp>
        <p:nvSpPr>
          <p:cNvPr id="6" name="5 Marcador de pie de página"/>
          <p:cNvSpPr>
            <a:spLocks noGrp="1"/>
          </p:cNvSpPr>
          <p:nvPr>
            <p:ph type="ftr" sz="quarter" idx="11"/>
          </p:nvPr>
        </p:nvSpPr>
        <p:spPr/>
        <p:txBody>
          <a:bodyPr/>
          <a:lstStyle>
            <a:extLst/>
          </a:lstStyle>
          <a:p>
            <a:endParaRPr lang="es-CO" dirty="0"/>
          </a:p>
        </p:txBody>
      </p:sp>
      <p:sp>
        <p:nvSpPr>
          <p:cNvPr id="7" name="6 Marcador de número de diapositiva"/>
          <p:cNvSpPr>
            <a:spLocks noGrp="1"/>
          </p:cNvSpPr>
          <p:nvPr>
            <p:ph type="sldNum" sz="quarter" idx="12"/>
          </p:nvPr>
        </p:nvSpPr>
        <p:spPr/>
        <p:txBody>
          <a:bodyPr/>
          <a:lstStyle>
            <a:extLst/>
          </a:lstStyle>
          <a:p>
            <a:fld id="{27239C9B-88D1-4C33-A30D-06B4F180BEFE}" type="slidenum">
              <a:rPr lang="es-CO" smtClean="0"/>
              <a:pPr/>
              <a:t>‹Nº›</a:t>
            </a:fld>
            <a:endParaRPr lang="es-CO"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320040"/>
            <a:ext cx="7242048" cy="1143000"/>
          </a:xfrm>
        </p:spPr>
        <p:txBody>
          <a:bodyPr anchor="b"/>
          <a:lstStyle>
            <a:lvl1pPr>
              <a:defRPr/>
            </a:lvl1pPr>
            <a:extLst/>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s-ES" smtClean="0"/>
              <a:t>Haga clic para modificar el estilo de texto del patrón</a:t>
            </a:r>
          </a:p>
        </p:txBody>
      </p:sp>
      <p:sp>
        <p:nvSpPr>
          <p:cNvPr id="4" name="3 Marcador de texto"/>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s-ES" smtClean="0"/>
              <a:t>Haga clic para modificar el estilo de texto del patrón</a:t>
            </a:r>
          </a:p>
        </p:txBody>
      </p:sp>
      <p:sp>
        <p:nvSpPr>
          <p:cNvPr id="5" name="4 Marcador de contenido"/>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6" name="5 Marcador de contenido"/>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7" name="6 Marcador de fecha"/>
          <p:cNvSpPr>
            <a:spLocks noGrp="1"/>
          </p:cNvSpPr>
          <p:nvPr>
            <p:ph type="dt" sz="half" idx="10"/>
          </p:nvPr>
        </p:nvSpPr>
        <p:spPr/>
        <p:txBody>
          <a:bodyPr/>
          <a:lstStyle>
            <a:extLst/>
          </a:lstStyle>
          <a:p>
            <a:fld id="{B53E420E-4882-4BBB-9631-290A19D2D8A0}" type="datetimeFigureOut">
              <a:rPr lang="es-CO" smtClean="0"/>
              <a:pPr/>
              <a:t>05/05/2009</a:t>
            </a:fld>
            <a:endParaRPr lang="es-CO" dirty="0"/>
          </a:p>
        </p:txBody>
      </p:sp>
      <p:sp>
        <p:nvSpPr>
          <p:cNvPr id="8" name="7 Marcador de pie de página"/>
          <p:cNvSpPr>
            <a:spLocks noGrp="1"/>
          </p:cNvSpPr>
          <p:nvPr>
            <p:ph type="ftr" sz="quarter" idx="11"/>
          </p:nvPr>
        </p:nvSpPr>
        <p:spPr/>
        <p:txBody>
          <a:bodyPr/>
          <a:lstStyle>
            <a:extLst/>
          </a:lstStyle>
          <a:p>
            <a:endParaRPr lang="es-CO" dirty="0"/>
          </a:p>
        </p:txBody>
      </p:sp>
      <p:sp>
        <p:nvSpPr>
          <p:cNvPr id="9" name="8 Marcador de número de diapositiva"/>
          <p:cNvSpPr>
            <a:spLocks noGrp="1"/>
          </p:cNvSpPr>
          <p:nvPr>
            <p:ph type="sldNum" sz="quarter" idx="12"/>
          </p:nvPr>
        </p:nvSpPr>
        <p:spPr/>
        <p:txBody>
          <a:bodyPr/>
          <a:lstStyle>
            <a:extLst/>
          </a:lstStyle>
          <a:p>
            <a:fld id="{27239C9B-88D1-4C33-A30D-06B4F180BEFE}" type="slidenum">
              <a:rPr lang="es-CO" smtClean="0"/>
              <a:pPr/>
              <a:t>‹Nº›</a:t>
            </a:fld>
            <a:endParaRPr lang="es-CO"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320040"/>
            <a:ext cx="7242048" cy="1143000"/>
          </a:xfrm>
        </p:spPr>
        <p:txBody>
          <a:bodyPr/>
          <a:lstStyle>
            <a:extLst/>
          </a:lstStyle>
          <a:p>
            <a:r>
              <a:rPr kumimoji="0" lang="es-ES" smtClean="0"/>
              <a:t>Haga clic para modificar el estilo de título del patrón</a:t>
            </a:r>
            <a:endParaRPr kumimoji="0" lang="en-US"/>
          </a:p>
        </p:txBody>
      </p:sp>
      <p:sp>
        <p:nvSpPr>
          <p:cNvPr id="3" name="2 Marcador de fecha"/>
          <p:cNvSpPr>
            <a:spLocks noGrp="1"/>
          </p:cNvSpPr>
          <p:nvPr>
            <p:ph type="dt" sz="half" idx="10"/>
          </p:nvPr>
        </p:nvSpPr>
        <p:spPr/>
        <p:txBody>
          <a:bodyPr/>
          <a:lstStyle>
            <a:extLst/>
          </a:lstStyle>
          <a:p>
            <a:fld id="{B53E420E-4882-4BBB-9631-290A19D2D8A0}" type="datetimeFigureOut">
              <a:rPr lang="es-CO" smtClean="0"/>
              <a:pPr/>
              <a:t>05/05/2009</a:t>
            </a:fld>
            <a:endParaRPr lang="es-CO" dirty="0"/>
          </a:p>
        </p:txBody>
      </p:sp>
      <p:sp>
        <p:nvSpPr>
          <p:cNvPr id="4" name="3 Marcador de pie de página"/>
          <p:cNvSpPr>
            <a:spLocks noGrp="1"/>
          </p:cNvSpPr>
          <p:nvPr>
            <p:ph type="ftr" sz="quarter" idx="11"/>
          </p:nvPr>
        </p:nvSpPr>
        <p:spPr/>
        <p:txBody>
          <a:bodyPr/>
          <a:lstStyle>
            <a:extLst/>
          </a:lstStyle>
          <a:p>
            <a:endParaRPr lang="es-CO" dirty="0"/>
          </a:p>
        </p:txBody>
      </p:sp>
      <p:sp>
        <p:nvSpPr>
          <p:cNvPr id="5" name="4 Marcador de número de diapositiva"/>
          <p:cNvSpPr>
            <a:spLocks noGrp="1"/>
          </p:cNvSpPr>
          <p:nvPr>
            <p:ph type="sldNum" sz="quarter" idx="12"/>
          </p:nvPr>
        </p:nvSpPr>
        <p:spPr/>
        <p:txBody>
          <a:bodyPr/>
          <a:lstStyle>
            <a:extLst/>
          </a:lstStyle>
          <a:p>
            <a:fld id="{27239C9B-88D1-4C33-A30D-06B4F180BEFE}" type="slidenum">
              <a:rPr lang="es-CO" smtClean="0"/>
              <a:pPr/>
              <a:t>‹Nº›</a:t>
            </a:fld>
            <a:endParaRPr lang="es-CO"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lvl1pPr>
              <a:defRPr>
                <a:solidFill>
                  <a:schemeClr val="tx2"/>
                </a:solidFill>
              </a:defRPr>
            </a:lvl1pPr>
            <a:extLst/>
          </a:lstStyle>
          <a:p>
            <a:fld id="{B53E420E-4882-4BBB-9631-290A19D2D8A0}" type="datetimeFigureOut">
              <a:rPr lang="es-CO" smtClean="0"/>
              <a:pPr/>
              <a:t>05/05/2009</a:t>
            </a:fld>
            <a:endParaRPr lang="es-CO" dirty="0"/>
          </a:p>
        </p:txBody>
      </p:sp>
      <p:sp>
        <p:nvSpPr>
          <p:cNvPr id="3" name="2 Marcador de pie de página"/>
          <p:cNvSpPr>
            <a:spLocks noGrp="1"/>
          </p:cNvSpPr>
          <p:nvPr>
            <p:ph type="ftr" sz="quarter" idx="11"/>
          </p:nvPr>
        </p:nvSpPr>
        <p:spPr/>
        <p:txBody>
          <a:bodyPr/>
          <a:lstStyle>
            <a:lvl1pPr>
              <a:defRPr>
                <a:solidFill>
                  <a:schemeClr val="tx2"/>
                </a:solidFill>
              </a:defRPr>
            </a:lvl1pPr>
            <a:extLst/>
          </a:lstStyle>
          <a:p>
            <a:endParaRPr lang="es-CO" dirty="0"/>
          </a:p>
        </p:txBody>
      </p:sp>
      <p:sp>
        <p:nvSpPr>
          <p:cNvPr id="4" name="3 Marcador de número de diapositiva"/>
          <p:cNvSpPr>
            <a:spLocks noGrp="1"/>
          </p:cNvSpPr>
          <p:nvPr>
            <p:ph type="sldNum" sz="quarter" idx="12"/>
          </p:nvPr>
        </p:nvSpPr>
        <p:spPr/>
        <p:txBody>
          <a:bodyPr/>
          <a:lstStyle>
            <a:extLst/>
          </a:lstStyle>
          <a:p>
            <a:fld id="{27239C9B-88D1-4C33-A30D-06B4F180BEFE}" type="slidenum">
              <a:rPr lang="es-CO" smtClean="0"/>
              <a:pPr/>
              <a:t>‹Nº›</a:t>
            </a:fld>
            <a:endParaRPr lang="es-CO"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28600"/>
            <a:ext cx="5897880" cy="1173480"/>
          </a:xfrm>
        </p:spPr>
        <p:txBody>
          <a:bodyPr wrap="square" anchor="b"/>
          <a:lstStyle>
            <a:lvl1pPr algn="l">
              <a:buNone/>
              <a:defRPr lang="en-US" sz="2400" baseline="0" smtClean="0"/>
            </a:lvl1pPr>
            <a:extLst/>
          </a:lstStyle>
          <a:p>
            <a:r>
              <a:rPr kumimoji="0" lang="es-ES" smtClean="0"/>
              <a:t>Haga clic para modificar el estilo de título del patrón</a:t>
            </a:r>
            <a:endParaRPr kumimoji="0" lang="en-US"/>
          </a:p>
        </p:txBody>
      </p:sp>
      <p:sp>
        <p:nvSpPr>
          <p:cNvPr id="3" name="2 Marcador de texto"/>
          <p:cNvSpPr>
            <a:spLocks noGrp="1"/>
          </p:cNvSpPr>
          <p:nvPr>
            <p:ph type="body" idx="2"/>
          </p:nvPr>
        </p:nvSpPr>
        <p:spPr>
          <a:xfrm>
            <a:off x="457200" y="1497416"/>
            <a:ext cx="589788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s-ES" smtClean="0"/>
              <a:t>Haga clic para modificar el estilo de texto del patrón</a:t>
            </a:r>
          </a:p>
        </p:txBody>
      </p:sp>
      <p:sp>
        <p:nvSpPr>
          <p:cNvPr id="4" name="3 Marcador de contenido"/>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5" name="4 Marcador de fecha"/>
          <p:cNvSpPr>
            <a:spLocks noGrp="1"/>
          </p:cNvSpPr>
          <p:nvPr>
            <p:ph type="dt" sz="half" idx="10"/>
          </p:nvPr>
        </p:nvSpPr>
        <p:spPr/>
        <p:txBody>
          <a:bodyPr/>
          <a:lstStyle>
            <a:extLst/>
          </a:lstStyle>
          <a:p>
            <a:fld id="{B53E420E-4882-4BBB-9631-290A19D2D8A0}" type="datetimeFigureOut">
              <a:rPr lang="es-CO" smtClean="0"/>
              <a:pPr/>
              <a:t>05/05/2009</a:t>
            </a:fld>
            <a:endParaRPr lang="es-CO" dirty="0"/>
          </a:p>
        </p:txBody>
      </p:sp>
      <p:sp>
        <p:nvSpPr>
          <p:cNvPr id="6" name="5 Marcador de pie de página"/>
          <p:cNvSpPr>
            <a:spLocks noGrp="1"/>
          </p:cNvSpPr>
          <p:nvPr>
            <p:ph type="ftr" sz="quarter" idx="11"/>
          </p:nvPr>
        </p:nvSpPr>
        <p:spPr/>
        <p:txBody>
          <a:bodyPr/>
          <a:lstStyle>
            <a:extLst/>
          </a:lstStyle>
          <a:p>
            <a:endParaRPr lang="es-CO" dirty="0"/>
          </a:p>
        </p:txBody>
      </p:sp>
      <p:sp>
        <p:nvSpPr>
          <p:cNvPr id="7" name="6 Marcador de número de diapositiva"/>
          <p:cNvSpPr>
            <a:spLocks noGrp="1"/>
          </p:cNvSpPr>
          <p:nvPr>
            <p:ph type="sldNum" sz="quarter" idx="12"/>
          </p:nvPr>
        </p:nvSpPr>
        <p:spPr/>
        <p:txBody>
          <a:bodyPr/>
          <a:lstStyle>
            <a:extLst/>
          </a:lstStyle>
          <a:p>
            <a:fld id="{27239C9B-88D1-4C33-A30D-06B4F180BEFE}" type="slidenum">
              <a:rPr lang="es-CO" smtClean="0"/>
              <a:pPr/>
              <a:t>‹Nº›</a:t>
            </a:fld>
            <a:endParaRPr lang="es-CO"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bg>
      <p:bgRef idx="1002">
        <a:schemeClr val="bg2"/>
      </p:bgRef>
    </p:bg>
    <p:spTree>
      <p:nvGrpSpPr>
        <p:cNvPr id="1" name=""/>
        <p:cNvGrpSpPr/>
        <p:nvPr/>
      </p:nvGrpSpPr>
      <p:grpSpPr>
        <a:xfrm>
          <a:off x="0" y="0"/>
          <a:ext cx="0" cy="0"/>
          <a:chOff x="0" y="0"/>
          <a:chExt cx="0" cy="0"/>
        </a:xfrm>
      </p:grpSpPr>
      <p:sp>
        <p:nvSpPr>
          <p:cNvPr id="8" name="7 Rectángulo"/>
          <p:cNvSpPr/>
          <p:nvPr/>
        </p:nvSpPr>
        <p:spPr>
          <a:xfrm rot="21240000">
            <a:off x="597968" y="1004668"/>
            <a:ext cx="4319527"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dirty="0"/>
          </a:p>
        </p:txBody>
      </p:sp>
      <p:sp>
        <p:nvSpPr>
          <p:cNvPr id="9" name="8 Rectángulo"/>
          <p:cNvSpPr/>
          <p:nvPr/>
        </p:nvSpPr>
        <p:spPr>
          <a:xfrm rot="21420000">
            <a:off x="596706" y="998816"/>
            <a:ext cx="4319527"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dirty="0"/>
          </a:p>
        </p:txBody>
      </p:sp>
      <p:sp>
        <p:nvSpPr>
          <p:cNvPr id="2" name="1 Título"/>
          <p:cNvSpPr>
            <a:spLocks noGrp="1"/>
          </p:cNvSpPr>
          <p:nvPr>
            <p:ph type="title"/>
          </p:nvPr>
        </p:nvSpPr>
        <p:spPr>
          <a:xfrm>
            <a:off x="5389098" y="1143000"/>
            <a:ext cx="3429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es-ES" smtClean="0"/>
              <a:t>Haga clic para modificar el estilo de título del patrón</a:t>
            </a:r>
            <a:endParaRPr kumimoji="0" lang="en-US" dirty="0"/>
          </a:p>
        </p:txBody>
      </p:sp>
      <p:sp>
        <p:nvSpPr>
          <p:cNvPr id="4" name="3 Marcador de texto"/>
          <p:cNvSpPr>
            <a:spLocks noGrp="1"/>
          </p:cNvSpPr>
          <p:nvPr>
            <p:ph type="body" sz="half" idx="2"/>
          </p:nvPr>
        </p:nvSpPr>
        <p:spPr>
          <a:xfrm>
            <a:off x="5389098" y="3283634"/>
            <a:ext cx="3429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es-ES" smtClean="0"/>
              <a:t>Haga clic para modificar el estilo de texto del patrón</a:t>
            </a:r>
          </a:p>
        </p:txBody>
      </p:sp>
      <p:sp>
        <p:nvSpPr>
          <p:cNvPr id="5" name="4 Marcador de fecha"/>
          <p:cNvSpPr>
            <a:spLocks noGrp="1"/>
          </p:cNvSpPr>
          <p:nvPr>
            <p:ph type="dt" sz="half" idx="10"/>
          </p:nvPr>
        </p:nvSpPr>
        <p:spPr/>
        <p:txBody>
          <a:bodyPr/>
          <a:lstStyle>
            <a:extLst/>
          </a:lstStyle>
          <a:p>
            <a:fld id="{B53E420E-4882-4BBB-9631-290A19D2D8A0}" type="datetimeFigureOut">
              <a:rPr lang="es-CO" smtClean="0"/>
              <a:pPr/>
              <a:t>05/05/2009</a:t>
            </a:fld>
            <a:endParaRPr lang="es-CO" dirty="0"/>
          </a:p>
        </p:txBody>
      </p:sp>
      <p:sp>
        <p:nvSpPr>
          <p:cNvPr id="6" name="5 Marcador de pie de página"/>
          <p:cNvSpPr>
            <a:spLocks noGrp="1"/>
          </p:cNvSpPr>
          <p:nvPr>
            <p:ph type="ftr" sz="quarter" idx="11"/>
          </p:nvPr>
        </p:nvSpPr>
        <p:spPr/>
        <p:txBody>
          <a:bodyPr/>
          <a:lstStyle>
            <a:extLst/>
          </a:lstStyle>
          <a:p>
            <a:endParaRPr lang="es-CO" dirty="0"/>
          </a:p>
        </p:txBody>
      </p:sp>
      <p:sp>
        <p:nvSpPr>
          <p:cNvPr id="7" name="6 Marcador de número de diapositiva"/>
          <p:cNvSpPr>
            <a:spLocks noGrp="1"/>
          </p:cNvSpPr>
          <p:nvPr>
            <p:ph type="sldNum" sz="quarter" idx="12"/>
          </p:nvPr>
        </p:nvSpPr>
        <p:spPr/>
        <p:txBody>
          <a:bodyPr/>
          <a:lstStyle>
            <a:extLst/>
          </a:lstStyle>
          <a:p>
            <a:fld id="{27239C9B-88D1-4C33-A30D-06B4F180BEFE}" type="slidenum">
              <a:rPr lang="es-CO" smtClean="0"/>
              <a:pPr/>
              <a:t>‹Nº›</a:t>
            </a:fld>
            <a:endParaRPr lang="es-CO" dirty="0"/>
          </a:p>
        </p:txBody>
      </p:sp>
      <p:sp>
        <p:nvSpPr>
          <p:cNvPr id="10" name="9 Marcador de posición de imagen"/>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es-ES" dirty="0" smtClean="0"/>
              <a:t>Haga clic en el icono para agregar una imagen</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extLst/>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p:txBody>
          <a:bodyPr vert="eaVert"/>
          <a:lstStyle>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extLst/>
          </a:lstStyle>
          <a:p>
            <a:fld id="{B53E420E-4882-4BBB-9631-290A19D2D8A0}" type="datetimeFigureOut">
              <a:rPr lang="es-CO" smtClean="0"/>
              <a:pPr/>
              <a:t>05/05/2009</a:t>
            </a:fld>
            <a:endParaRPr lang="es-CO" dirty="0"/>
          </a:p>
        </p:txBody>
      </p:sp>
      <p:sp>
        <p:nvSpPr>
          <p:cNvPr id="5" name="4 Marcador de pie de página"/>
          <p:cNvSpPr>
            <a:spLocks noGrp="1"/>
          </p:cNvSpPr>
          <p:nvPr>
            <p:ph type="ftr" sz="quarter" idx="11"/>
          </p:nvPr>
        </p:nvSpPr>
        <p:spPr/>
        <p:txBody>
          <a:bodyPr/>
          <a:lstStyle>
            <a:extLst/>
          </a:lstStyle>
          <a:p>
            <a:endParaRPr lang="es-CO" dirty="0"/>
          </a:p>
        </p:txBody>
      </p:sp>
      <p:sp>
        <p:nvSpPr>
          <p:cNvPr id="6" name="5 Marcador de número de diapositiva"/>
          <p:cNvSpPr>
            <a:spLocks noGrp="1"/>
          </p:cNvSpPr>
          <p:nvPr>
            <p:ph type="sldNum" sz="quarter" idx="12"/>
          </p:nvPr>
        </p:nvSpPr>
        <p:spPr/>
        <p:txBody>
          <a:bodyPr/>
          <a:lstStyle>
            <a:extLst/>
          </a:lstStyle>
          <a:p>
            <a:fld id="{27239C9B-88D1-4C33-A30D-06B4F180BEFE}" type="slidenum">
              <a:rPr lang="es-CO" smtClean="0"/>
              <a:pPr/>
              <a:t>‹Nº›</a:t>
            </a:fld>
            <a:endParaRPr lang="es-CO"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553200" y="274955"/>
            <a:ext cx="1524000" cy="5851525"/>
          </a:xfrm>
        </p:spPr>
        <p:txBody>
          <a:bodyPr vert="eaVert" anchor="t"/>
          <a:lstStyle>
            <a:extLst/>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a:xfrm>
            <a:off x="457200" y="274642"/>
            <a:ext cx="6019800" cy="5851525"/>
          </a:xfrm>
        </p:spPr>
        <p:txBody>
          <a:bodyPr vert="eaVert"/>
          <a:lstStyle>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a:xfrm>
            <a:off x="4242816" y="6557946"/>
            <a:ext cx="2002464" cy="226902"/>
          </a:xfrm>
        </p:spPr>
        <p:txBody>
          <a:bodyPr/>
          <a:lstStyle>
            <a:extLst/>
          </a:lstStyle>
          <a:p>
            <a:fld id="{B53E420E-4882-4BBB-9631-290A19D2D8A0}" type="datetimeFigureOut">
              <a:rPr lang="es-CO" smtClean="0"/>
              <a:pPr/>
              <a:t>05/05/2009</a:t>
            </a:fld>
            <a:endParaRPr lang="es-CO" dirty="0"/>
          </a:p>
        </p:txBody>
      </p:sp>
      <p:sp>
        <p:nvSpPr>
          <p:cNvPr id="5" name="4 Marcador de pie de página"/>
          <p:cNvSpPr>
            <a:spLocks noGrp="1"/>
          </p:cNvSpPr>
          <p:nvPr>
            <p:ph type="ftr" sz="quarter" idx="11"/>
          </p:nvPr>
        </p:nvSpPr>
        <p:spPr>
          <a:xfrm>
            <a:off x="457200" y="6556248"/>
            <a:ext cx="3657600" cy="228600"/>
          </a:xfrm>
        </p:spPr>
        <p:txBody>
          <a:bodyPr/>
          <a:lstStyle>
            <a:extLst/>
          </a:lstStyle>
          <a:p>
            <a:endParaRPr lang="es-CO" dirty="0"/>
          </a:p>
        </p:txBody>
      </p:sp>
      <p:sp>
        <p:nvSpPr>
          <p:cNvPr id="6" name="5 Marcador de número de diapositiva"/>
          <p:cNvSpPr>
            <a:spLocks noGrp="1"/>
          </p:cNvSpPr>
          <p:nvPr>
            <p:ph type="sldNum" sz="quarter" idx="12"/>
          </p:nvPr>
        </p:nvSpPr>
        <p:spPr>
          <a:xfrm>
            <a:off x="6254496" y="6553200"/>
            <a:ext cx="588336" cy="228600"/>
          </a:xfrm>
        </p:spPr>
        <p:txBody>
          <a:bodyPr/>
          <a:lstStyle>
            <a:lvl1pPr>
              <a:defRPr>
                <a:solidFill>
                  <a:schemeClr val="tx2"/>
                </a:solidFill>
              </a:defRPr>
            </a:lvl1pPr>
            <a:extLst/>
          </a:lstStyle>
          <a:p>
            <a:fld id="{27239C9B-88D1-4C33-A30D-06B4F180BEFE}" type="slidenum">
              <a:rPr lang="es-CO" smtClean="0"/>
              <a:pPr/>
              <a:t>‹Nº›</a:t>
            </a:fld>
            <a:endParaRPr lang="es-CO"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ítulo y tabla">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p:spPr>
        <p:txBody>
          <a:bodyPr/>
          <a:lstStyle/>
          <a:p>
            <a:r>
              <a:rPr lang="es-ES" smtClean="0"/>
              <a:t>Haga clic para modificar el estilo de título del patrón</a:t>
            </a:r>
            <a:endParaRPr lang="es-ES"/>
          </a:p>
        </p:txBody>
      </p:sp>
      <p:sp>
        <p:nvSpPr>
          <p:cNvPr id="3" name="2 Marcador de tabla"/>
          <p:cNvSpPr>
            <a:spLocks noGrp="1"/>
          </p:cNvSpPr>
          <p:nvPr>
            <p:ph type="tbl" idx="1"/>
          </p:nvPr>
        </p:nvSpPr>
        <p:spPr>
          <a:xfrm>
            <a:off x="457200" y="1600200"/>
            <a:ext cx="8229600" cy="4525963"/>
          </a:xfrm>
        </p:spPr>
        <p:txBody>
          <a:bodyPr/>
          <a:lstStyle/>
          <a:p>
            <a:pPr lvl="0"/>
            <a:endParaRPr lang="es-ES" noProof="0" dirty="0" smtClean="0"/>
          </a:p>
        </p:txBody>
      </p:sp>
      <p:sp>
        <p:nvSpPr>
          <p:cNvPr id="4" name="Rectangle 4"/>
          <p:cNvSpPr>
            <a:spLocks noGrp="1" noChangeArrowheads="1"/>
          </p:cNvSpPr>
          <p:nvPr>
            <p:ph type="dt" sz="half" idx="10"/>
          </p:nvPr>
        </p:nvSpPr>
        <p:spPr>
          <a:ln/>
        </p:spPr>
        <p:txBody>
          <a:bodyPr/>
          <a:lstStyle>
            <a:lvl1pPr>
              <a:defRPr/>
            </a:lvl1pPr>
          </a:lstStyle>
          <a:p>
            <a:pPr>
              <a:defRPr/>
            </a:pPr>
            <a:endParaRPr lang="es-E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s-ES" dirty="0"/>
          </a:p>
        </p:txBody>
      </p:sp>
      <p:sp>
        <p:nvSpPr>
          <p:cNvPr id="6" name="Rectangle 6"/>
          <p:cNvSpPr>
            <a:spLocks noGrp="1" noChangeArrowheads="1"/>
          </p:cNvSpPr>
          <p:nvPr>
            <p:ph type="sldNum" sz="quarter" idx="12"/>
          </p:nvPr>
        </p:nvSpPr>
        <p:spPr>
          <a:ln/>
        </p:spPr>
        <p:txBody>
          <a:bodyPr/>
          <a:lstStyle>
            <a:lvl1pPr>
              <a:defRPr/>
            </a:lvl1pPr>
          </a:lstStyle>
          <a:p>
            <a:pPr>
              <a:defRPr/>
            </a:pPr>
            <a:fld id="{CC56F266-F8E6-4858-956F-F69A01B2359A}" type="slidenum">
              <a:rPr lang="es-ES"/>
              <a:pPr>
                <a:defRPr/>
              </a:pPr>
              <a:t>‹Nº›</a:t>
            </a:fld>
            <a:endParaRPr lang="es-E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8 Rectángulo"/>
          <p:cNvSpPr/>
          <p:nvPr/>
        </p:nvSpPr>
        <p:spPr>
          <a:xfrm flipH="1">
            <a:off x="8153400" y="0"/>
            <a:ext cx="990600" cy="6858000"/>
          </a:xfrm>
          <a:prstGeom prst="rect">
            <a:avLst/>
          </a:prstGeom>
          <a:blipFill>
            <a:blip r:embed="rId14">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3" name="2 Marcador de título"/>
          <p:cNvSpPr>
            <a:spLocks noGrp="1"/>
          </p:cNvSpPr>
          <p:nvPr>
            <p:ph type="title"/>
          </p:nvPr>
        </p:nvSpPr>
        <p:spPr>
          <a:xfrm>
            <a:off x="457200" y="320040"/>
            <a:ext cx="7239000" cy="1143000"/>
          </a:xfrm>
          <a:prstGeom prst="rect">
            <a:avLst/>
          </a:prstGeom>
        </p:spPr>
        <p:txBody>
          <a:bodyPr vert="horz" lIns="45720" tIns="0" rIns="45720" bIns="0" anchor="b" anchorCtr="0">
            <a:normAutofit/>
          </a:bodyPr>
          <a:lstStyle>
            <a:extLst/>
          </a:lstStyle>
          <a:p>
            <a:r>
              <a:rPr kumimoji="0" lang="es-ES" smtClean="0"/>
              <a:t>Haga clic para modificar el estilo de título del patrón</a:t>
            </a:r>
            <a:endParaRPr kumimoji="0" lang="en-US"/>
          </a:p>
        </p:txBody>
      </p:sp>
      <p:sp>
        <p:nvSpPr>
          <p:cNvPr id="31" name="30 Marcador de texto"/>
          <p:cNvSpPr>
            <a:spLocks noGrp="1"/>
          </p:cNvSpPr>
          <p:nvPr>
            <p:ph type="body" idx="1"/>
          </p:nvPr>
        </p:nvSpPr>
        <p:spPr>
          <a:xfrm>
            <a:off x="457200" y="1609416"/>
            <a:ext cx="7239000" cy="4846320"/>
          </a:xfrm>
          <a:prstGeom prst="rect">
            <a:avLst/>
          </a:prstGeom>
        </p:spPr>
        <p:txBody>
          <a:bodyPr vert="horz">
            <a:normAutofit/>
          </a:bodyPr>
          <a:lstStyle>
            <a:extLst/>
          </a:lstStyle>
          <a:p>
            <a:pPr lvl="0" eaLnBrk="1" latinLnBrk="0" hangingPunct="1"/>
            <a:r>
              <a:rPr kumimoji="0" lang="es-ES" smtClean="0"/>
              <a:t>Haga clic para modificar el estilo de texto del patrón</a:t>
            </a:r>
          </a:p>
          <a:p>
            <a:pPr lvl="1" eaLnBrk="1" latinLnBrk="0" hangingPunct="1"/>
            <a:r>
              <a:rPr kumimoji="0" lang="es-ES" smtClean="0"/>
              <a:t>Segundo nivel</a:t>
            </a:r>
          </a:p>
          <a:p>
            <a:pPr lvl="2" eaLnBrk="1" latinLnBrk="0" hangingPunct="1"/>
            <a:r>
              <a:rPr kumimoji="0" lang="es-ES" smtClean="0"/>
              <a:t>Tercer nivel</a:t>
            </a:r>
          </a:p>
          <a:p>
            <a:pPr lvl="3" eaLnBrk="1" latinLnBrk="0" hangingPunct="1"/>
            <a:r>
              <a:rPr kumimoji="0" lang="es-ES" smtClean="0"/>
              <a:t>Cuarto nivel</a:t>
            </a:r>
          </a:p>
          <a:p>
            <a:pPr lvl="4" eaLnBrk="1" latinLnBrk="0" hangingPunct="1"/>
            <a:r>
              <a:rPr kumimoji="0" lang="es-ES" smtClean="0"/>
              <a:t>Quinto nivel</a:t>
            </a:r>
            <a:endParaRPr kumimoji="0" lang="en-US"/>
          </a:p>
        </p:txBody>
      </p:sp>
      <p:sp>
        <p:nvSpPr>
          <p:cNvPr id="27" name="26 Marcador de fecha"/>
          <p:cNvSpPr>
            <a:spLocks noGrp="1"/>
          </p:cNvSpPr>
          <p:nvPr>
            <p:ph type="dt" sz="half" idx="2"/>
          </p:nvPr>
        </p:nvSpPr>
        <p:spPr>
          <a:xfrm>
            <a:off x="4245936" y="6557946"/>
            <a:ext cx="2002464" cy="226902"/>
          </a:xfrm>
          <a:prstGeom prst="rect">
            <a:avLst/>
          </a:prstGeom>
        </p:spPr>
        <p:txBody>
          <a:bodyPr vert="horz" tIns="0" bIns="0" anchor="b"/>
          <a:lstStyle>
            <a:lvl1pPr algn="l" eaLnBrk="1" latinLnBrk="0" hangingPunct="1">
              <a:defRPr kumimoji="0" sz="1000">
                <a:solidFill>
                  <a:schemeClr val="tx2"/>
                </a:solidFill>
              </a:defRPr>
            </a:lvl1pPr>
            <a:extLst/>
          </a:lstStyle>
          <a:p>
            <a:fld id="{B53E420E-4882-4BBB-9631-290A19D2D8A0}" type="datetimeFigureOut">
              <a:rPr lang="es-CO" smtClean="0"/>
              <a:pPr/>
              <a:t>05/05/2009</a:t>
            </a:fld>
            <a:endParaRPr lang="es-CO" dirty="0"/>
          </a:p>
        </p:txBody>
      </p:sp>
      <p:sp>
        <p:nvSpPr>
          <p:cNvPr id="4" name="3 Marcador de pie de página"/>
          <p:cNvSpPr>
            <a:spLocks noGrp="1"/>
          </p:cNvSpPr>
          <p:nvPr>
            <p:ph type="ftr" sz="quarter" idx="3"/>
          </p:nvPr>
        </p:nvSpPr>
        <p:spPr>
          <a:xfrm>
            <a:off x="457200" y="6557946"/>
            <a:ext cx="3657600" cy="228600"/>
          </a:xfrm>
          <a:prstGeom prst="rect">
            <a:avLst/>
          </a:prstGeom>
        </p:spPr>
        <p:txBody>
          <a:bodyPr vert="horz" tIns="0" bIns="0" anchor="b"/>
          <a:lstStyle>
            <a:lvl1pPr algn="r" eaLnBrk="1" latinLnBrk="0" hangingPunct="1">
              <a:defRPr kumimoji="0" sz="1000">
                <a:solidFill>
                  <a:schemeClr val="tx2"/>
                </a:solidFill>
              </a:defRPr>
            </a:lvl1pPr>
            <a:extLst/>
          </a:lstStyle>
          <a:p>
            <a:endParaRPr lang="es-CO" dirty="0"/>
          </a:p>
        </p:txBody>
      </p:sp>
      <p:sp>
        <p:nvSpPr>
          <p:cNvPr id="16" name="15 Marcador de número de diapositiva"/>
          <p:cNvSpPr>
            <a:spLocks noGrp="1"/>
          </p:cNvSpPr>
          <p:nvPr>
            <p:ph type="sldNum" sz="quarter" idx="4"/>
          </p:nvPr>
        </p:nvSpPr>
        <p:spPr>
          <a:xfrm>
            <a:off x="6251448" y="6556248"/>
            <a:ext cx="588336"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27239C9B-88D1-4C33-A30D-06B4F180BEFE}" type="slidenum">
              <a:rPr lang="es-CO" smtClean="0"/>
              <a:pPr/>
              <a:t>‹Nº›</a:t>
            </a:fld>
            <a:endParaRPr lang="es-CO" dirty="0"/>
          </a:p>
        </p:txBody>
      </p:sp>
    </p:spTree>
  </p:cSld>
  <p:clrMap bg1="lt1" tx1="dk1" bg2="lt2" tx2="dk2" accent1="accent1" accent2="accent2" accent3="accent3" accent4="accent4" accent5="accent5" accent6="accent6" hlink="hlink" folHlink="folHlink"/>
  <p:sldLayoutIdLst>
    <p:sldLayoutId id="2147483870" r:id="rId1"/>
    <p:sldLayoutId id="2147483871" r:id="rId2"/>
    <p:sldLayoutId id="2147483872" r:id="rId3"/>
    <p:sldLayoutId id="2147483873" r:id="rId4"/>
    <p:sldLayoutId id="2147483874" r:id="rId5"/>
    <p:sldLayoutId id="2147483875" r:id="rId6"/>
    <p:sldLayoutId id="2147483876" r:id="rId7"/>
    <p:sldLayoutId id="2147483877" r:id="rId8"/>
    <p:sldLayoutId id="2147483878" r:id="rId9"/>
    <p:sldLayoutId id="2147483879" r:id="rId10"/>
    <p:sldLayoutId id="2147483880" r:id="rId11"/>
    <p:sldLayoutId id="2147483881" r:id="rId12"/>
  </p:sldLayoutIdLst>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images.google.com.co/imgres?imgurl=http://www.lacoctelera.com/susana/imagen/O-049-0619.jpg&amp;imgrefurl=http://www.lacoctelera.com/susana/post/2005/07/16/planeacion-estrategias&amp;usg=__1MIyihqc-JRJPdexLLEkWEgFD50=&amp;h=480&amp;w=595&amp;sz=43&amp;hl=es&amp;start=13&amp;um=1&amp;tbnid=hI0yK_9fcD44xM:&amp;tbnh=109&amp;tbnw=135&amp;prev=/images?q=planeacion+estrategica&amp;hl=es&amp;rlz=1W1ADBR_es&amp;sa=N&amp;um=1"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hyperlink" Target="http://www.gestionquattro.com/uploads/img_previa.jpg"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hyperlink" Target="http://www.negociosenguatemala.com/imagenes_camara/camara_comercio_nosotros_001.jpg" TargetMode="External"/><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hyperlink" Target="http://www.barandilleros.com/files/2008/08/mision.jpg"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hyperlink" Target="http://www.documentales.us/fotos/428.jpg" TargetMode="Externa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0.jpeg"/><Relationship Id="rId7" Type="http://schemas.openxmlformats.org/officeDocument/2006/relationships/image" Target="../media/image12.jpeg"/><Relationship Id="rId2" Type="http://schemas.openxmlformats.org/officeDocument/2006/relationships/hyperlink" Target="http://images.google.com.co/imgres?imgurl=http://innova.fox.presidencia.gob.mx/archivos/4/5/4/1/files/fotos/sip-4053.jpg&amp;imgrefurl=http://innova.fox.presidencia.gob.mx/ciudadanos/biblioteca/index.php?contenido=1454&amp;pagina=31&amp;imprimir=true&amp;usg=__qtmhpO3Stsq3dGywdSsPiLu4RTI=&amp;h=150&amp;w=203&amp;sz=7&amp;hl=es&amp;start=4&amp;um=1&amp;tbnid=D7zECqyt9_6R5M:&amp;tbnh=78&amp;tbnw=105&amp;prev=/images?q=factores+economicos&amp;hl=es&amp;rlz=1W1ADBR_es&amp;um=1" TargetMode="External"/><Relationship Id="rId1" Type="http://schemas.openxmlformats.org/officeDocument/2006/relationships/slideLayout" Target="../slideLayouts/slideLayout2.xml"/><Relationship Id="rId6" Type="http://schemas.openxmlformats.org/officeDocument/2006/relationships/hyperlink" Target="http://images.google.com.co/imgres?imgurl=http://www.comfama.com/contenidos/servicios/Empresas/Programas%20y%20servicios%20para%20empresas/Centro%20de%20Desarrollo%20Empresarial/Emprendimiento/emprendimiento.jpg&amp;imgrefurl=http://www.comfama.com/contenidos/servicios/Empresas/Programas%20y%20servicios%20para%20empresas/Centro%20de%20Desarrollo%20Empresarial/Emprendimiento/emprendimiento.asp&amp;usg=__noi1PlvWS4UZB1CJHt9IWWqpPDI=&amp;h=180&amp;w=300&amp;sz=17&amp;hl=es&amp;start=5&amp;um=1&amp;tbnid=Rc0WYNJ2qJ4oRM:&amp;tbnh=70&amp;tbnw=116&amp;prev=/images?q=factores+sociales&amp;hl=es&amp;rlz=1W1ADBR_es&amp;um=1" TargetMode="External"/><Relationship Id="rId5" Type="http://schemas.openxmlformats.org/officeDocument/2006/relationships/image" Target="../media/image11.jpeg"/><Relationship Id="rId4" Type="http://schemas.openxmlformats.org/officeDocument/2006/relationships/hyperlink" Target="http://images.google.com.co/imgres?imgurl=http://www.igadi.org/artigos/2006/imaxes/20050215caracas_alvaro_uribe_e_hugo_chavez640.jpg&amp;imgrefurl=http://www.igadi.org/artigos/2006/rm_colombia_el_arrastre_de_uribe.htm&amp;usg=__fHPysWZenF--XpU4iql0_02WXu0=&amp;h=640&amp;w=480&amp;sz=91&amp;hl=es&amp;start=6&amp;um=1&amp;tbnid=khUV_SEp0oh1SM:&amp;tbnh=137&amp;tbnw=103&amp;prev=/images?q=factores+politicos&amp;hl=es&amp;rlz=1W1ADBR_es&amp;um=1"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hyperlink" Target="http://images.google.com.co/imgres?imgurl=http://www.virtual.unal.edu.co/cursos/economicas/2008551/images/innovacion%20y%20gestion/dofa.png&amp;imgrefurl=http://www.virtual.unal.edu.co/cursos/economicas/2008551/lecciones/cap2-3-3.htm&amp;usg=__8eD7j7dBiBxt5zzVFhpwHOrICMA=&amp;h=276&amp;w=468&amp;sz=111&amp;hl=es&amp;start=14&amp;um=1&amp;tbnid=JuuHIy3fXLrRrM:&amp;tbnh=75&amp;tbnw=128&amp;prev=/images?q=dofa&amp;hl=es&amp;um=1" TargetMode="Externa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14346" y="2928934"/>
            <a:ext cx="8329642" cy="4143404"/>
          </a:xfrm>
        </p:spPr>
        <p:txBody>
          <a:bodyPr>
            <a:normAutofit/>
          </a:bodyPr>
          <a:lstStyle/>
          <a:p>
            <a:pPr algn="ctr">
              <a:buNone/>
            </a:pPr>
            <a:r>
              <a:rPr lang="es-CO" sz="4800" dirty="0" smtClean="0">
                <a:latin typeface="Arial" pitchFamily="34" charset="0"/>
                <a:cs typeface="Arial" pitchFamily="34" charset="0"/>
              </a:rPr>
              <a:t>	</a:t>
            </a:r>
            <a:r>
              <a:rPr lang="es-CO" sz="4800" b="1" dirty="0" smtClean="0">
                <a:latin typeface="Arial" pitchFamily="34" charset="0"/>
                <a:cs typeface="Arial" pitchFamily="34" charset="0"/>
              </a:rPr>
              <a:t>PLANEACIÓN ESTRATÉGICA</a:t>
            </a:r>
          </a:p>
          <a:p>
            <a:pPr algn="just">
              <a:buNone/>
            </a:pPr>
            <a:endParaRPr lang="es-CO" sz="3600" dirty="0" smtClean="0">
              <a:latin typeface="Arial" pitchFamily="34" charset="0"/>
              <a:cs typeface="Arial" pitchFamily="34" charset="0"/>
            </a:endParaRPr>
          </a:p>
          <a:p>
            <a:pPr algn="just">
              <a:buNone/>
            </a:pPr>
            <a:r>
              <a:rPr lang="es-CO" sz="3600" dirty="0" smtClean="0">
                <a:latin typeface="Arial" pitchFamily="34" charset="0"/>
                <a:cs typeface="Arial" pitchFamily="34" charset="0"/>
              </a:rPr>
              <a:t>				GRUPO  A-2</a:t>
            </a:r>
          </a:p>
          <a:p>
            <a:pPr algn="just">
              <a:buNone/>
            </a:pPr>
            <a:endParaRPr lang="es-CO" sz="3600" dirty="0" smtClean="0">
              <a:latin typeface="Arial" pitchFamily="34" charset="0"/>
              <a:cs typeface="Arial" pitchFamily="34" charset="0"/>
            </a:endParaRPr>
          </a:p>
          <a:p>
            <a:pPr algn="just">
              <a:buNone/>
            </a:pPr>
            <a:endParaRPr lang="es-CO" sz="3600" dirty="0" smtClean="0">
              <a:latin typeface="Arial" pitchFamily="34" charset="0"/>
              <a:cs typeface="Arial" pitchFamily="34" charset="0"/>
            </a:endParaRPr>
          </a:p>
          <a:p>
            <a:pPr>
              <a:buNone/>
            </a:pPr>
            <a:endParaRPr lang="es-CO" dirty="0" smtClean="0">
              <a:latin typeface="Arial" pitchFamily="34" charset="0"/>
              <a:cs typeface="Arial" pitchFamily="34" charset="0"/>
            </a:endParaRPr>
          </a:p>
          <a:p>
            <a:pPr>
              <a:buNone/>
            </a:pPr>
            <a:endParaRPr lang="es-CO"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pPr algn="ctr"/>
            <a:r>
              <a:rPr lang="es-ES" sz="4000"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
            </a:r>
            <a:br>
              <a:rPr lang="es-ES" sz="4000"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br>
            <a:r>
              <a:rPr lang="es-ES" sz="4000"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
            </a:r>
            <a:br>
              <a:rPr lang="es-ES" sz="4000"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br>
            <a:r>
              <a:rPr lang="es-ES" sz="4000"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
            </a:r>
            <a:br>
              <a:rPr lang="es-ES" sz="4000"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br>
            <a:r>
              <a:rPr lang="es-ES" sz="4000"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
            </a:r>
            <a:br>
              <a:rPr lang="es-ES" sz="4000"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br>
            <a:r>
              <a:rPr lang="es-ES" sz="4000"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
            </a:r>
            <a:br>
              <a:rPr lang="es-ES" sz="4000"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br>
            <a:r>
              <a:rPr lang="es-ES" sz="4000"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
            </a:r>
            <a:br>
              <a:rPr lang="es-ES" sz="4000"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br>
            <a:r>
              <a:rPr lang="es-ES" sz="4000"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
            </a:r>
            <a:br>
              <a:rPr lang="es-ES" sz="4000"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br>
            <a:r>
              <a:rPr lang="es-ES" sz="4000"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
            </a:r>
            <a:br>
              <a:rPr lang="es-ES" sz="4000"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br>
            <a:r>
              <a:rPr lang="es-ES" sz="4000"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
            </a:r>
            <a:br>
              <a:rPr lang="es-ES" sz="4000"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br>
            <a:r>
              <a:rPr lang="es-ES" sz="4000"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
            </a:r>
            <a:br>
              <a:rPr lang="es-ES" sz="4000"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br>
            <a:r>
              <a:rPr lang="es-ES" sz="4000"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Estrategia</a:t>
            </a:r>
            <a:r>
              <a:rPr lang="es-ES" sz="4000"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
            </a:r>
            <a:br>
              <a:rPr lang="es-ES" sz="4000"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br>
            <a:endParaRPr lang="es-CO" dirty="0"/>
          </a:p>
        </p:txBody>
      </p:sp>
      <p:sp>
        <p:nvSpPr>
          <p:cNvPr id="3" name="2 Marcador de contenido"/>
          <p:cNvSpPr>
            <a:spLocks noGrp="1"/>
          </p:cNvSpPr>
          <p:nvPr>
            <p:ph idx="1"/>
          </p:nvPr>
        </p:nvSpPr>
        <p:spPr/>
        <p:txBody>
          <a:bodyPr/>
          <a:lstStyle/>
          <a:p>
            <a:r>
              <a:rPr lang="es-CO" sz="2800" dirty="0" smtClean="0">
                <a:latin typeface="Arial" pitchFamily="34" charset="0"/>
                <a:cs typeface="Arial" pitchFamily="34" charset="0"/>
              </a:rPr>
              <a:t> </a:t>
            </a:r>
            <a:r>
              <a:rPr lang="es-CO" sz="2800" b="1" dirty="0" smtClean="0">
                <a:latin typeface="Arial" pitchFamily="34" charset="0"/>
                <a:cs typeface="Arial" pitchFamily="34" charset="0"/>
              </a:rPr>
              <a:t>ORIGEN GRIEGO</a:t>
            </a:r>
          </a:p>
          <a:p>
            <a:endParaRPr lang="es-CO" sz="2800" dirty="0" smtClean="0">
              <a:latin typeface="Arial" pitchFamily="34" charset="0"/>
              <a:cs typeface="Arial" pitchFamily="34" charset="0"/>
            </a:endParaRPr>
          </a:p>
          <a:p>
            <a:r>
              <a:rPr lang="es-CO" sz="2800" dirty="0" smtClean="0">
                <a:latin typeface="Arial" pitchFamily="34" charset="0"/>
                <a:cs typeface="Arial" pitchFamily="34" charset="0"/>
              </a:rPr>
              <a:t>Del </a:t>
            </a:r>
            <a:r>
              <a:rPr lang="es-CO" sz="2800" dirty="0" smtClean="0">
                <a:latin typeface="Arial" pitchFamily="34" charset="0"/>
                <a:cs typeface="Arial" pitchFamily="34" charset="0"/>
              </a:rPr>
              <a:t>griego </a:t>
            </a:r>
            <a:r>
              <a:rPr lang="es-CO" sz="2800" dirty="0" err="1" smtClean="0">
                <a:latin typeface="Arial" pitchFamily="34" charset="0"/>
                <a:cs typeface="Arial" pitchFamily="34" charset="0"/>
              </a:rPr>
              <a:t>stratos</a:t>
            </a:r>
            <a:r>
              <a:rPr lang="es-CO" sz="2800" dirty="0" smtClean="0">
                <a:latin typeface="Arial" pitchFamily="34" charset="0"/>
                <a:cs typeface="Arial" pitchFamily="34" charset="0"/>
              </a:rPr>
              <a:t> (ejercito) y </a:t>
            </a:r>
            <a:r>
              <a:rPr lang="es-CO" sz="2800" dirty="0" err="1" smtClean="0">
                <a:latin typeface="Arial" pitchFamily="34" charset="0"/>
                <a:cs typeface="Arial" pitchFamily="34" charset="0"/>
              </a:rPr>
              <a:t>agein</a:t>
            </a:r>
            <a:r>
              <a:rPr lang="es-CO" sz="2800" dirty="0" smtClean="0">
                <a:latin typeface="Arial" pitchFamily="34" charset="0"/>
                <a:cs typeface="Arial" pitchFamily="34" charset="0"/>
              </a:rPr>
              <a:t> (dirección o conducción), los cuales eran las raíces del concepto estrategas que denominada al general a cargo de una guerra.</a:t>
            </a:r>
            <a:endParaRPr lang="es-CO"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28596" y="1000108"/>
            <a:ext cx="7658096" cy="5500726"/>
          </a:xfrm>
        </p:spPr>
        <p:txBody>
          <a:bodyPr>
            <a:normAutofit/>
          </a:bodyPr>
          <a:lstStyle/>
          <a:p>
            <a:pPr algn="just">
              <a:buNone/>
            </a:pPr>
            <a:r>
              <a:rPr lang="es-CO" sz="3200" b="1" dirty="0" smtClean="0">
                <a:latin typeface="Arial" pitchFamily="34" charset="0"/>
                <a:cs typeface="Arial" pitchFamily="34" charset="0"/>
              </a:rPr>
              <a:t>ORIGEN CHINO</a:t>
            </a:r>
            <a:endParaRPr lang="es-CO" sz="3200" b="1" dirty="0" smtClean="0">
              <a:latin typeface="Arial" pitchFamily="34" charset="0"/>
              <a:cs typeface="Arial" pitchFamily="34" charset="0"/>
            </a:endParaRPr>
          </a:p>
          <a:p>
            <a:pPr algn="just">
              <a:buNone/>
            </a:pPr>
            <a:endParaRPr lang="es-CO" sz="3600" dirty="0" smtClean="0">
              <a:latin typeface="Arial" pitchFamily="34" charset="0"/>
              <a:cs typeface="Arial" pitchFamily="34" charset="0"/>
            </a:endParaRPr>
          </a:p>
          <a:p>
            <a:pPr algn="just">
              <a:buNone/>
            </a:pPr>
            <a:r>
              <a:rPr lang="es-CO" sz="3600" dirty="0" smtClean="0">
                <a:latin typeface="Arial" pitchFamily="34" charset="0"/>
                <a:cs typeface="Arial" pitchFamily="34" charset="0"/>
              </a:rPr>
              <a:t>Proviene </a:t>
            </a:r>
            <a:r>
              <a:rPr lang="es-CO" sz="3600" dirty="0" smtClean="0">
                <a:latin typeface="Arial" pitchFamily="34" charset="0"/>
                <a:cs typeface="Arial" pitchFamily="34" charset="0"/>
              </a:rPr>
              <a:t>de la china del año 400 A.C, en donde surgió el general Sun-tzu cuyas habilidades y pericias en el arte de la guerra le dio fama y poder.</a:t>
            </a:r>
          </a:p>
          <a:p>
            <a:pPr algn="just">
              <a:buNone/>
            </a:pPr>
            <a:r>
              <a:rPr lang="es-CO" dirty="0" smtClean="0"/>
              <a:t>	</a:t>
            </a:r>
            <a:endParaRPr lang="es-CO"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28576" y="1017589"/>
            <a:ext cx="8229600" cy="5411807"/>
          </a:xfrm>
        </p:spPr>
        <p:txBody>
          <a:bodyPr/>
          <a:lstStyle/>
          <a:p>
            <a:pPr algn="just">
              <a:buNone/>
            </a:pPr>
            <a:r>
              <a:rPr lang="es-CO" dirty="0" smtClean="0"/>
              <a:t>	</a:t>
            </a:r>
            <a:r>
              <a:rPr lang="es-CO" sz="3600" dirty="0" smtClean="0">
                <a:latin typeface="Arial" pitchFamily="34" charset="0"/>
                <a:cs typeface="Arial" pitchFamily="34" charset="0"/>
              </a:rPr>
              <a:t>El éxito alcanzado en su oficio, hizo que escribiera un libro denominado “el arte de la guerra” en donde se consignaban </a:t>
            </a:r>
            <a:r>
              <a:rPr lang="es-CO" sz="3600" u="sng" dirty="0" smtClean="0">
                <a:latin typeface="Arial" pitchFamily="34" charset="0"/>
                <a:cs typeface="Arial" pitchFamily="34" charset="0"/>
              </a:rPr>
              <a:t>las formas en que se podía derrotar a un adversario, </a:t>
            </a:r>
            <a:r>
              <a:rPr lang="es-CO" sz="3600" dirty="0" smtClean="0">
                <a:latin typeface="Arial" pitchFamily="34" charset="0"/>
                <a:cs typeface="Arial" pitchFamily="34" charset="0"/>
              </a:rPr>
              <a:t>obra que mas adelante se convirtió en la principal exponente del enfoque holístico llamado ESTRATEGIA.</a:t>
            </a:r>
          </a:p>
          <a:p>
            <a:pPr algn="just">
              <a:buNone/>
            </a:pPr>
            <a:endParaRPr lang="es-CO" u="sng"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357158" y="1285860"/>
            <a:ext cx="7239000" cy="4846320"/>
          </a:xfrm>
        </p:spPr>
        <p:txBody>
          <a:bodyPr>
            <a:normAutofit lnSpcReduction="10000"/>
          </a:bodyPr>
          <a:lstStyle/>
          <a:p>
            <a:pPr algn="just">
              <a:buNone/>
            </a:pPr>
            <a:r>
              <a:rPr lang="es-CO" sz="4400" dirty="0" smtClean="0">
                <a:latin typeface="Arial" pitchFamily="34" charset="0"/>
                <a:cs typeface="Arial" pitchFamily="34" charset="0"/>
              </a:rPr>
              <a:t>	</a:t>
            </a:r>
            <a:r>
              <a:rPr lang="es-CO" sz="4400" dirty="0" smtClean="0">
                <a:latin typeface="Arial" pitchFamily="34" charset="0"/>
                <a:cs typeface="Arial" pitchFamily="34" charset="0"/>
              </a:rPr>
              <a:t>HENRY MINTZBERG</a:t>
            </a:r>
          </a:p>
          <a:p>
            <a:pPr algn="just">
              <a:buNone/>
            </a:pPr>
            <a:endParaRPr lang="es-CO" sz="4400" dirty="0" smtClean="0">
              <a:latin typeface="Arial" pitchFamily="34" charset="0"/>
              <a:cs typeface="Arial" pitchFamily="34" charset="0"/>
            </a:endParaRPr>
          </a:p>
          <a:p>
            <a:pPr algn="just">
              <a:buNone/>
            </a:pPr>
            <a:r>
              <a:rPr lang="es-CO" sz="4400" dirty="0" smtClean="0">
                <a:latin typeface="Arial" pitchFamily="34" charset="0"/>
                <a:cs typeface="Arial" pitchFamily="34" charset="0"/>
              </a:rPr>
              <a:t>Planes </a:t>
            </a:r>
            <a:r>
              <a:rPr lang="es-CO" sz="4400" dirty="0" smtClean="0">
                <a:latin typeface="Arial" pitchFamily="34" charset="0"/>
                <a:cs typeface="Arial" pitchFamily="34" charset="0"/>
              </a:rPr>
              <a:t>directivos superiores para obtener resultados compatibles con las misiones y objetivos de la organización. </a:t>
            </a:r>
            <a:endParaRPr lang="es-CO" sz="440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Rectángulo"/>
          <p:cNvSpPr/>
          <p:nvPr/>
        </p:nvSpPr>
        <p:spPr>
          <a:xfrm>
            <a:off x="857224" y="1357298"/>
            <a:ext cx="7572428" cy="2308324"/>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7200" b="1" cap="none" spc="50" dirty="0" smtClean="0">
                <a:ln w="11430"/>
                <a:solidFill>
                  <a:schemeClr val="bg2">
                    <a:lumMod val="10000"/>
                  </a:schemeClr>
                </a:solidFill>
                <a:effectLst>
                  <a:outerShdw blurRad="76200" dist="50800" dir="5400000" algn="tl" rotWithShape="0">
                    <a:srgbClr val="000000">
                      <a:alpha val="65000"/>
                    </a:srgbClr>
                  </a:outerShdw>
                </a:effectLst>
              </a:rPr>
              <a:t>PLANEACION</a:t>
            </a:r>
            <a:r>
              <a:rPr lang="es-ES" sz="72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 </a:t>
            </a:r>
          </a:p>
          <a:p>
            <a:pPr algn="ctr"/>
            <a:r>
              <a:rPr lang="es-ES" sz="7200" b="1" spc="50" dirty="0" smtClean="0">
                <a:ln w="11430"/>
                <a:solidFill>
                  <a:schemeClr val="bg2">
                    <a:lumMod val="10000"/>
                  </a:schemeClr>
                </a:solidFill>
                <a:effectLst>
                  <a:outerShdw blurRad="76200" dist="50800" dir="5400000" algn="tl" rotWithShape="0">
                    <a:srgbClr val="000000">
                      <a:alpha val="65000"/>
                    </a:srgbClr>
                  </a:outerShdw>
                </a:effectLst>
              </a:rPr>
              <a:t>ESTRATEGICA</a:t>
            </a:r>
            <a:endParaRPr lang="es-ES" sz="7200" b="1" cap="none" spc="50" dirty="0">
              <a:ln w="11430"/>
              <a:solidFill>
                <a:schemeClr val="bg2">
                  <a:lumMod val="10000"/>
                </a:schemeClr>
              </a:soli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lstStyle/>
          <a:p>
            <a:pPr algn="just">
              <a:buNone/>
            </a:pPr>
            <a:r>
              <a:rPr lang="es-CO" sz="2800" dirty="0" smtClean="0">
                <a:solidFill>
                  <a:schemeClr val="tx1">
                    <a:lumMod val="75000"/>
                    <a:lumOff val="25000"/>
                  </a:schemeClr>
                </a:solidFill>
                <a:latin typeface="Arial" pitchFamily="34" charset="0"/>
                <a:cs typeface="Arial" pitchFamily="34" charset="0"/>
              </a:rPr>
              <a:t>	Proceso mediante el cual una organización define su negocio, la visión de un largo plazo y las estrategias para alcanzarla, con base en el análisis de sus fortalezas, debilidades, oportunidades y amenazas.</a:t>
            </a:r>
          </a:p>
          <a:p>
            <a:pPr>
              <a:buNone/>
            </a:pPr>
            <a:endParaRPr lang="es-ES" dirty="0"/>
          </a:p>
        </p:txBody>
      </p:sp>
      <p:pic>
        <p:nvPicPr>
          <p:cNvPr id="4" name="Picture 2" descr="http://tbn2.google.com/images?q=tbn:hI0yK_9fcD44xM:http://www.lacoctelera.com/susana/imagen/O-049-0619.jpg">
            <a:hlinkClick r:id="rId2"/>
          </p:cNvPr>
          <p:cNvPicPr>
            <a:picLocks noChangeAspect="1" noChangeArrowheads="1"/>
          </p:cNvPicPr>
          <p:nvPr/>
        </p:nvPicPr>
        <p:blipFill>
          <a:blip r:embed="rId3"/>
          <a:srcRect/>
          <a:stretch>
            <a:fillRect/>
          </a:stretch>
        </p:blipFill>
        <p:spPr bwMode="auto">
          <a:xfrm>
            <a:off x="5572132" y="4643446"/>
            <a:ext cx="2477362" cy="2000241"/>
          </a:xfrm>
          <a:prstGeom prst="rect">
            <a:avLst/>
          </a:prstGeom>
          <a:noFill/>
          <a:effectLst>
            <a:softEdge rad="317500"/>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0" y="1714488"/>
            <a:ext cx="7882286" cy="2554545"/>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80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Enfoque</a:t>
            </a:r>
          </a:p>
          <a:p>
            <a:pPr algn="ctr"/>
            <a:r>
              <a:rPr lang="es-ES" sz="80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 organizacional</a:t>
            </a:r>
            <a:endParaRPr lang="es-ES" sz="80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2 Marcador de contenido"/>
          <p:cNvSpPr>
            <a:spLocks noGrp="1"/>
          </p:cNvSpPr>
          <p:nvPr>
            <p:ph idx="1"/>
          </p:nvPr>
        </p:nvSpPr>
        <p:spPr>
          <a:xfrm>
            <a:off x="428596" y="2511770"/>
            <a:ext cx="7239000" cy="4846320"/>
          </a:xfrm>
        </p:spPr>
        <p:txBody>
          <a:bodyPr>
            <a:normAutofit/>
          </a:bodyPr>
          <a:lstStyle/>
          <a:p>
            <a:pPr algn="just">
              <a:buFont typeface="Wingdings" pitchFamily="2" charset="2"/>
              <a:buChar char="v"/>
            </a:pPr>
            <a:r>
              <a:rPr lang="es-CO" sz="3600" dirty="0" smtClean="0">
                <a:latin typeface="Arial" charset="0"/>
                <a:cs typeface="Arial" charset="0"/>
              </a:rPr>
              <a:t>Tabatorny y Jarniu (1975): La plantean como el conjunto de decisiones que determinan la coherencia de las iniciativas y reacciones de la empresa frente a su entorno.</a:t>
            </a:r>
          </a:p>
        </p:txBody>
      </p:sp>
      <p:sp>
        <p:nvSpPr>
          <p:cNvPr id="6" name="5 Rectángulo"/>
          <p:cNvSpPr/>
          <p:nvPr/>
        </p:nvSpPr>
        <p:spPr>
          <a:xfrm>
            <a:off x="0" y="357166"/>
            <a:ext cx="8278227" cy="1754326"/>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5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Enfoque competitivo de </a:t>
            </a:r>
          </a:p>
          <a:p>
            <a:pPr algn="ctr"/>
            <a:r>
              <a:rPr lang="es-ES" sz="54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origen militar</a:t>
            </a:r>
            <a:endParaRPr lang="es-E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2866" y="428604"/>
            <a:ext cx="8186766" cy="5929334"/>
          </a:xfrm>
        </p:spPr>
        <p:txBody>
          <a:bodyPr rtlCol="0">
            <a:normAutofit/>
          </a:bodyPr>
          <a:lstStyle/>
          <a:p>
            <a:pPr algn="just" fontAlgn="auto">
              <a:spcAft>
                <a:spcPts val="0"/>
              </a:spcAft>
              <a:buFont typeface="Wingdings" pitchFamily="2" charset="2"/>
              <a:buChar char="v"/>
              <a:defRPr/>
            </a:pPr>
            <a:r>
              <a:rPr lang="es-CO" sz="2800" dirty="0" smtClean="0">
                <a:latin typeface="Arial" pitchFamily="34" charset="0"/>
                <a:cs typeface="Arial" pitchFamily="34" charset="0"/>
              </a:rPr>
              <a:t>H. Igor Ansoff (1976): La estrategia como la dialéctica de la empresa con su entorno</a:t>
            </a:r>
          </a:p>
          <a:p>
            <a:pPr algn="just" fontAlgn="auto">
              <a:spcAft>
                <a:spcPts val="0"/>
              </a:spcAft>
              <a:buFont typeface="Arial" pitchFamily="34" charset="0"/>
              <a:buChar char="•"/>
              <a:defRPr/>
            </a:pPr>
            <a:endParaRPr lang="es-CO" sz="2800" dirty="0" smtClean="0">
              <a:latin typeface="Arial" pitchFamily="34" charset="0"/>
              <a:cs typeface="Arial" pitchFamily="34" charset="0"/>
            </a:endParaRPr>
          </a:p>
          <a:p>
            <a:pPr algn="just" fontAlgn="auto">
              <a:spcAft>
                <a:spcPts val="0"/>
              </a:spcAft>
              <a:buFont typeface="Wingdings" pitchFamily="2" charset="2"/>
              <a:buChar char="v"/>
              <a:defRPr/>
            </a:pPr>
            <a:r>
              <a:rPr lang="es-CO" sz="2800" dirty="0" smtClean="0">
                <a:latin typeface="Arial" pitchFamily="34" charset="0"/>
                <a:cs typeface="Arial" pitchFamily="34" charset="0"/>
              </a:rPr>
              <a:t>William F Glueck y Lawrence R. Jauch (1984): es un plan unitario, general e integrado que relaciona las ventajas estratégicas de la firma con los retos del ambiente y que tiene como objetivo garantizar que los objetivos básicos de la empresa se consigan mediante la realización apropiada por parte de la organización.</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2 Marcador de contenido"/>
          <p:cNvSpPr>
            <a:spLocks noGrp="1"/>
          </p:cNvSpPr>
          <p:nvPr>
            <p:ph idx="1"/>
          </p:nvPr>
        </p:nvSpPr>
        <p:spPr>
          <a:xfrm>
            <a:off x="357158" y="500042"/>
            <a:ext cx="7572428" cy="5626121"/>
          </a:xfrm>
        </p:spPr>
        <p:txBody>
          <a:bodyPr>
            <a:normAutofit/>
          </a:bodyPr>
          <a:lstStyle/>
          <a:p>
            <a:pPr algn="just">
              <a:buFont typeface="Wingdings" pitchFamily="2" charset="2"/>
              <a:buChar char="v"/>
            </a:pPr>
            <a:r>
              <a:rPr lang="es-CO" sz="3200" dirty="0" smtClean="0">
                <a:latin typeface="Arial" charset="0"/>
                <a:cs typeface="Arial" charset="0"/>
              </a:rPr>
              <a:t>Charles Hoffer y Schendel (1978): señalan que estrategia es “ las características básicas que una organización realiza con su entorno.</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2 Marcador de contenido"/>
          <p:cNvSpPr>
            <a:spLocks noGrp="1"/>
          </p:cNvSpPr>
          <p:nvPr>
            <p:ph idx="1"/>
          </p:nvPr>
        </p:nvSpPr>
        <p:spPr>
          <a:xfrm>
            <a:off x="285720" y="2214554"/>
            <a:ext cx="7572428" cy="5840413"/>
          </a:xfrm>
        </p:spPr>
        <p:txBody>
          <a:bodyPr/>
          <a:lstStyle/>
          <a:p>
            <a:pPr algn="just">
              <a:buFont typeface="Wingdings" pitchFamily="2" charset="2"/>
              <a:buChar char="v"/>
            </a:pPr>
            <a:r>
              <a:rPr lang="es-CO" dirty="0" smtClean="0">
                <a:latin typeface="Arial" charset="0"/>
                <a:cs typeface="Arial" charset="0"/>
              </a:rPr>
              <a:t>K.J Halten (1987): es el proceso a través del cual una organización formula objetivos, y esta dirigido a la obtención de los mismos. Estrategia es el medio, la vía, es el como para la obtención de los objetivos de la organización. Es el arte (maña) de entremezclar el análisis interno y la sabiduría utilizada por los dirigentes para crear valores de los recursos y habilidades que ellos controlan.</a:t>
            </a:r>
          </a:p>
        </p:txBody>
      </p:sp>
      <p:sp>
        <p:nvSpPr>
          <p:cNvPr id="3" name="2 Rectángulo"/>
          <p:cNvSpPr/>
          <p:nvPr/>
        </p:nvSpPr>
        <p:spPr>
          <a:xfrm>
            <a:off x="714348" y="642918"/>
            <a:ext cx="7077579" cy="923330"/>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5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Enfoque prescriptivo</a:t>
            </a:r>
            <a:endParaRPr lang="es-E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2 Marcador de contenido"/>
          <p:cNvSpPr>
            <a:spLocks noGrp="1"/>
          </p:cNvSpPr>
          <p:nvPr>
            <p:ph idx="1"/>
          </p:nvPr>
        </p:nvSpPr>
        <p:spPr>
          <a:xfrm>
            <a:off x="457200" y="500063"/>
            <a:ext cx="7543824" cy="5626100"/>
          </a:xfrm>
        </p:spPr>
        <p:txBody>
          <a:bodyPr>
            <a:normAutofit lnSpcReduction="10000"/>
          </a:bodyPr>
          <a:lstStyle/>
          <a:p>
            <a:pPr algn="just">
              <a:buFont typeface="Wingdings" pitchFamily="2" charset="2"/>
              <a:buChar char="v"/>
            </a:pPr>
            <a:r>
              <a:rPr lang="es-CO" sz="3600" dirty="0" smtClean="0">
                <a:latin typeface="Arial" charset="0"/>
                <a:cs typeface="Arial" charset="0"/>
              </a:rPr>
              <a:t>H. Koontz (1991): las estrategias son programas generales de acción que llevan consigo compromisos de énfasis y recursos para poner en practica una misión básica. Son patrones de objetivos, los cuales se han concebido e iniciado de tal manera, con el propósito de darle a la organización una dirección unificada.</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2 Marcador de contenido"/>
          <p:cNvSpPr>
            <a:spLocks noGrp="1"/>
          </p:cNvSpPr>
          <p:nvPr>
            <p:ph idx="1"/>
          </p:nvPr>
        </p:nvSpPr>
        <p:spPr>
          <a:xfrm>
            <a:off x="571500" y="500063"/>
            <a:ext cx="7358086" cy="4525962"/>
          </a:xfrm>
        </p:spPr>
        <p:txBody>
          <a:bodyPr>
            <a:normAutofit/>
          </a:bodyPr>
          <a:lstStyle/>
          <a:p>
            <a:pPr algn="just">
              <a:buFont typeface="Wingdings" pitchFamily="2" charset="2"/>
              <a:buChar char="v"/>
            </a:pPr>
            <a:r>
              <a:rPr lang="es-CO" sz="3200" dirty="0" smtClean="0">
                <a:latin typeface="Arial" charset="0"/>
                <a:cs typeface="Arial" charset="0"/>
              </a:rPr>
              <a:t>Mintzberg Quinn Ghoshal (1999): un modelo o plan que integra los objetivos, las políticas y secuencias de actuación mas importantes de una organización.</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9" name="Rectangle 3"/>
          <p:cNvSpPr>
            <a:spLocks noGrp="1" noChangeArrowheads="1"/>
          </p:cNvSpPr>
          <p:nvPr>
            <p:ph idx="1"/>
          </p:nvPr>
        </p:nvSpPr>
        <p:spPr>
          <a:xfrm>
            <a:off x="214282" y="1928802"/>
            <a:ext cx="7858180" cy="4525963"/>
          </a:xfrm>
        </p:spPr>
        <p:txBody>
          <a:bodyPr>
            <a:normAutofit lnSpcReduction="10000"/>
          </a:bodyPr>
          <a:lstStyle/>
          <a:p>
            <a:pPr marL="609600" indent="-609600" algn="ctr">
              <a:buFontTx/>
              <a:buNone/>
            </a:pPr>
            <a:r>
              <a:rPr lang="es-MX" b="1" dirty="0" smtClean="0"/>
              <a:t>H</a:t>
            </a:r>
            <a:r>
              <a:rPr lang="es-MX" b="1" dirty="0" smtClean="0"/>
              <a:t>ENRY </a:t>
            </a:r>
            <a:r>
              <a:rPr lang="es-MX" b="1" dirty="0" smtClean="0"/>
              <a:t>MINTZBERG</a:t>
            </a:r>
          </a:p>
          <a:p>
            <a:pPr marL="609600" indent="-609600" algn="just">
              <a:buNone/>
            </a:pPr>
            <a:r>
              <a:rPr lang="es-MX" sz="2400" dirty="0" smtClean="0"/>
              <a:t>Estableció la estrategia en 1999 como : “</a:t>
            </a:r>
            <a:r>
              <a:rPr lang="es-MX" sz="2400" i="1" dirty="0" smtClean="0"/>
              <a:t>planes</a:t>
            </a:r>
          </a:p>
          <a:p>
            <a:pPr marL="609600" indent="-609600" algn="just">
              <a:buNone/>
            </a:pPr>
            <a:r>
              <a:rPr lang="es-MX" sz="2400" i="1" dirty="0" smtClean="0"/>
              <a:t>directivos para obtener resultados compatibles con las</a:t>
            </a:r>
          </a:p>
          <a:p>
            <a:pPr marL="609600" indent="-609600" algn="just">
              <a:buNone/>
            </a:pPr>
            <a:r>
              <a:rPr lang="es-MX" sz="2400" i="1" dirty="0" smtClean="0"/>
              <a:t>misiones y objetivos de la organización”.</a:t>
            </a:r>
          </a:p>
          <a:p>
            <a:pPr marL="609600" indent="-609600">
              <a:buFontTx/>
              <a:buNone/>
            </a:pPr>
            <a:r>
              <a:rPr lang="es-MX" sz="2400" i="1" dirty="0" smtClean="0"/>
              <a:t>Para desarrollar el concepto de estrategia elaboro las</a:t>
            </a:r>
          </a:p>
          <a:p>
            <a:pPr marL="609600" indent="-609600">
              <a:buFontTx/>
              <a:buNone/>
            </a:pPr>
            <a:r>
              <a:rPr lang="es-MX" sz="2400" i="1" dirty="0" smtClean="0"/>
              <a:t>5 p´s:</a:t>
            </a:r>
          </a:p>
          <a:p>
            <a:pPr marL="609600" indent="-609600">
              <a:buFontTx/>
              <a:buAutoNum type="arabicPeriod"/>
            </a:pPr>
            <a:r>
              <a:rPr lang="es-MX" sz="2400" i="1" dirty="0" smtClean="0"/>
              <a:t>Plan</a:t>
            </a:r>
          </a:p>
          <a:p>
            <a:pPr marL="609600" indent="-609600">
              <a:buFontTx/>
              <a:buAutoNum type="arabicPeriod"/>
            </a:pPr>
            <a:r>
              <a:rPr lang="es-MX" sz="2400" i="1" dirty="0" smtClean="0"/>
              <a:t>Patrón</a:t>
            </a:r>
          </a:p>
          <a:p>
            <a:pPr marL="609600" indent="-609600">
              <a:buFontTx/>
              <a:buAutoNum type="arabicPeriod"/>
            </a:pPr>
            <a:r>
              <a:rPr lang="es-MX" sz="2400" i="1" dirty="0" smtClean="0"/>
              <a:t>Posición</a:t>
            </a:r>
          </a:p>
          <a:p>
            <a:pPr marL="609600" indent="-609600">
              <a:buFontTx/>
              <a:buAutoNum type="arabicPeriod"/>
            </a:pPr>
            <a:r>
              <a:rPr lang="es-MX" sz="2400" i="1" dirty="0" smtClean="0"/>
              <a:t>Perspectiva </a:t>
            </a:r>
          </a:p>
          <a:p>
            <a:pPr marL="609600" indent="-609600">
              <a:buFontTx/>
              <a:buAutoNum type="arabicPeriod"/>
            </a:pPr>
            <a:r>
              <a:rPr lang="es-MX" sz="2400" i="1" dirty="0" smtClean="0"/>
              <a:t>Pauta de acción</a:t>
            </a:r>
            <a:endParaRPr lang="es-ES" sz="2400" i="1" dirty="0" smtClean="0"/>
          </a:p>
        </p:txBody>
      </p:sp>
      <p:sp>
        <p:nvSpPr>
          <p:cNvPr id="5" name="4 Rectángulo"/>
          <p:cNvSpPr/>
          <p:nvPr/>
        </p:nvSpPr>
        <p:spPr>
          <a:xfrm>
            <a:off x="-71470" y="214290"/>
            <a:ext cx="8303632" cy="1569660"/>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48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Exponente del pensamiento </a:t>
            </a:r>
          </a:p>
          <a:p>
            <a:pPr algn="ctr"/>
            <a:r>
              <a:rPr lang="es-ES" sz="48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estratégico</a:t>
            </a:r>
            <a:endParaRPr lang="es-ES" sz="48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4531" name="Group 259"/>
          <p:cNvGraphicFramePr>
            <a:graphicFrameLocks noGrp="1"/>
          </p:cNvGraphicFramePr>
          <p:nvPr>
            <p:ph type="tbl" idx="1"/>
          </p:nvPr>
        </p:nvGraphicFramePr>
        <p:xfrm>
          <a:off x="0" y="1071546"/>
          <a:ext cx="8143900" cy="5384802"/>
        </p:xfrm>
        <a:graphic>
          <a:graphicData uri="http://schemas.openxmlformats.org/drawingml/2006/table">
            <a:tbl>
              <a:tblPr/>
              <a:tblGrid>
                <a:gridCol w="3278610"/>
                <a:gridCol w="4865290"/>
              </a:tblGrid>
              <a:tr h="4889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MX" sz="1800" b="1" i="0" u="none" strike="noStrike" cap="none" normalizeH="0" baseline="0" dirty="0" smtClean="0">
                          <a:ln>
                            <a:noFill/>
                          </a:ln>
                          <a:solidFill>
                            <a:schemeClr val="tx1"/>
                          </a:solidFill>
                          <a:effectLst/>
                          <a:latin typeface="Palatino Linotype" pitchFamily="18" charset="0"/>
                        </a:rPr>
                        <a:t>ESCUELA…</a:t>
                      </a:r>
                      <a:endParaRPr kumimoji="0" lang="es-ES" sz="1800" b="1" i="0" u="none" strike="noStrike" cap="none" normalizeH="0" baseline="0" dirty="0" smtClean="0">
                        <a:ln>
                          <a:noFill/>
                        </a:ln>
                        <a:solidFill>
                          <a:schemeClr val="tx1"/>
                        </a:solidFill>
                        <a:effectLst/>
                        <a:latin typeface="Palatino Linotype" pitchFamily="18" charset="0"/>
                      </a:endParaRPr>
                    </a:p>
                  </a:txBody>
                  <a:tcPr horzOverflow="overflow">
                    <a:lnL w="12700" cap="flat" cmpd="sng" algn="ctr">
                      <a:solidFill>
                        <a:srgbClr val="3399FF"/>
                      </a:solidFill>
                      <a:prstDash val="solid"/>
                      <a:round/>
                      <a:headEnd type="none" w="med" len="med"/>
                      <a:tailEnd type="none" w="med" len="med"/>
                    </a:lnL>
                    <a:lnR>
                      <a:noFill/>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MX" sz="1800" b="1" i="0" u="none" strike="noStrike" cap="none" normalizeH="0" baseline="0" dirty="0" smtClean="0">
                          <a:ln>
                            <a:noFill/>
                          </a:ln>
                          <a:solidFill>
                            <a:schemeClr val="tx1"/>
                          </a:solidFill>
                          <a:effectLst/>
                          <a:latin typeface="Palatino Linotype" pitchFamily="18" charset="0"/>
                        </a:rPr>
                        <a:t>LA ESTRATEGIA COMO UN PROCESO…</a:t>
                      </a:r>
                      <a:endParaRPr kumimoji="0" lang="es-ES" sz="1800" b="1" i="0" u="none" strike="noStrike" cap="none" normalizeH="0" baseline="0" dirty="0" smtClean="0">
                        <a:ln>
                          <a:noFill/>
                        </a:ln>
                        <a:solidFill>
                          <a:schemeClr val="tx1"/>
                        </a:solidFill>
                        <a:effectLst/>
                        <a:latin typeface="Palatino Linotype" pitchFamily="18" charset="0"/>
                      </a:endParaRPr>
                    </a:p>
                  </a:txBody>
                  <a:tcPr horzOverflow="overflow">
                    <a:lnL>
                      <a:noFill/>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noFill/>
                  </a:tcPr>
                </a:tc>
              </a:tr>
              <a:tr h="4905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MX" sz="1800" b="0" i="0" u="none" strike="noStrike" cap="none" normalizeH="0" baseline="0" dirty="0" smtClean="0">
                          <a:ln>
                            <a:noFill/>
                          </a:ln>
                          <a:solidFill>
                            <a:schemeClr val="tx1"/>
                          </a:solidFill>
                          <a:effectLst/>
                          <a:latin typeface="Palatino Linotype" pitchFamily="18" charset="0"/>
                        </a:rPr>
                        <a:t>1. DE DISEÑO</a:t>
                      </a:r>
                      <a:endParaRPr kumimoji="0" lang="es-ES" sz="1800" b="0" i="0" u="none" strike="noStrike" cap="none" normalizeH="0" baseline="0" dirty="0" smtClean="0">
                        <a:ln>
                          <a:noFill/>
                        </a:ln>
                        <a:solidFill>
                          <a:schemeClr val="tx1"/>
                        </a:solidFill>
                        <a:effectLst/>
                        <a:latin typeface="Palatino Linotype" pitchFamily="18" charset="0"/>
                      </a:endParaRPr>
                    </a:p>
                  </a:txBody>
                  <a:tcPr horzOverflow="overflow">
                    <a:lnL w="12700" cap="flat" cmpd="sng" algn="ctr">
                      <a:solidFill>
                        <a:srgbClr val="3399FF"/>
                      </a:solidFill>
                      <a:prstDash val="solid"/>
                      <a:round/>
                      <a:headEnd type="none" w="med" len="med"/>
                      <a:tailEnd type="none" w="med" len="med"/>
                    </a:lnL>
                    <a:lnR>
                      <a:noFill/>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MX" sz="1800" b="0" i="0" u="none" strike="noStrike" cap="none" normalizeH="0" baseline="0" dirty="0" smtClean="0">
                          <a:ln>
                            <a:noFill/>
                          </a:ln>
                          <a:solidFill>
                            <a:schemeClr val="tx1"/>
                          </a:solidFill>
                          <a:effectLst/>
                          <a:latin typeface="Palatino Linotype" pitchFamily="18" charset="0"/>
                        </a:rPr>
                        <a:t>DE CONCEPCIÓN</a:t>
                      </a:r>
                      <a:endParaRPr kumimoji="0" lang="es-ES" sz="1800" b="0" i="0" u="none" strike="noStrike" cap="none" normalizeH="0" baseline="0" dirty="0" smtClean="0">
                        <a:ln>
                          <a:noFill/>
                        </a:ln>
                        <a:solidFill>
                          <a:schemeClr val="tx1"/>
                        </a:solidFill>
                        <a:effectLst/>
                        <a:latin typeface="Palatino Linotype" pitchFamily="18" charset="0"/>
                      </a:endParaRPr>
                    </a:p>
                  </a:txBody>
                  <a:tcPr horzOverflow="overflow">
                    <a:lnL>
                      <a:noFill/>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noFill/>
                  </a:tcPr>
                </a:tc>
              </a:tr>
              <a:tr h="4889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MX" sz="1800" b="0" i="0" u="none" strike="noStrike" cap="none" normalizeH="0" baseline="0" dirty="0" smtClean="0">
                          <a:ln>
                            <a:noFill/>
                          </a:ln>
                          <a:solidFill>
                            <a:schemeClr val="tx1"/>
                          </a:solidFill>
                          <a:effectLst/>
                          <a:latin typeface="Palatino Linotype" pitchFamily="18" charset="0"/>
                        </a:rPr>
                        <a:t>2. DE PLANIFICACIÓN</a:t>
                      </a:r>
                      <a:endParaRPr kumimoji="0" lang="es-ES" sz="1800" b="0" i="0" u="none" strike="noStrike" cap="none" normalizeH="0" baseline="0" dirty="0" smtClean="0">
                        <a:ln>
                          <a:noFill/>
                        </a:ln>
                        <a:solidFill>
                          <a:schemeClr val="tx1"/>
                        </a:solidFill>
                        <a:effectLst/>
                        <a:latin typeface="Palatino Linotype" pitchFamily="18" charset="0"/>
                      </a:endParaRPr>
                    </a:p>
                  </a:txBody>
                  <a:tcPr horzOverflow="overflow">
                    <a:lnL w="12700" cap="flat" cmpd="sng" algn="ctr">
                      <a:solidFill>
                        <a:srgbClr val="3399FF"/>
                      </a:solidFill>
                      <a:prstDash val="solid"/>
                      <a:round/>
                      <a:headEnd type="none" w="med" len="med"/>
                      <a:tailEnd type="none" w="med" len="med"/>
                    </a:lnL>
                    <a:lnR>
                      <a:noFill/>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MX" sz="1800" b="0" i="0" u="none" strike="noStrike" cap="none" normalizeH="0" baseline="0" dirty="0" smtClean="0">
                          <a:ln>
                            <a:noFill/>
                          </a:ln>
                          <a:solidFill>
                            <a:schemeClr val="tx1"/>
                          </a:solidFill>
                          <a:effectLst/>
                          <a:latin typeface="Palatino Linotype" pitchFamily="18" charset="0"/>
                        </a:rPr>
                        <a:t>FORMAL</a:t>
                      </a:r>
                      <a:endParaRPr kumimoji="0" lang="es-ES" sz="1800" b="0" i="0" u="none" strike="noStrike" cap="none" normalizeH="0" baseline="0" dirty="0" smtClean="0">
                        <a:ln>
                          <a:noFill/>
                        </a:ln>
                        <a:solidFill>
                          <a:schemeClr val="tx1"/>
                        </a:solidFill>
                        <a:effectLst/>
                        <a:latin typeface="Palatino Linotype" pitchFamily="18" charset="0"/>
                      </a:endParaRPr>
                    </a:p>
                  </a:txBody>
                  <a:tcPr horzOverflow="overflow">
                    <a:lnL>
                      <a:noFill/>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noFill/>
                  </a:tcPr>
                </a:tc>
              </a:tr>
              <a:tr h="4889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MX" sz="1800" b="0" i="0" u="none" strike="noStrike" cap="none" normalizeH="0" baseline="0" dirty="0" smtClean="0">
                          <a:ln>
                            <a:noFill/>
                          </a:ln>
                          <a:solidFill>
                            <a:schemeClr val="tx1"/>
                          </a:solidFill>
                          <a:effectLst/>
                          <a:latin typeface="Palatino Linotype" pitchFamily="18" charset="0"/>
                        </a:rPr>
                        <a:t>3. DE POSICIONAMIENTO</a:t>
                      </a:r>
                      <a:endParaRPr kumimoji="0" lang="es-ES" sz="1800" b="0" i="0" u="none" strike="noStrike" cap="none" normalizeH="0" baseline="0" dirty="0" smtClean="0">
                        <a:ln>
                          <a:noFill/>
                        </a:ln>
                        <a:solidFill>
                          <a:schemeClr val="tx1"/>
                        </a:solidFill>
                        <a:effectLst/>
                        <a:latin typeface="Palatino Linotype" pitchFamily="18" charset="0"/>
                      </a:endParaRPr>
                    </a:p>
                  </a:txBody>
                  <a:tcPr horzOverflow="overflow">
                    <a:lnL w="12700" cap="flat" cmpd="sng" algn="ctr">
                      <a:solidFill>
                        <a:srgbClr val="3399FF"/>
                      </a:solidFill>
                      <a:prstDash val="solid"/>
                      <a:round/>
                      <a:headEnd type="none" w="med" len="med"/>
                      <a:tailEnd type="none" w="med" len="med"/>
                    </a:lnL>
                    <a:lnR>
                      <a:noFill/>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MX" sz="1800" b="0" i="0" u="none" strike="noStrike" cap="none" normalizeH="0" baseline="0" dirty="0" smtClean="0">
                          <a:ln>
                            <a:noFill/>
                          </a:ln>
                          <a:solidFill>
                            <a:schemeClr val="tx1"/>
                          </a:solidFill>
                          <a:effectLst/>
                          <a:latin typeface="Palatino Linotype" pitchFamily="18" charset="0"/>
                        </a:rPr>
                        <a:t>ANALÍTICO</a:t>
                      </a:r>
                      <a:endParaRPr kumimoji="0" lang="es-ES" sz="1800" b="0" i="0" u="none" strike="noStrike" cap="none" normalizeH="0" baseline="0" dirty="0" smtClean="0">
                        <a:ln>
                          <a:noFill/>
                        </a:ln>
                        <a:solidFill>
                          <a:schemeClr val="tx1"/>
                        </a:solidFill>
                        <a:effectLst/>
                        <a:latin typeface="Palatino Linotype" pitchFamily="18" charset="0"/>
                      </a:endParaRPr>
                    </a:p>
                  </a:txBody>
                  <a:tcPr horzOverflow="overflow">
                    <a:lnL>
                      <a:noFill/>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noFill/>
                  </a:tcPr>
                </a:tc>
              </a:tr>
              <a:tr h="4905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MX" sz="1800" b="0" i="0" u="none" strike="noStrike" cap="none" normalizeH="0" baseline="0" dirty="0" smtClean="0">
                          <a:ln>
                            <a:noFill/>
                          </a:ln>
                          <a:solidFill>
                            <a:schemeClr val="tx1"/>
                          </a:solidFill>
                          <a:effectLst/>
                          <a:latin typeface="Palatino Linotype" pitchFamily="18" charset="0"/>
                        </a:rPr>
                        <a:t>4. EMPRESARIAL</a:t>
                      </a:r>
                      <a:endParaRPr kumimoji="0" lang="es-ES" sz="1800" b="0" i="0" u="none" strike="noStrike" cap="none" normalizeH="0" baseline="0" dirty="0" smtClean="0">
                        <a:ln>
                          <a:noFill/>
                        </a:ln>
                        <a:solidFill>
                          <a:schemeClr val="tx1"/>
                        </a:solidFill>
                        <a:effectLst/>
                        <a:latin typeface="Palatino Linotype" pitchFamily="18" charset="0"/>
                      </a:endParaRPr>
                    </a:p>
                  </a:txBody>
                  <a:tcPr horzOverflow="overflow">
                    <a:lnL w="12700" cap="flat" cmpd="sng" algn="ctr">
                      <a:solidFill>
                        <a:srgbClr val="3399FF"/>
                      </a:solidFill>
                      <a:prstDash val="solid"/>
                      <a:round/>
                      <a:headEnd type="none" w="med" len="med"/>
                      <a:tailEnd type="none" w="med" len="med"/>
                    </a:lnL>
                    <a:lnR>
                      <a:noFill/>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MX" sz="1800" b="0" i="0" u="none" strike="noStrike" cap="none" normalizeH="0" baseline="0" dirty="0" smtClean="0">
                          <a:ln>
                            <a:noFill/>
                          </a:ln>
                          <a:solidFill>
                            <a:schemeClr val="tx1"/>
                          </a:solidFill>
                          <a:effectLst/>
                          <a:latin typeface="Palatino Linotype" pitchFamily="18" charset="0"/>
                        </a:rPr>
                        <a:t>VISIONARIO</a:t>
                      </a:r>
                      <a:endParaRPr kumimoji="0" lang="es-ES" sz="1800" b="0" i="0" u="none" strike="noStrike" cap="none" normalizeH="0" baseline="0" dirty="0" smtClean="0">
                        <a:ln>
                          <a:noFill/>
                        </a:ln>
                        <a:solidFill>
                          <a:schemeClr val="tx1"/>
                        </a:solidFill>
                        <a:effectLst/>
                        <a:latin typeface="Palatino Linotype" pitchFamily="18" charset="0"/>
                      </a:endParaRPr>
                    </a:p>
                  </a:txBody>
                  <a:tcPr horzOverflow="overflow">
                    <a:lnL>
                      <a:noFill/>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noFill/>
                  </a:tcPr>
                </a:tc>
              </a:tr>
              <a:tr h="4889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MX" sz="1800" b="0" i="0" u="none" strike="noStrike" cap="none" normalizeH="0" baseline="0" dirty="0" smtClean="0">
                          <a:ln>
                            <a:noFill/>
                          </a:ln>
                          <a:solidFill>
                            <a:schemeClr val="tx1"/>
                          </a:solidFill>
                          <a:effectLst/>
                          <a:latin typeface="Palatino Linotype" pitchFamily="18" charset="0"/>
                        </a:rPr>
                        <a:t>5. COGNOSCITIVA</a:t>
                      </a:r>
                      <a:endParaRPr kumimoji="0" lang="es-ES" sz="1800" b="0" i="0" u="none" strike="noStrike" cap="none" normalizeH="0" baseline="0" dirty="0" smtClean="0">
                        <a:ln>
                          <a:noFill/>
                        </a:ln>
                        <a:solidFill>
                          <a:schemeClr val="tx1"/>
                        </a:solidFill>
                        <a:effectLst/>
                        <a:latin typeface="Palatino Linotype" pitchFamily="18" charset="0"/>
                      </a:endParaRPr>
                    </a:p>
                  </a:txBody>
                  <a:tcPr horzOverflow="overflow">
                    <a:lnL w="12700" cap="flat" cmpd="sng" algn="ctr">
                      <a:solidFill>
                        <a:srgbClr val="3399FF"/>
                      </a:solidFill>
                      <a:prstDash val="solid"/>
                      <a:round/>
                      <a:headEnd type="none" w="med" len="med"/>
                      <a:tailEnd type="none" w="med" len="med"/>
                    </a:lnL>
                    <a:lnR>
                      <a:noFill/>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MX" sz="1800" b="0" i="0" u="none" strike="noStrike" cap="none" normalizeH="0" baseline="0" dirty="0" smtClean="0">
                          <a:ln>
                            <a:noFill/>
                          </a:ln>
                          <a:solidFill>
                            <a:schemeClr val="tx1"/>
                          </a:solidFill>
                          <a:effectLst/>
                          <a:latin typeface="Palatino Linotype" pitchFamily="18" charset="0"/>
                        </a:rPr>
                        <a:t>MENTAL</a:t>
                      </a:r>
                      <a:endParaRPr kumimoji="0" lang="es-ES" sz="1800" b="0" i="0" u="none" strike="noStrike" cap="none" normalizeH="0" baseline="0" dirty="0" smtClean="0">
                        <a:ln>
                          <a:noFill/>
                        </a:ln>
                        <a:solidFill>
                          <a:schemeClr val="tx1"/>
                        </a:solidFill>
                        <a:effectLst/>
                        <a:latin typeface="Palatino Linotype" pitchFamily="18" charset="0"/>
                      </a:endParaRPr>
                    </a:p>
                  </a:txBody>
                  <a:tcPr horzOverflow="overflow">
                    <a:lnL>
                      <a:noFill/>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noFill/>
                  </a:tcPr>
                </a:tc>
              </a:tr>
              <a:tr h="4905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MX" sz="1800" b="0" i="0" u="none" strike="noStrike" cap="none" normalizeH="0" baseline="0" dirty="0" smtClean="0">
                          <a:ln>
                            <a:noFill/>
                          </a:ln>
                          <a:solidFill>
                            <a:schemeClr val="tx1"/>
                          </a:solidFill>
                          <a:effectLst/>
                          <a:latin typeface="Palatino Linotype" pitchFamily="18" charset="0"/>
                        </a:rPr>
                        <a:t>6. DE APRENDIZAJE</a:t>
                      </a:r>
                      <a:endParaRPr kumimoji="0" lang="es-ES" sz="1800" b="0" i="0" u="none" strike="noStrike" cap="none" normalizeH="0" baseline="0" dirty="0" smtClean="0">
                        <a:ln>
                          <a:noFill/>
                        </a:ln>
                        <a:solidFill>
                          <a:schemeClr val="tx1"/>
                        </a:solidFill>
                        <a:effectLst/>
                        <a:latin typeface="Palatino Linotype" pitchFamily="18" charset="0"/>
                      </a:endParaRPr>
                    </a:p>
                  </a:txBody>
                  <a:tcPr horzOverflow="overflow">
                    <a:lnL w="12700" cap="flat" cmpd="sng" algn="ctr">
                      <a:solidFill>
                        <a:srgbClr val="3399FF"/>
                      </a:solidFill>
                      <a:prstDash val="solid"/>
                      <a:round/>
                      <a:headEnd type="none" w="med" len="med"/>
                      <a:tailEnd type="none" w="med" len="med"/>
                    </a:lnL>
                    <a:lnR>
                      <a:noFill/>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MX" sz="1800" b="0" i="0" u="none" strike="noStrike" cap="none" normalizeH="0" baseline="0" dirty="0" smtClean="0">
                          <a:ln>
                            <a:noFill/>
                          </a:ln>
                          <a:solidFill>
                            <a:schemeClr val="tx1"/>
                          </a:solidFill>
                          <a:effectLst/>
                          <a:latin typeface="Palatino Linotype" pitchFamily="18" charset="0"/>
                        </a:rPr>
                        <a:t>EMERGENTE</a:t>
                      </a:r>
                      <a:endParaRPr kumimoji="0" lang="es-ES" sz="1800" b="0" i="0" u="none" strike="noStrike" cap="none" normalizeH="0" baseline="0" dirty="0" smtClean="0">
                        <a:ln>
                          <a:noFill/>
                        </a:ln>
                        <a:solidFill>
                          <a:schemeClr val="tx1"/>
                        </a:solidFill>
                        <a:effectLst/>
                        <a:latin typeface="Palatino Linotype" pitchFamily="18" charset="0"/>
                      </a:endParaRPr>
                    </a:p>
                  </a:txBody>
                  <a:tcPr horzOverflow="overflow">
                    <a:lnL>
                      <a:noFill/>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noFill/>
                  </a:tcPr>
                </a:tc>
              </a:tr>
              <a:tr h="4889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MX" sz="1800" b="0" i="0" u="none" strike="noStrike" cap="none" normalizeH="0" baseline="0" dirty="0" smtClean="0">
                          <a:ln>
                            <a:noFill/>
                          </a:ln>
                          <a:solidFill>
                            <a:schemeClr val="tx1"/>
                          </a:solidFill>
                          <a:effectLst/>
                          <a:latin typeface="Palatino Linotype" pitchFamily="18" charset="0"/>
                        </a:rPr>
                        <a:t>7. DE PODER</a:t>
                      </a:r>
                      <a:endParaRPr kumimoji="0" lang="es-ES" sz="1800" b="0" i="0" u="none" strike="noStrike" cap="none" normalizeH="0" baseline="0" dirty="0" smtClean="0">
                        <a:ln>
                          <a:noFill/>
                        </a:ln>
                        <a:solidFill>
                          <a:schemeClr val="tx1"/>
                        </a:solidFill>
                        <a:effectLst/>
                        <a:latin typeface="Palatino Linotype" pitchFamily="18" charset="0"/>
                      </a:endParaRPr>
                    </a:p>
                  </a:txBody>
                  <a:tcPr horzOverflow="overflow">
                    <a:lnL w="12700" cap="flat" cmpd="sng" algn="ctr">
                      <a:solidFill>
                        <a:srgbClr val="3399FF"/>
                      </a:solidFill>
                      <a:prstDash val="solid"/>
                      <a:round/>
                      <a:headEnd type="none" w="med" len="med"/>
                      <a:tailEnd type="none" w="med" len="med"/>
                    </a:lnL>
                    <a:lnR>
                      <a:noFill/>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MX" sz="1800" b="0" i="0" u="none" strike="noStrike" cap="none" normalizeH="0" baseline="0" dirty="0" smtClean="0">
                          <a:ln>
                            <a:noFill/>
                          </a:ln>
                          <a:solidFill>
                            <a:schemeClr val="tx1"/>
                          </a:solidFill>
                          <a:effectLst/>
                          <a:latin typeface="Palatino Linotype" pitchFamily="18" charset="0"/>
                        </a:rPr>
                        <a:t>DE NEGOCIACIÓN</a:t>
                      </a:r>
                      <a:endParaRPr kumimoji="0" lang="es-ES" sz="1800" b="0" i="0" u="none" strike="noStrike" cap="none" normalizeH="0" baseline="0" dirty="0" smtClean="0">
                        <a:ln>
                          <a:noFill/>
                        </a:ln>
                        <a:solidFill>
                          <a:schemeClr val="tx1"/>
                        </a:solidFill>
                        <a:effectLst/>
                        <a:latin typeface="Palatino Linotype" pitchFamily="18" charset="0"/>
                      </a:endParaRPr>
                    </a:p>
                  </a:txBody>
                  <a:tcPr horzOverflow="overflow">
                    <a:lnL>
                      <a:noFill/>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noFill/>
                  </a:tcPr>
                </a:tc>
              </a:tr>
              <a:tr h="4905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MX" sz="1800" b="0" i="0" u="none" strike="noStrike" cap="none" normalizeH="0" baseline="0" dirty="0" smtClean="0">
                          <a:ln>
                            <a:noFill/>
                          </a:ln>
                          <a:solidFill>
                            <a:schemeClr val="tx1"/>
                          </a:solidFill>
                          <a:effectLst/>
                          <a:latin typeface="Palatino Linotype" pitchFamily="18" charset="0"/>
                        </a:rPr>
                        <a:t>8. CULTURAL</a:t>
                      </a:r>
                      <a:endParaRPr kumimoji="0" lang="es-ES" sz="1800" b="0" i="0" u="none" strike="noStrike" cap="none" normalizeH="0" baseline="0" dirty="0" smtClean="0">
                        <a:ln>
                          <a:noFill/>
                        </a:ln>
                        <a:solidFill>
                          <a:schemeClr val="tx1"/>
                        </a:solidFill>
                        <a:effectLst/>
                        <a:latin typeface="Palatino Linotype" pitchFamily="18" charset="0"/>
                      </a:endParaRPr>
                    </a:p>
                  </a:txBody>
                  <a:tcPr horzOverflow="overflow">
                    <a:lnL w="12700" cap="flat" cmpd="sng" algn="ctr">
                      <a:solidFill>
                        <a:srgbClr val="3399FF"/>
                      </a:solidFill>
                      <a:prstDash val="solid"/>
                      <a:round/>
                      <a:headEnd type="none" w="med" len="med"/>
                      <a:tailEnd type="none" w="med" len="med"/>
                    </a:lnL>
                    <a:lnR>
                      <a:noFill/>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MX" sz="1800" b="0" i="0" u="none" strike="noStrike" cap="none" normalizeH="0" baseline="0" dirty="0" smtClean="0">
                          <a:ln>
                            <a:noFill/>
                          </a:ln>
                          <a:solidFill>
                            <a:schemeClr val="tx1"/>
                          </a:solidFill>
                          <a:effectLst/>
                          <a:latin typeface="Palatino Linotype" pitchFamily="18" charset="0"/>
                        </a:rPr>
                        <a:t>COLECTIVO</a:t>
                      </a:r>
                      <a:endParaRPr kumimoji="0" lang="es-ES" sz="1800" b="0" i="0" u="none" strike="noStrike" cap="none" normalizeH="0" baseline="0" dirty="0" smtClean="0">
                        <a:ln>
                          <a:noFill/>
                        </a:ln>
                        <a:solidFill>
                          <a:schemeClr val="tx1"/>
                        </a:solidFill>
                        <a:effectLst/>
                        <a:latin typeface="Palatino Linotype" pitchFamily="18" charset="0"/>
                      </a:endParaRPr>
                    </a:p>
                  </a:txBody>
                  <a:tcPr horzOverflow="overflow">
                    <a:lnL>
                      <a:noFill/>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noFill/>
                  </a:tcPr>
                </a:tc>
              </a:tr>
              <a:tr h="4889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MX" sz="1800" b="0" i="0" u="none" strike="noStrike" cap="none" normalizeH="0" baseline="0" dirty="0" smtClean="0">
                          <a:ln>
                            <a:noFill/>
                          </a:ln>
                          <a:solidFill>
                            <a:schemeClr val="tx1"/>
                          </a:solidFill>
                          <a:effectLst/>
                          <a:latin typeface="Palatino Linotype" pitchFamily="18" charset="0"/>
                        </a:rPr>
                        <a:t>9. AMBIENTAL</a:t>
                      </a:r>
                      <a:endParaRPr kumimoji="0" lang="es-ES" sz="1800" b="0" i="0" u="none" strike="noStrike" cap="none" normalizeH="0" baseline="0" dirty="0" smtClean="0">
                        <a:ln>
                          <a:noFill/>
                        </a:ln>
                        <a:solidFill>
                          <a:schemeClr val="tx1"/>
                        </a:solidFill>
                        <a:effectLst/>
                        <a:latin typeface="Palatino Linotype" pitchFamily="18" charset="0"/>
                      </a:endParaRPr>
                    </a:p>
                  </a:txBody>
                  <a:tcPr horzOverflow="overflow">
                    <a:lnL w="12700" cap="flat" cmpd="sng" algn="ctr">
                      <a:solidFill>
                        <a:srgbClr val="3399FF"/>
                      </a:solidFill>
                      <a:prstDash val="solid"/>
                      <a:round/>
                      <a:headEnd type="none" w="med" len="med"/>
                      <a:tailEnd type="none" w="med" len="med"/>
                    </a:lnL>
                    <a:lnR>
                      <a:noFill/>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MX" sz="1800" b="0" i="0" u="none" strike="noStrike" cap="none" normalizeH="0" baseline="0" dirty="0" smtClean="0">
                          <a:ln>
                            <a:noFill/>
                          </a:ln>
                          <a:solidFill>
                            <a:schemeClr val="tx1"/>
                          </a:solidFill>
                          <a:effectLst/>
                          <a:latin typeface="Palatino Linotype" pitchFamily="18" charset="0"/>
                        </a:rPr>
                        <a:t>REACTIVO</a:t>
                      </a:r>
                      <a:endParaRPr kumimoji="0" lang="es-ES" sz="1800" b="0" i="0" u="none" strike="noStrike" cap="none" normalizeH="0" baseline="0" dirty="0" smtClean="0">
                        <a:ln>
                          <a:noFill/>
                        </a:ln>
                        <a:solidFill>
                          <a:schemeClr val="tx1"/>
                        </a:solidFill>
                        <a:effectLst/>
                        <a:latin typeface="Palatino Linotype" pitchFamily="18" charset="0"/>
                      </a:endParaRPr>
                    </a:p>
                  </a:txBody>
                  <a:tcPr horzOverflow="overflow">
                    <a:lnL>
                      <a:noFill/>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noFill/>
                  </a:tcPr>
                </a:tc>
              </a:tr>
              <a:tr h="4889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MX" sz="1800" b="0" i="0" u="none" strike="noStrike" cap="none" normalizeH="0" baseline="0" dirty="0" smtClean="0">
                          <a:ln>
                            <a:noFill/>
                          </a:ln>
                          <a:solidFill>
                            <a:schemeClr val="tx1"/>
                          </a:solidFill>
                          <a:effectLst/>
                          <a:latin typeface="Palatino Linotype" pitchFamily="18" charset="0"/>
                        </a:rPr>
                        <a:t>10. DE CONFIGURACIÓN</a:t>
                      </a:r>
                      <a:endParaRPr kumimoji="0" lang="es-ES" sz="1800" b="0" i="0" u="none" strike="noStrike" cap="none" normalizeH="0" baseline="0" dirty="0" smtClean="0">
                        <a:ln>
                          <a:noFill/>
                        </a:ln>
                        <a:solidFill>
                          <a:schemeClr val="tx1"/>
                        </a:solidFill>
                        <a:effectLst/>
                        <a:latin typeface="Palatino Linotype" pitchFamily="18" charset="0"/>
                      </a:endParaRPr>
                    </a:p>
                  </a:txBody>
                  <a:tcPr horzOverflow="overflow">
                    <a:lnL w="12700" cap="flat" cmpd="sng" algn="ctr">
                      <a:solidFill>
                        <a:srgbClr val="3399FF"/>
                      </a:solidFill>
                      <a:prstDash val="solid"/>
                      <a:round/>
                      <a:headEnd type="none" w="med" len="med"/>
                      <a:tailEnd type="none" w="med" len="med"/>
                    </a:lnL>
                    <a:lnR>
                      <a:noFill/>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MX" sz="1800" b="0" i="0" u="none" strike="noStrike" cap="none" normalizeH="0" baseline="0" dirty="0" smtClean="0">
                          <a:ln>
                            <a:noFill/>
                          </a:ln>
                          <a:solidFill>
                            <a:schemeClr val="tx1"/>
                          </a:solidFill>
                          <a:effectLst/>
                          <a:latin typeface="Palatino Linotype" pitchFamily="18" charset="0"/>
                        </a:rPr>
                        <a:t>DE TRANSFORMACIÓN</a:t>
                      </a:r>
                      <a:endParaRPr kumimoji="0" lang="es-ES" sz="1800" b="0" i="0" u="none" strike="noStrike" cap="none" normalizeH="0" baseline="0" dirty="0" smtClean="0">
                        <a:ln>
                          <a:noFill/>
                        </a:ln>
                        <a:solidFill>
                          <a:schemeClr val="tx1"/>
                        </a:solidFill>
                        <a:effectLst/>
                        <a:latin typeface="Palatino Linotype" pitchFamily="18" charset="0"/>
                      </a:endParaRPr>
                    </a:p>
                  </a:txBody>
                  <a:tcPr horzOverflow="overflow">
                    <a:lnL>
                      <a:noFill/>
                    </a:lnL>
                    <a:lnR w="12700" cap="flat" cmpd="sng" algn="ctr">
                      <a:solidFill>
                        <a:srgbClr val="3399FF"/>
                      </a:solidFill>
                      <a:prstDash val="solid"/>
                      <a:round/>
                      <a:headEnd type="none" w="med" len="med"/>
                      <a:tailEnd type="none" w="med" len="med"/>
                    </a:lnR>
                    <a:lnT w="12700" cap="flat" cmpd="sng" algn="ctr">
                      <a:solidFill>
                        <a:srgbClr val="3399FF"/>
                      </a:solidFill>
                      <a:prstDash val="solid"/>
                      <a:round/>
                      <a:headEnd type="none" w="med" len="med"/>
                      <a:tailEnd type="none" w="med" len="med"/>
                    </a:lnT>
                    <a:lnB w="12700" cap="flat" cmpd="sng" algn="ctr">
                      <a:solidFill>
                        <a:srgbClr val="3399FF"/>
                      </a:solidFill>
                      <a:prstDash val="solid"/>
                      <a:round/>
                      <a:headEnd type="none" w="med" len="med"/>
                      <a:tailEnd type="none" w="med" len="med"/>
                    </a:lnB>
                    <a:lnTlToBr>
                      <a:noFill/>
                    </a:lnTlToBr>
                    <a:lnBlToTr>
                      <a:noFill/>
                    </a:lnBlToTr>
                    <a:noFill/>
                  </a:tcPr>
                </a:tc>
              </a:tr>
            </a:tbl>
          </a:graphicData>
        </a:graphic>
      </p:graphicFrame>
      <p:sp>
        <p:nvSpPr>
          <p:cNvPr id="4" name="3 Rectángulo"/>
          <p:cNvSpPr/>
          <p:nvPr/>
        </p:nvSpPr>
        <p:spPr>
          <a:xfrm>
            <a:off x="0" y="142852"/>
            <a:ext cx="6774610" cy="707886"/>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MX" sz="40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Palatino Linotype" pitchFamily="18" charset="0"/>
              </a:rPr>
              <a:t>10 escuelas de pensamiento</a:t>
            </a:r>
            <a:endParaRPr lang="es-ES" sz="40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22" name="Text Box 7"/>
          <p:cNvSpPr txBox="1">
            <a:spLocks noChangeArrowheads="1"/>
          </p:cNvSpPr>
          <p:nvPr/>
        </p:nvSpPr>
        <p:spPr bwMode="auto">
          <a:xfrm>
            <a:off x="285720" y="1357298"/>
            <a:ext cx="8429652" cy="1077218"/>
          </a:xfrm>
          <a:prstGeom prst="rect">
            <a:avLst/>
          </a:prstGeom>
          <a:noFill/>
          <a:ln w="9525">
            <a:noFill/>
            <a:miter lim="800000"/>
            <a:headEnd/>
            <a:tailEnd/>
          </a:ln>
        </p:spPr>
        <p:txBody>
          <a:bodyPr wrap="square">
            <a:spAutoFit/>
          </a:bodyPr>
          <a:lstStyle/>
          <a:p>
            <a:pPr>
              <a:spcBef>
                <a:spcPct val="50000"/>
              </a:spcBef>
            </a:pPr>
            <a:r>
              <a:rPr lang="es-MX" sz="3200" dirty="0">
                <a:latin typeface="Arial" pitchFamily="34" charset="0"/>
                <a:cs typeface="Arial" pitchFamily="34" charset="0"/>
              </a:rPr>
              <a:t>La creación de estrategia como un proceso de CONCEPCIÓN</a:t>
            </a:r>
            <a:endParaRPr lang="es-ES" sz="3200" dirty="0">
              <a:latin typeface="Arial" pitchFamily="34" charset="0"/>
              <a:cs typeface="Arial" pitchFamily="34" charset="0"/>
            </a:endParaRPr>
          </a:p>
        </p:txBody>
      </p:sp>
      <p:sp>
        <p:nvSpPr>
          <p:cNvPr id="130056" name="Rectangle 8"/>
          <p:cNvSpPr>
            <a:spLocks noChangeArrowheads="1"/>
          </p:cNvSpPr>
          <p:nvPr/>
        </p:nvSpPr>
        <p:spPr bwMode="auto">
          <a:xfrm>
            <a:off x="214282" y="2714620"/>
            <a:ext cx="8064500" cy="2554545"/>
          </a:xfrm>
          <a:prstGeom prst="rect">
            <a:avLst/>
          </a:prstGeom>
          <a:noFill/>
          <a:ln w="9525">
            <a:noFill/>
            <a:miter lim="800000"/>
            <a:headEnd/>
            <a:tailEnd/>
          </a:ln>
        </p:spPr>
        <p:txBody>
          <a:bodyPr wrap="square">
            <a:spAutoFit/>
          </a:bodyPr>
          <a:lstStyle/>
          <a:p>
            <a:pPr>
              <a:spcBef>
                <a:spcPct val="50000"/>
              </a:spcBef>
            </a:pPr>
            <a:r>
              <a:rPr lang="es-ES" sz="3200" dirty="0" smtClean="0">
                <a:latin typeface="Arial" pitchFamily="34" charset="0"/>
                <a:cs typeface="Arial" pitchFamily="34" charset="0"/>
              </a:rPr>
              <a:t>Se </a:t>
            </a:r>
            <a:r>
              <a:rPr lang="es-ES" sz="3200" dirty="0">
                <a:latin typeface="Arial" pitchFamily="34" charset="0"/>
                <a:cs typeface="Arial" pitchFamily="34" charset="0"/>
              </a:rPr>
              <a:t>formulan estrategias claras y únicas en un proceso deliberado. En este proceso, la situación interna de la organización se concilia con la situación externa del ambiente. </a:t>
            </a:r>
          </a:p>
        </p:txBody>
      </p:sp>
      <p:sp>
        <p:nvSpPr>
          <p:cNvPr id="8" name="7 Rectángulo"/>
          <p:cNvSpPr/>
          <p:nvPr/>
        </p:nvSpPr>
        <p:spPr>
          <a:xfrm>
            <a:off x="-428660" y="285728"/>
            <a:ext cx="8929718" cy="923330"/>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MX" sz="5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rPr>
              <a:t>1.  ESCUELA DE DISEÑO</a:t>
            </a:r>
            <a:endParaRPr lang="es-E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005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6"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6" name="Text Box 7"/>
          <p:cNvSpPr txBox="1">
            <a:spLocks noChangeArrowheads="1"/>
          </p:cNvSpPr>
          <p:nvPr/>
        </p:nvSpPr>
        <p:spPr bwMode="auto">
          <a:xfrm>
            <a:off x="214282" y="571480"/>
            <a:ext cx="7704137" cy="830997"/>
          </a:xfrm>
          <a:prstGeom prst="rect">
            <a:avLst/>
          </a:prstGeom>
          <a:noFill/>
          <a:ln w="9525">
            <a:noFill/>
            <a:miter lim="800000"/>
            <a:headEnd/>
            <a:tailEnd/>
          </a:ln>
        </p:spPr>
        <p:txBody>
          <a:bodyPr>
            <a:spAutoFit/>
          </a:bodyPr>
          <a:lstStyle/>
          <a:p>
            <a:pPr>
              <a:spcBef>
                <a:spcPct val="50000"/>
              </a:spcBef>
            </a:pPr>
            <a:r>
              <a:rPr lang="es-MX" sz="2400" dirty="0">
                <a:latin typeface="Arial" pitchFamily="34" charset="0"/>
                <a:cs typeface="Arial" pitchFamily="34" charset="0"/>
              </a:rPr>
              <a:t>MODELO BÁSICO – Principales referentes: Chandler (1962), HBS (1980)</a:t>
            </a:r>
            <a:endParaRPr lang="es-ES" sz="2400" dirty="0">
              <a:latin typeface="Arial" pitchFamily="34" charset="0"/>
              <a:cs typeface="Arial" pitchFamily="34" charset="0"/>
            </a:endParaRPr>
          </a:p>
        </p:txBody>
      </p:sp>
      <p:sp>
        <p:nvSpPr>
          <p:cNvPr id="10247" name="Text Box 8"/>
          <p:cNvSpPr txBox="1">
            <a:spLocks noChangeArrowheads="1"/>
          </p:cNvSpPr>
          <p:nvPr/>
        </p:nvSpPr>
        <p:spPr bwMode="auto">
          <a:xfrm>
            <a:off x="1142976" y="1928802"/>
            <a:ext cx="1511300" cy="581025"/>
          </a:xfrm>
          <a:prstGeom prst="rect">
            <a:avLst/>
          </a:prstGeom>
          <a:noFill/>
          <a:ln w="9525">
            <a:noFill/>
            <a:miter lim="800000"/>
            <a:headEnd/>
            <a:tailEnd/>
          </a:ln>
        </p:spPr>
        <p:txBody>
          <a:bodyPr>
            <a:spAutoFit/>
          </a:bodyPr>
          <a:lstStyle/>
          <a:p>
            <a:pPr algn="ctr">
              <a:spcBef>
                <a:spcPct val="50000"/>
              </a:spcBef>
            </a:pPr>
            <a:r>
              <a:rPr lang="es-MX" sz="1600" dirty="0"/>
              <a:t>Evaluación externa</a:t>
            </a:r>
            <a:endParaRPr lang="es-ES" sz="1600" dirty="0"/>
          </a:p>
        </p:txBody>
      </p:sp>
      <p:sp>
        <p:nvSpPr>
          <p:cNvPr id="10248" name="Text Box 9"/>
          <p:cNvSpPr txBox="1">
            <a:spLocks noChangeArrowheads="1"/>
          </p:cNvSpPr>
          <p:nvPr/>
        </p:nvSpPr>
        <p:spPr bwMode="auto">
          <a:xfrm>
            <a:off x="6000760" y="1857364"/>
            <a:ext cx="1511300" cy="581025"/>
          </a:xfrm>
          <a:prstGeom prst="rect">
            <a:avLst/>
          </a:prstGeom>
          <a:noFill/>
          <a:ln w="9525">
            <a:noFill/>
            <a:miter lim="800000"/>
            <a:headEnd/>
            <a:tailEnd/>
          </a:ln>
        </p:spPr>
        <p:txBody>
          <a:bodyPr>
            <a:spAutoFit/>
          </a:bodyPr>
          <a:lstStyle/>
          <a:p>
            <a:pPr algn="ctr">
              <a:spcBef>
                <a:spcPct val="50000"/>
              </a:spcBef>
            </a:pPr>
            <a:r>
              <a:rPr lang="es-MX" sz="1600" dirty="0"/>
              <a:t>Evaluación interna</a:t>
            </a:r>
            <a:endParaRPr lang="es-ES" sz="1600" dirty="0"/>
          </a:p>
        </p:txBody>
      </p:sp>
      <p:sp>
        <p:nvSpPr>
          <p:cNvPr id="10249" name="Text Box 10"/>
          <p:cNvSpPr txBox="1">
            <a:spLocks noChangeArrowheads="1"/>
          </p:cNvSpPr>
          <p:nvPr/>
        </p:nvSpPr>
        <p:spPr bwMode="auto">
          <a:xfrm>
            <a:off x="1547813" y="2997200"/>
            <a:ext cx="1511300" cy="825500"/>
          </a:xfrm>
          <a:prstGeom prst="rect">
            <a:avLst/>
          </a:prstGeom>
          <a:noFill/>
          <a:ln w="9525">
            <a:noFill/>
            <a:miter lim="800000"/>
            <a:headEnd/>
            <a:tailEnd/>
          </a:ln>
        </p:spPr>
        <p:txBody>
          <a:bodyPr>
            <a:spAutoFit/>
          </a:bodyPr>
          <a:lstStyle/>
          <a:p>
            <a:pPr algn="ctr">
              <a:spcBef>
                <a:spcPct val="50000"/>
              </a:spcBef>
            </a:pPr>
            <a:r>
              <a:rPr lang="es-MX" sz="1600" dirty="0"/>
              <a:t>Amenazas y oportunidades del entorno</a:t>
            </a:r>
            <a:endParaRPr lang="es-ES" sz="1600" dirty="0"/>
          </a:p>
        </p:txBody>
      </p:sp>
      <p:sp>
        <p:nvSpPr>
          <p:cNvPr id="10250" name="Text Box 11"/>
          <p:cNvSpPr txBox="1">
            <a:spLocks noChangeArrowheads="1"/>
          </p:cNvSpPr>
          <p:nvPr/>
        </p:nvSpPr>
        <p:spPr bwMode="auto">
          <a:xfrm>
            <a:off x="5580063" y="2997200"/>
            <a:ext cx="1800225" cy="825500"/>
          </a:xfrm>
          <a:prstGeom prst="rect">
            <a:avLst/>
          </a:prstGeom>
          <a:noFill/>
          <a:ln w="9525">
            <a:noFill/>
            <a:miter lim="800000"/>
            <a:headEnd/>
            <a:tailEnd/>
          </a:ln>
        </p:spPr>
        <p:txBody>
          <a:bodyPr>
            <a:spAutoFit/>
          </a:bodyPr>
          <a:lstStyle/>
          <a:p>
            <a:pPr algn="ctr">
              <a:spcBef>
                <a:spcPct val="50000"/>
              </a:spcBef>
            </a:pPr>
            <a:r>
              <a:rPr lang="es-MX" sz="1600" dirty="0"/>
              <a:t>Virtudes y flaquezas de la organización</a:t>
            </a:r>
            <a:endParaRPr lang="es-ES" sz="1600" dirty="0"/>
          </a:p>
        </p:txBody>
      </p:sp>
      <p:sp>
        <p:nvSpPr>
          <p:cNvPr id="10251" name="Text Box 12"/>
          <p:cNvSpPr txBox="1">
            <a:spLocks noChangeArrowheads="1"/>
          </p:cNvSpPr>
          <p:nvPr/>
        </p:nvSpPr>
        <p:spPr bwMode="auto">
          <a:xfrm>
            <a:off x="1258888" y="4149725"/>
            <a:ext cx="1871662" cy="581025"/>
          </a:xfrm>
          <a:prstGeom prst="rect">
            <a:avLst/>
          </a:prstGeom>
          <a:noFill/>
          <a:ln w="9525">
            <a:noFill/>
            <a:miter lim="800000"/>
            <a:headEnd/>
            <a:tailEnd/>
          </a:ln>
        </p:spPr>
        <p:txBody>
          <a:bodyPr>
            <a:spAutoFit/>
          </a:bodyPr>
          <a:lstStyle/>
          <a:p>
            <a:pPr algn="ctr">
              <a:spcBef>
                <a:spcPct val="50000"/>
              </a:spcBef>
            </a:pPr>
            <a:r>
              <a:rPr lang="es-MX" sz="1600" dirty="0"/>
              <a:t>Factores Claves de Éxito</a:t>
            </a:r>
            <a:endParaRPr lang="es-ES" sz="1600" dirty="0"/>
          </a:p>
        </p:txBody>
      </p:sp>
      <p:sp>
        <p:nvSpPr>
          <p:cNvPr id="10252" name="Text Box 13"/>
          <p:cNvSpPr txBox="1">
            <a:spLocks noChangeArrowheads="1"/>
          </p:cNvSpPr>
          <p:nvPr/>
        </p:nvSpPr>
        <p:spPr bwMode="auto">
          <a:xfrm>
            <a:off x="5580063" y="4149725"/>
            <a:ext cx="1871662" cy="581025"/>
          </a:xfrm>
          <a:prstGeom prst="rect">
            <a:avLst/>
          </a:prstGeom>
          <a:noFill/>
          <a:ln w="9525">
            <a:noFill/>
            <a:miter lim="800000"/>
            <a:headEnd/>
            <a:tailEnd/>
          </a:ln>
        </p:spPr>
        <p:txBody>
          <a:bodyPr>
            <a:spAutoFit/>
          </a:bodyPr>
          <a:lstStyle/>
          <a:p>
            <a:pPr algn="ctr">
              <a:spcBef>
                <a:spcPct val="50000"/>
              </a:spcBef>
            </a:pPr>
            <a:r>
              <a:rPr lang="es-MX" sz="1600" dirty="0"/>
              <a:t>Competencias características</a:t>
            </a:r>
            <a:endParaRPr lang="es-ES" sz="1600" dirty="0"/>
          </a:p>
        </p:txBody>
      </p:sp>
      <p:sp>
        <p:nvSpPr>
          <p:cNvPr id="10253" name="Text Box 14"/>
          <p:cNvSpPr txBox="1">
            <a:spLocks noChangeArrowheads="1"/>
          </p:cNvSpPr>
          <p:nvPr/>
        </p:nvSpPr>
        <p:spPr bwMode="auto">
          <a:xfrm>
            <a:off x="3643306" y="4643446"/>
            <a:ext cx="1439863" cy="590550"/>
          </a:xfrm>
          <a:prstGeom prst="rect">
            <a:avLst/>
          </a:prstGeom>
          <a:noFill/>
          <a:ln w="9525">
            <a:solidFill>
              <a:srgbClr val="00CCFF"/>
            </a:solidFill>
            <a:miter lim="800000"/>
            <a:headEnd/>
            <a:tailEnd/>
          </a:ln>
        </p:spPr>
        <p:txBody>
          <a:bodyPr>
            <a:spAutoFit/>
          </a:bodyPr>
          <a:lstStyle/>
          <a:p>
            <a:pPr algn="ctr">
              <a:spcBef>
                <a:spcPct val="50000"/>
              </a:spcBef>
            </a:pPr>
            <a:r>
              <a:rPr lang="es-MX" sz="1600" dirty="0"/>
              <a:t>Creación de estrategia</a:t>
            </a:r>
            <a:endParaRPr lang="es-ES" sz="1600" dirty="0"/>
          </a:p>
        </p:txBody>
      </p:sp>
      <p:sp>
        <p:nvSpPr>
          <p:cNvPr id="10254" name="Text Box 15"/>
          <p:cNvSpPr txBox="1">
            <a:spLocks noChangeArrowheads="1"/>
          </p:cNvSpPr>
          <p:nvPr/>
        </p:nvSpPr>
        <p:spPr bwMode="auto">
          <a:xfrm>
            <a:off x="3995738" y="3284538"/>
            <a:ext cx="792162" cy="346075"/>
          </a:xfrm>
          <a:prstGeom prst="rect">
            <a:avLst/>
          </a:prstGeom>
          <a:noFill/>
          <a:ln w="9525">
            <a:solidFill>
              <a:srgbClr val="00CCFF"/>
            </a:solidFill>
            <a:miter lim="800000"/>
            <a:headEnd/>
            <a:tailEnd/>
          </a:ln>
        </p:spPr>
        <p:txBody>
          <a:bodyPr>
            <a:spAutoFit/>
          </a:bodyPr>
          <a:lstStyle/>
          <a:p>
            <a:pPr algn="ctr">
              <a:spcBef>
                <a:spcPct val="50000"/>
              </a:spcBef>
            </a:pPr>
            <a:r>
              <a:rPr lang="es-MX" sz="1600" dirty="0"/>
              <a:t>FODA</a:t>
            </a:r>
            <a:endParaRPr lang="es-ES" sz="1600" dirty="0"/>
          </a:p>
        </p:txBody>
      </p:sp>
      <p:sp>
        <p:nvSpPr>
          <p:cNvPr id="10255" name="Text Box 16"/>
          <p:cNvSpPr txBox="1">
            <a:spLocks noChangeArrowheads="1"/>
          </p:cNvSpPr>
          <p:nvPr/>
        </p:nvSpPr>
        <p:spPr bwMode="auto">
          <a:xfrm>
            <a:off x="714349" y="5500702"/>
            <a:ext cx="1857388" cy="581025"/>
          </a:xfrm>
          <a:prstGeom prst="rect">
            <a:avLst/>
          </a:prstGeom>
          <a:noFill/>
          <a:ln w="9525">
            <a:noFill/>
            <a:miter lim="800000"/>
            <a:headEnd/>
            <a:tailEnd/>
          </a:ln>
        </p:spPr>
        <p:txBody>
          <a:bodyPr wrap="square">
            <a:spAutoFit/>
          </a:bodyPr>
          <a:lstStyle/>
          <a:p>
            <a:pPr algn="ctr">
              <a:spcBef>
                <a:spcPct val="50000"/>
              </a:spcBef>
            </a:pPr>
            <a:r>
              <a:rPr lang="es-MX" sz="1600" dirty="0"/>
              <a:t>Responsabilidad Social</a:t>
            </a:r>
            <a:endParaRPr lang="es-ES" sz="1600" dirty="0"/>
          </a:p>
        </p:txBody>
      </p:sp>
      <p:sp>
        <p:nvSpPr>
          <p:cNvPr id="10256" name="Text Box 17"/>
          <p:cNvSpPr txBox="1">
            <a:spLocks noChangeArrowheads="1"/>
          </p:cNvSpPr>
          <p:nvPr/>
        </p:nvSpPr>
        <p:spPr bwMode="auto">
          <a:xfrm>
            <a:off x="6286512" y="5500702"/>
            <a:ext cx="1871662" cy="336550"/>
          </a:xfrm>
          <a:prstGeom prst="rect">
            <a:avLst/>
          </a:prstGeom>
          <a:noFill/>
          <a:ln w="9525">
            <a:noFill/>
            <a:miter lim="800000"/>
            <a:headEnd/>
            <a:tailEnd/>
          </a:ln>
        </p:spPr>
        <p:txBody>
          <a:bodyPr>
            <a:spAutoFit/>
          </a:bodyPr>
          <a:lstStyle/>
          <a:p>
            <a:pPr algn="ctr">
              <a:spcBef>
                <a:spcPct val="50000"/>
              </a:spcBef>
            </a:pPr>
            <a:r>
              <a:rPr lang="es-MX" sz="1600" dirty="0"/>
              <a:t>Valores Directivos</a:t>
            </a:r>
            <a:endParaRPr lang="es-ES" sz="1600" dirty="0"/>
          </a:p>
        </p:txBody>
      </p:sp>
      <p:sp>
        <p:nvSpPr>
          <p:cNvPr id="10257" name="Text Box 18"/>
          <p:cNvSpPr txBox="1">
            <a:spLocks noChangeArrowheads="1"/>
          </p:cNvSpPr>
          <p:nvPr/>
        </p:nvSpPr>
        <p:spPr bwMode="auto">
          <a:xfrm>
            <a:off x="3708400" y="5949950"/>
            <a:ext cx="1368425" cy="830997"/>
          </a:xfrm>
          <a:prstGeom prst="rect">
            <a:avLst/>
          </a:prstGeom>
          <a:noFill/>
          <a:ln w="9525">
            <a:solidFill>
              <a:srgbClr val="00CCFF"/>
            </a:solidFill>
            <a:miter lim="800000"/>
            <a:headEnd/>
            <a:tailEnd/>
          </a:ln>
        </p:spPr>
        <p:txBody>
          <a:bodyPr wrap="square">
            <a:spAutoFit/>
          </a:bodyPr>
          <a:lstStyle/>
          <a:p>
            <a:pPr algn="ctr">
              <a:spcBef>
                <a:spcPct val="50000"/>
              </a:spcBef>
            </a:pPr>
            <a:r>
              <a:rPr lang="es-MX" sz="1600" dirty="0"/>
              <a:t>Aplicación de estrategia</a:t>
            </a:r>
            <a:endParaRPr lang="es-ES" sz="1600" dirty="0"/>
          </a:p>
        </p:txBody>
      </p:sp>
      <p:cxnSp>
        <p:nvCxnSpPr>
          <p:cNvPr id="10258" name="AutoShape 19"/>
          <p:cNvCxnSpPr>
            <a:cxnSpLocks noChangeShapeType="1"/>
            <a:stCxn id="10248" idx="2"/>
            <a:endCxn id="10250" idx="0"/>
          </p:cNvCxnSpPr>
          <p:nvPr/>
        </p:nvCxnSpPr>
        <p:spPr bwMode="auto">
          <a:xfrm rot="5400000">
            <a:off x="6338888" y="2579677"/>
            <a:ext cx="558811" cy="276234"/>
          </a:xfrm>
          <a:prstGeom prst="straightConnector1">
            <a:avLst/>
          </a:prstGeom>
          <a:noFill/>
          <a:ln w="9525">
            <a:solidFill>
              <a:schemeClr val="tx1"/>
            </a:solidFill>
            <a:round/>
            <a:headEnd/>
            <a:tailEnd type="triangle" w="med" len="med"/>
          </a:ln>
        </p:spPr>
      </p:cxnSp>
      <p:cxnSp>
        <p:nvCxnSpPr>
          <p:cNvPr id="10259" name="AutoShape 20"/>
          <p:cNvCxnSpPr>
            <a:cxnSpLocks noChangeShapeType="1"/>
            <a:stCxn id="10250" idx="1"/>
            <a:endCxn id="10254" idx="3"/>
          </p:cNvCxnSpPr>
          <p:nvPr/>
        </p:nvCxnSpPr>
        <p:spPr bwMode="auto">
          <a:xfrm flipH="1">
            <a:off x="4787900" y="3409950"/>
            <a:ext cx="792163" cy="47625"/>
          </a:xfrm>
          <a:prstGeom prst="straightConnector1">
            <a:avLst/>
          </a:prstGeom>
          <a:noFill/>
          <a:ln w="9525">
            <a:solidFill>
              <a:schemeClr val="tx1"/>
            </a:solidFill>
            <a:round/>
            <a:headEnd/>
            <a:tailEnd type="triangle" w="med" len="med"/>
          </a:ln>
        </p:spPr>
      </p:cxnSp>
      <p:cxnSp>
        <p:nvCxnSpPr>
          <p:cNvPr id="10260" name="AutoShape 21"/>
          <p:cNvCxnSpPr>
            <a:cxnSpLocks noChangeShapeType="1"/>
            <a:stCxn id="10249" idx="2"/>
            <a:endCxn id="10251" idx="0"/>
          </p:cNvCxnSpPr>
          <p:nvPr/>
        </p:nvCxnSpPr>
        <p:spPr bwMode="auto">
          <a:xfrm flipH="1">
            <a:off x="2195513" y="3822700"/>
            <a:ext cx="107950" cy="327025"/>
          </a:xfrm>
          <a:prstGeom prst="straightConnector1">
            <a:avLst/>
          </a:prstGeom>
          <a:noFill/>
          <a:ln w="9525">
            <a:solidFill>
              <a:schemeClr val="tx1"/>
            </a:solidFill>
            <a:round/>
            <a:headEnd/>
            <a:tailEnd type="triangle" w="med" len="med"/>
          </a:ln>
        </p:spPr>
      </p:cxnSp>
      <p:cxnSp>
        <p:nvCxnSpPr>
          <p:cNvPr id="10261" name="AutoShape 22"/>
          <p:cNvCxnSpPr>
            <a:cxnSpLocks noChangeShapeType="1"/>
            <a:stCxn id="10250" idx="2"/>
            <a:endCxn id="10252" idx="0"/>
          </p:cNvCxnSpPr>
          <p:nvPr/>
        </p:nvCxnSpPr>
        <p:spPr bwMode="auto">
          <a:xfrm>
            <a:off x="6480175" y="3822700"/>
            <a:ext cx="36513" cy="327025"/>
          </a:xfrm>
          <a:prstGeom prst="straightConnector1">
            <a:avLst/>
          </a:prstGeom>
          <a:noFill/>
          <a:ln w="9525">
            <a:solidFill>
              <a:schemeClr val="tx1"/>
            </a:solidFill>
            <a:round/>
            <a:headEnd/>
            <a:tailEnd type="triangle" w="med" len="med"/>
          </a:ln>
        </p:spPr>
      </p:cxnSp>
      <p:cxnSp>
        <p:nvCxnSpPr>
          <p:cNvPr id="10262" name="AutoShape 23"/>
          <p:cNvCxnSpPr>
            <a:cxnSpLocks noChangeShapeType="1"/>
            <a:stCxn id="10252" idx="2"/>
            <a:endCxn id="10253" idx="3"/>
          </p:cNvCxnSpPr>
          <p:nvPr/>
        </p:nvCxnSpPr>
        <p:spPr bwMode="auto">
          <a:xfrm rot="5400000">
            <a:off x="5695547" y="4118373"/>
            <a:ext cx="207971" cy="1432725"/>
          </a:xfrm>
          <a:prstGeom prst="straightConnector1">
            <a:avLst/>
          </a:prstGeom>
          <a:noFill/>
          <a:ln w="9525">
            <a:solidFill>
              <a:schemeClr val="tx1"/>
            </a:solidFill>
            <a:round/>
            <a:headEnd/>
            <a:tailEnd type="triangle" w="med" len="med"/>
          </a:ln>
        </p:spPr>
      </p:cxnSp>
      <p:cxnSp>
        <p:nvCxnSpPr>
          <p:cNvPr id="10263" name="AutoShape 24"/>
          <p:cNvCxnSpPr>
            <a:cxnSpLocks noChangeShapeType="1"/>
            <a:stCxn id="10251" idx="2"/>
            <a:endCxn id="10253" idx="1"/>
          </p:cNvCxnSpPr>
          <p:nvPr/>
        </p:nvCxnSpPr>
        <p:spPr bwMode="auto">
          <a:xfrm rot="16200000" flipH="1">
            <a:off x="2815027" y="4110441"/>
            <a:ext cx="207971" cy="1448587"/>
          </a:xfrm>
          <a:prstGeom prst="straightConnector1">
            <a:avLst/>
          </a:prstGeom>
          <a:noFill/>
          <a:ln w="9525">
            <a:solidFill>
              <a:schemeClr val="tx1"/>
            </a:solidFill>
            <a:round/>
            <a:headEnd/>
            <a:tailEnd type="triangle" w="med" len="med"/>
          </a:ln>
        </p:spPr>
      </p:cxnSp>
      <p:cxnSp>
        <p:nvCxnSpPr>
          <p:cNvPr id="10264" name="AutoShape 25"/>
          <p:cNvCxnSpPr>
            <a:cxnSpLocks noChangeShapeType="1"/>
            <a:stCxn id="10247" idx="2"/>
            <a:endCxn id="10249" idx="0"/>
          </p:cNvCxnSpPr>
          <p:nvPr/>
        </p:nvCxnSpPr>
        <p:spPr bwMode="auto">
          <a:xfrm rot="16200000" flipH="1">
            <a:off x="1857358" y="2551094"/>
            <a:ext cx="487373" cy="404837"/>
          </a:xfrm>
          <a:prstGeom prst="straightConnector1">
            <a:avLst/>
          </a:prstGeom>
          <a:noFill/>
          <a:ln w="9525">
            <a:solidFill>
              <a:schemeClr val="tx1"/>
            </a:solidFill>
            <a:round/>
            <a:headEnd/>
            <a:tailEnd type="triangle" w="med" len="med"/>
          </a:ln>
        </p:spPr>
      </p:cxnSp>
      <p:cxnSp>
        <p:nvCxnSpPr>
          <p:cNvPr id="10265" name="AutoShape 26"/>
          <p:cNvCxnSpPr>
            <a:cxnSpLocks noChangeShapeType="1"/>
            <a:stCxn id="10249" idx="3"/>
            <a:endCxn id="10254" idx="1"/>
          </p:cNvCxnSpPr>
          <p:nvPr/>
        </p:nvCxnSpPr>
        <p:spPr bwMode="auto">
          <a:xfrm>
            <a:off x="3059113" y="3409950"/>
            <a:ext cx="936625" cy="47625"/>
          </a:xfrm>
          <a:prstGeom prst="straightConnector1">
            <a:avLst/>
          </a:prstGeom>
          <a:noFill/>
          <a:ln w="9525">
            <a:solidFill>
              <a:schemeClr val="tx1"/>
            </a:solidFill>
            <a:round/>
            <a:headEnd/>
            <a:tailEnd type="triangle" w="med" len="med"/>
          </a:ln>
        </p:spPr>
      </p:cxnSp>
      <p:cxnSp>
        <p:nvCxnSpPr>
          <p:cNvPr id="10266" name="AutoShape 27"/>
          <p:cNvCxnSpPr>
            <a:cxnSpLocks noChangeShapeType="1"/>
            <a:stCxn id="10255" idx="3"/>
            <a:endCxn id="10257" idx="1"/>
          </p:cNvCxnSpPr>
          <p:nvPr/>
        </p:nvCxnSpPr>
        <p:spPr bwMode="auto">
          <a:xfrm>
            <a:off x="2571737" y="5791215"/>
            <a:ext cx="1136663" cy="574234"/>
          </a:xfrm>
          <a:prstGeom prst="straightConnector1">
            <a:avLst/>
          </a:prstGeom>
          <a:noFill/>
          <a:ln w="9525">
            <a:solidFill>
              <a:schemeClr val="tx1"/>
            </a:solidFill>
            <a:round/>
            <a:headEnd/>
            <a:tailEnd type="triangle" w="med" len="med"/>
          </a:ln>
        </p:spPr>
      </p:cxnSp>
      <p:cxnSp>
        <p:nvCxnSpPr>
          <p:cNvPr id="10267" name="AutoShape 28"/>
          <p:cNvCxnSpPr>
            <a:cxnSpLocks noChangeShapeType="1"/>
            <a:stCxn id="10256" idx="1"/>
            <a:endCxn id="10257" idx="3"/>
          </p:cNvCxnSpPr>
          <p:nvPr/>
        </p:nvCxnSpPr>
        <p:spPr bwMode="auto">
          <a:xfrm rot="10800000" flipV="1">
            <a:off x="5076826" y="5668977"/>
            <a:ext cx="1209687" cy="696472"/>
          </a:xfrm>
          <a:prstGeom prst="straightConnector1">
            <a:avLst/>
          </a:prstGeom>
          <a:noFill/>
          <a:ln w="9525">
            <a:solidFill>
              <a:schemeClr val="tx1"/>
            </a:solidFill>
            <a:round/>
            <a:headEnd/>
            <a:tailEnd type="triangle" w="med" len="med"/>
          </a:ln>
        </p:spPr>
      </p:cxnSp>
      <p:cxnSp>
        <p:nvCxnSpPr>
          <p:cNvPr id="10268" name="AutoShape 29"/>
          <p:cNvCxnSpPr>
            <a:cxnSpLocks noChangeShapeType="1"/>
            <a:stCxn id="10253" idx="2"/>
            <a:endCxn id="10257" idx="0"/>
          </p:cNvCxnSpPr>
          <p:nvPr/>
        </p:nvCxnSpPr>
        <p:spPr bwMode="auto">
          <a:xfrm rot="16200000" flipH="1">
            <a:off x="4019948" y="5577285"/>
            <a:ext cx="715954" cy="29375"/>
          </a:xfrm>
          <a:prstGeom prst="straightConnector1">
            <a:avLst/>
          </a:prstGeom>
          <a:noFill/>
          <a:ln w="9525">
            <a:solidFill>
              <a:schemeClr val="tx1"/>
            </a:solidFill>
            <a:round/>
            <a:headEnd/>
            <a:tailEnd type="triangle" w="med" len="med"/>
          </a:ln>
        </p:spPr>
      </p:cxn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0056" name="Rectangle 8"/>
          <p:cNvSpPr>
            <a:spLocks noChangeArrowheads="1"/>
          </p:cNvSpPr>
          <p:nvPr/>
        </p:nvSpPr>
        <p:spPr bwMode="auto">
          <a:xfrm>
            <a:off x="357158" y="1428736"/>
            <a:ext cx="8064500" cy="5570756"/>
          </a:xfrm>
          <a:prstGeom prst="rect">
            <a:avLst/>
          </a:prstGeom>
          <a:noFill/>
          <a:ln w="9525">
            <a:noFill/>
            <a:miter lim="800000"/>
            <a:headEnd/>
            <a:tailEnd/>
          </a:ln>
        </p:spPr>
        <p:txBody>
          <a:bodyPr wrap="square">
            <a:spAutoFit/>
          </a:bodyPr>
          <a:lstStyle/>
          <a:p>
            <a:pPr marL="514350" indent="-514350">
              <a:buAutoNum type="arabicPeriod"/>
            </a:pPr>
            <a:r>
              <a:rPr lang="es-ES" sz="2800" dirty="0" smtClean="0">
                <a:latin typeface="Arial" pitchFamily="34" charset="0"/>
                <a:cs typeface="Arial" pitchFamily="34" charset="0"/>
              </a:rPr>
              <a:t>La </a:t>
            </a:r>
            <a:r>
              <a:rPr lang="es-ES" sz="2800" dirty="0">
                <a:latin typeface="Arial" pitchFamily="34" charset="0"/>
                <a:cs typeface="Arial" pitchFamily="34" charset="0"/>
              </a:rPr>
              <a:t>formación de la estrategia es un proceso deliberado de pensamiento consciente.</a:t>
            </a:r>
            <a:r>
              <a:rPr lang="en-US" sz="2800" dirty="0">
                <a:latin typeface="Arial" pitchFamily="34" charset="0"/>
                <a:cs typeface="Arial" pitchFamily="34" charset="0"/>
              </a:rPr>
              <a:t> </a:t>
            </a:r>
            <a:r>
              <a:rPr lang="es-ES" sz="2800" dirty="0">
                <a:latin typeface="Arial" pitchFamily="34" charset="0"/>
                <a:cs typeface="Arial" pitchFamily="34" charset="0"/>
              </a:rPr>
              <a:t> </a:t>
            </a:r>
            <a:endParaRPr lang="en-US" sz="2800" dirty="0" smtClean="0">
              <a:latin typeface="Arial" pitchFamily="34" charset="0"/>
              <a:cs typeface="Arial" pitchFamily="34" charset="0"/>
            </a:endParaRPr>
          </a:p>
          <a:p>
            <a:pPr marL="514350" indent="-514350">
              <a:buAutoNum type="arabicPeriod"/>
            </a:pPr>
            <a:r>
              <a:rPr lang="es-ES" sz="2800" dirty="0" smtClean="0">
                <a:latin typeface="Arial" pitchFamily="34" charset="0"/>
                <a:cs typeface="Arial" pitchFamily="34" charset="0"/>
              </a:rPr>
              <a:t> </a:t>
            </a:r>
            <a:r>
              <a:rPr lang="es-ES" sz="2800" dirty="0">
                <a:latin typeface="Arial" pitchFamily="34" charset="0"/>
                <a:cs typeface="Arial" pitchFamily="34" charset="0"/>
              </a:rPr>
              <a:t>El modelo de formación de la estrategia debe ser simple e informal.</a:t>
            </a:r>
            <a:r>
              <a:rPr lang="en-US" sz="2800" dirty="0">
                <a:latin typeface="Arial" pitchFamily="34" charset="0"/>
                <a:cs typeface="Arial" pitchFamily="34" charset="0"/>
              </a:rPr>
              <a:t> </a:t>
            </a:r>
            <a:r>
              <a:rPr lang="es-ES" sz="2800" dirty="0">
                <a:latin typeface="Arial" pitchFamily="34" charset="0"/>
                <a:cs typeface="Arial" pitchFamily="34" charset="0"/>
              </a:rPr>
              <a:t> </a:t>
            </a:r>
            <a:endParaRPr lang="en-US" sz="2800" dirty="0" smtClean="0">
              <a:latin typeface="Arial" pitchFamily="34" charset="0"/>
              <a:cs typeface="Arial" pitchFamily="34" charset="0"/>
            </a:endParaRPr>
          </a:p>
          <a:p>
            <a:pPr marL="514350" indent="-514350">
              <a:buAutoNum type="arabicPeriod"/>
            </a:pPr>
            <a:r>
              <a:rPr lang="es-ES" sz="2800" dirty="0" smtClean="0">
                <a:latin typeface="Arial" pitchFamily="34" charset="0"/>
                <a:cs typeface="Arial" pitchFamily="34" charset="0"/>
              </a:rPr>
              <a:t>La </a:t>
            </a:r>
            <a:r>
              <a:rPr lang="es-ES" sz="2800" dirty="0">
                <a:latin typeface="Arial" pitchFamily="34" charset="0"/>
                <a:cs typeface="Arial" pitchFamily="34" charset="0"/>
              </a:rPr>
              <a:t>mejor estrategia resultará de la aplicación del modelo al caso particular: lo importante en su formulación es evaluar la situación específica y aplicar el proceso corrector para formularla.  </a:t>
            </a:r>
            <a:endParaRPr lang="es-ES" sz="2800" dirty="0" smtClean="0">
              <a:latin typeface="Arial" pitchFamily="34" charset="0"/>
              <a:cs typeface="Arial" pitchFamily="34" charset="0"/>
            </a:endParaRPr>
          </a:p>
          <a:p>
            <a:pPr marL="514350" indent="-514350">
              <a:buAutoNum type="arabicPeriod"/>
            </a:pPr>
            <a:r>
              <a:rPr lang="es-ES" sz="2800" dirty="0" smtClean="0">
                <a:latin typeface="Arial" pitchFamily="34" charset="0"/>
                <a:cs typeface="Arial" pitchFamily="34" charset="0"/>
              </a:rPr>
              <a:t>La </a:t>
            </a:r>
            <a:r>
              <a:rPr lang="es-ES" sz="2800" dirty="0">
                <a:latin typeface="Arial" pitchFamily="34" charset="0"/>
                <a:cs typeface="Arial" pitchFamily="34" charset="0"/>
              </a:rPr>
              <a:t>estrategia debe ser explícita.  </a:t>
            </a:r>
            <a:endParaRPr lang="en-US" sz="2800" dirty="0" smtClean="0">
              <a:latin typeface="Arial" pitchFamily="34" charset="0"/>
              <a:cs typeface="Arial" pitchFamily="34" charset="0"/>
            </a:endParaRPr>
          </a:p>
          <a:p>
            <a:pPr marL="514350" indent="-514350">
              <a:buAutoNum type="arabicPeriod"/>
            </a:pPr>
            <a:r>
              <a:rPr lang="es-ES" sz="2800" dirty="0" smtClean="0">
                <a:latin typeface="Arial" pitchFamily="34" charset="0"/>
                <a:cs typeface="Arial" pitchFamily="34" charset="0"/>
              </a:rPr>
              <a:t>La </a:t>
            </a:r>
            <a:r>
              <a:rPr lang="es-ES" sz="2800" dirty="0">
                <a:latin typeface="Arial" pitchFamily="34" charset="0"/>
                <a:cs typeface="Arial" pitchFamily="34" charset="0"/>
              </a:rPr>
              <a:t>estrategia debe implementarse una vez formulada por completo.  </a:t>
            </a:r>
            <a:endParaRPr lang="en-US" sz="2800" dirty="0">
              <a:latin typeface="Arial" pitchFamily="34" charset="0"/>
              <a:cs typeface="Arial" pitchFamily="34" charset="0"/>
            </a:endParaRPr>
          </a:p>
          <a:p>
            <a:endParaRPr lang="en-US" sz="2000" dirty="0">
              <a:latin typeface="Arial" pitchFamily="34" charset="0"/>
              <a:cs typeface="Arial" pitchFamily="34" charset="0"/>
            </a:endParaRPr>
          </a:p>
        </p:txBody>
      </p:sp>
      <p:sp>
        <p:nvSpPr>
          <p:cNvPr id="9" name="8 Rectángulo"/>
          <p:cNvSpPr/>
          <p:nvPr/>
        </p:nvSpPr>
        <p:spPr>
          <a:xfrm>
            <a:off x="714348" y="428604"/>
            <a:ext cx="3082895" cy="923330"/>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MX"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Palatino Linotype" pitchFamily="18" charset="0"/>
              </a:rPr>
              <a:t>Premisas</a:t>
            </a:r>
            <a:endParaRPr lang="es-E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005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005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005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005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005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6"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6" name="Picture 4"/>
          <p:cNvPicPr>
            <a:picLocks noGrp="1" noChangeAspect="1" noChangeArrowheads="1"/>
          </p:cNvPicPr>
          <p:nvPr>
            <p:ph idx="1"/>
          </p:nvPr>
        </p:nvPicPr>
        <p:blipFill>
          <a:blip r:embed="rId3">
            <a:lum bright="-34000" contrast="6000"/>
          </a:blip>
          <a:stretch>
            <a:fillRect/>
          </a:stretch>
        </p:blipFill>
        <p:spPr>
          <a:xfrm>
            <a:off x="2357422" y="2071678"/>
            <a:ext cx="3467584" cy="4458323"/>
          </a:xfrm>
          <a:noFill/>
        </p:spPr>
      </p:pic>
      <p:sp>
        <p:nvSpPr>
          <p:cNvPr id="12294" name="Text Box 7"/>
          <p:cNvSpPr txBox="1">
            <a:spLocks noChangeArrowheads="1"/>
          </p:cNvSpPr>
          <p:nvPr/>
        </p:nvSpPr>
        <p:spPr bwMode="auto">
          <a:xfrm>
            <a:off x="1439863" y="1557338"/>
            <a:ext cx="7704137" cy="366712"/>
          </a:xfrm>
          <a:prstGeom prst="rect">
            <a:avLst/>
          </a:prstGeom>
          <a:noFill/>
          <a:ln w="9525">
            <a:noFill/>
            <a:miter lim="800000"/>
            <a:headEnd/>
            <a:tailEnd/>
          </a:ln>
        </p:spPr>
        <p:txBody>
          <a:bodyPr>
            <a:spAutoFit/>
          </a:bodyPr>
          <a:lstStyle/>
          <a:p>
            <a:pPr>
              <a:spcBef>
                <a:spcPct val="50000"/>
              </a:spcBef>
            </a:pPr>
            <a:endParaRPr lang="es-ES" dirty="0">
              <a:latin typeface="Palatino Linotype" pitchFamily="18" charset="0"/>
            </a:endParaRPr>
          </a:p>
        </p:txBody>
      </p:sp>
      <p:sp>
        <p:nvSpPr>
          <p:cNvPr id="132104" name="Rectangle 8"/>
          <p:cNvSpPr>
            <a:spLocks noChangeArrowheads="1"/>
          </p:cNvSpPr>
          <p:nvPr/>
        </p:nvSpPr>
        <p:spPr bwMode="auto">
          <a:xfrm>
            <a:off x="468313" y="2133600"/>
            <a:ext cx="8208962" cy="369888"/>
          </a:xfrm>
          <a:prstGeom prst="rect">
            <a:avLst/>
          </a:prstGeom>
          <a:noFill/>
          <a:ln w="9525">
            <a:noFill/>
            <a:miter lim="800000"/>
            <a:headEnd/>
            <a:tailEnd/>
          </a:ln>
        </p:spPr>
        <p:txBody>
          <a:bodyPr anchor="ctr">
            <a:spAutoFit/>
          </a:bodyPr>
          <a:lstStyle/>
          <a:p>
            <a:pPr lvl="1">
              <a:buFont typeface="Wingdings" pitchFamily="2" charset="2"/>
              <a:buChar char="ü"/>
              <a:tabLst>
                <a:tab pos="914400" algn="l"/>
              </a:tabLst>
            </a:pPr>
            <a:endParaRPr lang="es-ES" dirty="0">
              <a:latin typeface="Palatino Linotype" pitchFamily="18" charset="0"/>
            </a:endParaRPr>
          </a:p>
        </p:txBody>
      </p:sp>
      <p:sp>
        <p:nvSpPr>
          <p:cNvPr id="9" name="8 Rectángulo"/>
          <p:cNvSpPr/>
          <p:nvPr/>
        </p:nvSpPr>
        <p:spPr>
          <a:xfrm>
            <a:off x="0" y="357166"/>
            <a:ext cx="8317983" cy="1569660"/>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MX" sz="48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2.</a:t>
            </a:r>
          </a:p>
          <a:p>
            <a:pPr algn="ctr"/>
            <a:r>
              <a:rPr lang="es-MX" sz="48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ESCUELA DE PLANIFICACIÓN</a:t>
            </a:r>
            <a:endParaRPr lang="es-ES" sz="48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13210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04" grpId="0" build="p" bldLvl="2"/>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8" name="Text Box 7"/>
          <p:cNvSpPr txBox="1">
            <a:spLocks noChangeArrowheads="1"/>
          </p:cNvSpPr>
          <p:nvPr/>
        </p:nvSpPr>
        <p:spPr bwMode="auto">
          <a:xfrm>
            <a:off x="500034" y="571480"/>
            <a:ext cx="7704137" cy="1077218"/>
          </a:xfrm>
          <a:prstGeom prst="rect">
            <a:avLst/>
          </a:prstGeom>
          <a:noFill/>
          <a:ln w="9525">
            <a:noFill/>
            <a:miter lim="800000"/>
            <a:headEnd/>
            <a:tailEnd/>
          </a:ln>
        </p:spPr>
        <p:txBody>
          <a:bodyPr>
            <a:spAutoFit/>
          </a:bodyPr>
          <a:lstStyle/>
          <a:p>
            <a:pPr algn="just">
              <a:spcBef>
                <a:spcPct val="50000"/>
              </a:spcBef>
              <a:buFont typeface="Arial" pitchFamily="34" charset="0"/>
              <a:buChar char="•"/>
            </a:pPr>
            <a:r>
              <a:rPr lang="es-MX" sz="3200" dirty="0">
                <a:latin typeface="Arial" pitchFamily="34" charset="0"/>
                <a:cs typeface="Arial" pitchFamily="34" charset="0"/>
              </a:rPr>
              <a:t>La creación de estrategia como un proceso FORMAL</a:t>
            </a:r>
            <a:endParaRPr lang="es-ES" sz="3200" dirty="0">
              <a:latin typeface="Arial" pitchFamily="34" charset="0"/>
              <a:cs typeface="Arial" pitchFamily="34" charset="0"/>
            </a:endParaRPr>
          </a:p>
        </p:txBody>
      </p:sp>
      <p:sp>
        <p:nvSpPr>
          <p:cNvPr id="132104" name="Rectangle 8"/>
          <p:cNvSpPr>
            <a:spLocks noChangeArrowheads="1"/>
          </p:cNvSpPr>
          <p:nvPr/>
        </p:nvSpPr>
        <p:spPr bwMode="auto">
          <a:xfrm>
            <a:off x="0" y="1571612"/>
            <a:ext cx="8208962" cy="4524315"/>
          </a:xfrm>
          <a:prstGeom prst="rect">
            <a:avLst/>
          </a:prstGeom>
          <a:noFill/>
          <a:ln w="9525">
            <a:noFill/>
            <a:miter lim="800000"/>
            <a:headEnd/>
            <a:tailEnd/>
          </a:ln>
        </p:spPr>
        <p:txBody>
          <a:bodyPr anchor="ctr">
            <a:spAutoFit/>
          </a:bodyPr>
          <a:lstStyle/>
          <a:p>
            <a:pPr lvl="1" algn="just">
              <a:buFont typeface="Arial" pitchFamily="34" charset="0"/>
              <a:buChar char="•"/>
              <a:tabLst>
                <a:tab pos="914400" algn="l"/>
              </a:tabLst>
            </a:pPr>
            <a:r>
              <a:rPr lang="es-ES" sz="3200" dirty="0" smtClean="0">
                <a:latin typeface="Arial" pitchFamily="34" charset="0"/>
                <a:cs typeface="Arial" pitchFamily="34" charset="0"/>
              </a:rPr>
              <a:t>Toma </a:t>
            </a:r>
            <a:r>
              <a:rPr lang="es-ES" sz="3200" dirty="0">
                <a:latin typeface="Arial" pitchFamily="34" charset="0"/>
                <a:cs typeface="Arial" pitchFamily="34" charset="0"/>
              </a:rPr>
              <a:t>un grupo de rigurosas medidas, a partir del análisis de la situación hasta la ejecución de la estrategia. </a:t>
            </a:r>
          </a:p>
          <a:p>
            <a:pPr lvl="1" algn="just">
              <a:buFont typeface="Arial" pitchFamily="34" charset="0"/>
              <a:buChar char="•"/>
              <a:tabLst>
                <a:tab pos="914400" algn="l"/>
              </a:tabLst>
            </a:pPr>
            <a:r>
              <a:rPr lang="es-ES" sz="3200" dirty="0" smtClean="0">
                <a:latin typeface="Arial" pitchFamily="34" charset="0"/>
                <a:cs typeface="Arial" pitchFamily="34" charset="0"/>
              </a:rPr>
              <a:t>Da </a:t>
            </a:r>
            <a:r>
              <a:rPr lang="es-ES" sz="3200" dirty="0">
                <a:latin typeface="Arial" pitchFamily="34" charset="0"/>
                <a:cs typeface="Arial" pitchFamily="34" charset="0"/>
              </a:rPr>
              <a:t>una clara </a:t>
            </a:r>
            <a:r>
              <a:rPr lang="es-ES" sz="3200" dirty="0" smtClean="0">
                <a:latin typeface="Arial" pitchFamily="34" charset="0"/>
                <a:cs typeface="Arial" pitchFamily="34" charset="0"/>
              </a:rPr>
              <a:t>dirección, permite </a:t>
            </a:r>
            <a:r>
              <a:rPr lang="es-ES" sz="3200" dirty="0">
                <a:latin typeface="Arial" pitchFamily="34" charset="0"/>
                <a:cs typeface="Arial" pitchFamily="34" charset="0"/>
              </a:rPr>
              <a:t>la asignación de recursos. Los analistas pueden prever los hechos y pueden juzgar las estrategias hechas a la medida. </a:t>
            </a:r>
          </a:p>
          <a:p>
            <a:pPr lvl="1">
              <a:tabLst>
                <a:tab pos="914400" algn="l"/>
              </a:tabLst>
            </a:pPr>
            <a:endParaRPr lang="es-ES" sz="3200" dirty="0">
              <a:latin typeface="Arial" pitchFamily="34"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210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210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04" grpId="0" build="p" bldLvl="2"/>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2" name="Text Box 7"/>
          <p:cNvSpPr txBox="1">
            <a:spLocks noChangeArrowheads="1"/>
          </p:cNvSpPr>
          <p:nvPr/>
        </p:nvSpPr>
        <p:spPr bwMode="auto">
          <a:xfrm>
            <a:off x="285720" y="500042"/>
            <a:ext cx="7704137" cy="584775"/>
          </a:xfrm>
          <a:prstGeom prst="rect">
            <a:avLst/>
          </a:prstGeom>
          <a:noFill/>
          <a:ln w="9525">
            <a:noFill/>
            <a:miter lim="800000"/>
            <a:headEnd/>
            <a:tailEnd/>
          </a:ln>
        </p:spPr>
        <p:txBody>
          <a:bodyPr>
            <a:spAutoFit/>
          </a:bodyPr>
          <a:lstStyle/>
          <a:p>
            <a:pPr>
              <a:spcBef>
                <a:spcPct val="50000"/>
              </a:spcBef>
            </a:pPr>
            <a:r>
              <a:rPr lang="es-MX" sz="3200" dirty="0">
                <a:latin typeface="Palatino Linotype" pitchFamily="18" charset="0"/>
              </a:rPr>
              <a:t>MODELO Steiner (1969)</a:t>
            </a:r>
            <a:endParaRPr lang="es-ES" sz="3200" dirty="0">
              <a:latin typeface="Palatino Linotype" pitchFamily="18" charset="0"/>
            </a:endParaRPr>
          </a:p>
        </p:txBody>
      </p:sp>
      <p:sp>
        <p:nvSpPr>
          <p:cNvPr id="14343" name="Text Box 8"/>
          <p:cNvSpPr txBox="1">
            <a:spLocks noChangeArrowheads="1"/>
          </p:cNvSpPr>
          <p:nvPr/>
        </p:nvSpPr>
        <p:spPr bwMode="auto">
          <a:xfrm>
            <a:off x="428596" y="2071678"/>
            <a:ext cx="1295400" cy="336550"/>
          </a:xfrm>
          <a:prstGeom prst="rect">
            <a:avLst/>
          </a:prstGeom>
          <a:noFill/>
          <a:ln w="9525">
            <a:noFill/>
            <a:miter lim="800000"/>
            <a:headEnd/>
            <a:tailEnd/>
          </a:ln>
        </p:spPr>
        <p:txBody>
          <a:bodyPr>
            <a:spAutoFit/>
          </a:bodyPr>
          <a:lstStyle/>
          <a:p>
            <a:pPr algn="ctr">
              <a:spcBef>
                <a:spcPct val="50000"/>
              </a:spcBef>
            </a:pPr>
            <a:r>
              <a:rPr lang="es-MX" sz="1600" dirty="0"/>
              <a:t>PREMISAS</a:t>
            </a:r>
            <a:endParaRPr lang="es-ES" sz="1600" dirty="0"/>
          </a:p>
        </p:txBody>
      </p:sp>
      <p:sp>
        <p:nvSpPr>
          <p:cNvPr id="14344" name="Text Box 9"/>
          <p:cNvSpPr txBox="1">
            <a:spLocks noChangeArrowheads="1"/>
          </p:cNvSpPr>
          <p:nvPr/>
        </p:nvSpPr>
        <p:spPr bwMode="auto">
          <a:xfrm>
            <a:off x="3357554" y="2071678"/>
            <a:ext cx="2305050" cy="336550"/>
          </a:xfrm>
          <a:prstGeom prst="rect">
            <a:avLst/>
          </a:prstGeom>
          <a:noFill/>
          <a:ln w="9525">
            <a:noFill/>
            <a:miter lim="800000"/>
            <a:headEnd/>
            <a:tailEnd/>
          </a:ln>
        </p:spPr>
        <p:txBody>
          <a:bodyPr>
            <a:spAutoFit/>
          </a:bodyPr>
          <a:lstStyle/>
          <a:p>
            <a:pPr algn="ctr">
              <a:spcBef>
                <a:spcPct val="50000"/>
              </a:spcBef>
            </a:pPr>
            <a:r>
              <a:rPr lang="es-MX" sz="1600" dirty="0"/>
              <a:t>PLANIFICACIÓN</a:t>
            </a:r>
            <a:endParaRPr lang="es-ES" sz="1600" dirty="0"/>
          </a:p>
        </p:txBody>
      </p:sp>
      <p:sp>
        <p:nvSpPr>
          <p:cNvPr id="14345" name="Text Box 10"/>
          <p:cNvSpPr txBox="1">
            <a:spLocks noChangeArrowheads="1"/>
          </p:cNvSpPr>
          <p:nvPr/>
        </p:nvSpPr>
        <p:spPr bwMode="auto">
          <a:xfrm>
            <a:off x="6072198" y="2000240"/>
            <a:ext cx="2071702" cy="336550"/>
          </a:xfrm>
          <a:prstGeom prst="rect">
            <a:avLst/>
          </a:prstGeom>
          <a:noFill/>
          <a:ln w="9525">
            <a:noFill/>
            <a:miter lim="800000"/>
            <a:headEnd/>
            <a:tailEnd/>
          </a:ln>
        </p:spPr>
        <p:txBody>
          <a:bodyPr wrap="square">
            <a:spAutoFit/>
          </a:bodyPr>
          <a:lstStyle/>
          <a:p>
            <a:pPr algn="ctr">
              <a:spcBef>
                <a:spcPct val="50000"/>
              </a:spcBef>
            </a:pPr>
            <a:r>
              <a:rPr lang="es-MX" sz="1600" dirty="0"/>
              <a:t>APLICAR Y REVISAR</a:t>
            </a:r>
            <a:endParaRPr lang="es-ES" sz="1600" dirty="0"/>
          </a:p>
        </p:txBody>
      </p:sp>
      <p:sp>
        <p:nvSpPr>
          <p:cNvPr id="14346" name="Text Box 11"/>
          <p:cNvSpPr txBox="1">
            <a:spLocks noChangeArrowheads="1"/>
          </p:cNvSpPr>
          <p:nvPr/>
        </p:nvSpPr>
        <p:spPr bwMode="auto">
          <a:xfrm>
            <a:off x="323850" y="3141663"/>
            <a:ext cx="1511300" cy="739775"/>
          </a:xfrm>
          <a:prstGeom prst="rect">
            <a:avLst/>
          </a:prstGeom>
          <a:noFill/>
          <a:ln w="9525">
            <a:solidFill>
              <a:srgbClr val="00CCFF"/>
            </a:solidFill>
            <a:miter lim="800000"/>
            <a:headEnd/>
            <a:tailEnd/>
          </a:ln>
        </p:spPr>
        <p:txBody>
          <a:bodyPr>
            <a:spAutoFit/>
          </a:bodyPr>
          <a:lstStyle/>
          <a:p>
            <a:pPr algn="ctr">
              <a:spcBef>
                <a:spcPct val="50000"/>
              </a:spcBef>
            </a:pPr>
            <a:r>
              <a:rPr lang="es-MX" sz="1400" dirty="0"/>
              <a:t>Objetivo Socioeconómico Fundamental</a:t>
            </a:r>
            <a:endParaRPr lang="es-ES" sz="1400" dirty="0"/>
          </a:p>
        </p:txBody>
      </p:sp>
      <p:sp>
        <p:nvSpPr>
          <p:cNvPr id="14347" name="Text Box 12"/>
          <p:cNvSpPr txBox="1">
            <a:spLocks noChangeArrowheads="1"/>
          </p:cNvSpPr>
          <p:nvPr/>
        </p:nvSpPr>
        <p:spPr bwMode="auto">
          <a:xfrm>
            <a:off x="323850" y="4221163"/>
            <a:ext cx="1511300" cy="739775"/>
          </a:xfrm>
          <a:prstGeom prst="rect">
            <a:avLst/>
          </a:prstGeom>
          <a:noFill/>
          <a:ln w="9525">
            <a:solidFill>
              <a:srgbClr val="00CCFF"/>
            </a:solidFill>
            <a:miter lim="800000"/>
            <a:headEnd/>
            <a:tailEnd/>
          </a:ln>
        </p:spPr>
        <p:txBody>
          <a:bodyPr>
            <a:spAutoFit/>
          </a:bodyPr>
          <a:lstStyle/>
          <a:p>
            <a:pPr algn="ctr">
              <a:spcBef>
                <a:spcPct val="50000"/>
              </a:spcBef>
            </a:pPr>
            <a:r>
              <a:rPr lang="es-MX" sz="1400" dirty="0"/>
              <a:t>Valores de los directivos superiores</a:t>
            </a:r>
            <a:endParaRPr lang="es-ES" sz="1400" dirty="0"/>
          </a:p>
        </p:txBody>
      </p:sp>
      <p:sp>
        <p:nvSpPr>
          <p:cNvPr id="14348" name="Text Box 13"/>
          <p:cNvSpPr txBox="1">
            <a:spLocks noChangeArrowheads="1"/>
          </p:cNvSpPr>
          <p:nvPr/>
        </p:nvSpPr>
        <p:spPr bwMode="auto">
          <a:xfrm>
            <a:off x="323850" y="5373688"/>
            <a:ext cx="1511300" cy="527050"/>
          </a:xfrm>
          <a:prstGeom prst="rect">
            <a:avLst/>
          </a:prstGeom>
          <a:noFill/>
          <a:ln w="9525">
            <a:solidFill>
              <a:srgbClr val="00CCFF"/>
            </a:solidFill>
            <a:miter lim="800000"/>
            <a:headEnd/>
            <a:tailEnd/>
          </a:ln>
        </p:spPr>
        <p:txBody>
          <a:bodyPr>
            <a:spAutoFit/>
          </a:bodyPr>
          <a:lstStyle/>
          <a:p>
            <a:pPr algn="ctr">
              <a:spcBef>
                <a:spcPct val="50000"/>
              </a:spcBef>
            </a:pPr>
            <a:r>
              <a:rPr lang="es-MX" sz="1400" dirty="0"/>
              <a:t>Evaluación FODA</a:t>
            </a:r>
            <a:endParaRPr lang="es-ES" sz="1400" dirty="0"/>
          </a:p>
        </p:txBody>
      </p:sp>
      <p:sp>
        <p:nvSpPr>
          <p:cNvPr id="14349" name="Text Box 14"/>
          <p:cNvSpPr txBox="1">
            <a:spLocks noChangeArrowheads="1"/>
          </p:cNvSpPr>
          <p:nvPr/>
        </p:nvSpPr>
        <p:spPr bwMode="auto">
          <a:xfrm>
            <a:off x="2268538" y="3573463"/>
            <a:ext cx="1368425" cy="1836737"/>
          </a:xfrm>
          <a:prstGeom prst="rect">
            <a:avLst/>
          </a:prstGeom>
          <a:noFill/>
          <a:ln w="9525">
            <a:solidFill>
              <a:srgbClr val="00CCFF"/>
            </a:solidFill>
            <a:miter lim="800000"/>
            <a:headEnd/>
            <a:tailEnd/>
          </a:ln>
        </p:spPr>
        <p:txBody>
          <a:bodyPr>
            <a:spAutoFit/>
          </a:bodyPr>
          <a:lstStyle/>
          <a:p>
            <a:pPr algn="ctr">
              <a:spcBef>
                <a:spcPct val="50000"/>
              </a:spcBef>
            </a:pPr>
            <a:r>
              <a:rPr lang="es-MX" sz="1200" b="1" dirty="0"/>
              <a:t>Planes y Planificación Estratégica</a:t>
            </a:r>
          </a:p>
          <a:p>
            <a:pPr algn="ctr">
              <a:spcBef>
                <a:spcPct val="50000"/>
              </a:spcBef>
            </a:pPr>
            <a:r>
              <a:rPr lang="es-MX" sz="1200" dirty="0"/>
              <a:t>Misiones de la compañía; objetivos políticas y estrategias a largo plazo</a:t>
            </a:r>
            <a:endParaRPr lang="es-ES" sz="1200" dirty="0"/>
          </a:p>
        </p:txBody>
      </p:sp>
      <p:sp>
        <p:nvSpPr>
          <p:cNvPr id="14350" name="Text Box 15"/>
          <p:cNvSpPr txBox="1">
            <a:spLocks noChangeArrowheads="1"/>
          </p:cNvSpPr>
          <p:nvPr/>
        </p:nvSpPr>
        <p:spPr bwMode="auto">
          <a:xfrm>
            <a:off x="3779838" y="3644900"/>
            <a:ext cx="1368425" cy="1655763"/>
          </a:xfrm>
          <a:prstGeom prst="rect">
            <a:avLst/>
          </a:prstGeom>
          <a:noFill/>
          <a:ln w="9525">
            <a:solidFill>
              <a:srgbClr val="00CCFF"/>
            </a:solidFill>
            <a:miter lim="800000"/>
            <a:headEnd/>
            <a:tailEnd/>
          </a:ln>
        </p:spPr>
        <p:txBody>
          <a:bodyPr>
            <a:spAutoFit/>
          </a:bodyPr>
          <a:lstStyle/>
          <a:p>
            <a:pPr algn="ctr">
              <a:spcBef>
                <a:spcPct val="50000"/>
              </a:spcBef>
            </a:pPr>
            <a:r>
              <a:rPr lang="es-MX" sz="1200" b="1" dirty="0"/>
              <a:t>Programación y Programas de mediano Alcance</a:t>
            </a:r>
          </a:p>
          <a:p>
            <a:pPr algn="ctr">
              <a:spcBef>
                <a:spcPct val="50000"/>
              </a:spcBef>
            </a:pPr>
            <a:r>
              <a:rPr lang="es-MX" sz="1200" dirty="0"/>
              <a:t>Sub-objetivos</a:t>
            </a:r>
          </a:p>
          <a:p>
            <a:pPr algn="ctr">
              <a:spcBef>
                <a:spcPct val="50000"/>
              </a:spcBef>
            </a:pPr>
            <a:r>
              <a:rPr lang="es-MX" sz="1200" dirty="0"/>
              <a:t>Sub-políticas</a:t>
            </a:r>
          </a:p>
          <a:p>
            <a:pPr algn="ctr">
              <a:spcBef>
                <a:spcPct val="50000"/>
              </a:spcBef>
            </a:pPr>
            <a:r>
              <a:rPr lang="es-MX" sz="1200" dirty="0"/>
              <a:t>Sub-estrategias</a:t>
            </a:r>
            <a:endParaRPr lang="es-ES" sz="1200" dirty="0"/>
          </a:p>
        </p:txBody>
      </p:sp>
      <p:sp>
        <p:nvSpPr>
          <p:cNvPr id="14351" name="Text Box 16"/>
          <p:cNvSpPr txBox="1">
            <a:spLocks noChangeArrowheads="1"/>
          </p:cNvSpPr>
          <p:nvPr/>
        </p:nvSpPr>
        <p:spPr bwMode="auto">
          <a:xfrm>
            <a:off x="5508625" y="3573463"/>
            <a:ext cx="1349391" cy="1846659"/>
          </a:xfrm>
          <a:prstGeom prst="rect">
            <a:avLst/>
          </a:prstGeom>
          <a:noFill/>
          <a:ln w="9525">
            <a:solidFill>
              <a:srgbClr val="00CCFF"/>
            </a:solidFill>
            <a:miter lim="800000"/>
            <a:headEnd/>
            <a:tailEnd/>
          </a:ln>
        </p:spPr>
        <p:txBody>
          <a:bodyPr wrap="square">
            <a:spAutoFit/>
          </a:bodyPr>
          <a:lstStyle/>
          <a:p>
            <a:pPr algn="ctr">
              <a:spcBef>
                <a:spcPct val="50000"/>
              </a:spcBef>
            </a:pPr>
            <a:r>
              <a:rPr lang="es-MX" sz="1200" b="1" dirty="0"/>
              <a:t>Planificación y planes de corto alcance</a:t>
            </a:r>
          </a:p>
          <a:p>
            <a:pPr algn="ctr">
              <a:spcBef>
                <a:spcPct val="50000"/>
              </a:spcBef>
            </a:pPr>
            <a:r>
              <a:rPr lang="es-MX" sz="1200" dirty="0"/>
              <a:t>Metas, objetivos, procedimientos, planes tácticos, planes programados</a:t>
            </a:r>
            <a:endParaRPr lang="es-ES" sz="1200" dirty="0"/>
          </a:p>
        </p:txBody>
      </p:sp>
      <p:sp>
        <p:nvSpPr>
          <p:cNvPr id="14352" name="Text Box 17"/>
          <p:cNvSpPr txBox="1">
            <a:spLocks noChangeArrowheads="1"/>
          </p:cNvSpPr>
          <p:nvPr/>
        </p:nvSpPr>
        <p:spPr bwMode="auto">
          <a:xfrm>
            <a:off x="7000892" y="3214686"/>
            <a:ext cx="1143008" cy="952500"/>
          </a:xfrm>
          <a:prstGeom prst="rect">
            <a:avLst/>
          </a:prstGeom>
          <a:noFill/>
          <a:ln w="9525">
            <a:solidFill>
              <a:srgbClr val="00CCFF"/>
            </a:solidFill>
            <a:miter lim="800000"/>
            <a:headEnd/>
            <a:tailEnd/>
          </a:ln>
        </p:spPr>
        <p:txBody>
          <a:bodyPr wrap="square">
            <a:spAutoFit/>
          </a:bodyPr>
          <a:lstStyle/>
          <a:p>
            <a:pPr algn="ctr">
              <a:spcBef>
                <a:spcPct val="50000"/>
              </a:spcBef>
            </a:pPr>
            <a:r>
              <a:rPr lang="es-MX" sz="1400" b="1" dirty="0"/>
              <a:t>Organización para la aplicación de planes</a:t>
            </a:r>
            <a:endParaRPr lang="es-ES" sz="1400" dirty="0"/>
          </a:p>
        </p:txBody>
      </p:sp>
      <p:sp>
        <p:nvSpPr>
          <p:cNvPr id="14353" name="Text Box 18"/>
          <p:cNvSpPr txBox="1">
            <a:spLocks noChangeArrowheads="1"/>
          </p:cNvSpPr>
          <p:nvPr/>
        </p:nvSpPr>
        <p:spPr bwMode="auto">
          <a:xfrm>
            <a:off x="6929454" y="4929198"/>
            <a:ext cx="1223962" cy="739775"/>
          </a:xfrm>
          <a:prstGeom prst="rect">
            <a:avLst/>
          </a:prstGeom>
          <a:noFill/>
          <a:ln w="9525">
            <a:solidFill>
              <a:srgbClr val="00CCFF"/>
            </a:solidFill>
            <a:miter lim="800000"/>
            <a:headEnd/>
            <a:tailEnd/>
          </a:ln>
        </p:spPr>
        <p:txBody>
          <a:bodyPr wrap="square">
            <a:spAutoFit/>
          </a:bodyPr>
          <a:lstStyle/>
          <a:p>
            <a:pPr algn="ctr">
              <a:spcBef>
                <a:spcPct val="50000"/>
              </a:spcBef>
            </a:pPr>
            <a:r>
              <a:rPr lang="es-MX" sz="1400" b="1" dirty="0"/>
              <a:t>Revisión y evaluación de planes</a:t>
            </a:r>
            <a:endParaRPr lang="es-ES" sz="1400" dirty="0"/>
          </a:p>
        </p:txBody>
      </p:sp>
      <p:sp>
        <p:nvSpPr>
          <p:cNvPr id="14354" name="Text Box 19"/>
          <p:cNvSpPr txBox="1">
            <a:spLocks noChangeArrowheads="1"/>
          </p:cNvSpPr>
          <p:nvPr/>
        </p:nvSpPr>
        <p:spPr bwMode="auto">
          <a:xfrm>
            <a:off x="3708400" y="2636838"/>
            <a:ext cx="1511300" cy="517525"/>
          </a:xfrm>
          <a:prstGeom prst="rect">
            <a:avLst/>
          </a:prstGeom>
          <a:noFill/>
          <a:ln w="9525">
            <a:noFill/>
            <a:miter lim="800000"/>
            <a:headEnd/>
            <a:tailEnd/>
          </a:ln>
        </p:spPr>
        <p:txBody>
          <a:bodyPr>
            <a:spAutoFit/>
          </a:bodyPr>
          <a:lstStyle/>
          <a:p>
            <a:pPr algn="ctr">
              <a:spcBef>
                <a:spcPct val="50000"/>
              </a:spcBef>
            </a:pPr>
            <a:r>
              <a:rPr lang="es-MX" sz="1400" b="1" dirty="0"/>
              <a:t>Estudios de planificación</a:t>
            </a:r>
            <a:endParaRPr lang="es-ES" sz="1400" dirty="0"/>
          </a:p>
        </p:txBody>
      </p:sp>
      <p:cxnSp>
        <p:nvCxnSpPr>
          <p:cNvPr id="14355" name="AutoShape 22"/>
          <p:cNvCxnSpPr>
            <a:cxnSpLocks noChangeShapeType="1"/>
            <a:stCxn id="14346" idx="0"/>
            <a:endCxn id="14354" idx="1"/>
          </p:cNvCxnSpPr>
          <p:nvPr/>
        </p:nvCxnSpPr>
        <p:spPr bwMode="auto">
          <a:xfrm rot="-5400000">
            <a:off x="2270918" y="1704182"/>
            <a:ext cx="246063" cy="2628900"/>
          </a:xfrm>
          <a:prstGeom prst="bentConnector2">
            <a:avLst/>
          </a:prstGeom>
          <a:noFill/>
          <a:ln w="9525">
            <a:solidFill>
              <a:schemeClr val="tx1"/>
            </a:solidFill>
            <a:miter lim="800000"/>
            <a:headEnd type="triangle" w="med" len="med"/>
            <a:tailEnd type="triangle" w="med" len="med"/>
          </a:ln>
        </p:spPr>
      </p:cxnSp>
      <p:cxnSp>
        <p:nvCxnSpPr>
          <p:cNvPr id="14356" name="AutoShape 23"/>
          <p:cNvCxnSpPr>
            <a:cxnSpLocks noChangeShapeType="1"/>
            <a:stCxn id="14352" idx="0"/>
            <a:endCxn id="14354" idx="3"/>
          </p:cNvCxnSpPr>
          <p:nvPr/>
        </p:nvCxnSpPr>
        <p:spPr bwMode="auto">
          <a:xfrm rot="16200000" flipV="1">
            <a:off x="6236506" y="1878796"/>
            <a:ext cx="319085" cy="2352696"/>
          </a:xfrm>
          <a:prstGeom prst="bentConnector2">
            <a:avLst/>
          </a:prstGeom>
          <a:noFill/>
          <a:ln w="9525">
            <a:solidFill>
              <a:schemeClr val="tx1"/>
            </a:solidFill>
            <a:miter lim="800000"/>
            <a:headEnd type="triangle" w="med" len="med"/>
            <a:tailEnd type="triangle" w="med" len="med"/>
          </a:ln>
        </p:spPr>
      </p:cxnSp>
      <p:cxnSp>
        <p:nvCxnSpPr>
          <p:cNvPr id="14357" name="AutoShape 24"/>
          <p:cNvCxnSpPr>
            <a:cxnSpLocks noChangeShapeType="1"/>
            <a:stCxn id="14349" idx="0"/>
            <a:endCxn id="14354" idx="2"/>
          </p:cNvCxnSpPr>
          <p:nvPr/>
        </p:nvCxnSpPr>
        <p:spPr bwMode="auto">
          <a:xfrm rot="-5400000">
            <a:off x="3498850" y="2608263"/>
            <a:ext cx="419100" cy="1511300"/>
          </a:xfrm>
          <a:prstGeom prst="bentConnector3">
            <a:avLst>
              <a:gd name="adj1" fmla="val 50000"/>
            </a:avLst>
          </a:prstGeom>
          <a:noFill/>
          <a:ln w="9525">
            <a:solidFill>
              <a:schemeClr val="tx1"/>
            </a:solidFill>
            <a:miter lim="800000"/>
            <a:headEnd type="triangle" w="med" len="med"/>
            <a:tailEnd type="triangle" w="med" len="med"/>
          </a:ln>
        </p:spPr>
      </p:cxnSp>
      <p:cxnSp>
        <p:nvCxnSpPr>
          <p:cNvPr id="14358" name="AutoShape 25"/>
          <p:cNvCxnSpPr>
            <a:cxnSpLocks noChangeShapeType="1"/>
            <a:stCxn id="14350" idx="0"/>
            <a:endCxn id="14354" idx="2"/>
          </p:cNvCxnSpPr>
          <p:nvPr/>
        </p:nvCxnSpPr>
        <p:spPr bwMode="auto">
          <a:xfrm rot="-5400000">
            <a:off x="4218781" y="3399632"/>
            <a:ext cx="490537" cy="0"/>
          </a:xfrm>
          <a:prstGeom prst="straightConnector1">
            <a:avLst/>
          </a:prstGeom>
          <a:noFill/>
          <a:ln w="9525">
            <a:solidFill>
              <a:schemeClr val="tx1"/>
            </a:solidFill>
            <a:round/>
            <a:headEnd type="triangle" w="med" len="med"/>
            <a:tailEnd type="triangle" w="med" len="med"/>
          </a:ln>
        </p:spPr>
      </p:cxnSp>
      <p:cxnSp>
        <p:nvCxnSpPr>
          <p:cNvPr id="14359" name="AutoShape 26"/>
          <p:cNvCxnSpPr>
            <a:cxnSpLocks noChangeShapeType="1"/>
            <a:stCxn id="14351" idx="0"/>
            <a:endCxn id="14354" idx="2"/>
          </p:cNvCxnSpPr>
          <p:nvPr/>
        </p:nvCxnSpPr>
        <p:spPr bwMode="auto">
          <a:xfrm rot="16200000" flipV="1">
            <a:off x="5114136" y="2504277"/>
            <a:ext cx="419100" cy="1719271"/>
          </a:xfrm>
          <a:prstGeom prst="bentConnector3">
            <a:avLst>
              <a:gd name="adj1" fmla="val 50000"/>
            </a:avLst>
          </a:prstGeom>
          <a:noFill/>
          <a:ln w="9525">
            <a:solidFill>
              <a:schemeClr val="tx1"/>
            </a:solidFill>
            <a:miter lim="800000"/>
            <a:headEnd type="triangle" w="med" len="med"/>
            <a:tailEnd type="triangle" w="med" len="med"/>
          </a:ln>
        </p:spPr>
      </p:cxnSp>
      <p:cxnSp>
        <p:nvCxnSpPr>
          <p:cNvPr id="14360" name="AutoShape 27"/>
          <p:cNvCxnSpPr>
            <a:cxnSpLocks noChangeShapeType="1"/>
            <a:stCxn id="14353" idx="0"/>
            <a:endCxn id="14352" idx="2"/>
          </p:cNvCxnSpPr>
          <p:nvPr/>
        </p:nvCxnSpPr>
        <p:spPr bwMode="auto">
          <a:xfrm rot="5400000" flipH="1" flipV="1">
            <a:off x="7175909" y="4532712"/>
            <a:ext cx="762012" cy="30961"/>
          </a:xfrm>
          <a:prstGeom prst="bentConnector3">
            <a:avLst>
              <a:gd name="adj1" fmla="val 50000"/>
            </a:avLst>
          </a:prstGeom>
          <a:noFill/>
          <a:ln w="9525">
            <a:solidFill>
              <a:schemeClr val="tx1"/>
            </a:solidFill>
            <a:miter lim="800000"/>
            <a:headEnd type="triangle" w="med" len="med"/>
            <a:tailEnd type="triangle" w="med" len="med"/>
          </a:ln>
        </p:spPr>
      </p:cxnSp>
      <p:sp>
        <p:nvSpPr>
          <p:cNvPr id="14361" name="Text Box 28"/>
          <p:cNvSpPr txBox="1">
            <a:spLocks noChangeArrowheads="1"/>
          </p:cNvSpPr>
          <p:nvPr/>
        </p:nvSpPr>
        <p:spPr bwMode="auto">
          <a:xfrm>
            <a:off x="3708400" y="5876925"/>
            <a:ext cx="1511300" cy="517525"/>
          </a:xfrm>
          <a:prstGeom prst="rect">
            <a:avLst/>
          </a:prstGeom>
          <a:noFill/>
          <a:ln w="9525">
            <a:noFill/>
            <a:miter lim="800000"/>
            <a:headEnd/>
            <a:tailEnd/>
          </a:ln>
        </p:spPr>
        <p:txBody>
          <a:bodyPr>
            <a:spAutoFit/>
          </a:bodyPr>
          <a:lstStyle/>
          <a:p>
            <a:pPr algn="ctr">
              <a:spcBef>
                <a:spcPct val="50000"/>
              </a:spcBef>
            </a:pPr>
            <a:r>
              <a:rPr lang="es-MX" sz="1400" b="1" dirty="0"/>
              <a:t>Pruebas de Factibilidad</a:t>
            </a:r>
            <a:endParaRPr lang="es-ES" sz="1400" dirty="0"/>
          </a:p>
        </p:txBody>
      </p:sp>
      <p:cxnSp>
        <p:nvCxnSpPr>
          <p:cNvPr id="14362" name="AutoShape 30"/>
          <p:cNvCxnSpPr>
            <a:cxnSpLocks noChangeShapeType="1"/>
            <a:stCxn id="14347" idx="2"/>
            <a:endCxn id="14348" idx="0"/>
          </p:cNvCxnSpPr>
          <p:nvPr/>
        </p:nvCxnSpPr>
        <p:spPr bwMode="auto">
          <a:xfrm rot="5400000">
            <a:off x="873125" y="5167313"/>
            <a:ext cx="412750" cy="0"/>
          </a:xfrm>
          <a:prstGeom prst="straightConnector1">
            <a:avLst/>
          </a:prstGeom>
          <a:noFill/>
          <a:ln w="9525">
            <a:solidFill>
              <a:schemeClr val="tx1"/>
            </a:solidFill>
            <a:round/>
            <a:headEnd type="triangle" w="med" len="med"/>
            <a:tailEnd type="triangle" w="med" len="med"/>
          </a:ln>
        </p:spPr>
      </p:cxnSp>
      <p:cxnSp>
        <p:nvCxnSpPr>
          <p:cNvPr id="14363" name="AutoShape 31"/>
          <p:cNvCxnSpPr>
            <a:cxnSpLocks noChangeShapeType="1"/>
            <a:stCxn id="14346" idx="2"/>
            <a:endCxn id="14347" idx="0"/>
          </p:cNvCxnSpPr>
          <p:nvPr/>
        </p:nvCxnSpPr>
        <p:spPr bwMode="auto">
          <a:xfrm rot="5400000">
            <a:off x="909637" y="4051301"/>
            <a:ext cx="339725" cy="0"/>
          </a:xfrm>
          <a:prstGeom prst="straightConnector1">
            <a:avLst/>
          </a:prstGeom>
          <a:noFill/>
          <a:ln w="9525">
            <a:solidFill>
              <a:schemeClr val="tx1"/>
            </a:solidFill>
            <a:round/>
            <a:headEnd type="triangle" w="med" len="med"/>
            <a:tailEnd type="triangle" w="med" len="med"/>
          </a:ln>
        </p:spPr>
      </p:cxnSp>
      <p:cxnSp>
        <p:nvCxnSpPr>
          <p:cNvPr id="14364" name="AutoShape 32"/>
          <p:cNvCxnSpPr>
            <a:cxnSpLocks noChangeShapeType="1"/>
            <a:stCxn id="14348" idx="2"/>
            <a:endCxn id="14361" idx="1"/>
          </p:cNvCxnSpPr>
          <p:nvPr/>
        </p:nvCxnSpPr>
        <p:spPr bwMode="auto">
          <a:xfrm rot="16200000" flipH="1">
            <a:off x="2276475" y="4703763"/>
            <a:ext cx="234950" cy="2628900"/>
          </a:xfrm>
          <a:prstGeom prst="bentConnector2">
            <a:avLst/>
          </a:prstGeom>
          <a:noFill/>
          <a:ln w="9525">
            <a:solidFill>
              <a:schemeClr val="tx1"/>
            </a:solidFill>
            <a:miter lim="800000"/>
            <a:headEnd type="triangle" w="med" len="med"/>
            <a:tailEnd type="triangle" w="med" len="med"/>
          </a:ln>
        </p:spPr>
      </p:cxnSp>
      <p:cxnSp>
        <p:nvCxnSpPr>
          <p:cNvPr id="14365" name="AutoShape 33"/>
          <p:cNvCxnSpPr>
            <a:cxnSpLocks noChangeShapeType="1"/>
            <a:stCxn id="14350" idx="2"/>
            <a:endCxn id="14361" idx="0"/>
          </p:cNvCxnSpPr>
          <p:nvPr/>
        </p:nvCxnSpPr>
        <p:spPr bwMode="auto">
          <a:xfrm rot="5400000">
            <a:off x="4175919" y="5588794"/>
            <a:ext cx="576262" cy="0"/>
          </a:xfrm>
          <a:prstGeom prst="straightConnector1">
            <a:avLst/>
          </a:prstGeom>
          <a:noFill/>
          <a:ln w="9525">
            <a:solidFill>
              <a:schemeClr val="tx1"/>
            </a:solidFill>
            <a:round/>
            <a:headEnd type="triangle" w="med" len="med"/>
            <a:tailEnd type="triangle" w="med" len="med"/>
          </a:ln>
        </p:spPr>
      </p:cxnSp>
      <p:cxnSp>
        <p:nvCxnSpPr>
          <p:cNvPr id="14366" name="AutoShape 34"/>
          <p:cNvCxnSpPr>
            <a:cxnSpLocks noChangeShapeType="1"/>
            <a:stCxn id="14353" idx="2"/>
            <a:endCxn id="14361" idx="3"/>
          </p:cNvCxnSpPr>
          <p:nvPr/>
        </p:nvCxnSpPr>
        <p:spPr bwMode="auto">
          <a:xfrm rot="5400000">
            <a:off x="6147211" y="4741463"/>
            <a:ext cx="466715" cy="2321735"/>
          </a:xfrm>
          <a:prstGeom prst="bentConnector2">
            <a:avLst/>
          </a:prstGeom>
          <a:noFill/>
          <a:ln w="9525">
            <a:solidFill>
              <a:schemeClr val="tx1"/>
            </a:solidFill>
            <a:miter lim="800000"/>
            <a:headEnd type="triangle" w="med" len="med"/>
            <a:tailEnd type="triangle" w="med" len="med"/>
          </a:ln>
        </p:spPr>
      </p:cxnSp>
      <p:cxnSp>
        <p:nvCxnSpPr>
          <p:cNvPr id="14367" name="AutoShape 35"/>
          <p:cNvCxnSpPr>
            <a:cxnSpLocks noChangeShapeType="1"/>
            <a:stCxn id="14349" idx="2"/>
            <a:endCxn id="14361" idx="0"/>
          </p:cNvCxnSpPr>
          <p:nvPr/>
        </p:nvCxnSpPr>
        <p:spPr bwMode="auto">
          <a:xfrm rot="16200000" flipH="1">
            <a:off x="3475037" y="4887913"/>
            <a:ext cx="466725" cy="1511300"/>
          </a:xfrm>
          <a:prstGeom prst="bentConnector3">
            <a:avLst>
              <a:gd name="adj1" fmla="val 49662"/>
            </a:avLst>
          </a:prstGeom>
          <a:noFill/>
          <a:ln w="9525">
            <a:solidFill>
              <a:schemeClr val="tx1"/>
            </a:solidFill>
            <a:miter lim="800000"/>
            <a:headEnd type="triangle" w="med" len="med"/>
            <a:tailEnd type="triangle" w="med" len="med"/>
          </a:ln>
        </p:spPr>
      </p:cxnSp>
      <p:cxnSp>
        <p:nvCxnSpPr>
          <p:cNvPr id="14368" name="AutoShape 36"/>
          <p:cNvCxnSpPr>
            <a:cxnSpLocks noChangeShapeType="1"/>
            <a:stCxn id="14351" idx="2"/>
            <a:endCxn id="14361" idx="0"/>
          </p:cNvCxnSpPr>
          <p:nvPr/>
        </p:nvCxnSpPr>
        <p:spPr bwMode="auto">
          <a:xfrm rot="5400000">
            <a:off x="5095285" y="4788888"/>
            <a:ext cx="456803" cy="1719271"/>
          </a:xfrm>
          <a:prstGeom prst="bentConnector3">
            <a:avLst>
              <a:gd name="adj1" fmla="val 50000"/>
            </a:avLst>
          </a:prstGeom>
          <a:noFill/>
          <a:ln w="9525">
            <a:solidFill>
              <a:schemeClr val="tx1"/>
            </a:solidFill>
            <a:miter lim="800000"/>
            <a:headEnd type="triangle" w="med" len="med"/>
            <a:tailEnd type="triangle" w="med" len="med"/>
          </a:ln>
        </p:spPr>
      </p:cxnSp>
      <p:cxnSp>
        <p:nvCxnSpPr>
          <p:cNvPr id="14369" name="AutoShape 37"/>
          <p:cNvCxnSpPr>
            <a:cxnSpLocks noChangeShapeType="1"/>
            <a:stCxn id="14347" idx="3"/>
            <a:endCxn id="14349" idx="1"/>
          </p:cNvCxnSpPr>
          <p:nvPr/>
        </p:nvCxnSpPr>
        <p:spPr bwMode="auto">
          <a:xfrm flipV="1">
            <a:off x="1835150" y="4492625"/>
            <a:ext cx="433388" cy="98425"/>
          </a:xfrm>
          <a:prstGeom prst="bentConnector3">
            <a:avLst>
              <a:gd name="adj1" fmla="val 49815"/>
            </a:avLst>
          </a:prstGeom>
          <a:noFill/>
          <a:ln w="9525">
            <a:solidFill>
              <a:schemeClr val="tx1"/>
            </a:solidFill>
            <a:miter lim="800000"/>
            <a:headEnd type="triangle" w="med" len="med"/>
            <a:tailEnd type="triangle" w="med" len="med"/>
          </a:ln>
        </p:spPr>
      </p:cxnSp>
      <p:cxnSp>
        <p:nvCxnSpPr>
          <p:cNvPr id="14370" name="AutoShape 38"/>
          <p:cNvCxnSpPr>
            <a:cxnSpLocks noChangeShapeType="1"/>
            <a:stCxn id="14346" idx="3"/>
            <a:endCxn id="14349" idx="1"/>
          </p:cNvCxnSpPr>
          <p:nvPr/>
        </p:nvCxnSpPr>
        <p:spPr bwMode="auto">
          <a:xfrm>
            <a:off x="1835150" y="3511550"/>
            <a:ext cx="433388" cy="981075"/>
          </a:xfrm>
          <a:prstGeom prst="bentConnector3">
            <a:avLst>
              <a:gd name="adj1" fmla="val 49815"/>
            </a:avLst>
          </a:prstGeom>
          <a:noFill/>
          <a:ln w="9525">
            <a:solidFill>
              <a:schemeClr val="tx1"/>
            </a:solidFill>
            <a:miter lim="800000"/>
            <a:headEnd type="triangle" w="med" len="med"/>
            <a:tailEnd type="triangle" w="med" len="med"/>
          </a:ln>
        </p:spPr>
      </p:cxnSp>
      <p:cxnSp>
        <p:nvCxnSpPr>
          <p:cNvPr id="14371" name="AutoShape 39"/>
          <p:cNvCxnSpPr>
            <a:cxnSpLocks noChangeShapeType="1"/>
            <a:stCxn id="14348" idx="3"/>
            <a:endCxn id="14349" idx="1"/>
          </p:cNvCxnSpPr>
          <p:nvPr/>
        </p:nvCxnSpPr>
        <p:spPr bwMode="auto">
          <a:xfrm flipV="1">
            <a:off x="1835150" y="4492625"/>
            <a:ext cx="433388" cy="1144588"/>
          </a:xfrm>
          <a:prstGeom prst="bentConnector3">
            <a:avLst>
              <a:gd name="adj1" fmla="val 49815"/>
            </a:avLst>
          </a:prstGeom>
          <a:noFill/>
          <a:ln w="9525">
            <a:solidFill>
              <a:schemeClr val="tx1"/>
            </a:solidFill>
            <a:miter lim="800000"/>
            <a:headEnd type="triangle" w="med" len="med"/>
            <a:tailEnd type="triangle" w="med" len="med"/>
          </a:ln>
        </p:spPr>
      </p:cxn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7" name="Text Box 7"/>
          <p:cNvSpPr txBox="1">
            <a:spLocks noChangeArrowheads="1"/>
          </p:cNvSpPr>
          <p:nvPr/>
        </p:nvSpPr>
        <p:spPr bwMode="auto">
          <a:xfrm>
            <a:off x="214282" y="2071678"/>
            <a:ext cx="7704137" cy="830997"/>
          </a:xfrm>
          <a:prstGeom prst="rect">
            <a:avLst/>
          </a:prstGeom>
          <a:noFill/>
          <a:ln w="9525">
            <a:noFill/>
            <a:miter lim="800000"/>
            <a:headEnd/>
            <a:tailEnd/>
          </a:ln>
        </p:spPr>
        <p:txBody>
          <a:bodyPr>
            <a:spAutoFit/>
          </a:bodyPr>
          <a:lstStyle/>
          <a:p>
            <a:pPr lvl="1">
              <a:spcBef>
                <a:spcPct val="50000"/>
              </a:spcBef>
              <a:buFont typeface="Wingdings" pitchFamily="2" charset="2"/>
              <a:buChar char="ü"/>
            </a:pPr>
            <a:r>
              <a:rPr lang="es-MX" sz="2400" dirty="0">
                <a:latin typeface="Arial" pitchFamily="34" charset="0"/>
                <a:cs typeface="Arial" pitchFamily="34" charset="0"/>
              </a:rPr>
              <a:t>La creación de estrategia como un proceso ANALÍTICO</a:t>
            </a:r>
            <a:endParaRPr lang="es-ES" sz="2400" dirty="0">
              <a:latin typeface="Arial" pitchFamily="34" charset="0"/>
              <a:cs typeface="Arial" pitchFamily="34" charset="0"/>
            </a:endParaRPr>
          </a:p>
        </p:txBody>
      </p:sp>
      <p:sp>
        <p:nvSpPr>
          <p:cNvPr id="8" name="7 Rectángulo"/>
          <p:cNvSpPr/>
          <p:nvPr/>
        </p:nvSpPr>
        <p:spPr>
          <a:xfrm>
            <a:off x="428596" y="500042"/>
            <a:ext cx="7715304" cy="1323439"/>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MX" sz="40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rPr>
              <a:t>3.  ESCUELA DE POSICIONAMIENTO</a:t>
            </a:r>
            <a:endParaRPr lang="es-ES" sz="40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ndParaRPr>
          </a:p>
        </p:txBody>
      </p:sp>
      <p:sp>
        <p:nvSpPr>
          <p:cNvPr id="10" name="9 Rectángulo"/>
          <p:cNvSpPr/>
          <p:nvPr/>
        </p:nvSpPr>
        <p:spPr>
          <a:xfrm>
            <a:off x="214282" y="2928934"/>
            <a:ext cx="7215238" cy="3416320"/>
          </a:xfrm>
          <a:prstGeom prst="rect">
            <a:avLst/>
          </a:prstGeom>
        </p:spPr>
        <p:txBody>
          <a:bodyPr wrap="square">
            <a:spAutoFit/>
          </a:bodyPr>
          <a:lstStyle/>
          <a:p>
            <a:pPr lvl="1">
              <a:buFont typeface="Wingdings" pitchFamily="2" charset="2"/>
              <a:buChar char="ü"/>
              <a:tabLst>
                <a:tab pos="914400" algn="l"/>
              </a:tabLst>
            </a:pPr>
            <a:r>
              <a:rPr lang="es-ES" sz="2400" dirty="0" smtClean="0">
                <a:latin typeface="Arial" pitchFamily="34" charset="0"/>
                <a:cs typeface="Arial" pitchFamily="34" charset="0"/>
              </a:rPr>
              <a:t>Pone el negocio dentro del contexto de su industria, y observa cómo la organización puede mejorar su posicionamiento estratégico dentro de esa industria. </a:t>
            </a:r>
          </a:p>
          <a:p>
            <a:pPr lvl="1">
              <a:buFont typeface="Wingdings" pitchFamily="2" charset="2"/>
              <a:buChar char="ü"/>
              <a:tabLst>
                <a:tab pos="914400" algn="l"/>
              </a:tabLst>
            </a:pPr>
            <a:r>
              <a:rPr lang="es-ES" sz="2400" dirty="0" smtClean="0">
                <a:latin typeface="Arial" pitchFamily="34" charset="0"/>
                <a:cs typeface="Arial" pitchFamily="34" charset="0"/>
              </a:rPr>
              <a:t>Esta escuela hizo de la Administración estratégica una ciencia, permitiendo su progreso futuro. Proporciona, de una manera sistemática, contenido a la manera existente de ver la estrategia. </a:t>
            </a:r>
            <a:endParaRPr lang="es-ES" sz="2400" dirty="0">
              <a:latin typeface="Palatino Linotype" pitchFamily="18"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6658" name="Group 98"/>
          <p:cNvGraphicFramePr>
            <a:graphicFrameLocks noGrp="1"/>
          </p:cNvGraphicFramePr>
          <p:nvPr>
            <p:ph type="tbl" idx="1"/>
          </p:nvPr>
        </p:nvGraphicFramePr>
        <p:xfrm>
          <a:off x="928662" y="2428868"/>
          <a:ext cx="6500858" cy="2305052"/>
        </p:xfrm>
        <a:graphic>
          <a:graphicData uri="http://schemas.openxmlformats.org/drawingml/2006/table">
            <a:tbl>
              <a:tblPr/>
              <a:tblGrid>
                <a:gridCol w="1223962"/>
                <a:gridCol w="1584325"/>
                <a:gridCol w="1216025"/>
                <a:gridCol w="1341438"/>
                <a:gridCol w="1135108"/>
              </a:tblGrid>
              <a:tr h="360363">
                <a:tc gridSpan="5">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MX" sz="1600" b="0" i="0" u="none" strike="noStrike" cap="none" normalizeH="0" baseline="0" dirty="0" smtClean="0">
                          <a:ln>
                            <a:noFill/>
                          </a:ln>
                          <a:solidFill>
                            <a:schemeClr val="tx1"/>
                          </a:solidFill>
                          <a:effectLst/>
                          <a:latin typeface="Palatino Linotype" pitchFamily="18" charset="0"/>
                        </a:rPr>
                        <a:t>INFRAESTRUCTURA DE LA FIRMA</a:t>
                      </a:r>
                      <a:endParaRPr kumimoji="0" lang="es-ES" sz="1600" b="0" i="0" u="none" strike="noStrike" cap="none" normalizeH="0" baseline="0" dirty="0" smtClean="0">
                        <a:ln>
                          <a:noFill/>
                        </a:ln>
                        <a:solidFill>
                          <a:schemeClr val="tx1"/>
                        </a:solidFill>
                        <a:effectLst/>
                        <a:latin typeface="Palatino Linotype"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r>
              <a:tr h="361950">
                <a:tc gridSpan="5">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MX" sz="1600" b="0" i="0" u="none" strike="noStrike" cap="none" normalizeH="0" baseline="0" dirty="0" smtClean="0">
                          <a:ln>
                            <a:noFill/>
                          </a:ln>
                          <a:solidFill>
                            <a:schemeClr val="tx1"/>
                          </a:solidFill>
                          <a:effectLst/>
                          <a:latin typeface="Palatino Linotype" pitchFamily="18" charset="0"/>
                        </a:rPr>
                        <a:t>ADMINISTRACIÓN DE RECURSOS HUMANOS</a:t>
                      </a:r>
                      <a:endParaRPr kumimoji="0" lang="es-ES" sz="1600" b="0" i="0" u="none" strike="noStrike" cap="none" normalizeH="0" baseline="0" dirty="0" smtClean="0">
                        <a:ln>
                          <a:noFill/>
                        </a:ln>
                        <a:solidFill>
                          <a:schemeClr val="tx1"/>
                        </a:solidFill>
                        <a:effectLst/>
                        <a:latin typeface="Palatino Linotype"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r>
              <a:tr h="442913">
                <a:tc gridSpan="5">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MX" sz="1600" b="0" i="0" u="none" strike="noStrike" cap="none" normalizeH="0" baseline="0" dirty="0" smtClean="0">
                          <a:ln>
                            <a:noFill/>
                          </a:ln>
                          <a:solidFill>
                            <a:schemeClr val="tx1"/>
                          </a:solidFill>
                          <a:effectLst/>
                          <a:latin typeface="Palatino Linotype" pitchFamily="18" charset="0"/>
                        </a:rPr>
                        <a:t>DESARROLLO DE TECNOLOGÍAS</a:t>
                      </a:r>
                      <a:endParaRPr kumimoji="0" lang="es-ES" sz="1600" b="0" i="0" u="none" strike="noStrike" cap="none" normalizeH="0" baseline="0" dirty="0" smtClean="0">
                        <a:ln>
                          <a:noFill/>
                        </a:ln>
                        <a:solidFill>
                          <a:schemeClr val="tx1"/>
                        </a:solidFill>
                        <a:effectLst/>
                        <a:latin typeface="Palatino Linotype"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r>
              <a:tr h="347663">
                <a:tc gridSpan="5">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MX" sz="1600" b="0" i="0" u="none" strike="noStrike" cap="none" normalizeH="0" baseline="0" dirty="0" smtClean="0">
                          <a:ln>
                            <a:noFill/>
                          </a:ln>
                          <a:solidFill>
                            <a:schemeClr val="tx1"/>
                          </a:solidFill>
                          <a:effectLst/>
                          <a:latin typeface="Palatino Linotype" pitchFamily="18" charset="0"/>
                        </a:rPr>
                        <a:t>ADQUISICIONES</a:t>
                      </a:r>
                      <a:endParaRPr kumimoji="0" lang="es-ES" sz="1600" b="0" i="0" u="none" strike="noStrike" cap="none" normalizeH="0" baseline="0" dirty="0" smtClean="0">
                        <a:ln>
                          <a:noFill/>
                        </a:ln>
                        <a:solidFill>
                          <a:schemeClr val="tx1"/>
                        </a:solidFill>
                        <a:effectLst/>
                        <a:latin typeface="Palatino Linotype" pitchFamily="18"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s-ES"/>
                    </a:p>
                  </a:txBody>
                  <a:tcPr/>
                </a:tc>
                <a:tc hMerge="1">
                  <a:txBody>
                    <a:bodyPr/>
                    <a:lstStyle/>
                    <a:p>
                      <a:endParaRPr lang="es-ES"/>
                    </a:p>
                  </a:txBody>
                  <a:tcPr/>
                </a:tc>
                <a:tc hMerge="1">
                  <a:txBody>
                    <a:bodyPr/>
                    <a:lstStyle/>
                    <a:p>
                      <a:endParaRPr lang="es-ES"/>
                    </a:p>
                  </a:txBody>
                  <a:tcPr/>
                </a:tc>
                <a:tc hMerge="1">
                  <a:txBody>
                    <a:bodyPr/>
                    <a:lstStyle/>
                    <a:p>
                      <a:endParaRPr lang="es-ES"/>
                    </a:p>
                  </a:txBody>
                  <a:tcPr/>
                </a:tc>
              </a:tr>
              <a:tr h="7921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MX" sz="1400" b="0" i="0" u="none" strike="noStrike" cap="none" normalizeH="0" baseline="0" dirty="0" smtClean="0">
                          <a:ln>
                            <a:noFill/>
                          </a:ln>
                          <a:solidFill>
                            <a:schemeClr val="tx1"/>
                          </a:solidFill>
                          <a:effectLst/>
                          <a:latin typeface="Palatino Linotype" pitchFamily="18" charset="0"/>
                        </a:rPr>
                        <a:t>LOGÍSTICA DE ENTRADA</a:t>
                      </a:r>
                      <a:endParaRPr kumimoji="0" lang="es-ES" sz="1400" b="0" i="0" u="none" strike="noStrike" cap="none" normalizeH="0" baseline="0" dirty="0" smtClean="0">
                        <a:ln>
                          <a:noFill/>
                        </a:ln>
                        <a:solidFill>
                          <a:schemeClr val="tx1"/>
                        </a:solidFill>
                        <a:effectLst/>
                        <a:latin typeface="Palatino Linotype"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MX" sz="1400" b="0" i="0" u="none" strike="noStrike" cap="none" normalizeH="0" baseline="0" dirty="0" smtClean="0">
                          <a:ln>
                            <a:noFill/>
                          </a:ln>
                          <a:solidFill>
                            <a:schemeClr val="tx1"/>
                          </a:solidFill>
                          <a:effectLst/>
                          <a:latin typeface="Palatino Linotype" pitchFamily="18" charset="0"/>
                        </a:rPr>
                        <a:t>OPERACIONES</a:t>
                      </a:r>
                      <a:endParaRPr kumimoji="0" lang="es-ES" sz="1400" b="0" i="0" u="none" strike="noStrike" cap="none" normalizeH="0" baseline="0" dirty="0" smtClean="0">
                        <a:ln>
                          <a:noFill/>
                        </a:ln>
                        <a:solidFill>
                          <a:schemeClr val="tx1"/>
                        </a:solidFill>
                        <a:effectLst/>
                        <a:latin typeface="Palatino Linotype"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MX" sz="1400" b="0" i="0" u="none" strike="noStrike" cap="none" normalizeH="0" baseline="0" dirty="0" smtClean="0">
                          <a:ln>
                            <a:noFill/>
                          </a:ln>
                          <a:solidFill>
                            <a:schemeClr val="tx1"/>
                          </a:solidFill>
                          <a:effectLst/>
                          <a:latin typeface="Palatino Linotype" pitchFamily="18" charset="0"/>
                        </a:rPr>
                        <a:t>LOGÍSTICA DE SALIDA</a:t>
                      </a:r>
                      <a:endParaRPr kumimoji="0" lang="es-ES" sz="1400" b="0" i="0" u="none" strike="noStrike" cap="none" normalizeH="0" baseline="0" dirty="0" smtClean="0">
                        <a:ln>
                          <a:noFill/>
                        </a:ln>
                        <a:solidFill>
                          <a:schemeClr val="tx1"/>
                        </a:solidFill>
                        <a:effectLst/>
                        <a:latin typeface="Palatino Linotype"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MX" sz="1400" b="0" i="0" u="none" strike="noStrike" cap="none" normalizeH="0" baseline="0" dirty="0" smtClean="0">
                          <a:ln>
                            <a:noFill/>
                          </a:ln>
                          <a:solidFill>
                            <a:schemeClr val="tx1"/>
                          </a:solidFill>
                          <a:effectLst/>
                          <a:latin typeface="Palatino Linotype" pitchFamily="18" charset="0"/>
                        </a:rPr>
                        <a:t>MARKETING Y VENTAS</a:t>
                      </a:r>
                      <a:endParaRPr kumimoji="0" lang="es-ES" sz="1400" b="0" i="0" u="none" strike="noStrike" cap="none" normalizeH="0" baseline="0" dirty="0" smtClean="0">
                        <a:ln>
                          <a:noFill/>
                        </a:ln>
                        <a:solidFill>
                          <a:schemeClr val="tx1"/>
                        </a:solidFill>
                        <a:effectLst/>
                        <a:latin typeface="Palatino Linotype"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MX" sz="1400" b="0" i="0" u="none" strike="noStrike" cap="none" normalizeH="0" baseline="0" dirty="0" smtClean="0">
                          <a:ln>
                            <a:noFill/>
                          </a:ln>
                          <a:solidFill>
                            <a:schemeClr val="tx1"/>
                          </a:solidFill>
                          <a:effectLst/>
                          <a:latin typeface="Palatino Linotype" pitchFamily="18" charset="0"/>
                        </a:rPr>
                        <a:t>SERVICIOS</a:t>
                      </a:r>
                      <a:endParaRPr kumimoji="0" lang="es-ES" sz="1400" b="0" i="0" u="none" strike="noStrike" cap="none" normalizeH="0" baseline="0" dirty="0" smtClean="0">
                        <a:ln>
                          <a:noFill/>
                        </a:ln>
                        <a:solidFill>
                          <a:schemeClr val="tx1"/>
                        </a:solidFill>
                        <a:effectLst/>
                        <a:latin typeface="Palatino Linotype"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9462" name="Text Box 6"/>
          <p:cNvSpPr txBox="1">
            <a:spLocks noChangeArrowheads="1"/>
          </p:cNvSpPr>
          <p:nvPr/>
        </p:nvSpPr>
        <p:spPr bwMode="auto">
          <a:xfrm>
            <a:off x="285720" y="428604"/>
            <a:ext cx="7704137" cy="1077218"/>
          </a:xfrm>
          <a:prstGeom prst="rect">
            <a:avLst/>
          </a:prstGeom>
          <a:noFill/>
          <a:ln w="9525">
            <a:noFill/>
            <a:miter lim="800000"/>
            <a:headEnd/>
            <a:tailEnd/>
          </a:ln>
        </p:spPr>
        <p:txBody>
          <a:bodyPr>
            <a:spAutoFit/>
          </a:bodyPr>
          <a:lstStyle/>
          <a:p>
            <a:pPr>
              <a:spcBef>
                <a:spcPct val="50000"/>
              </a:spcBef>
            </a:pPr>
            <a:r>
              <a:rPr lang="es-MX" sz="3200" dirty="0">
                <a:latin typeface="Arial" pitchFamily="34" charset="0"/>
                <a:cs typeface="Arial" pitchFamily="34" charset="0"/>
              </a:rPr>
              <a:t>Cadena de Valor Genérica de Porter (1985)</a:t>
            </a:r>
            <a:endParaRPr lang="es-ES" sz="3200" dirty="0">
              <a:latin typeface="Arial" pitchFamily="34" charset="0"/>
              <a:cs typeface="Arial" pitchFamily="34" charset="0"/>
            </a:endParaRPr>
          </a:p>
        </p:txBody>
      </p:sp>
      <p:sp>
        <p:nvSpPr>
          <p:cNvPr id="19485" name="AutoShape 99"/>
          <p:cNvSpPr>
            <a:spLocks noChangeArrowheads="1"/>
          </p:cNvSpPr>
          <p:nvPr/>
        </p:nvSpPr>
        <p:spPr bwMode="auto">
          <a:xfrm rot="-8100000">
            <a:off x="6610706" y="2768263"/>
            <a:ext cx="1638187" cy="1637396"/>
          </a:xfrm>
          <a:prstGeom prst="rtTriangle">
            <a:avLst/>
          </a:prstGeom>
          <a:noFill/>
          <a:ln w="9525">
            <a:solidFill>
              <a:schemeClr val="tx1"/>
            </a:solidFill>
            <a:miter lim="800000"/>
            <a:headEnd/>
            <a:tailEnd/>
          </a:ln>
        </p:spPr>
        <p:txBody>
          <a:bodyPr wrap="none" anchor="ctr"/>
          <a:lstStyle/>
          <a:p>
            <a:endParaRPr lang="en-US" dirty="0"/>
          </a:p>
        </p:txBody>
      </p:sp>
      <p:sp>
        <p:nvSpPr>
          <p:cNvPr id="19486" name="Text Box 100"/>
          <p:cNvSpPr txBox="1">
            <a:spLocks noChangeArrowheads="1"/>
          </p:cNvSpPr>
          <p:nvPr/>
        </p:nvSpPr>
        <p:spPr bwMode="auto">
          <a:xfrm>
            <a:off x="7429520" y="3429000"/>
            <a:ext cx="857256" cy="276999"/>
          </a:xfrm>
          <a:prstGeom prst="rect">
            <a:avLst/>
          </a:prstGeom>
          <a:noFill/>
          <a:ln w="9525">
            <a:noFill/>
            <a:miter lim="800000"/>
            <a:headEnd/>
            <a:tailEnd/>
          </a:ln>
        </p:spPr>
        <p:txBody>
          <a:bodyPr wrap="square">
            <a:spAutoFit/>
          </a:bodyPr>
          <a:lstStyle/>
          <a:p>
            <a:pPr>
              <a:spcBef>
                <a:spcPct val="50000"/>
              </a:spcBef>
            </a:pPr>
            <a:r>
              <a:rPr lang="es-MX" sz="1200" dirty="0"/>
              <a:t>MARGEN</a:t>
            </a:r>
            <a:endParaRPr lang="es-ES" sz="1200" dirty="0"/>
          </a:p>
        </p:txBody>
      </p:sp>
      <p:sp>
        <p:nvSpPr>
          <p:cNvPr id="19487" name="Text Box 101"/>
          <p:cNvSpPr txBox="1">
            <a:spLocks noChangeArrowheads="1"/>
          </p:cNvSpPr>
          <p:nvPr/>
        </p:nvSpPr>
        <p:spPr bwMode="auto">
          <a:xfrm>
            <a:off x="0" y="4071942"/>
            <a:ext cx="1008063" cy="457200"/>
          </a:xfrm>
          <a:prstGeom prst="rect">
            <a:avLst/>
          </a:prstGeom>
          <a:noFill/>
          <a:ln w="9525">
            <a:noFill/>
            <a:miter lim="800000"/>
            <a:headEnd/>
            <a:tailEnd/>
          </a:ln>
        </p:spPr>
        <p:txBody>
          <a:bodyPr>
            <a:spAutoFit/>
          </a:bodyPr>
          <a:lstStyle/>
          <a:p>
            <a:pPr>
              <a:spcBef>
                <a:spcPct val="50000"/>
              </a:spcBef>
            </a:pPr>
            <a:r>
              <a:rPr lang="es-MX" sz="1200" dirty="0">
                <a:latin typeface="Palatino Linotype" pitchFamily="18" charset="0"/>
              </a:rPr>
              <a:t>Actividades primarias</a:t>
            </a:r>
            <a:endParaRPr lang="es-ES" sz="1200" dirty="0">
              <a:latin typeface="Palatino Linotype" pitchFamily="18" charset="0"/>
            </a:endParaRPr>
          </a:p>
        </p:txBody>
      </p:sp>
      <p:sp>
        <p:nvSpPr>
          <p:cNvPr id="19488" name="Text Box 102"/>
          <p:cNvSpPr txBox="1">
            <a:spLocks noChangeArrowheads="1"/>
          </p:cNvSpPr>
          <p:nvPr/>
        </p:nvSpPr>
        <p:spPr bwMode="auto">
          <a:xfrm>
            <a:off x="0" y="2714620"/>
            <a:ext cx="1000100" cy="457200"/>
          </a:xfrm>
          <a:prstGeom prst="rect">
            <a:avLst/>
          </a:prstGeom>
          <a:noFill/>
          <a:ln w="9525">
            <a:noFill/>
            <a:miter lim="800000"/>
            <a:headEnd/>
            <a:tailEnd/>
          </a:ln>
        </p:spPr>
        <p:txBody>
          <a:bodyPr wrap="square">
            <a:spAutoFit/>
          </a:bodyPr>
          <a:lstStyle/>
          <a:p>
            <a:pPr>
              <a:spcBef>
                <a:spcPct val="50000"/>
              </a:spcBef>
            </a:pPr>
            <a:r>
              <a:rPr lang="es-MX" sz="1200" dirty="0">
                <a:latin typeface="Palatino Linotype" pitchFamily="18" charset="0"/>
              </a:rPr>
              <a:t>Actividades de Apoyo</a:t>
            </a:r>
            <a:endParaRPr lang="es-ES" sz="1200" dirty="0">
              <a:latin typeface="Palatino Linotype" pitchFamily="18"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7" name="Text Box 7"/>
          <p:cNvSpPr txBox="1">
            <a:spLocks noChangeArrowheads="1"/>
          </p:cNvSpPr>
          <p:nvPr/>
        </p:nvSpPr>
        <p:spPr bwMode="auto">
          <a:xfrm>
            <a:off x="785786" y="1643050"/>
            <a:ext cx="7704137" cy="954107"/>
          </a:xfrm>
          <a:prstGeom prst="rect">
            <a:avLst/>
          </a:prstGeom>
          <a:noFill/>
          <a:ln w="9525">
            <a:noFill/>
            <a:miter lim="800000"/>
            <a:headEnd/>
            <a:tailEnd/>
          </a:ln>
        </p:spPr>
        <p:txBody>
          <a:bodyPr>
            <a:spAutoFit/>
          </a:bodyPr>
          <a:lstStyle/>
          <a:p>
            <a:pPr>
              <a:spcBef>
                <a:spcPct val="50000"/>
              </a:spcBef>
              <a:buFont typeface="Wingdings" pitchFamily="2" charset="2"/>
              <a:buChar char="ü"/>
            </a:pPr>
            <a:r>
              <a:rPr lang="es-MX" sz="2800" dirty="0">
                <a:latin typeface="Arial" pitchFamily="34" charset="0"/>
                <a:cs typeface="Arial" pitchFamily="34" charset="0"/>
              </a:rPr>
              <a:t>La creación de estrategia como un proceso VISIONARIO</a:t>
            </a:r>
            <a:endParaRPr lang="es-ES" sz="2800" dirty="0">
              <a:latin typeface="Arial" pitchFamily="34" charset="0"/>
              <a:cs typeface="Arial" pitchFamily="34" charset="0"/>
            </a:endParaRPr>
          </a:p>
        </p:txBody>
      </p:sp>
      <p:sp>
        <p:nvSpPr>
          <p:cNvPr id="8" name="7 Rectángulo"/>
          <p:cNvSpPr/>
          <p:nvPr/>
        </p:nvSpPr>
        <p:spPr>
          <a:xfrm>
            <a:off x="0" y="428604"/>
            <a:ext cx="7854714" cy="830997"/>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MX" sz="48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rPr>
              <a:t>4.  ESCUELA EMPRESARIAL</a:t>
            </a:r>
            <a:endParaRPr lang="es-ES" sz="48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ndParaRPr>
          </a:p>
        </p:txBody>
      </p:sp>
      <p:sp>
        <p:nvSpPr>
          <p:cNvPr id="10" name="9 Rectángulo"/>
          <p:cNvSpPr/>
          <p:nvPr/>
        </p:nvSpPr>
        <p:spPr>
          <a:xfrm>
            <a:off x="357158" y="2643182"/>
            <a:ext cx="6858048" cy="3108543"/>
          </a:xfrm>
          <a:prstGeom prst="rect">
            <a:avLst/>
          </a:prstGeom>
        </p:spPr>
        <p:txBody>
          <a:bodyPr wrap="square">
            <a:spAutoFit/>
          </a:bodyPr>
          <a:lstStyle/>
          <a:p>
            <a:pPr lvl="1">
              <a:buFont typeface="Wingdings" pitchFamily="2" charset="2"/>
              <a:buChar char="ü"/>
              <a:tabLst>
                <a:tab pos="914400" algn="l"/>
              </a:tabLst>
            </a:pPr>
            <a:r>
              <a:rPr lang="es-ES" sz="2800" dirty="0" smtClean="0">
                <a:latin typeface="Arial" pitchFamily="34" charset="0"/>
                <a:cs typeface="Arial" pitchFamily="34" charset="0"/>
              </a:rPr>
              <a:t>El proceso visionario ocurre dentro de la mente del fundador o del líder carismático de una organización. La escuela tensiona el más natural de los estados y de los procesos mentales - la intuición, el juicio, la sabiduría, la experiencia, y la perspicacia. </a:t>
            </a:r>
            <a:endParaRPr lang="es-ES" sz="280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3" name="Text Box 7"/>
          <p:cNvSpPr txBox="1">
            <a:spLocks noChangeArrowheads="1"/>
          </p:cNvSpPr>
          <p:nvPr/>
        </p:nvSpPr>
        <p:spPr bwMode="auto">
          <a:xfrm>
            <a:off x="714349" y="1557338"/>
            <a:ext cx="7358113" cy="4616648"/>
          </a:xfrm>
          <a:prstGeom prst="rect">
            <a:avLst/>
          </a:prstGeom>
          <a:noFill/>
          <a:ln w="9525">
            <a:noFill/>
            <a:miter lim="800000"/>
            <a:headEnd/>
            <a:tailEnd/>
          </a:ln>
        </p:spPr>
        <p:txBody>
          <a:bodyPr wrap="square">
            <a:spAutoFit/>
          </a:bodyPr>
          <a:lstStyle/>
          <a:p>
            <a:pPr>
              <a:spcBef>
                <a:spcPct val="50000"/>
              </a:spcBef>
              <a:buFont typeface="Wingdings" pitchFamily="2" charset="2"/>
              <a:buChar char="ü"/>
            </a:pPr>
            <a:r>
              <a:rPr lang="es-MX" sz="3200" dirty="0">
                <a:latin typeface="Arial" pitchFamily="34" charset="0"/>
                <a:cs typeface="Arial" pitchFamily="34" charset="0"/>
              </a:rPr>
              <a:t>La creación de estrategia como un proceso </a:t>
            </a:r>
            <a:r>
              <a:rPr lang="es-MX" sz="3200" dirty="0" smtClean="0">
                <a:latin typeface="Arial" pitchFamily="34" charset="0"/>
                <a:cs typeface="Arial" pitchFamily="34" charset="0"/>
              </a:rPr>
              <a:t>MENTAL</a:t>
            </a:r>
          </a:p>
          <a:p>
            <a:pPr marL="0" lvl="1">
              <a:spcBef>
                <a:spcPct val="50000"/>
              </a:spcBef>
              <a:buFont typeface="Wingdings" pitchFamily="2" charset="2"/>
              <a:buChar char="ü"/>
            </a:pPr>
            <a:r>
              <a:rPr lang="es-ES" sz="3200" dirty="0" smtClean="0">
                <a:latin typeface="Arial" pitchFamily="34" charset="0"/>
                <a:cs typeface="Arial" pitchFamily="34" charset="0"/>
              </a:rPr>
              <a:t>Analiza cómo la gente percibe patrones y procesa la información. Se concentra en lo que está sucediendo en la mente del estratega, y cómo es que él procesa la información. </a:t>
            </a:r>
          </a:p>
          <a:p>
            <a:pPr>
              <a:spcBef>
                <a:spcPct val="50000"/>
              </a:spcBef>
              <a:buFont typeface="Wingdings" pitchFamily="2" charset="2"/>
              <a:buChar char="ü"/>
            </a:pPr>
            <a:endParaRPr lang="es-MX" dirty="0" smtClean="0">
              <a:latin typeface="Palatino Linotype" pitchFamily="18" charset="0"/>
            </a:endParaRPr>
          </a:p>
          <a:p>
            <a:pPr>
              <a:spcBef>
                <a:spcPct val="50000"/>
              </a:spcBef>
            </a:pPr>
            <a:endParaRPr lang="es-ES" dirty="0">
              <a:latin typeface="Palatino Linotype" pitchFamily="18" charset="0"/>
            </a:endParaRPr>
          </a:p>
        </p:txBody>
      </p:sp>
      <p:sp>
        <p:nvSpPr>
          <p:cNvPr id="8" name="7 Rectángulo"/>
          <p:cNvSpPr/>
          <p:nvPr/>
        </p:nvSpPr>
        <p:spPr>
          <a:xfrm>
            <a:off x="214282" y="500042"/>
            <a:ext cx="7996548" cy="830997"/>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MX" sz="48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rPr>
              <a:t>5. ESCUELA COGNOSCITIVA</a:t>
            </a:r>
            <a:endParaRPr lang="es-ES" sz="48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6" name="Picture 6"/>
          <p:cNvPicPr>
            <a:picLocks noGrp="1" noChangeAspect="1" noChangeArrowheads="1"/>
          </p:cNvPicPr>
          <p:nvPr>
            <p:ph idx="1"/>
          </p:nvPr>
        </p:nvPicPr>
        <p:blipFill>
          <a:blip r:embed="rId3">
            <a:lum bright="-34000" contrast="6000"/>
          </a:blip>
          <a:stretch>
            <a:fillRect/>
          </a:stretch>
        </p:blipFill>
        <p:spPr>
          <a:xfrm>
            <a:off x="2765175" y="1609725"/>
            <a:ext cx="2623049" cy="4846638"/>
          </a:xfrm>
          <a:noFill/>
        </p:spPr>
      </p:pic>
      <p:sp>
        <p:nvSpPr>
          <p:cNvPr id="27655" name="Text Box 7"/>
          <p:cNvSpPr txBox="1">
            <a:spLocks noChangeArrowheads="1"/>
          </p:cNvSpPr>
          <p:nvPr/>
        </p:nvSpPr>
        <p:spPr bwMode="auto">
          <a:xfrm>
            <a:off x="1439863" y="1557338"/>
            <a:ext cx="7704137" cy="366712"/>
          </a:xfrm>
          <a:prstGeom prst="rect">
            <a:avLst/>
          </a:prstGeom>
          <a:noFill/>
          <a:ln w="9525">
            <a:noFill/>
            <a:miter lim="800000"/>
            <a:headEnd/>
            <a:tailEnd/>
          </a:ln>
        </p:spPr>
        <p:txBody>
          <a:bodyPr>
            <a:spAutoFit/>
          </a:bodyPr>
          <a:lstStyle/>
          <a:p>
            <a:pPr>
              <a:spcBef>
                <a:spcPct val="50000"/>
              </a:spcBef>
            </a:pPr>
            <a:endParaRPr lang="es-ES" dirty="0">
              <a:latin typeface="Palatino Linotype" pitchFamily="18" charset="0"/>
            </a:endParaRPr>
          </a:p>
        </p:txBody>
      </p:sp>
      <p:sp>
        <p:nvSpPr>
          <p:cNvPr id="9" name="8 Rectángulo"/>
          <p:cNvSpPr/>
          <p:nvPr/>
        </p:nvSpPr>
        <p:spPr>
          <a:xfrm>
            <a:off x="0" y="500042"/>
            <a:ext cx="8072462" cy="769441"/>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MX" sz="4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rPr>
              <a:t>7. ESCUELA DE APRENDIZAJE</a:t>
            </a:r>
            <a:endParaRPr lang="es-ES" sz="4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8" name="Text Box 7"/>
          <p:cNvSpPr txBox="1">
            <a:spLocks noChangeArrowheads="1"/>
          </p:cNvSpPr>
          <p:nvPr/>
        </p:nvSpPr>
        <p:spPr bwMode="auto">
          <a:xfrm>
            <a:off x="142844" y="857232"/>
            <a:ext cx="7704137" cy="954107"/>
          </a:xfrm>
          <a:prstGeom prst="rect">
            <a:avLst/>
          </a:prstGeom>
          <a:noFill/>
          <a:ln w="9525">
            <a:noFill/>
            <a:miter lim="800000"/>
            <a:headEnd/>
            <a:tailEnd/>
          </a:ln>
        </p:spPr>
        <p:txBody>
          <a:bodyPr>
            <a:spAutoFit/>
          </a:bodyPr>
          <a:lstStyle/>
          <a:p>
            <a:pPr algn="just">
              <a:spcBef>
                <a:spcPct val="50000"/>
              </a:spcBef>
              <a:buFont typeface="Wingdings" pitchFamily="2" charset="2"/>
              <a:buChar char="ü"/>
            </a:pPr>
            <a:r>
              <a:rPr lang="es-MX" sz="2800" dirty="0">
                <a:latin typeface="Arial" pitchFamily="34" charset="0"/>
                <a:cs typeface="Arial" pitchFamily="34" charset="0"/>
              </a:rPr>
              <a:t>La creación de estrategia como un proceso EMERGENTE</a:t>
            </a:r>
            <a:endParaRPr lang="es-ES" sz="2800" dirty="0">
              <a:latin typeface="Arial" pitchFamily="34" charset="0"/>
              <a:cs typeface="Arial" pitchFamily="34" charset="0"/>
            </a:endParaRPr>
          </a:p>
        </p:txBody>
      </p:sp>
      <p:sp>
        <p:nvSpPr>
          <p:cNvPr id="140296" name="Rectangle 8"/>
          <p:cNvSpPr>
            <a:spLocks noChangeArrowheads="1"/>
          </p:cNvSpPr>
          <p:nvPr/>
        </p:nvSpPr>
        <p:spPr bwMode="auto">
          <a:xfrm>
            <a:off x="-285783" y="1571612"/>
            <a:ext cx="8358245" cy="4401205"/>
          </a:xfrm>
          <a:prstGeom prst="rect">
            <a:avLst/>
          </a:prstGeom>
          <a:noFill/>
          <a:ln w="9525">
            <a:noFill/>
            <a:miter lim="800000"/>
            <a:headEnd/>
            <a:tailEnd/>
          </a:ln>
        </p:spPr>
        <p:txBody>
          <a:bodyPr wrap="square" anchor="ctr">
            <a:spAutoFit/>
          </a:bodyPr>
          <a:lstStyle/>
          <a:p>
            <a:pPr lvl="1">
              <a:tabLst>
                <a:tab pos="914400" algn="l"/>
              </a:tabLst>
            </a:pPr>
            <a:endParaRPr lang="es-ES" sz="2800" dirty="0">
              <a:latin typeface="Arial" pitchFamily="34" charset="0"/>
              <a:cs typeface="Arial" pitchFamily="34" charset="0"/>
            </a:endParaRPr>
          </a:p>
          <a:p>
            <a:pPr lvl="1" algn="just">
              <a:buFont typeface="Wingdings" pitchFamily="2" charset="2"/>
              <a:buChar char="ü"/>
              <a:tabLst>
                <a:tab pos="914400" algn="l"/>
              </a:tabLst>
            </a:pPr>
            <a:r>
              <a:rPr lang="es-ES" sz="2800" dirty="0" smtClean="0">
                <a:latin typeface="Arial" pitchFamily="34" charset="0"/>
                <a:cs typeface="Arial" pitchFamily="34" charset="0"/>
              </a:rPr>
              <a:t>Ofrece </a:t>
            </a:r>
            <a:r>
              <a:rPr lang="es-ES" sz="2800" dirty="0">
                <a:latin typeface="Arial" pitchFamily="34" charset="0"/>
                <a:cs typeface="Arial" pitchFamily="34" charset="0"/>
              </a:rPr>
              <a:t>una solución para ocuparse de complejidad y de la imprevisión en la formación de la estrategia. Más gente puede aprender que apenas el líder. Ninguna necesidad del líder omnipotente. Puede ser combinado con la visión emergente. Fuerte en condiciones complejas con el cambio continuo. Fuerte en organizaciones profesionales.</a:t>
            </a:r>
          </a:p>
          <a:p>
            <a:pPr lvl="1">
              <a:tabLst>
                <a:tab pos="914400" algn="l"/>
              </a:tabLst>
            </a:pPr>
            <a:endParaRPr lang="es-ES" sz="2800" dirty="0">
              <a:latin typeface="Arial" pitchFamily="34"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029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6" grpId="0" build="p" bldLvl="2"/>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7881" name="Group 57"/>
          <p:cNvGraphicFramePr>
            <a:graphicFrameLocks noGrp="1"/>
          </p:cNvGraphicFramePr>
          <p:nvPr>
            <p:ph type="tbl" idx="1"/>
          </p:nvPr>
        </p:nvGraphicFramePr>
        <p:xfrm>
          <a:off x="285720" y="1857364"/>
          <a:ext cx="7354888" cy="4261104"/>
        </p:xfrm>
        <a:graphic>
          <a:graphicData uri="http://schemas.openxmlformats.org/drawingml/2006/table">
            <a:tbl>
              <a:tblPr/>
              <a:tblGrid>
                <a:gridCol w="2451100"/>
                <a:gridCol w="2452688"/>
                <a:gridCol w="2451100"/>
              </a:tblGrid>
              <a:tr h="56960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MX" sz="1600" b="1" i="0" u="none" strike="noStrike" cap="none" normalizeH="0" baseline="0" dirty="0" smtClean="0">
                          <a:ln>
                            <a:noFill/>
                          </a:ln>
                          <a:solidFill>
                            <a:schemeClr val="tx1"/>
                          </a:solidFill>
                          <a:effectLst/>
                          <a:latin typeface="Palatino Linotype" pitchFamily="18" charset="0"/>
                        </a:rPr>
                        <a:t>Nivel</a:t>
                      </a:r>
                      <a:endParaRPr kumimoji="0" lang="es-ES" sz="1600" b="1" i="0" u="none" strike="noStrike" cap="none" normalizeH="0" baseline="0" dirty="0" smtClean="0">
                        <a:ln>
                          <a:noFill/>
                        </a:ln>
                        <a:solidFill>
                          <a:schemeClr val="tx1"/>
                        </a:solidFill>
                        <a:effectLst/>
                        <a:latin typeface="Palatino Linotype"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MX" sz="1600" b="1" i="0" u="none" strike="noStrike" cap="none" normalizeH="0" baseline="0" dirty="0" smtClean="0">
                          <a:ln>
                            <a:noFill/>
                          </a:ln>
                          <a:solidFill>
                            <a:schemeClr val="tx1"/>
                          </a:solidFill>
                          <a:effectLst/>
                          <a:latin typeface="Palatino Linotype" pitchFamily="18" charset="0"/>
                        </a:rPr>
                        <a:t>Proceso</a:t>
                      </a:r>
                      <a:endParaRPr kumimoji="0" lang="es-ES" sz="1600" b="1" i="0" u="none" strike="noStrike" cap="none" normalizeH="0" baseline="0" dirty="0" smtClean="0">
                        <a:ln>
                          <a:noFill/>
                        </a:ln>
                        <a:solidFill>
                          <a:schemeClr val="tx1"/>
                        </a:solidFill>
                        <a:effectLst/>
                        <a:latin typeface="Palatino Linotype"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MX" sz="1600" b="1" i="0" u="none" strike="noStrike" cap="none" normalizeH="0" baseline="0" dirty="0" smtClean="0">
                          <a:ln>
                            <a:noFill/>
                          </a:ln>
                          <a:solidFill>
                            <a:schemeClr val="tx1"/>
                          </a:solidFill>
                          <a:effectLst/>
                          <a:latin typeface="Palatino Linotype" pitchFamily="18" charset="0"/>
                        </a:rPr>
                        <a:t>Información recibida / resultados</a:t>
                      </a:r>
                      <a:endParaRPr kumimoji="0" lang="es-ES" sz="1600" b="1" i="0" u="none" strike="noStrike" cap="none" normalizeH="0" baseline="0" dirty="0" smtClean="0">
                        <a:ln>
                          <a:noFill/>
                        </a:ln>
                        <a:solidFill>
                          <a:schemeClr val="tx1"/>
                        </a:solidFill>
                        <a:effectLst/>
                        <a:latin typeface="Palatino Linotype"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11200">
                <a:tc rowSpan="4">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dirty="0" smtClean="0">
                        <a:ln>
                          <a:noFill/>
                        </a:ln>
                        <a:solidFill>
                          <a:schemeClr val="tx1"/>
                        </a:solidFill>
                        <a:effectLst/>
                        <a:latin typeface="Palatino Linotype"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dirty="0" smtClean="0">
                        <a:ln>
                          <a:noFill/>
                        </a:ln>
                        <a:solidFill>
                          <a:schemeClr val="tx1"/>
                        </a:solidFill>
                        <a:effectLst/>
                        <a:latin typeface="Palatino Linotype"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s-MX" sz="1600" b="0" i="0" u="none" strike="noStrike" cap="none" normalizeH="0" baseline="0" dirty="0" smtClean="0">
                          <a:ln>
                            <a:noFill/>
                          </a:ln>
                          <a:solidFill>
                            <a:schemeClr val="tx1"/>
                          </a:solidFill>
                          <a:effectLst/>
                          <a:latin typeface="Palatino Linotype" pitchFamily="18" charset="0"/>
                        </a:rPr>
                        <a:t>Individual</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dirty="0" smtClean="0">
                        <a:ln>
                          <a:noFill/>
                        </a:ln>
                        <a:solidFill>
                          <a:schemeClr val="tx1"/>
                        </a:solidFill>
                        <a:effectLst/>
                        <a:latin typeface="Palatino Linotype"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dirty="0" smtClean="0">
                        <a:ln>
                          <a:noFill/>
                        </a:ln>
                        <a:solidFill>
                          <a:schemeClr val="tx1"/>
                        </a:solidFill>
                        <a:effectLst/>
                        <a:latin typeface="Palatino Linotype"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dirty="0" smtClean="0">
                        <a:ln>
                          <a:noFill/>
                        </a:ln>
                        <a:solidFill>
                          <a:schemeClr val="tx1"/>
                        </a:solidFill>
                        <a:effectLst/>
                        <a:latin typeface="Palatino Linotype"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s-MX" sz="1600" b="0" i="0" u="none" strike="noStrike" cap="none" normalizeH="0" baseline="0" dirty="0" smtClean="0">
                          <a:ln>
                            <a:noFill/>
                          </a:ln>
                          <a:solidFill>
                            <a:schemeClr val="tx1"/>
                          </a:solidFill>
                          <a:effectLst/>
                          <a:latin typeface="Palatino Linotype" pitchFamily="18" charset="0"/>
                        </a:rPr>
                        <a:t>Grupo</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dirty="0" smtClean="0">
                        <a:ln>
                          <a:noFill/>
                        </a:ln>
                        <a:solidFill>
                          <a:schemeClr val="tx1"/>
                        </a:solidFill>
                        <a:effectLst/>
                        <a:latin typeface="Palatino Linotype"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dirty="0" smtClean="0">
                        <a:ln>
                          <a:noFill/>
                        </a:ln>
                        <a:solidFill>
                          <a:schemeClr val="tx1"/>
                        </a:solidFill>
                        <a:effectLst/>
                        <a:latin typeface="Palatino Linotype"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dirty="0" smtClean="0">
                        <a:ln>
                          <a:noFill/>
                        </a:ln>
                        <a:solidFill>
                          <a:schemeClr val="tx1"/>
                        </a:solidFill>
                        <a:effectLst/>
                        <a:latin typeface="Palatino Linotype"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s-MX" sz="1600" b="0" i="0" u="none" strike="noStrike" cap="none" normalizeH="0" baseline="0" dirty="0" smtClean="0">
                          <a:ln>
                            <a:noFill/>
                          </a:ln>
                          <a:solidFill>
                            <a:schemeClr val="tx1"/>
                          </a:solidFill>
                          <a:effectLst/>
                          <a:latin typeface="Palatino Linotype" pitchFamily="18" charset="0"/>
                        </a:rPr>
                        <a:t>Organización</a:t>
                      </a:r>
                      <a:endParaRPr kumimoji="0" lang="es-ES" sz="1600" b="0" i="0" u="none" strike="noStrike" cap="none" normalizeH="0" baseline="0" dirty="0" smtClean="0">
                        <a:ln>
                          <a:noFill/>
                        </a:ln>
                        <a:solidFill>
                          <a:schemeClr val="tx1"/>
                        </a:solidFill>
                        <a:effectLst/>
                        <a:latin typeface="Palatino Linotype"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dirty="0" smtClean="0">
                        <a:ln>
                          <a:noFill/>
                        </a:ln>
                        <a:solidFill>
                          <a:schemeClr val="tx1"/>
                        </a:solidFill>
                        <a:effectLst/>
                        <a:latin typeface="Palatino Linotype"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s-MX" sz="1600" b="0" i="0" u="none" strike="noStrike" cap="none" normalizeH="0" baseline="0" dirty="0" smtClean="0">
                          <a:ln>
                            <a:noFill/>
                          </a:ln>
                          <a:solidFill>
                            <a:schemeClr val="tx1"/>
                          </a:solidFill>
                          <a:effectLst/>
                          <a:latin typeface="Palatino Linotype" pitchFamily="18" charset="0"/>
                        </a:rPr>
                        <a:t>Intuición</a:t>
                      </a:r>
                      <a:endParaRPr kumimoji="0" lang="es-ES" sz="1600" b="0" i="0" u="none" strike="noStrike" cap="none" normalizeH="0" baseline="0" dirty="0" smtClean="0">
                        <a:ln>
                          <a:noFill/>
                        </a:ln>
                        <a:solidFill>
                          <a:schemeClr val="tx1"/>
                        </a:solidFill>
                        <a:effectLst/>
                        <a:latin typeface="Palatino Linotype"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MX" sz="1600" b="0" i="0" u="none" strike="noStrike" cap="none" normalizeH="0" baseline="0" dirty="0" smtClean="0">
                          <a:ln>
                            <a:noFill/>
                          </a:ln>
                          <a:solidFill>
                            <a:schemeClr val="tx1"/>
                          </a:solidFill>
                          <a:effectLst/>
                          <a:latin typeface="Palatino Linotype" pitchFamily="18" charset="0"/>
                        </a:rPr>
                        <a:t>Experiencias</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s-MX" sz="1600" b="0" i="0" u="none" strike="noStrike" cap="none" normalizeH="0" baseline="0" dirty="0" smtClean="0">
                          <a:ln>
                            <a:noFill/>
                          </a:ln>
                          <a:solidFill>
                            <a:schemeClr val="tx1"/>
                          </a:solidFill>
                          <a:effectLst/>
                          <a:latin typeface="Palatino Linotype" pitchFamily="18" charset="0"/>
                        </a:rPr>
                        <a:t>Imágenes</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s-MX" sz="1600" b="0" i="0" u="none" strike="noStrike" cap="none" normalizeH="0" baseline="0" dirty="0" smtClean="0">
                          <a:ln>
                            <a:noFill/>
                          </a:ln>
                          <a:solidFill>
                            <a:schemeClr val="tx1"/>
                          </a:solidFill>
                          <a:effectLst/>
                          <a:latin typeface="Palatino Linotype" pitchFamily="18" charset="0"/>
                        </a:rPr>
                        <a:t>Metáforas</a:t>
                      </a:r>
                      <a:endParaRPr kumimoji="0" lang="es-ES" sz="1600" b="0" i="0" u="none" strike="noStrike" cap="none" normalizeH="0" baseline="0" dirty="0" smtClean="0">
                        <a:ln>
                          <a:noFill/>
                        </a:ln>
                        <a:solidFill>
                          <a:schemeClr val="tx1"/>
                        </a:solidFill>
                        <a:effectLst/>
                        <a:latin typeface="Palatino Linotype"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28663">
                <a:tc vMerge="1">
                  <a:txBody>
                    <a:bodyPr/>
                    <a:lstStyle/>
                    <a:p>
                      <a:endParaRPr lang="es-ES"/>
                    </a:p>
                  </a:txBody>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dirty="0" smtClean="0">
                        <a:ln>
                          <a:noFill/>
                        </a:ln>
                        <a:solidFill>
                          <a:schemeClr val="tx1"/>
                        </a:solidFill>
                        <a:effectLst/>
                        <a:latin typeface="Palatino Linotype"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s-MX" sz="1600" b="0" i="0" u="none" strike="noStrike" cap="none" normalizeH="0" baseline="0" dirty="0" smtClean="0">
                          <a:ln>
                            <a:noFill/>
                          </a:ln>
                          <a:solidFill>
                            <a:schemeClr val="tx1"/>
                          </a:solidFill>
                          <a:effectLst/>
                          <a:latin typeface="Palatino Linotype" pitchFamily="18" charset="0"/>
                        </a:rPr>
                        <a:t>Interpretación</a:t>
                      </a:r>
                      <a:endParaRPr kumimoji="0" lang="es-ES" sz="1600" b="0" i="0" u="none" strike="noStrike" cap="none" normalizeH="0" baseline="0" dirty="0" smtClean="0">
                        <a:ln>
                          <a:noFill/>
                        </a:ln>
                        <a:solidFill>
                          <a:schemeClr val="tx1"/>
                        </a:solidFill>
                        <a:effectLst/>
                        <a:latin typeface="Palatino Linotype"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MX" sz="1600" b="0" i="0" u="none" strike="noStrike" cap="none" normalizeH="0" baseline="0" dirty="0" smtClean="0">
                          <a:ln>
                            <a:noFill/>
                          </a:ln>
                          <a:solidFill>
                            <a:schemeClr val="tx1"/>
                          </a:solidFill>
                          <a:effectLst/>
                          <a:latin typeface="Palatino Linotype" pitchFamily="18" charset="0"/>
                        </a:rPr>
                        <a:t>Lenguaje</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s-MX" sz="1600" b="0" i="0" u="none" strike="noStrike" cap="none" normalizeH="0" baseline="0" dirty="0" smtClean="0">
                          <a:ln>
                            <a:noFill/>
                          </a:ln>
                          <a:solidFill>
                            <a:schemeClr val="tx1"/>
                          </a:solidFill>
                          <a:effectLst/>
                          <a:latin typeface="Palatino Linotype" pitchFamily="18" charset="0"/>
                        </a:rPr>
                        <a:t>Mapa cognitivo</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s-MX" sz="1600" b="0" i="0" u="none" strike="noStrike" cap="none" normalizeH="0" baseline="0" dirty="0" smtClean="0">
                          <a:ln>
                            <a:noFill/>
                          </a:ln>
                          <a:solidFill>
                            <a:schemeClr val="tx1"/>
                          </a:solidFill>
                          <a:effectLst/>
                          <a:latin typeface="Palatino Linotype" pitchFamily="18" charset="0"/>
                        </a:rPr>
                        <a:t>Conversación / Diálogo</a:t>
                      </a:r>
                      <a:endParaRPr kumimoji="0" lang="es-ES" sz="1600" b="0" i="0" u="none" strike="noStrike" cap="none" normalizeH="0" baseline="0" dirty="0" smtClean="0">
                        <a:ln>
                          <a:noFill/>
                        </a:ln>
                        <a:solidFill>
                          <a:schemeClr val="tx1"/>
                        </a:solidFill>
                        <a:effectLst/>
                        <a:latin typeface="Palatino Linotype"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47713">
                <a:tc vMerge="1">
                  <a:txBody>
                    <a:bodyPr/>
                    <a:lstStyle/>
                    <a:p>
                      <a:endParaRPr lang="es-ES"/>
                    </a:p>
                  </a:txBody>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dirty="0" smtClean="0">
                        <a:ln>
                          <a:noFill/>
                        </a:ln>
                        <a:solidFill>
                          <a:schemeClr val="tx1"/>
                        </a:solidFill>
                        <a:effectLst/>
                        <a:latin typeface="Palatino Linotype"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s-MX" sz="1600" b="0" i="0" u="none" strike="noStrike" cap="none" normalizeH="0" baseline="0" dirty="0" smtClean="0">
                          <a:ln>
                            <a:noFill/>
                          </a:ln>
                          <a:solidFill>
                            <a:schemeClr val="tx1"/>
                          </a:solidFill>
                          <a:effectLst/>
                          <a:latin typeface="Palatino Linotype" pitchFamily="18" charset="0"/>
                        </a:rPr>
                        <a:t>Integración</a:t>
                      </a:r>
                      <a:endParaRPr kumimoji="0" lang="es-ES" sz="1600" b="0" i="0" u="none" strike="noStrike" cap="none" normalizeH="0" baseline="0" dirty="0" smtClean="0">
                        <a:ln>
                          <a:noFill/>
                        </a:ln>
                        <a:solidFill>
                          <a:schemeClr val="tx1"/>
                        </a:solidFill>
                        <a:effectLst/>
                        <a:latin typeface="Palatino Linotype"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MX" sz="1600" b="0" i="0" u="none" strike="noStrike" cap="none" normalizeH="0" baseline="0" dirty="0" smtClean="0">
                          <a:ln>
                            <a:noFill/>
                          </a:ln>
                          <a:solidFill>
                            <a:schemeClr val="tx1"/>
                          </a:solidFill>
                          <a:effectLst/>
                          <a:latin typeface="Palatino Linotype" pitchFamily="18" charset="0"/>
                        </a:rPr>
                        <a:t>Compresión compartida</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s-MX" sz="1600" b="0" i="0" u="none" strike="noStrike" cap="none" normalizeH="0" baseline="0" dirty="0" smtClean="0">
                          <a:ln>
                            <a:noFill/>
                          </a:ln>
                          <a:solidFill>
                            <a:schemeClr val="tx1"/>
                          </a:solidFill>
                          <a:effectLst/>
                          <a:latin typeface="Palatino Linotype" pitchFamily="18" charset="0"/>
                        </a:rPr>
                        <a:t>Adaptación mutua</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s-MX" sz="1600" b="0" i="0" u="none" strike="noStrike" cap="none" normalizeH="0" baseline="0" dirty="0" smtClean="0">
                          <a:ln>
                            <a:noFill/>
                          </a:ln>
                          <a:solidFill>
                            <a:schemeClr val="tx1"/>
                          </a:solidFill>
                          <a:effectLst/>
                          <a:latin typeface="Palatino Linotype" pitchFamily="18" charset="0"/>
                        </a:rPr>
                        <a:t>Sistemas interactivos</a:t>
                      </a:r>
                      <a:endParaRPr kumimoji="0" lang="es-ES" sz="1600" b="0" i="0" u="none" strike="noStrike" cap="none" normalizeH="0" baseline="0" dirty="0" smtClean="0">
                        <a:ln>
                          <a:noFill/>
                        </a:ln>
                        <a:solidFill>
                          <a:schemeClr val="tx1"/>
                        </a:solidFill>
                        <a:effectLst/>
                        <a:latin typeface="Palatino Linotype"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47713">
                <a:tc vMerge="1">
                  <a:txBody>
                    <a:bodyPr/>
                    <a:lstStyle/>
                    <a:p>
                      <a:endParaRPr lang="es-ES"/>
                    </a:p>
                  </a:txBody>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s-MX" sz="1600" b="0" i="0" u="none" strike="noStrike" cap="none" normalizeH="0" baseline="0" dirty="0" smtClean="0">
                        <a:ln>
                          <a:noFill/>
                        </a:ln>
                        <a:solidFill>
                          <a:schemeClr val="tx1"/>
                        </a:solidFill>
                        <a:effectLst/>
                        <a:latin typeface="Palatino Linotype"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s-MX" sz="1600" b="0" i="0" u="none" strike="noStrike" cap="none" normalizeH="0" baseline="0" dirty="0" smtClean="0">
                          <a:ln>
                            <a:noFill/>
                          </a:ln>
                          <a:solidFill>
                            <a:schemeClr val="tx1"/>
                          </a:solidFill>
                          <a:effectLst/>
                          <a:latin typeface="Palatino Linotype" pitchFamily="18" charset="0"/>
                        </a:rPr>
                        <a:t>Institucionalización</a:t>
                      </a:r>
                      <a:endParaRPr kumimoji="0" lang="es-ES" sz="1600" b="0" i="0" u="none" strike="noStrike" cap="none" normalizeH="0" baseline="0" dirty="0" smtClean="0">
                        <a:ln>
                          <a:noFill/>
                        </a:ln>
                        <a:solidFill>
                          <a:schemeClr val="tx1"/>
                        </a:solidFill>
                        <a:effectLst/>
                        <a:latin typeface="Palatino Linotype"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MX" sz="1600" b="0" i="0" u="none" strike="noStrike" cap="none" normalizeH="0" baseline="0" dirty="0" smtClean="0">
                          <a:ln>
                            <a:noFill/>
                          </a:ln>
                          <a:solidFill>
                            <a:schemeClr val="tx1"/>
                          </a:solidFill>
                          <a:effectLst/>
                          <a:latin typeface="Palatino Linotype" pitchFamily="18" charset="0"/>
                        </a:rPr>
                        <a:t>Planes / rutinas / normas</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s-MX" sz="1600" b="0" i="0" u="none" strike="noStrike" cap="none" normalizeH="0" baseline="0" dirty="0" smtClean="0">
                          <a:ln>
                            <a:noFill/>
                          </a:ln>
                          <a:solidFill>
                            <a:schemeClr val="tx1"/>
                          </a:solidFill>
                          <a:effectLst/>
                          <a:latin typeface="Palatino Linotype" pitchFamily="18" charset="0"/>
                        </a:rPr>
                        <a:t>Sistemas diagnósticos</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s-MX" sz="1600" b="0" i="0" u="none" strike="noStrike" cap="none" normalizeH="0" baseline="0" dirty="0" smtClean="0">
                          <a:ln>
                            <a:noFill/>
                          </a:ln>
                          <a:solidFill>
                            <a:schemeClr val="tx1"/>
                          </a:solidFill>
                          <a:effectLst/>
                          <a:latin typeface="Palatino Linotype" pitchFamily="18" charset="0"/>
                        </a:rPr>
                        <a:t>Reglas y procedimientos</a:t>
                      </a:r>
                      <a:endParaRPr kumimoji="0" lang="es-ES" sz="1600" b="0" i="0" u="none" strike="noStrike" cap="none" normalizeH="0" baseline="0" dirty="0" smtClean="0">
                        <a:ln>
                          <a:noFill/>
                        </a:ln>
                        <a:solidFill>
                          <a:schemeClr val="tx1"/>
                        </a:solidFill>
                        <a:effectLst/>
                        <a:latin typeface="Palatino Linotype"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1750" name="Text Box 7"/>
          <p:cNvSpPr txBox="1">
            <a:spLocks noChangeArrowheads="1"/>
          </p:cNvSpPr>
          <p:nvPr/>
        </p:nvSpPr>
        <p:spPr bwMode="auto">
          <a:xfrm>
            <a:off x="357158" y="500042"/>
            <a:ext cx="7704137" cy="830997"/>
          </a:xfrm>
          <a:prstGeom prst="rect">
            <a:avLst/>
          </a:prstGeom>
          <a:noFill/>
          <a:ln w="9525">
            <a:noFill/>
            <a:miter lim="800000"/>
            <a:headEnd/>
            <a:tailEnd/>
          </a:ln>
        </p:spPr>
        <p:txBody>
          <a:bodyPr>
            <a:spAutoFit/>
          </a:bodyPr>
          <a:lstStyle/>
          <a:p>
            <a:pPr>
              <a:spcBef>
                <a:spcPct val="50000"/>
              </a:spcBef>
            </a:pPr>
            <a:r>
              <a:rPr lang="es-MX" sz="2400" dirty="0">
                <a:latin typeface="Arial" pitchFamily="34" charset="0"/>
                <a:cs typeface="Arial" pitchFamily="34" charset="0"/>
              </a:rPr>
              <a:t>Sistema unificador de Crossan, Lane y White para el aprendizaje organizacional (1997)</a:t>
            </a:r>
            <a:endParaRPr lang="es-ES" sz="240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5" name="Picture 4"/>
          <p:cNvPicPr>
            <a:picLocks noGrp="1" noChangeAspect="1" noChangeArrowheads="1"/>
          </p:cNvPicPr>
          <p:nvPr>
            <p:ph idx="1"/>
          </p:nvPr>
        </p:nvPicPr>
        <p:blipFill>
          <a:blip r:embed="rId3">
            <a:lum bright="-34000" contrast="6000"/>
          </a:blip>
          <a:stretch>
            <a:fillRect/>
          </a:stretch>
        </p:blipFill>
        <p:spPr>
          <a:xfrm>
            <a:off x="2447697" y="1894383"/>
            <a:ext cx="3258005" cy="4277322"/>
          </a:xfrm>
          <a:noFill/>
        </p:spPr>
      </p:pic>
      <p:sp>
        <p:nvSpPr>
          <p:cNvPr id="9" name="8 Rectángulo"/>
          <p:cNvSpPr/>
          <p:nvPr/>
        </p:nvSpPr>
        <p:spPr>
          <a:xfrm>
            <a:off x="0" y="500042"/>
            <a:ext cx="8270214" cy="923330"/>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MX" sz="5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Palatino Linotype" pitchFamily="18" charset="0"/>
              </a:rPr>
              <a:t>7.  ESCUELA DE PODER</a:t>
            </a:r>
            <a:endParaRPr lang="es-E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8" name="Text Box 7"/>
          <p:cNvSpPr txBox="1">
            <a:spLocks noChangeArrowheads="1"/>
          </p:cNvSpPr>
          <p:nvPr/>
        </p:nvSpPr>
        <p:spPr bwMode="auto">
          <a:xfrm>
            <a:off x="428596" y="857232"/>
            <a:ext cx="7704137" cy="954107"/>
          </a:xfrm>
          <a:prstGeom prst="rect">
            <a:avLst/>
          </a:prstGeom>
          <a:noFill/>
          <a:ln w="9525">
            <a:noFill/>
            <a:miter lim="800000"/>
            <a:headEnd/>
            <a:tailEnd/>
          </a:ln>
        </p:spPr>
        <p:txBody>
          <a:bodyPr>
            <a:spAutoFit/>
          </a:bodyPr>
          <a:lstStyle/>
          <a:p>
            <a:pPr algn="just">
              <a:spcBef>
                <a:spcPct val="50000"/>
              </a:spcBef>
              <a:buFont typeface="Wingdings" pitchFamily="2" charset="2"/>
              <a:buChar char="ü"/>
            </a:pPr>
            <a:r>
              <a:rPr lang="es-MX" sz="2800" dirty="0">
                <a:latin typeface="Arial" pitchFamily="34" charset="0"/>
                <a:cs typeface="Arial" pitchFamily="34" charset="0"/>
              </a:rPr>
              <a:t>La creación de estrategia como un proceso DE NEGOCIACIÓN</a:t>
            </a:r>
            <a:endParaRPr lang="es-ES" sz="2800" dirty="0">
              <a:latin typeface="Arial" pitchFamily="34" charset="0"/>
              <a:cs typeface="Arial" pitchFamily="34" charset="0"/>
            </a:endParaRPr>
          </a:p>
        </p:txBody>
      </p:sp>
      <p:sp>
        <p:nvSpPr>
          <p:cNvPr id="142344" name="Rectangle 8"/>
          <p:cNvSpPr>
            <a:spLocks noChangeArrowheads="1"/>
          </p:cNvSpPr>
          <p:nvPr/>
        </p:nvSpPr>
        <p:spPr bwMode="auto">
          <a:xfrm>
            <a:off x="214282" y="1785926"/>
            <a:ext cx="8001056" cy="4832092"/>
          </a:xfrm>
          <a:prstGeom prst="rect">
            <a:avLst/>
          </a:prstGeom>
          <a:noFill/>
          <a:ln w="9525">
            <a:noFill/>
            <a:miter lim="800000"/>
            <a:headEnd/>
            <a:tailEnd/>
          </a:ln>
        </p:spPr>
        <p:txBody>
          <a:bodyPr wrap="square" anchor="ctr">
            <a:spAutoFit/>
          </a:bodyPr>
          <a:lstStyle/>
          <a:p>
            <a:pPr marL="179388" lvl="1" algn="just">
              <a:buFont typeface="Wingdings" pitchFamily="2" charset="2"/>
              <a:buChar char="ü"/>
              <a:tabLst>
                <a:tab pos="914400" algn="l"/>
              </a:tabLst>
            </a:pPr>
            <a:r>
              <a:rPr lang="es-ES" sz="2800" dirty="0" smtClean="0">
                <a:latin typeface="Arial" pitchFamily="34" charset="0"/>
                <a:cs typeface="Arial" pitchFamily="34" charset="0"/>
              </a:rPr>
              <a:t>Se </a:t>
            </a:r>
            <a:r>
              <a:rPr lang="es-ES" sz="2800" dirty="0">
                <a:latin typeface="Arial" pitchFamily="34" charset="0"/>
                <a:cs typeface="Arial" pitchFamily="34" charset="0"/>
              </a:rPr>
              <a:t>analizan las redes de poder existentes, junto a posibles alianzas. Se traza el juego político dentro y fuera de la organización, y las relaciones de poder son las que predominan. El poder puede presentarse en cualquier persona de la organización (micro), o en alguna organización externa (macro).</a:t>
            </a:r>
          </a:p>
          <a:p>
            <a:pPr marL="179388" lvl="1" algn="just">
              <a:buFont typeface="Wingdings" pitchFamily="2" charset="2"/>
              <a:buChar char="ü"/>
              <a:tabLst>
                <a:tab pos="914400" algn="l"/>
              </a:tabLst>
            </a:pPr>
            <a:endParaRPr lang="es-ES" sz="2800" dirty="0">
              <a:latin typeface="Arial" pitchFamily="34" charset="0"/>
              <a:cs typeface="Arial" pitchFamily="34" charset="0"/>
            </a:endParaRPr>
          </a:p>
          <a:p>
            <a:pPr marL="179388" lvl="1" algn="just">
              <a:buFont typeface="Wingdings" pitchFamily="2" charset="2"/>
              <a:buChar char="ü"/>
              <a:tabLst>
                <a:tab pos="914400" algn="l"/>
              </a:tabLst>
            </a:pPr>
            <a:endParaRPr lang="es-ES" sz="2800" dirty="0">
              <a:latin typeface="Arial" pitchFamily="34" charset="0"/>
              <a:cs typeface="Arial" pitchFamily="34" charset="0"/>
            </a:endParaRPr>
          </a:p>
          <a:p>
            <a:pPr marL="179388" lvl="1" algn="just">
              <a:buFont typeface="Wingdings" pitchFamily="2" charset="2"/>
              <a:buChar char="ü"/>
              <a:tabLst>
                <a:tab pos="914400" algn="l"/>
              </a:tabLst>
            </a:pPr>
            <a:endParaRPr lang="es-ES" sz="2800" dirty="0">
              <a:latin typeface="Arial" pitchFamily="34" charset="0"/>
              <a:cs typeface="Arial" pitchFamily="34" charset="0"/>
            </a:endParaRPr>
          </a:p>
          <a:p>
            <a:pPr marL="179388" lvl="1" algn="just">
              <a:tabLst>
                <a:tab pos="914400" algn="l"/>
              </a:tabLst>
            </a:pPr>
            <a:endParaRPr lang="es-ES" sz="2800" dirty="0">
              <a:latin typeface="Arial" pitchFamily="34"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234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44" grpId="0" build="p" bldLvl="2"/>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4" name="Text Box 7"/>
          <p:cNvSpPr txBox="1">
            <a:spLocks noChangeArrowheads="1"/>
          </p:cNvSpPr>
          <p:nvPr/>
        </p:nvSpPr>
        <p:spPr bwMode="auto">
          <a:xfrm>
            <a:off x="571472" y="1643050"/>
            <a:ext cx="7704137" cy="954107"/>
          </a:xfrm>
          <a:prstGeom prst="rect">
            <a:avLst/>
          </a:prstGeom>
          <a:noFill/>
          <a:ln w="9525">
            <a:noFill/>
            <a:miter lim="800000"/>
            <a:headEnd/>
            <a:tailEnd/>
          </a:ln>
        </p:spPr>
        <p:txBody>
          <a:bodyPr>
            <a:spAutoFit/>
          </a:bodyPr>
          <a:lstStyle/>
          <a:p>
            <a:pPr algn="just">
              <a:spcBef>
                <a:spcPct val="50000"/>
              </a:spcBef>
              <a:buFont typeface="Wingdings" pitchFamily="2" charset="2"/>
              <a:buChar char="ü"/>
            </a:pPr>
            <a:r>
              <a:rPr lang="es-MX" sz="2800" dirty="0" smtClean="0">
                <a:latin typeface="Arial" pitchFamily="34" charset="0"/>
                <a:cs typeface="Arial" pitchFamily="34" charset="0"/>
              </a:rPr>
              <a:t>  La </a:t>
            </a:r>
            <a:r>
              <a:rPr lang="es-MX" sz="2800" dirty="0">
                <a:latin typeface="Arial" pitchFamily="34" charset="0"/>
                <a:cs typeface="Arial" pitchFamily="34" charset="0"/>
              </a:rPr>
              <a:t>creación de estrategia como un proceso COLECTIVO</a:t>
            </a:r>
            <a:endParaRPr lang="es-ES" sz="2800" dirty="0">
              <a:latin typeface="Arial" pitchFamily="34" charset="0"/>
              <a:cs typeface="Arial" pitchFamily="34" charset="0"/>
            </a:endParaRPr>
          </a:p>
        </p:txBody>
      </p:sp>
      <p:sp>
        <p:nvSpPr>
          <p:cNvPr id="144393" name="Rectangle 9"/>
          <p:cNvSpPr>
            <a:spLocks noChangeArrowheads="1"/>
          </p:cNvSpPr>
          <p:nvPr/>
        </p:nvSpPr>
        <p:spPr bwMode="auto">
          <a:xfrm>
            <a:off x="179387" y="2714620"/>
            <a:ext cx="7964513" cy="3108543"/>
          </a:xfrm>
          <a:prstGeom prst="rect">
            <a:avLst/>
          </a:prstGeom>
          <a:noFill/>
          <a:ln w="9525">
            <a:noFill/>
            <a:miter lim="800000"/>
            <a:headEnd/>
            <a:tailEnd/>
          </a:ln>
        </p:spPr>
        <p:txBody>
          <a:bodyPr wrap="square" anchor="ctr">
            <a:spAutoFit/>
          </a:bodyPr>
          <a:lstStyle/>
          <a:p>
            <a:pPr lvl="1" algn="just">
              <a:buFont typeface="Wingdings" pitchFamily="2" charset="2"/>
              <a:buChar char="ü"/>
              <a:tabLst>
                <a:tab pos="914400" algn="l"/>
              </a:tabLst>
            </a:pPr>
            <a:r>
              <a:rPr lang="es-ES" sz="2800" dirty="0" smtClean="0">
                <a:latin typeface="Arial" pitchFamily="34" charset="0"/>
                <a:cs typeface="Arial" pitchFamily="34" charset="0"/>
              </a:rPr>
              <a:t>Intenta </a:t>
            </a:r>
            <a:r>
              <a:rPr lang="es-ES" sz="2800" dirty="0">
                <a:latin typeface="Arial" pitchFamily="34" charset="0"/>
                <a:cs typeface="Arial" pitchFamily="34" charset="0"/>
              </a:rPr>
              <a:t>implicar a los distintos grupos y departamentos que existen dentro de la compañía. La formación de la estrategia se ve como proceso fundamentalmente colectivo y cooperativo. </a:t>
            </a:r>
          </a:p>
          <a:p>
            <a:pPr lvl="1" algn="just">
              <a:buFont typeface="Wingdings" pitchFamily="2" charset="2"/>
              <a:buChar char="ü"/>
              <a:tabLst>
                <a:tab pos="914400" algn="l"/>
              </a:tabLst>
            </a:pPr>
            <a:endParaRPr lang="es-ES" sz="2800" dirty="0">
              <a:latin typeface="Arial" pitchFamily="34" charset="0"/>
              <a:cs typeface="Arial" pitchFamily="34" charset="0"/>
            </a:endParaRPr>
          </a:p>
          <a:p>
            <a:pPr lvl="1" algn="just">
              <a:buFont typeface="Wingdings" pitchFamily="2" charset="2"/>
              <a:buChar char="ü"/>
              <a:tabLst>
                <a:tab pos="914400" algn="l"/>
              </a:tabLst>
            </a:pPr>
            <a:endParaRPr lang="es-ES" sz="2800" dirty="0">
              <a:latin typeface="Arial" pitchFamily="34" charset="0"/>
              <a:cs typeface="Arial" pitchFamily="34" charset="0"/>
            </a:endParaRPr>
          </a:p>
        </p:txBody>
      </p:sp>
      <p:sp>
        <p:nvSpPr>
          <p:cNvPr id="8" name="7 Rectángulo"/>
          <p:cNvSpPr/>
          <p:nvPr/>
        </p:nvSpPr>
        <p:spPr>
          <a:xfrm>
            <a:off x="214282" y="357166"/>
            <a:ext cx="7781426" cy="923330"/>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MX" sz="5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rPr>
              <a:t>8.  ESCUELA CULTURAL</a:t>
            </a:r>
            <a:endParaRPr lang="es-E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439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93" grpId="0" build="p" bldLvl="2"/>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8" name="Text Box 7"/>
          <p:cNvSpPr txBox="1">
            <a:spLocks noChangeArrowheads="1"/>
          </p:cNvSpPr>
          <p:nvPr/>
        </p:nvSpPr>
        <p:spPr bwMode="auto">
          <a:xfrm>
            <a:off x="214282" y="357166"/>
            <a:ext cx="7704137" cy="954107"/>
          </a:xfrm>
          <a:prstGeom prst="rect">
            <a:avLst/>
          </a:prstGeom>
          <a:noFill/>
          <a:ln w="9525">
            <a:noFill/>
            <a:miter lim="800000"/>
            <a:headEnd/>
            <a:tailEnd/>
          </a:ln>
        </p:spPr>
        <p:txBody>
          <a:bodyPr>
            <a:spAutoFit/>
          </a:bodyPr>
          <a:lstStyle/>
          <a:p>
            <a:pPr>
              <a:spcBef>
                <a:spcPct val="50000"/>
              </a:spcBef>
            </a:pPr>
            <a:r>
              <a:rPr lang="es-MX" sz="2800" dirty="0">
                <a:latin typeface="Arial" pitchFamily="34" charset="0"/>
                <a:cs typeface="Arial" pitchFamily="34" charset="0"/>
              </a:rPr>
              <a:t>5 sencillos pasos para destruir una cultura rica – Adaptado de Mintzberg (1996)</a:t>
            </a:r>
            <a:endParaRPr lang="es-ES" sz="2800" dirty="0">
              <a:latin typeface="Arial" pitchFamily="34" charset="0"/>
              <a:cs typeface="Arial" pitchFamily="34" charset="0"/>
            </a:endParaRPr>
          </a:p>
        </p:txBody>
      </p:sp>
      <p:sp>
        <p:nvSpPr>
          <p:cNvPr id="38919" name="Text Box 8"/>
          <p:cNvSpPr txBox="1">
            <a:spLocks noChangeArrowheads="1"/>
          </p:cNvSpPr>
          <p:nvPr/>
        </p:nvSpPr>
        <p:spPr bwMode="auto">
          <a:xfrm>
            <a:off x="0" y="1714488"/>
            <a:ext cx="8143900" cy="3170099"/>
          </a:xfrm>
          <a:prstGeom prst="rect">
            <a:avLst/>
          </a:prstGeom>
          <a:noFill/>
          <a:ln w="9525">
            <a:noFill/>
            <a:miter lim="800000"/>
            <a:headEnd/>
            <a:tailEnd/>
          </a:ln>
        </p:spPr>
        <p:txBody>
          <a:bodyPr wrap="square">
            <a:spAutoFit/>
          </a:bodyPr>
          <a:lstStyle/>
          <a:p>
            <a:pPr marL="342900" indent="-342900" algn="just">
              <a:spcBef>
                <a:spcPct val="50000"/>
              </a:spcBef>
              <a:buFontTx/>
              <a:buAutoNum type="arabicPeriod"/>
            </a:pPr>
            <a:r>
              <a:rPr lang="es-MX" sz="2000" dirty="0">
                <a:latin typeface="Palatino Linotype" pitchFamily="18" charset="0"/>
              </a:rPr>
              <a:t>Administre lo </a:t>
            </a:r>
            <a:r>
              <a:rPr lang="es-MX" sz="2000" dirty="0" smtClean="0">
                <a:latin typeface="Palatino Linotype" pitchFamily="18" charset="0"/>
              </a:rPr>
              <a:t>fundamental</a:t>
            </a:r>
            <a:endParaRPr lang="es-MX" sz="2000" dirty="0">
              <a:latin typeface="Palatino Linotype" pitchFamily="18" charset="0"/>
            </a:endParaRPr>
          </a:p>
          <a:p>
            <a:pPr marL="342900" indent="-342900" algn="just">
              <a:spcBef>
                <a:spcPct val="50000"/>
              </a:spcBef>
              <a:buFontTx/>
              <a:buAutoNum type="arabicPeriod"/>
            </a:pPr>
            <a:r>
              <a:rPr lang="es-MX" sz="2000" dirty="0">
                <a:latin typeface="Palatino Linotype" pitchFamily="18" charset="0"/>
              </a:rPr>
              <a:t>Trace un plan para cada medida: nada de espontaneidad, por favor, nada de aprendizaje.</a:t>
            </a:r>
          </a:p>
          <a:p>
            <a:pPr marL="342900" indent="-342900" algn="just">
              <a:spcBef>
                <a:spcPct val="50000"/>
              </a:spcBef>
              <a:buFontTx/>
              <a:buAutoNum type="arabicPeriod"/>
            </a:pPr>
            <a:r>
              <a:rPr lang="es-MX" sz="2000" dirty="0">
                <a:latin typeface="Palatino Linotype" pitchFamily="18" charset="0"/>
              </a:rPr>
              <a:t>Rote a los managers para asegurarse de que nunca lleguen a saber nada a fondo, salvo </a:t>
            </a:r>
            <a:r>
              <a:rPr lang="es-MX" sz="2000" dirty="0" smtClean="0">
                <a:latin typeface="Palatino Linotype" pitchFamily="18" charset="0"/>
              </a:rPr>
              <a:t>dirigir</a:t>
            </a:r>
            <a:endParaRPr lang="es-MX" sz="2000" dirty="0">
              <a:latin typeface="Palatino Linotype" pitchFamily="18" charset="0"/>
            </a:endParaRPr>
          </a:p>
          <a:p>
            <a:pPr marL="342900" indent="-342900" algn="just">
              <a:spcBef>
                <a:spcPct val="50000"/>
              </a:spcBef>
              <a:buFontTx/>
              <a:buAutoNum type="arabicPeriod"/>
            </a:pPr>
            <a:r>
              <a:rPr lang="es-MX" sz="2000" dirty="0">
                <a:latin typeface="Palatino Linotype" pitchFamily="18" charset="0"/>
              </a:rPr>
              <a:t>Sea siempre objetivo, lo cual significa tratar a la gente como a </a:t>
            </a:r>
            <a:r>
              <a:rPr lang="es-MX" sz="2000" dirty="0" smtClean="0">
                <a:latin typeface="Palatino Linotype" pitchFamily="18" charset="0"/>
              </a:rPr>
              <a:t>objetos</a:t>
            </a:r>
            <a:endParaRPr lang="es-MX" sz="2000" dirty="0">
              <a:latin typeface="Palatino Linotype" pitchFamily="18" charset="0"/>
            </a:endParaRPr>
          </a:p>
          <a:p>
            <a:pPr marL="342900" indent="-342900" algn="just">
              <a:spcBef>
                <a:spcPct val="50000"/>
              </a:spcBef>
              <a:buFontTx/>
              <a:buAutoNum type="arabicPeriod"/>
            </a:pPr>
            <a:r>
              <a:rPr lang="es-MX" sz="2000" dirty="0">
                <a:latin typeface="Palatino Linotype" pitchFamily="18" charset="0"/>
              </a:rPr>
              <a:t>Hágalo todo en 5 sencillos pasos</a:t>
            </a:r>
            <a:endParaRPr lang="es-ES" sz="2000" dirty="0">
              <a:latin typeface="Palatino Linotype" pitchFamily="18"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Rectángulo"/>
          <p:cNvSpPr/>
          <p:nvPr/>
        </p:nvSpPr>
        <p:spPr>
          <a:xfrm>
            <a:off x="-428660" y="428604"/>
            <a:ext cx="9572660" cy="830997"/>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MX" sz="48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rPr>
              <a:t>9.  ESCUELA AMBIENTAL</a:t>
            </a:r>
            <a:endParaRPr lang="es-ES" sz="48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ndParaRPr>
          </a:p>
        </p:txBody>
      </p:sp>
      <p:sp>
        <p:nvSpPr>
          <p:cNvPr id="10" name="9 Rectángulo"/>
          <p:cNvSpPr/>
          <p:nvPr/>
        </p:nvSpPr>
        <p:spPr>
          <a:xfrm>
            <a:off x="714348" y="1928802"/>
            <a:ext cx="7358114" cy="954107"/>
          </a:xfrm>
          <a:prstGeom prst="rect">
            <a:avLst/>
          </a:prstGeom>
        </p:spPr>
        <p:txBody>
          <a:bodyPr wrap="square">
            <a:spAutoFit/>
          </a:bodyPr>
          <a:lstStyle/>
          <a:p>
            <a:pPr algn="just">
              <a:spcBef>
                <a:spcPct val="50000"/>
              </a:spcBef>
              <a:buFont typeface="Wingdings" pitchFamily="2" charset="2"/>
              <a:buChar char="ü"/>
            </a:pPr>
            <a:r>
              <a:rPr lang="es-MX" sz="2800" dirty="0" smtClean="0">
                <a:latin typeface="Arial" pitchFamily="34" charset="0"/>
                <a:cs typeface="Arial" pitchFamily="34" charset="0"/>
              </a:rPr>
              <a:t>La creación de estrategia como un proceso REACTIVO</a:t>
            </a:r>
            <a:endParaRPr lang="es-ES" sz="2800" dirty="0">
              <a:latin typeface="Arial" pitchFamily="34" charset="0"/>
              <a:cs typeface="Arial" pitchFamily="34" charset="0"/>
            </a:endParaRPr>
          </a:p>
        </p:txBody>
      </p:sp>
      <p:sp>
        <p:nvSpPr>
          <p:cNvPr id="11" name="Rectangle 8"/>
          <p:cNvSpPr>
            <a:spLocks noChangeArrowheads="1"/>
          </p:cNvSpPr>
          <p:nvPr/>
        </p:nvSpPr>
        <p:spPr bwMode="auto">
          <a:xfrm>
            <a:off x="214282" y="2887682"/>
            <a:ext cx="7929618" cy="3970318"/>
          </a:xfrm>
          <a:prstGeom prst="rect">
            <a:avLst/>
          </a:prstGeom>
          <a:noFill/>
          <a:ln w="9525">
            <a:noFill/>
            <a:miter lim="800000"/>
            <a:headEnd/>
            <a:tailEnd/>
          </a:ln>
        </p:spPr>
        <p:txBody>
          <a:bodyPr wrap="square" anchor="ctr">
            <a:spAutoFit/>
          </a:bodyPr>
          <a:lstStyle/>
          <a:p>
            <a:pPr lvl="1" algn="just">
              <a:buFont typeface="Wingdings" pitchFamily="2" charset="2"/>
              <a:buChar char="ü"/>
              <a:tabLst>
                <a:tab pos="914400" algn="l"/>
              </a:tabLst>
            </a:pPr>
            <a:r>
              <a:rPr lang="es-ES" sz="2800" dirty="0" smtClean="0">
                <a:latin typeface="Arial" pitchFamily="34" charset="0"/>
                <a:cs typeface="Arial" pitchFamily="34" charset="0"/>
              </a:rPr>
              <a:t>La estrategia es una respuesta ante los desafíos impuestos por el ambiente externo. Donde otras escuelas ven el ambiente como factor, la escuela ambiental lo ve como un agente. </a:t>
            </a:r>
          </a:p>
          <a:p>
            <a:pPr lvl="1" algn="just">
              <a:buFont typeface="Wingdings" pitchFamily="2" charset="2"/>
              <a:buChar char="ü"/>
              <a:tabLst>
                <a:tab pos="914400" algn="l"/>
              </a:tabLst>
            </a:pPr>
            <a:endParaRPr lang="es-ES" sz="2800" dirty="0" smtClean="0">
              <a:latin typeface="Arial" pitchFamily="34" charset="0"/>
              <a:cs typeface="Arial" pitchFamily="34" charset="0"/>
            </a:endParaRPr>
          </a:p>
          <a:p>
            <a:pPr lvl="1" algn="just">
              <a:buFont typeface="Wingdings" pitchFamily="2" charset="2"/>
              <a:buChar char="ü"/>
              <a:tabLst>
                <a:tab pos="914400" algn="l"/>
              </a:tabLst>
            </a:pPr>
            <a:endParaRPr lang="es-ES" sz="2800" dirty="0" smtClean="0">
              <a:latin typeface="Arial" pitchFamily="34" charset="0"/>
              <a:cs typeface="Arial" pitchFamily="34" charset="0"/>
            </a:endParaRPr>
          </a:p>
          <a:p>
            <a:pPr lvl="1" algn="just">
              <a:buFont typeface="Wingdings" pitchFamily="2" charset="2"/>
              <a:buChar char="ü"/>
              <a:tabLst>
                <a:tab pos="914400" algn="l"/>
              </a:tabLst>
            </a:pPr>
            <a:endParaRPr lang="es-ES" sz="2800" dirty="0" smtClean="0">
              <a:latin typeface="Arial" pitchFamily="34" charset="0"/>
              <a:cs typeface="Arial" pitchFamily="34" charset="0"/>
            </a:endParaRPr>
          </a:p>
          <a:p>
            <a:pPr lvl="1" algn="just">
              <a:tabLst>
                <a:tab pos="914400" algn="l"/>
              </a:tabLst>
            </a:pPr>
            <a:endParaRPr lang="es-ES" sz="2800" dirty="0">
              <a:latin typeface="Arial" pitchFamily="34"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bldLvl="2"/>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5" name="Text Box 7"/>
          <p:cNvSpPr txBox="1">
            <a:spLocks noChangeArrowheads="1"/>
          </p:cNvSpPr>
          <p:nvPr/>
        </p:nvSpPr>
        <p:spPr bwMode="auto">
          <a:xfrm>
            <a:off x="500034" y="2071678"/>
            <a:ext cx="7704137" cy="954107"/>
          </a:xfrm>
          <a:prstGeom prst="rect">
            <a:avLst/>
          </a:prstGeom>
          <a:noFill/>
          <a:ln w="9525">
            <a:noFill/>
            <a:miter lim="800000"/>
            <a:headEnd/>
            <a:tailEnd/>
          </a:ln>
        </p:spPr>
        <p:txBody>
          <a:bodyPr>
            <a:spAutoFit/>
          </a:bodyPr>
          <a:lstStyle/>
          <a:p>
            <a:pPr algn="just">
              <a:spcBef>
                <a:spcPct val="50000"/>
              </a:spcBef>
              <a:buFont typeface="Wingdings" pitchFamily="2" charset="2"/>
              <a:buChar char="ü"/>
            </a:pPr>
            <a:r>
              <a:rPr lang="es-MX" sz="2800" dirty="0">
                <a:latin typeface="Arial" pitchFamily="34" charset="0"/>
                <a:cs typeface="Arial" pitchFamily="34" charset="0"/>
              </a:rPr>
              <a:t>La creación de estrategia como un proceso DE TRANSFORMACIÓN</a:t>
            </a:r>
            <a:endParaRPr lang="es-ES" sz="2800" dirty="0">
              <a:latin typeface="Arial" pitchFamily="34" charset="0"/>
              <a:cs typeface="Arial" pitchFamily="34" charset="0"/>
            </a:endParaRPr>
          </a:p>
        </p:txBody>
      </p:sp>
      <p:sp>
        <p:nvSpPr>
          <p:cNvPr id="8" name="7 Rectángulo"/>
          <p:cNvSpPr/>
          <p:nvPr/>
        </p:nvSpPr>
        <p:spPr>
          <a:xfrm>
            <a:off x="-357222" y="214290"/>
            <a:ext cx="8286776" cy="1569660"/>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MX" sz="48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rPr>
              <a:t>10.  ESCUELA DE CONFIGURACIÓN</a:t>
            </a:r>
            <a:endParaRPr lang="es-ES" sz="48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ndParaRPr>
          </a:p>
        </p:txBody>
      </p:sp>
      <p:sp>
        <p:nvSpPr>
          <p:cNvPr id="10" name="9 Rectángulo"/>
          <p:cNvSpPr/>
          <p:nvPr/>
        </p:nvSpPr>
        <p:spPr>
          <a:xfrm>
            <a:off x="500034" y="3071810"/>
            <a:ext cx="7143800" cy="2677656"/>
          </a:xfrm>
          <a:prstGeom prst="rect">
            <a:avLst/>
          </a:prstGeom>
        </p:spPr>
        <p:txBody>
          <a:bodyPr wrap="square">
            <a:spAutoFit/>
          </a:bodyPr>
          <a:lstStyle/>
          <a:p>
            <a:pPr algn="just">
              <a:buFont typeface="Wingdings" pitchFamily="2" charset="2"/>
              <a:buChar char="ü"/>
              <a:tabLst>
                <a:tab pos="914400" algn="l"/>
              </a:tabLst>
            </a:pPr>
            <a:r>
              <a:rPr lang="es-ES" sz="2800" dirty="0" smtClean="0">
                <a:latin typeface="Arial" pitchFamily="34" charset="0"/>
                <a:cs typeface="Arial" pitchFamily="34" charset="0"/>
              </a:rPr>
              <a:t>La formación de la estrategia es un proceso de transformación de la organización de un tipo de estructura de la toma de decisiones a otro. </a:t>
            </a:r>
          </a:p>
          <a:p>
            <a:pPr lvl="1" algn="just">
              <a:buFont typeface="Wingdings" pitchFamily="2" charset="2"/>
              <a:buChar char="ü"/>
              <a:tabLst>
                <a:tab pos="914400" algn="l"/>
              </a:tabLst>
            </a:pPr>
            <a:endParaRPr lang="es-ES" sz="2800" dirty="0" smtClean="0">
              <a:latin typeface="Arial" pitchFamily="34" charset="0"/>
              <a:cs typeface="Arial" pitchFamily="34" charset="0"/>
            </a:endParaRPr>
          </a:p>
          <a:p>
            <a:pPr lvl="1" algn="just">
              <a:buFont typeface="Wingdings" pitchFamily="2" charset="2"/>
              <a:buChar char="ü"/>
              <a:tabLst>
                <a:tab pos="914400" algn="l"/>
              </a:tabLst>
            </a:pPr>
            <a:endParaRPr lang="es-ES" sz="280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357158" y="1428736"/>
            <a:ext cx="7359964" cy="3416320"/>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54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COMPONENTES </a:t>
            </a:r>
          </a:p>
          <a:p>
            <a:pPr algn="ctr"/>
            <a:r>
              <a:rPr lang="es-ES" sz="54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DE LA </a:t>
            </a:r>
          </a:p>
          <a:p>
            <a:pPr algn="ctr"/>
            <a:r>
              <a:rPr lang="es-ES" sz="5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PLANEACION</a:t>
            </a:r>
          </a:p>
          <a:p>
            <a:pPr algn="ctr"/>
            <a:r>
              <a:rPr lang="es-ES" sz="5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 ESTRATEGICA</a:t>
            </a:r>
            <a:endParaRPr lang="es-E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Rectángulo"/>
          <p:cNvSpPr/>
          <p:nvPr/>
        </p:nvSpPr>
        <p:spPr>
          <a:xfrm>
            <a:off x="714349" y="1500174"/>
            <a:ext cx="6113206" cy="2800767"/>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88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1. Los estrategas</a:t>
            </a:r>
            <a:endParaRPr lang="es-ES" sz="88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idx="1"/>
          </p:nvPr>
        </p:nvSpPr>
        <p:spPr>
          <a:xfrm>
            <a:off x="71406" y="2108196"/>
            <a:ext cx="8229600" cy="820738"/>
          </a:xfrm>
        </p:spPr>
        <p:txBody>
          <a:bodyPr>
            <a:normAutofit lnSpcReduction="10000"/>
          </a:bodyPr>
          <a:lstStyle/>
          <a:p>
            <a:pPr eaLnBrk="1" hangingPunct="1">
              <a:buFontTx/>
              <a:buNone/>
            </a:pPr>
            <a:r>
              <a:rPr lang="es-MX" dirty="0" smtClean="0">
                <a:latin typeface="Verdana" pitchFamily="34" charset="0"/>
              </a:rPr>
              <a:t> </a:t>
            </a:r>
            <a:r>
              <a:rPr lang="es-MX" sz="2400" dirty="0" smtClean="0">
                <a:latin typeface="Verdana" pitchFamily="34" charset="0"/>
              </a:rPr>
              <a:t>A funcionarios ubicados  en la alta dirección de la empresa como lo es:</a:t>
            </a:r>
            <a:endParaRPr lang="es-ES" sz="2400" dirty="0" smtClean="0">
              <a:latin typeface="Verdana" pitchFamily="34" charset="0"/>
            </a:endParaRPr>
          </a:p>
        </p:txBody>
      </p:sp>
      <p:sp>
        <p:nvSpPr>
          <p:cNvPr id="7172" name="Text Box 5"/>
          <p:cNvSpPr txBox="1">
            <a:spLocks noChangeArrowheads="1"/>
          </p:cNvSpPr>
          <p:nvPr/>
        </p:nvSpPr>
        <p:spPr bwMode="auto">
          <a:xfrm>
            <a:off x="684213" y="3151394"/>
            <a:ext cx="7056437" cy="1134862"/>
          </a:xfrm>
          <a:prstGeom prst="rect">
            <a:avLst/>
          </a:prstGeom>
          <a:noFill/>
          <a:ln w="9525">
            <a:noFill/>
            <a:miter lim="800000"/>
            <a:headEnd/>
            <a:tailEnd/>
          </a:ln>
        </p:spPr>
        <p:txBody>
          <a:bodyPr>
            <a:spAutoFit/>
          </a:bodyPr>
          <a:lstStyle/>
          <a:p>
            <a:pPr>
              <a:lnSpc>
                <a:spcPct val="60000"/>
              </a:lnSpc>
              <a:spcBef>
                <a:spcPct val="50000"/>
              </a:spcBef>
              <a:buFontTx/>
              <a:buChar char="•"/>
            </a:pPr>
            <a:r>
              <a:rPr lang="es-MX" sz="2400" dirty="0"/>
              <a:t>La junta directiva</a:t>
            </a:r>
          </a:p>
          <a:p>
            <a:pPr>
              <a:lnSpc>
                <a:spcPct val="60000"/>
              </a:lnSpc>
              <a:spcBef>
                <a:spcPct val="50000"/>
              </a:spcBef>
              <a:buFontTx/>
              <a:buChar char="•"/>
            </a:pPr>
            <a:r>
              <a:rPr lang="es-MX" sz="2400" dirty="0"/>
              <a:t>El presidente o gerente</a:t>
            </a:r>
          </a:p>
          <a:p>
            <a:pPr>
              <a:lnSpc>
                <a:spcPct val="60000"/>
              </a:lnSpc>
              <a:spcBef>
                <a:spcPct val="50000"/>
              </a:spcBef>
              <a:buFontTx/>
              <a:buChar char="•"/>
            </a:pPr>
            <a:r>
              <a:rPr lang="es-MX" sz="2400" dirty="0"/>
              <a:t>Los vicepresidentes</a:t>
            </a:r>
            <a:endParaRPr lang="es-ES" sz="2400" dirty="0"/>
          </a:p>
        </p:txBody>
      </p:sp>
      <p:sp>
        <p:nvSpPr>
          <p:cNvPr id="8198" name="Text Box 6"/>
          <p:cNvSpPr txBox="1">
            <a:spLocks noChangeArrowheads="1"/>
          </p:cNvSpPr>
          <p:nvPr/>
        </p:nvSpPr>
        <p:spPr bwMode="auto">
          <a:xfrm>
            <a:off x="357158" y="4329122"/>
            <a:ext cx="7200900" cy="457200"/>
          </a:xfrm>
          <a:prstGeom prst="rect">
            <a:avLst/>
          </a:prstGeom>
          <a:noFill/>
          <a:ln w="9525">
            <a:noFill/>
            <a:miter lim="800000"/>
            <a:headEnd/>
            <a:tailEnd/>
          </a:ln>
        </p:spPr>
        <p:txBody>
          <a:bodyPr>
            <a:spAutoFit/>
          </a:bodyPr>
          <a:lstStyle/>
          <a:p>
            <a:pPr>
              <a:spcBef>
                <a:spcPct val="50000"/>
              </a:spcBef>
            </a:pPr>
            <a:r>
              <a:rPr lang="es-MX" sz="2400" dirty="0"/>
              <a:t>También</a:t>
            </a:r>
            <a:r>
              <a:rPr lang="es-MX" sz="2400" dirty="0">
                <a:solidFill>
                  <a:schemeClr val="bg1"/>
                </a:solidFill>
              </a:rPr>
              <a:t>:</a:t>
            </a:r>
            <a:endParaRPr lang="es-ES" sz="2400" dirty="0">
              <a:solidFill>
                <a:schemeClr val="bg1"/>
              </a:solidFill>
            </a:endParaRPr>
          </a:p>
        </p:txBody>
      </p:sp>
      <p:sp>
        <p:nvSpPr>
          <p:cNvPr id="8199" name="Text Box 7"/>
          <p:cNvSpPr txBox="1">
            <a:spLocks noChangeArrowheads="1"/>
          </p:cNvSpPr>
          <p:nvPr/>
        </p:nvSpPr>
        <p:spPr bwMode="auto">
          <a:xfrm>
            <a:off x="785786" y="4989962"/>
            <a:ext cx="7273925" cy="867930"/>
          </a:xfrm>
          <a:prstGeom prst="rect">
            <a:avLst/>
          </a:prstGeom>
          <a:noFill/>
          <a:ln w="9525">
            <a:noFill/>
            <a:miter lim="800000"/>
            <a:headEnd/>
            <a:tailEnd/>
          </a:ln>
        </p:spPr>
        <p:txBody>
          <a:bodyPr>
            <a:spAutoFit/>
          </a:bodyPr>
          <a:lstStyle/>
          <a:p>
            <a:pPr>
              <a:lnSpc>
                <a:spcPct val="80000"/>
              </a:lnSpc>
              <a:spcBef>
                <a:spcPct val="50000"/>
              </a:spcBef>
              <a:buFontTx/>
              <a:buChar char="•"/>
            </a:pPr>
            <a:r>
              <a:rPr lang="es-MX" sz="2400" dirty="0"/>
              <a:t>Gerentes de área</a:t>
            </a:r>
          </a:p>
          <a:p>
            <a:pPr>
              <a:lnSpc>
                <a:spcPct val="80000"/>
              </a:lnSpc>
              <a:spcBef>
                <a:spcPct val="50000"/>
              </a:spcBef>
              <a:buFontTx/>
              <a:buChar char="•"/>
            </a:pPr>
            <a:r>
              <a:rPr lang="es-MX" sz="2400" dirty="0"/>
              <a:t>Directores y jefes de departamentos</a:t>
            </a:r>
            <a:endParaRPr lang="es-ES" sz="2400" dirty="0"/>
          </a:p>
        </p:txBody>
      </p:sp>
      <p:sp>
        <p:nvSpPr>
          <p:cNvPr id="7" name="6 Rectángulo"/>
          <p:cNvSpPr/>
          <p:nvPr/>
        </p:nvSpPr>
        <p:spPr>
          <a:xfrm>
            <a:off x="0" y="285728"/>
            <a:ext cx="7850482" cy="1754326"/>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5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 quien definen como </a:t>
            </a:r>
          </a:p>
          <a:p>
            <a:pPr algn="ctr"/>
            <a:r>
              <a:rPr lang="es-ES" sz="54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Estratega?</a:t>
            </a:r>
            <a:endParaRPr lang="es-E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198"/>
                                        </p:tgtEl>
                                        <p:attrNameLst>
                                          <p:attrName>style.visibility</p:attrName>
                                        </p:attrNameLst>
                                      </p:cBhvr>
                                      <p:to>
                                        <p:strVal val="visible"/>
                                      </p:to>
                                    </p:set>
                                    <p:animEffect transition="in" filter="box(in)">
                                      <p:cBhvr>
                                        <p:cTn id="7" dur="500"/>
                                        <p:tgtEl>
                                          <p:spTgt spid="819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8199"/>
                                        </p:tgtEl>
                                        <p:attrNameLst>
                                          <p:attrName>style.visibility</p:attrName>
                                        </p:attrNameLst>
                                      </p:cBhvr>
                                      <p:to>
                                        <p:strVal val="visible"/>
                                      </p:to>
                                    </p:set>
                                    <p:animEffect transition="in" filter="box(in)">
                                      <p:cBhvr>
                                        <p:cTn id="12" dur="500"/>
                                        <p:tgtEl>
                                          <p:spTgt spid="81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8" grpId="0"/>
      <p:bldP spid="8199"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p:cNvSpPr>
            <a:spLocks noGrp="1" noChangeArrowheads="1"/>
          </p:cNvSpPr>
          <p:nvPr>
            <p:ph idx="1"/>
          </p:nvPr>
        </p:nvSpPr>
        <p:spPr>
          <a:xfrm>
            <a:off x="0" y="2000240"/>
            <a:ext cx="8072462" cy="4525962"/>
          </a:xfrm>
        </p:spPr>
        <p:txBody>
          <a:bodyPr/>
          <a:lstStyle/>
          <a:p>
            <a:pPr marL="609600" indent="-609600" eaLnBrk="1" hangingPunct="1">
              <a:lnSpc>
                <a:spcPct val="130000"/>
              </a:lnSpc>
              <a:buFontTx/>
              <a:buAutoNum type="arabicPeriod"/>
            </a:pPr>
            <a:r>
              <a:rPr lang="es-MX" sz="2400" dirty="0" smtClean="0">
                <a:solidFill>
                  <a:schemeClr val="bg1"/>
                </a:solidFill>
                <a:latin typeface="Verdana" pitchFamily="34" charset="0"/>
              </a:rPr>
              <a:t>¿</a:t>
            </a:r>
            <a:r>
              <a:rPr lang="es-MX" sz="2400" dirty="0" smtClean="0">
                <a:latin typeface="Verdana" pitchFamily="34" charset="0"/>
              </a:rPr>
              <a:t>Cuál es el negocio?</a:t>
            </a:r>
          </a:p>
          <a:p>
            <a:pPr marL="609600" indent="-609600" eaLnBrk="1" hangingPunct="1">
              <a:lnSpc>
                <a:spcPct val="130000"/>
              </a:lnSpc>
              <a:buFontTx/>
              <a:buAutoNum type="arabicPeriod"/>
            </a:pPr>
            <a:r>
              <a:rPr lang="es-MX" sz="2400" dirty="0" smtClean="0">
                <a:latin typeface="Verdana" pitchFamily="34" charset="0"/>
              </a:rPr>
              <a:t>¿Cuales son las características?</a:t>
            </a:r>
          </a:p>
          <a:p>
            <a:pPr marL="609600" indent="-609600" eaLnBrk="1" hangingPunct="1">
              <a:lnSpc>
                <a:spcPct val="130000"/>
              </a:lnSpc>
              <a:buFontTx/>
              <a:buAutoNum type="arabicPeriod"/>
            </a:pPr>
            <a:r>
              <a:rPr lang="es-MX" sz="2400" dirty="0" smtClean="0">
                <a:latin typeface="Verdana" pitchFamily="34" charset="0"/>
              </a:rPr>
              <a:t>¿Dónde están las competencias organizacionales?</a:t>
            </a:r>
          </a:p>
          <a:p>
            <a:pPr marL="609600" indent="-609600" eaLnBrk="1" hangingPunct="1">
              <a:lnSpc>
                <a:spcPct val="130000"/>
              </a:lnSpc>
              <a:buFontTx/>
              <a:buAutoNum type="arabicPeriod"/>
            </a:pPr>
            <a:r>
              <a:rPr lang="es-MX" sz="2400" dirty="0" smtClean="0">
                <a:latin typeface="Verdana" pitchFamily="34" charset="0"/>
              </a:rPr>
              <a:t>¿ a donde se quiere llegar?</a:t>
            </a:r>
          </a:p>
          <a:p>
            <a:pPr marL="609600" indent="-609600" eaLnBrk="1" hangingPunct="1">
              <a:lnSpc>
                <a:spcPct val="130000"/>
              </a:lnSpc>
              <a:buFontTx/>
              <a:buAutoNum type="arabicPeriod"/>
            </a:pPr>
            <a:r>
              <a:rPr lang="es-MX" sz="2400" dirty="0" smtClean="0">
                <a:latin typeface="Verdana" pitchFamily="34" charset="0"/>
              </a:rPr>
              <a:t>¿ como llegar?</a:t>
            </a:r>
          </a:p>
          <a:p>
            <a:pPr marL="609600" indent="-609600" algn="just" eaLnBrk="1" hangingPunct="1">
              <a:lnSpc>
                <a:spcPct val="130000"/>
              </a:lnSpc>
              <a:buFontTx/>
              <a:buAutoNum type="arabicPeriod"/>
            </a:pPr>
            <a:r>
              <a:rPr lang="es-MX" sz="2400" dirty="0" smtClean="0">
                <a:latin typeface="Verdana" pitchFamily="34" charset="0"/>
              </a:rPr>
              <a:t>¿Como medir que se estén logrando las metas y objetivos</a:t>
            </a:r>
            <a:r>
              <a:rPr lang="es-MX" sz="2400" dirty="0" smtClean="0">
                <a:solidFill>
                  <a:schemeClr val="bg1"/>
                </a:solidFill>
                <a:latin typeface="Verdana" pitchFamily="34" charset="0"/>
              </a:rPr>
              <a:t>?</a:t>
            </a:r>
            <a:endParaRPr lang="es-ES" sz="2400" dirty="0" smtClean="0">
              <a:solidFill>
                <a:schemeClr val="bg1"/>
              </a:solidFill>
              <a:latin typeface="Verdana" pitchFamily="34" charset="0"/>
            </a:endParaRPr>
          </a:p>
        </p:txBody>
      </p:sp>
      <p:sp>
        <p:nvSpPr>
          <p:cNvPr id="4" name="3 Rectángulo"/>
          <p:cNvSpPr/>
          <p:nvPr/>
        </p:nvSpPr>
        <p:spPr>
          <a:xfrm>
            <a:off x="0" y="0"/>
            <a:ext cx="7823744" cy="1754326"/>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5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El proceso de la</a:t>
            </a:r>
          </a:p>
          <a:p>
            <a:pPr algn="ctr"/>
            <a:r>
              <a:rPr lang="es-ES" sz="5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 planeación estratégica</a:t>
            </a:r>
            <a:endParaRPr lang="es-E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0" y="2000240"/>
            <a:ext cx="8229600" cy="4525963"/>
          </a:xfrm>
        </p:spPr>
        <p:txBody>
          <a:bodyPr>
            <a:normAutofit fontScale="70000" lnSpcReduction="20000"/>
          </a:bodyPr>
          <a:lstStyle/>
          <a:p>
            <a:pPr marL="609600" indent="-609600" algn="just">
              <a:lnSpc>
                <a:spcPct val="120000"/>
              </a:lnSpc>
              <a:buNone/>
            </a:pPr>
            <a:r>
              <a:rPr lang="es-MX" sz="3600" dirty="0" smtClean="0">
                <a:latin typeface="Verdana" pitchFamily="34" charset="0"/>
              </a:rPr>
              <a:t>definen los principios corporativos integrales en</a:t>
            </a:r>
          </a:p>
          <a:p>
            <a:pPr marL="609600" indent="-609600" algn="just">
              <a:lnSpc>
                <a:spcPct val="120000"/>
              </a:lnSpc>
              <a:buNone/>
            </a:pPr>
            <a:r>
              <a:rPr lang="es-MX" sz="3600" dirty="0" smtClean="0">
                <a:latin typeface="Verdana" pitchFamily="34" charset="0"/>
              </a:rPr>
              <a:t>toda la organización a largo plazo.</a:t>
            </a:r>
          </a:p>
          <a:p>
            <a:pPr marL="609600" indent="-609600">
              <a:lnSpc>
                <a:spcPct val="120000"/>
              </a:lnSpc>
              <a:buNone/>
            </a:pPr>
            <a:r>
              <a:rPr lang="es-MX" sz="3600" dirty="0" smtClean="0">
                <a:latin typeface="Verdana" pitchFamily="34" charset="0"/>
              </a:rPr>
              <a:t>Es mas estable y limitada por el nivel superior de</a:t>
            </a:r>
          </a:p>
          <a:p>
            <a:pPr marL="609600" indent="-609600">
              <a:lnSpc>
                <a:spcPct val="120000"/>
              </a:lnSpc>
              <a:buNone/>
            </a:pPr>
            <a:r>
              <a:rPr lang="es-MX" sz="3600" dirty="0" smtClean="0">
                <a:latin typeface="Verdana" pitchFamily="34" charset="0"/>
              </a:rPr>
              <a:t>la organización.</a:t>
            </a:r>
          </a:p>
          <a:p>
            <a:endParaRPr lang="es-CO" sz="3600" dirty="0" smtClean="0">
              <a:latin typeface="Arial" pitchFamily="34" charset="0"/>
              <a:cs typeface="Arial" pitchFamily="34" charset="0"/>
            </a:endParaRPr>
          </a:p>
          <a:p>
            <a:r>
              <a:rPr lang="es-CO" sz="3600" dirty="0" smtClean="0">
                <a:latin typeface="Arial" pitchFamily="34" charset="0"/>
                <a:cs typeface="Arial" pitchFamily="34" charset="0"/>
              </a:rPr>
              <a:t>Principios organizacionales</a:t>
            </a:r>
          </a:p>
          <a:p>
            <a:r>
              <a:rPr lang="es-CO" sz="3600" dirty="0" smtClean="0">
                <a:latin typeface="Arial" pitchFamily="34" charset="0"/>
                <a:cs typeface="Arial" pitchFamily="34" charset="0"/>
              </a:rPr>
              <a:t>Misión </a:t>
            </a:r>
          </a:p>
          <a:p>
            <a:r>
              <a:rPr lang="es-CO" sz="3600" dirty="0" smtClean="0">
                <a:latin typeface="Arial" pitchFamily="34" charset="0"/>
                <a:cs typeface="Arial" pitchFamily="34" charset="0"/>
              </a:rPr>
              <a:t>Visión</a:t>
            </a:r>
          </a:p>
          <a:p>
            <a:r>
              <a:rPr lang="es-CO" sz="3600" dirty="0" smtClean="0">
                <a:latin typeface="Arial" pitchFamily="34" charset="0"/>
                <a:cs typeface="Arial" pitchFamily="34" charset="0"/>
              </a:rPr>
              <a:t>Objetivos globales</a:t>
            </a:r>
          </a:p>
          <a:p>
            <a:r>
              <a:rPr lang="es-CO" sz="3600" dirty="0" smtClean="0">
                <a:latin typeface="Arial" pitchFamily="34" charset="0"/>
                <a:cs typeface="Arial" pitchFamily="34" charset="0"/>
              </a:rPr>
              <a:t>Proyectos estratégicos</a:t>
            </a:r>
          </a:p>
          <a:p>
            <a:pPr>
              <a:buNone/>
            </a:pPr>
            <a:endParaRPr lang="es-CO" dirty="0"/>
          </a:p>
        </p:txBody>
      </p:sp>
      <p:sp>
        <p:nvSpPr>
          <p:cNvPr id="4" name="3 Rectángulo"/>
          <p:cNvSpPr/>
          <p:nvPr/>
        </p:nvSpPr>
        <p:spPr>
          <a:xfrm>
            <a:off x="0" y="214290"/>
            <a:ext cx="7795660" cy="1754326"/>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5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Nivel I: Planeación </a:t>
            </a:r>
          </a:p>
          <a:p>
            <a:pPr algn="ctr"/>
            <a:r>
              <a:rPr lang="es-ES" sz="54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Estratégica corporativa</a:t>
            </a:r>
            <a:endParaRPr lang="es-E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idx="1"/>
          </p:nvPr>
        </p:nvSpPr>
        <p:spPr>
          <a:xfrm>
            <a:off x="0" y="2786058"/>
            <a:ext cx="8229600" cy="5411783"/>
          </a:xfrm>
        </p:spPr>
        <p:txBody>
          <a:bodyPr/>
          <a:lstStyle/>
          <a:p>
            <a:pPr marL="609600" indent="-609600">
              <a:lnSpc>
                <a:spcPct val="80000"/>
              </a:lnSpc>
              <a:buFontTx/>
              <a:buNone/>
            </a:pPr>
            <a:endParaRPr lang="es-MX" sz="2400" dirty="0" smtClean="0">
              <a:latin typeface="Verdana" pitchFamily="34" charset="0"/>
            </a:endParaRPr>
          </a:p>
          <a:p>
            <a:pPr marL="609600" indent="-609600">
              <a:lnSpc>
                <a:spcPct val="80000"/>
              </a:lnSpc>
            </a:pPr>
            <a:r>
              <a:rPr lang="es-MX" sz="2400" dirty="0" smtClean="0">
                <a:latin typeface="Verdana" pitchFamily="34" charset="0"/>
              </a:rPr>
              <a:t>La componen las unidades estratégicas de negocio.</a:t>
            </a:r>
          </a:p>
          <a:p>
            <a:pPr marL="609600" indent="-609600">
              <a:lnSpc>
                <a:spcPct val="80000"/>
              </a:lnSpc>
            </a:pPr>
            <a:r>
              <a:rPr lang="es-MX" sz="2400" dirty="0" smtClean="0">
                <a:latin typeface="Verdana" pitchFamily="34" charset="0"/>
              </a:rPr>
              <a:t>Se definen misión, visión, objetivos y estrategias a mediano plazo</a:t>
            </a:r>
          </a:p>
          <a:p>
            <a:pPr marL="609600" indent="-609600">
              <a:lnSpc>
                <a:spcPct val="80000"/>
              </a:lnSpc>
            </a:pPr>
            <a:r>
              <a:rPr lang="es-MX" sz="2400" dirty="0" smtClean="0">
                <a:latin typeface="Verdana" pitchFamily="34" charset="0"/>
              </a:rPr>
              <a:t>Se establecen proyectos estratégicos tanto a nivel superior como sus subalternos.</a:t>
            </a:r>
          </a:p>
          <a:p>
            <a:pPr marL="609600" indent="-609600">
              <a:lnSpc>
                <a:spcPct val="80000"/>
              </a:lnSpc>
              <a:buFontTx/>
              <a:buNone/>
            </a:pPr>
            <a:endParaRPr lang="es-MX" sz="2400" dirty="0" smtClean="0">
              <a:latin typeface="Verdana" pitchFamily="34" charset="0"/>
            </a:endParaRPr>
          </a:p>
          <a:p>
            <a:pPr marL="609600" indent="-609600">
              <a:lnSpc>
                <a:spcPct val="80000"/>
              </a:lnSpc>
            </a:pPr>
            <a:endParaRPr lang="es-ES" sz="2400" dirty="0" smtClean="0">
              <a:solidFill>
                <a:schemeClr val="bg1"/>
              </a:solidFill>
              <a:latin typeface="Verdana" pitchFamily="34" charset="0"/>
            </a:endParaRPr>
          </a:p>
        </p:txBody>
      </p:sp>
      <p:sp>
        <p:nvSpPr>
          <p:cNvPr id="3" name="2 Rectángulo"/>
          <p:cNvSpPr/>
          <p:nvPr/>
        </p:nvSpPr>
        <p:spPr>
          <a:xfrm>
            <a:off x="0" y="0"/>
            <a:ext cx="8273839" cy="1446550"/>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4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Nivel II: Planeación funcional </a:t>
            </a:r>
          </a:p>
          <a:p>
            <a:pPr algn="ctr"/>
            <a:r>
              <a:rPr lang="es-ES" sz="44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O táctica</a:t>
            </a:r>
            <a:endParaRPr lang="es-ES" sz="4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28596" y="2000240"/>
            <a:ext cx="7572428" cy="4214842"/>
          </a:xfrm>
        </p:spPr>
        <p:txBody>
          <a:bodyPr>
            <a:normAutofit/>
          </a:bodyPr>
          <a:lstStyle/>
          <a:p>
            <a:pPr marL="609600" indent="-609600" algn="just">
              <a:lnSpc>
                <a:spcPct val="80000"/>
              </a:lnSpc>
              <a:buNone/>
            </a:pPr>
            <a:r>
              <a:rPr lang="es-MX" sz="2800" dirty="0" smtClean="0">
                <a:latin typeface="Arial" pitchFamily="34" charset="0"/>
                <a:cs typeface="Arial" pitchFamily="34" charset="0"/>
              </a:rPr>
              <a:t>La componen las unidades administrativas.</a:t>
            </a:r>
          </a:p>
          <a:p>
            <a:pPr marL="609600" indent="-609600" algn="just">
              <a:lnSpc>
                <a:spcPct val="80000"/>
              </a:lnSpc>
              <a:buNone/>
            </a:pPr>
            <a:endParaRPr lang="es-MX" sz="2800" dirty="0" smtClean="0">
              <a:latin typeface="Arial" pitchFamily="34" charset="0"/>
              <a:cs typeface="Arial" pitchFamily="34" charset="0"/>
            </a:endParaRPr>
          </a:p>
          <a:p>
            <a:pPr marL="609600" indent="-609600" algn="just">
              <a:lnSpc>
                <a:spcPct val="80000"/>
              </a:lnSpc>
            </a:pPr>
            <a:r>
              <a:rPr lang="es-MX" sz="2800" dirty="0" smtClean="0">
                <a:latin typeface="Arial" pitchFamily="34" charset="0"/>
                <a:cs typeface="Arial" pitchFamily="34" charset="0"/>
              </a:rPr>
              <a:t>Sus objetivos y estrategias son a corto</a:t>
            </a:r>
          </a:p>
          <a:p>
            <a:pPr marL="609600" indent="-609600" algn="just">
              <a:lnSpc>
                <a:spcPct val="80000"/>
              </a:lnSpc>
              <a:buNone/>
            </a:pPr>
            <a:r>
              <a:rPr lang="es-MX" sz="2800" dirty="0" smtClean="0">
                <a:latin typeface="Arial" pitchFamily="34" charset="0"/>
                <a:cs typeface="Arial" pitchFamily="34" charset="0"/>
              </a:rPr>
              <a:t>plazo</a:t>
            </a:r>
          </a:p>
          <a:p>
            <a:pPr marL="609600" indent="-609600" algn="just">
              <a:lnSpc>
                <a:spcPct val="80000"/>
              </a:lnSpc>
            </a:pPr>
            <a:r>
              <a:rPr lang="es-MX" sz="2800" dirty="0" smtClean="0">
                <a:latin typeface="Arial" pitchFamily="34" charset="0"/>
                <a:cs typeface="Arial" pitchFamily="34" charset="0"/>
              </a:rPr>
              <a:t>Su responsabilidad radica en la</a:t>
            </a:r>
          </a:p>
          <a:p>
            <a:pPr marL="609600" indent="-609600" algn="just">
              <a:lnSpc>
                <a:spcPct val="80000"/>
              </a:lnSpc>
              <a:buNone/>
            </a:pPr>
            <a:r>
              <a:rPr lang="es-MX" sz="2800" dirty="0" smtClean="0">
                <a:latin typeface="Arial" pitchFamily="34" charset="0"/>
                <a:cs typeface="Arial" pitchFamily="34" charset="0"/>
              </a:rPr>
              <a:t>ejecución eficiente de los planes de</a:t>
            </a:r>
          </a:p>
          <a:p>
            <a:pPr marL="609600" indent="-609600" algn="just">
              <a:lnSpc>
                <a:spcPct val="80000"/>
              </a:lnSpc>
              <a:buNone/>
            </a:pPr>
            <a:r>
              <a:rPr lang="es-MX" sz="2800" dirty="0" smtClean="0">
                <a:latin typeface="Arial" pitchFamily="34" charset="0"/>
                <a:cs typeface="Arial" pitchFamily="34" charset="0"/>
              </a:rPr>
              <a:t>acción definidos funcionalmente</a:t>
            </a:r>
          </a:p>
          <a:p>
            <a:pPr marL="609600" indent="-609600" algn="just">
              <a:lnSpc>
                <a:spcPct val="80000"/>
              </a:lnSpc>
            </a:pPr>
            <a:r>
              <a:rPr lang="es-MX" sz="2800" dirty="0" smtClean="0">
                <a:latin typeface="Arial" pitchFamily="34" charset="0"/>
                <a:cs typeface="Arial" pitchFamily="34" charset="0"/>
              </a:rPr>
              <a:t>Sus objetivos y estrategias son mas</a:t>
            </a:r>
          </a:p>
          <a:p>
            <a:pPr marL="609600" indent="-609600" algn="just">
              <a:lnSpc>
                <a:spcPct val="80000"/>
              </a:lnSpc>
              <a:buNone/>
            </a:pPr>
            <a:r>
              <a:rPr lang="es-MX" sz="2800" dirty="0" smtClean="0">
                <a:latin typeface="Arial" pitchFamily="34" charset="0"/>
                <a:cs typeface="Arial" pitchFamily="34" charset="0"/>
              </a:rPr>
              <a:t>flexibles.</a:t>
            </a:r>
          </a:p>
          <a:p>
            <a:pPr algn="just">
              <a:buNone/>
            </a:pPr>
            <a:endParaRPr lang="es-CO" sz="3600" dirty="0" smtClean="0">
              <a:latin typeface="Arial" pitchFamily="34" charset="0"/>
              <a:cs typeface="Arial" pitchFamily="34" charset="0"/>
            </a:endParaRPr>
          </a:p>
        </p:txBody>
      </p:sp>
      <p:sp>
        <p:nvSpPr>
          <p:cNvPr id="4" name="3 Rectángulo"/>
          <p:cNvSpPr/>
          <p:nvPr/>
        </p:nvSpPr>
        <p:spPr>
          <a:xfrm>
            <a:off x="1142976" y="285728"/>
            <a:ext cx="5883342" cy="1446550"/>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CO" sz="4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Nivel III: Planeación </a:t>
            </a:r>
          </a:p>
          <a:p>
            <a:pPr algn="ctr"/>
            <a:r>
              <a:rPr lang="es-CO" sz="4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estratégica operativa</a:t>
            </a:r>
            <a:endParaRPr lang="es-ES" sz="4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Triángulo isósceles"/>
          <p:cNvSpPr/>
          <p:nvPr/>
        </p:nvSpPr>
        <p:spPr>
          <a:xfrm>
            <a:off x="2571736" y="214290"/>
            <a:ext cx="3929090" cy="178595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smtClean="0"/>
              <a:t>JUNTA DIRECTIVA ALTA GERENCIA</a:t>
            </a:r>
            <a:endParaRPr lang="es-CO" dirty="0"/>
          </a:p>
        </p:txBody>
      </p:sp>
      <p:sp>
        <p:nvSpPr>
          <p:cNvPr id="7" name="6 Triángulo isósceles"/>
          <p:cNvSpPr/>
          <p:nvPr/>
        </p:nvSpPr>
        <p:spPr>
          <a:xfrm>
            <a:off x="1428728" y="2071678"/>
            <a:ext cx="3000396" cy="1571636"/>
          </a:xfrm>
          <a:prstGeom prst="triangle">
            <a:avLst>
              <a:gd name="adj" fmla="val 5129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2000" dirty="0" smtClean="0">
                <a:latin typeface="Arial" pitchFamily="34" charset="0"/>
                <a:cs typeface="Arial" pitchFamily="34" charset="0"/>
              </a:rPr>
              <a:t>Áreas funcionales</a:t>
            </a:r>
            <a:endParaRPr lang="es-CO" sz="2000" dirty="0">
              <a:latin typeface="Arial" pitchFamily="34" charset="0"/>
              <a:cs typeface="Arial" pitchFamily="34" charset="0"/>
            </a:endParaRPr>
          </a:p>
        </p:txBody>
      </p:sp>
      <p:sp>
        <p:nvSpPr>
          <p:cNvPr id="9" name="8 Triángulo isósceles"/>
          <p:cNvSpPr/>
          <p:nvPr/>
        </p:nvSpPr>
        <p:spPr>
          <a:xfrm>
            <a:off x="1500166" y="3643314"/>
            <a:ext cx="214314" cy="114300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0" name="9 Triángulo isósceles"/>
          <p:cNvSpPr/>
          <p:nvPr/>
        </p:nvSpPr>
        <p:spPr>
          <a:xfrm>
            <a:off x="4071934" y="3643314"/>
            <a:ext cx="214314" cy="114300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1" name="10 Triángulo isósceles"/>
          <p:cNvSpPr/>
          <p:nvPr/>
        </p:nvSpPr>
        <p:spPr>
          <a:xfrm>
            <a:off x="4857752" y="3643314"/>
            <a:ext cx="214314" cy="114300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2" name="11 Triángulo isósceles"/>
          <p:cNvSpPr/>
          <p:nvPr/>
        </p:nvSpPr>
        <p:spPr>
          <a:xfrm>
            <a:off x="6858016" y="3571876"/>
            <a:ext cx="214314" cy="114300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13" name="12 Elipse"/>
          <p:cNvSpPr/>
          <p:nvPr/>
        </p:nvSpPr>
        <p:spPr>
          <a:xfrm>
            <a:off x="1428728" y="5000636"/>
            <a:ext cx="5857916" cy="64294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smtClean="0"/>
              <a:t>INDICES DE GESTION</a:t>
            </a:r>
            <a:endParaRPr lang="es-CO" dirty="0"/>
          </a:p>
        </p:txBody>
      </p:sp>
      <p:sp>
        <p:nvSpPr>
          <p:cNvPr id="14" name="13 Triángulo isósceles"/>
          <p:cNvSpPr/>
          <p:nvPr/>
        </p:nvSpPr>
        <p:spPr>
          <a:xfrm>
            <a:off x="4429124" y="2071678"/>
            <a:ext cx="2857520" cy="1571636"/>
          </a:xfrm>
          <a:prstGeom prst="triangle">
            <a:avLst>
              <a:gd name="adj" fmla="val 5129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smtClean="0">
              <a:latin typeface="Arial" pitchFamily="34" charset="0"/>
              <a:cs typeface="Arial" pitchFamily="34" charset="0"/>
            </a:endParaRPr>
          </a:p>
          <a:p>
            <a:pPr algn="ctr"/>
            <a:r>
              <a:rPr lang="es-CO" dirty="0" smtClean="0">
                <a:latin typeface="Arial" pitchFamily="34" charset="0"/>
                <a:cs typeface="Arial" pitchFamily="34" charset="0"/>
              </a:rPr>
              <a:t>Unidades</a:t>
            </a:r>
          </a:p>
          <a:p>
            <a:pPr algn="ctr"/>
            <a:r>
              <a:rPr lang="es-CO" dirty="0" smtClean="0">
                <a:latin typeface="Arial" pitchFamily="34" charset="0"/>
                <a:cs typeface="Arial" pitchFamily="34" charset="0"/>
              </a:rPr>
              <a:t>estratégicas</a:t>
            </a:r>
            <a:endParaRPr lang="es-CO"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0" y="2000240"/>
            <a:ext cx="8229600" cy="4454525"/>
          </a:xfrm>
        </p:spPr>
        <p:txBody>
          <a:bodyPr>
            <a:normAutofit/>
          </a:bodyPr>
          <a:lstStyle/>
          <a:p>
            <a:pPr algn="just">
              <a:buNone/>
            </a:pPr>
            <a:r>
              <a:rPr lang="es-CO" sz="3000" dirty="0" smtClean="0">
                <a:latin typeface="Arial" pitchFamily="34" charset="0"/>
                <a:cs typeface="Arial" pitchFamily="34" charset="0"/>
              </a:rPr>
              <a:t>0. Definición del horizonte de tiempo (3 años)</a:t>
            </a:r>
          </a:p>
          <a:p>
            <a:pPr marL="514350" indent="-514350" algn="just">
              <a:buAutoNum type="arabicPeriod"/>
            </a:pPr>
            <a:r>
              <a:rPr lang="es-CO" sz="3000" dirty="0" smtClean="0">
                <a:latin typeface="Arial" pitchFamily="34" charset="0"/>
                <a:cs typeface="Arial" pitchFamily="34" charset="0"/>
              </a:rPr>
              <a:t>Principios corporativos</a:t>
            </a:r>
          </a:p>
          <a:p>
            <a:pPr marL="514350" indent="-514350" algn="just">
              <a:buAutoNum type="arabicPeriod"/>
            </a:pPr>
            <a:r>
              <a:rPr lang="es-CO" sz="3000" dirty="0" smtClean="0">
                <a:latin typeface="Arial" pitchFamily="34" charset="0"/>
                <a:cs typeface="Arial" pitchFamily="34" charset="0"/>
              </a:rPr>
              <a:t>Diagnostico estratégico</a:t>
            </a:r>
          </a:p>
          <a:p>
            <a:pPr marL="514350" indent="-514350" algn="just">
              <a:buAutoNum type="arabicPeriod"/>
            </a:pPr>
            <a:r>
              <a:rPr lang="es-CO" sz="3000" dirty="0" smtClean="0">
                <a:latin typeface="Arial" pitchFamily="34" charset="0"/>
                <a:cs typeface="Arial" pitchFamily="34" charset="0"/>
              </a:rPr>
              <a:t>Direccionamiento estratégico</a:t>
            </a:r>
          </a:p>
          <a:p>
            <a:pPr marL="514350" indent="-514350" algn="just">
              <a:buAutoNum type="arabicPeriod"/>
            </a:pPr>
            <a:r>
              <a:rPr lang="es-CO" sz="3000" dirty="0" smtClean="0">
                <a:latin typeface="Arial" pitchFamily="34" charset="0"/>
                <a:cs typeface="Arial" pitchFamily="34" charset="0"/>
              </a:rPr>
              <a:t>Proyección estratégica</a:t>
            </a:r>
          </a:p>
          <a:p>
            <a:pPr marL="514350" indent="-514350" algn="just">
              <a:buAutoNum type="arabicPeriod"/>
            </a:pPr>
            <a:r>
              <a:rPr lang="es-CO" sz="3000" dirty="0" smtClean="0">
                <a:latin typeface="Arial" pitchFamily="34" charset="0"/>
                <a:cs typeface="Arial" pitchFamily="34" charset="0"/>
              </a:rPr>
              <a:t>Alineamiento estratégico</a:t>
            </a:r>
          </a:p>
          <a:p>
            <a:pPr marL="514350" indent="-514350" algn="just">
              <a:buAutoNum type="arabicPeriod"/>
            </a:pPr>
            <a:r>
              <a:rPr lang="es-CO" sz="3000" dirty="0" smtClean="0">
                <a:latin typeface="Arial" pitchFamily="34" charset="0"/>
                <a:cs typeface="Arial" pitchFamily="34" charset="0"/>
              </a:rPr>
              <a:t>Plan operativo</a:t>
            </a:r>
          </a:p>
          <a:p>
            <a:pPr marL="514350" indent="-514350" algn="just">
              <a:buAutoNum type="arabicPeriod"/>
            </a:pPr>
            <a:r>
              <a:rPr lang="es-CO" sz="3000" dirty="0" smtClean="0">
                <a:latin typeface="Arial" pitchFamily="34" charset="0"/>
                <a:cs typeface="Arial" pitchFamily="34" charset="0"/>
              </a:rPr>
              <a:t>Monitoria estratégica</a:t>
            </a:r>
          </a:p>
          <a:p>
            <a:pPr marL="514350" indent="-514350">
              <a:buAutoNum type="arabicPeriod"/>
            </a:pPr>
            <a:endParaRPr lang="es-CO" dirty="0"/>
          </a:p>
        </p:txBody>
      </p:sp>
      <p:pic>
        <p:nvPicPr>
          <p:cNvPr id="5122" name="Picture 2" descr="Ver imagen en tamaño completo">
            <a:hlinkClick r:id="rId2"/>
          </p:cNvPr>
          <p:cNvPicPr>
            <a:picLocks noChangeAspect="1" noChangeArrowheads="1"/>
          </p:cNvPicPr>
          <p:nvPr/>
        </p:nvPicPr>
        <p:blipFill>
          <a:blip r:embed="rId3"/>
          <a:srcRect/>
          <a:stretch>
            <a:fillRect/>
          </a:stretch>
        </p:blipFill>
        <p:spPr bwMode="auto">
          <a:xfrm>
            <a:off x="6258505" y="3500438"/>
            <a:ext cx="2885495" cy="3119454"/>
          </a:xfrm>
          <a:prstGeom prst="rect">
            <a:avLst/>
          </a:prstGeom>
          <a:noFill/>
          <a:ln>
            <a:no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pic>
      <p:sp>
        <p:nvSpPr>
          <p:cNvPr id="5" name="4 Rectángulo"/>
          <p:cNvSpPr/>
          <p:nvPr/>
        </p:nvSpPr>
        <p:spPr>
          <a:xfrm>
            <a:off x="-785850" y="428605"/>
            <a:ext cx="9572692" cy="1323439"/>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40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Etapas de proceso de planeación </a:t>
            </a:r>
          </a:p>
          <a:p>
            <a:pPr algn="ctr"/>
            <a:r>
              <a:rPr lang="es-ES" sz="40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estratégica</a:t>
            </a:r>
            <a:endParaRPr lang="es-ES" sz="40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85720" y="2011680"/>
            <a:ext cx="7239000" cy="4846320"/>
          </a:xfrm>
        </p:spPr>
        <p:txBody>
          <a:bodyPr>
            <a:normAutofit/>
          </a:bodyPr>
          <a:lstStyle/>
          <a:p>
            <a:pPr algn="just"/>
            <a:r>
              <a:rPr lang="es-CO" dirty="0" smtClean="0">
                <a:latin typeface="Arial" pitchFamily="34" charset="0"/>
                <a:cs typeface="Arial" pitchFamily="34" charset="0"/>
              </a:rPr>
              <a:t>Debilidades: Son las actividades o los atributos interno de un organización que dificultan el éxito de una empresa.</a:t>
            </a:r>
          </a:p>
          <a:p>
            <a:pPr algn="just"/>
            <a:r>
              <a:rPr lang="es-CO" dirty="0" smtClean="0">
                <a:latin typeface="Arial" pitchFamily="34" charset="0"/>
                <a:cs typeface="Arial" pitchFamily="34" charset="0"/>
              </a:rPr>
              <a:t>Oportunidades: son lo eventos, hechos o tendencias en el entorno de una organización que podrían facilitar o beneficiar el desarrollo de esta, si se aprovechan en forma oportuna y adecuada.</a:t>
            </a:r>
          </a:p>
          <a:p>
            <a:pPr>
              <a:buNone/>
            </a:pPr>
            <a:endParaRPr lang="es-CO" dirty="0"/>
          </a:p>
        </p:txBody>
      </p:sp>
      <p:sp>
        <p:nvSpPr>
          <p:cNvPr id="4" name="3 Rectángulo"/>
          <p:cNvSpPr/>
          <p:nvPr/>
        </p:nvSpPr>
        <p:spPr>
          <a:xfrm>
            <a:off x="214282" y="500042"/>
            <a:ext cx="7815730" cy="923330"/>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5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Diagnostico </a:t>
            </a:r>
            <a:r>
              <a:rPr lang="es-ES" sz="54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Estratégico</a:t>
            </a:r>
            <a:endParaRPr lang="es-E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42844" y="714356"/>
            <a:ext cx="8072494" cy="5411807"/>
          </a:xfrm>
        </p:spPr>
        <p:txBody>
          <a:bodyPr>
            <a:normAutofit/>
          </a:bodyPr>
          <a:lstStyle/>
          <a:p>
            <a:pPr algn="just"/>
            <a:r>
              <a:rPr lang="es-CO" sz="3600" dirty="0" smtClean="0">
                <a:latin typeface="Arial" pitchFamily="34" charset="0"/>
                <a:cs typeface="Arial" pitchFamily="34" charset="0"/>
              </a:rPr>
              <a:t>Fortalezas: son las actividades o atributos internos de una organización que contribuyen y apoyan el logro de los objetivos de una institución</a:t>
            </a:r>
          </a:p>
          <a:p>
            <a:pPr algn="just"/>
            <a:r>
              <a:rPr lang="es-CO" sz="3600" dirty="0" smtClean="0">
                <a:latin typeface="Arial" pitchFamily="34" charset="0"/>
                <a:cs typeface="Arial" pitchFamily="34" charset="0"/>
              </a:rPr>
              <a:t>Amenazas: son los eventos, hechos o tendencias en el entorno de una organización que limitan o dificultan su desarrollo operativo.</a:t>
            </a:r>
            <a:endParaRPr lang="es-CO" sz="3600" dirty="0">
              <a:latin typeface="Arial" pitchFamily="34" charset="0"/>
              <a:cs typeface="Arial" pitchFamily="3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85720" y="2011680"/>
            <a:ext cx="7239000" cy="4846320"/>
          </a:xfrm>
        </p:spPr>
        <p:txBody>
          <a:bodyPr>
            <a:normAutofit/>
          </a:bodyPr>
          <a:lstStyle/>
          <a:p>
            <a:pPr algn="just"/>
            <a:r>
              <a:rPr lang="es-CO" dirty="0" smtClean="0">
                <a:latin typeface="Arial" pitchFamily="34" charset="0"/>
                <a:cs typeface="Arial" pitchFamily="34" charset="0"/>
              </a:rPr>
              <a:t>Misión: es la formulación de los propósitos de la organización o de un área funcional, así como la identificación de sus tareas y los actores participantes en el logro de los objetivos de la organización.</a:t>
            </a:r>
          </a:p>
          <a:p>
            <a:pPr algn="just">
              <a:buNone/>
            </a:pPr>
            <a:endParaRPr lang="es-CO" dirty="0" smtClean="0">
              <a:latin typeface="Arial" pitchFamily="34" charset="0"/>
              <a:cs typeface="Arial" pitchFamily="34" charset="0"/>
            </a:endParaRPr>
          </a:p>
          <a:p>
            <a:pPr algn="just"/>
            <a:r>
              <a:rPr lang="es-CO" dirty="0" smtClean="0">
                <a:latin typeface="Arial" pitchFamily="34" charset="0"/>
                <a:cs typeface="Arial" pitchFamily="34" charset="0"/>
              </a:rPr>
              <a:t>Visión: es la declaración amplia y suficiente de donde quiere que su empresa o área este dentro de 3 o 5 años.</a:t>
            </a:r>
            <a:endParaRPr lang="es-CO" dirty="0">
              <a:latin typeface="Arial" pitchFamily="34" charset="0"/>
              <a:cs typeface="Arial" pitchFamily="34" charset="0"/>
            </a:endParaRPr>
          </a:p>
        </p:txBody>
      </p:sp>
      <p:pic>
        <p:nvPicPr>
          <p:cNvPr id="2050" name="Picture 2" descr="Ver imagen en tamaño completo">
            <a:hlinkClick r:id="rId2"/>
          </p:cNvPr>
          <p:cNvPicPr>
            <a:picLocks noChangeAspect="1" noChangeArrowheads="1"/>
          </p:cNvPicPr>
          <p:nvPr/>
        </p:nvPicPr>
        <p:blipFill>
          <a:blip r:embed="rId3"/>
          <a:srcRect/>
          <a:stretch>
            <a:fillRect/>
          </a:stretch>
        </p:blipFill>
        <p:spPr bwMode="auto">
          <a:xfrm>
            <a:off x="6643702" y="5732833"/>
            <a:ext cx="1509716" cy="1125167"/>
          </a:xfrm>
          <a:prstGeom prst="rect">
            <a:avLst/>
          </a:prstGeom>
          <a:noFill/>
        </p:spPr>
      </p:pic>
      <p:pic>
        <p:nvPicPr>
          <p:cNvPr id="2052" name="Picture 4" descr="Ver imagen en tamaño completo">
            <a:hlinkClick r:id="rId4"/>
          </p:cNvPr>
          <p:cNvPicPr>
            <a:picLocks noChangeAspect="1" noChangeArrowheads="1"/>
          </p:cNvPicPr>
          <p:nvPr/>
        </p:nvPicPr>
        <p:blipFill>
          <a:blip r:embed="rId5"/>
          <a:srcRect/>
          <a:stretch>
            <a:fillRect/>
          </a:stretch>
        </p:blipFill>
        <p:spPr bwMode="auto">
          <a:xfrm>
            <a:off x="0" y="0"/>
            <a:ext cx="1609706" cy="1609708"/>
          </a:xfrm>
          <a:prstGeom prst="rect">
            <a:avLst/>
          </a:prstGeom>
          <a:noFill/>
        </p:spPr>
      </p:pic>
      <p:sp>
        <p:nvSpPr>
          <p:cNvPr id="6" name="5 Rectángulo"/>
          <p:cNvSpPr/>
          <p:nvPr/>
        </p:nvSpPr>
        <p:spPr>
          <a:xfrm>
            <a:off x="642910" y="0"/>
            <a:ext cx="7572428" cy="1754326"/>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5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Principios Organizacionales</a:t>
            </a:r>
            <a:endParaRPr lang="es-E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42844" y="571480"/>
            <a:ext cx="7786742" cy="5483245"/>
          </a:xfrm>
        </p:spPr>
        <p:txBody>
          <a:bodyPr>
            <a:normAutofit/>
          </a:bodyPr>
          <a:lstStyle/>
          <a:p>
            <a:pPr algn="just"/>
            <a:r>
              <a:rPr lang="es-CO" sz="2800" dirty="0" smtClean="0">
                <a:latin typeface="Arial" pitchFamily="34" charset="0"/>
                <a:cs typeface="Arial" pitchFamily="34" charset="0"/>
              </a:rPr>
              <a:t>Objetivos globales: resultados a largo plazo que una organización espera lograr para hacer real la misión y visión de la empresa o área de negocio.</a:t>
            </a:r>
          </a:p>
          <a:p>
            <a:pPr algn="just">
              <a:buNone/>
            </a:pPr>
            <a:endParaRPr lang="es-CO" sz="2800" dirty="0" smtClean="0">
              <a:latin typeface="Arial" pitchFamily="34" charset="0"/>
              <a:cs typeface="Arial" pitchFamily="34" charset="0"/>
            </a:endParaRPr>
          </a:p>
          <a:p>
            <a:pPr algn="just"/>
            <a:r>
              <a:rPr lang="es-CO" sz="2800" dirty="0" smtClean="0">
                <a:latin typeface="Arial" pitchFamily="34" charset="0"/>
                <a:cs typeface="Arial" pitchFamily="34" charset="0"/>
              </a:rPr>
              <a:t>Proyectos estratégicos: son un numero ilimitado de áreas estratégicas en las cuales la organización debe poner especial atención y lograr un desempeño excepcional, con el fin de asegurar una competitividad en el mercado.</a:t>
            </a:r>
          </a:p>
          <a:p>
            <a:endParaRPr lang="es-CO" sz="2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0" y="785794"/>
            <a:ext cx="8229600" cy="4525963"/>
          </a:xfrm>
        </p:spPr>
        <p:txBody>
          <a:bodyPr>
            <a:normAutofit/>
          </a:bodyPr>
          <a:lstStyle/>
          <a:p>
            <a:pPr algn="just"/>
            <a:r>
              <a:rPr lang="es-CO" sz="3200" dirty="0" smtClean="0">
                <a:latin typeface="Arial" pitchFamily="34" charset="0"/>
                <a:cs typeface="Arial" pitchFamily="34" charset="0"/>
              </a:rPr>
              <a:t>Estrategias: son las acciones que deben realizarse para mantener y soportar el logro de los objetivos de la organización y de cada unidad de trabajo y así hacer realidad los resultados esperados al definir los proyectos estratégicos.</a:t>
            </a:r>
            <a:endParaRPr lang="es-CO" sz="3200" dirty="0">
              <a:latin typeface="Arial" pitchFamily="34" charset="0"/>
              <a:cs typeface="Arial" pitchFamily="34" charset="0"/>
            </a:endParaRPr>
          </a:p>
        </p:txBody>
      </p:sp>
      <p:pic>
        <p:nvPicPr>
          <p:cNvPr id="35842" name="Picture 2" descr="Ver imagen en tamaño completo">
            <a:hlinkClick r:id="rId2"/>
          </p:cNvPr>
          <p:cNvPicPr>
            <a:picLocks noChangeAspect="1" noChangeArrowheads="1"/>
          </p:cNvPicPr>
          <p:nvPr/>
        </p:nvPicPr>
        <p:blipFill>
          <a:blip r:embed="rId3"/>
          <a:srcRect/>
          <a:stretch>
            <a:fillRect/>
          </a:stretch>
        </p:blipFill>
        <p:spPr bwMode="auto">
          <a:xfrm>
            <a:off x="2928926" y="4572008"/>
            <a:ext cx="2652724" cy="2002056"/>
          </a:xfrm>
          <a:prstGeom prst="rect">
            <a:avLst/>
          </a:prstGeom>
          <a:noFill/>
          <a:effectLst>
            <a:glow rad="228600">
              <a:schemeClr val="accent1">
                <a:satMod val="175000"/>
                <a:alpha val="40000"/>
              </a:schemeClr>
            </a:glow>
            <a:outerShdw blurRad="76200" dir="13500000" sy="23000" kx="1200000" algn="br" rotWithShape="0">
              <a:prstClr val="black">
                <a:alpha val="20000"/>
              </a:prstClr>
            </a:outerShdw>
          </a:effectLst>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lstStyle/>
          <a:p>
            <a:pPr algn="just"/>
            <a:r>
              <a:rPr lang="es-CO" sz="3600" dirty="0" smtClean="0">
                <a:latin typeface="Arial" pitchFamily="34" charset="0"/>
                <a:cs typeface="Arial" pitchFamily="34" charset="0"/>
              </a:rPr>
              <a:t>Plan de acción: Son las tareas que debe realizar cada unidad o área para concretar las estrategias en un plan operativo que permita su monitoria, seguimiento y evaluación.</a:t>
            </a:r>
          </a:p>
          <a:p>
            <a:endParaRPr lang="es-CO"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0" y="928670"/>
            <a:ext cx="8229600" cy="5126055"/>
          </a:xfrm>
        </p:spPr>
        <p:txBody>
          <a:bodyPr/>
          <a:lstStyle/>
          <a:p>
            <a:pPr algn="just"/>
            <a:r>
              <a:rPr lang="es-CO" sz="3200" dirty="0" smtClean="0">
                <a:latin typeface="Arial" pitchFamily="34" charset="0"/>
                <a:cs typeface="Arial" pitchFamily="34" charset="0"/>
              </a:rPr>
              <a:t>Monitoria estratégica: es el seguimiento sistemático del proceso estratégico con base en unos índices de desempeño y uno índices de cuestión que permitan medir los resultados del proceso. Deben proveer la información para la toma de decisiones estratégicas</a:t>
            </a:r>
            <a:r>
              <a:rPr lang="es-CO" dirty="0" smtClean="0">
                <a:latin typeface="Arial" pitchFamily="34" charset="0"/>
                <a:cs typeface="Arial" pitchFamily="34" charset="0"/>
              </a:rPr>
              <a:t>.</a:t>
            </a:r>
            <a:endParaRPr lang="es-CO" dirty="0">
              <a:latin typeface="Arial" pitchFamily="34" charset="0"/>
              <a:cs typeface="Arial" pitchFamily="3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0" y="714356"/>
            <a:ext cx="8229600" cy="5411807"/>
          </a:xfrm>
        </p:spPr>
        <p:txBody>
          <a:bodyPr>
            <a:normAutofit/>
          </a:bodyPr>
          <a:lstStyle/>
          <a:p>
            <a:pPr algn="just"/>
            <a:r>
              <a:rPr lang="es-CO" sz="3200" dirty="0" smtClean="0">
                <a:latin typeface="Arial" pitchFamily="34" charset="0"/>
                <a:cs typeface="Arial" pitchFamily="34" charset="0"/>
              </a:rPr>
              <a:t>Índice de desempeño esperado: es la meta que se espera lograr en la ejecución de cada acción. Esta puede ser en tiempo o cuantitativa.</a:t>
            </a:r>
          </a:p>
          <a:p>
            <a:pPr algn="just">
              <a:buNone/>
            </a:pPr>
            <a:endParaRPr lang="es-CO" sz="3200" dirty="0" smtClean="0">
              <a:latin typeface="Arial" pitchFamily="34" charset="0"/>
              <a:cs typeface="Arial" pitchFamily="34" charset="0"/>
            </a:endParaRPr>
          </a:p>
          <a:p>
            <a:pPr algn="just"/>
            <a:r>
              <a:rPr lang="es-CO" sz="3200" dirty="0" smtClean="0">
                <a:latin typeface="Arial" pitchFamily="34" charset="0"/>
                <a:cs typeface="Arial" pitchFamily="34" charset="0"/>
              </a:rPr>
              <a:t>Índice de desempeño alcanzado: es el logro alcanzado en la ejecución de las acciones básicas; resultado real de las acciones planeadas en tiempo o cuantitativamente.</a:t>
            </a:r>
            <a:endParaRPr lang="es-CO" sz="3200" dirty="0">
              <a:latin typeface="Arial" pitchFamily="34" charset="0"/>
              <a:cs typeface="Arial" pitchFamily="34"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42844" y="642918"/>
            <a:ext cx="7858180" cy="5214974"/>
          </a:xfrm>
        </p:spPr>
        <p:txBody>
          <a:bodyPr>
            <a:normAutofit/>
          </a:bodyPr>
          <a:lstStyle/>
          <a:p>
            <a:pPr algn="just"/>
            <a:r>
              <a:rPr lang="es-CO" sz="3200" dirty="0" smtClean="0">
                <a:latin typeface="Arial" pitchFamily="34" charset="0"/>
                <a:cs typeface="Arial" pitchFamily="34" charset="0"/>
              </a:rPr>
              <a:t>Índice de gestión: es el resultado obtenido de confrontar las metas planeadas, los estándares y el desempeño logrado.</a:t>
            </a:r>
          </a:p>
          <a:p>
            <a:pPr algn="just">
              <a:buNone/>
            </a:pPr>
            <a:endParaRPr lang="es-CO" sz="3200" dirty="0" smtClean="0">
              <a:latin typeface="Arial" pitchFamily="34" charset="0"/>
              <a:cs typeface="Arial" pitchFamily="34" charset="0"/>
            </a:endParaRPr>
          </a:p>
          <a:p>
            <a:pPr algn="just"/>
            <a:r>
              <a:rPr lang="es-CO" sz="3200" dirty="0" smtClean="0">
                <a:latin typeface="Arial" pitchFamily="34" charset="0"/>
                <a:cs typeface="Arial" pitchFamily="34" charset="0"/>
              </a:rPr>
              <a:t>Diagnostico interno: es el proceso para identificar fortalezas, debilidades, oportunidades y amenazas de la organización, o del área o  unidad estratégica.</a:t>
            </a:r>
            <a:endParaRPr lang="es-CO" sz="3200" dirty="0">
              <a:latin typeface="Arial" pitchFamily="34" charset="0"/>
              <a:cs typeface="Arial" pitchFamily="34"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42844" y="571480"/>
            <a:ext cx="7786710" cy="5554683"/>
          </a:xfrm>
        </p:spPr>
        <p:txBody>
          <a:bodyPr>
            <a:normAutofit/>
          </a:bodyPr>
          <a:lstStyle/>
          <a:p>
            <a:pPr marL="514350" indent="-514350" algn="just">
              <a:buAutoNum type="alphaLcPeriod"/>
            </a:pPr>
            <a:r>
              <a:rPr lang="es-CO" sz="3200" dirty="0" smtClean="0">
                <a:latin typeface="Arial" pitchFamily="34" charset="0"/>
                <a:cs typeface="Arial" pitchFamily="34" charset="0"/>
              </a:rPr>
              <a:t>Capacidad directiva: todas aquellas fortalezas o debilidades que tengan que ver con el proceso administrativo.</a:t>
            </a:r>
          </a:p>
          <a:p>
            <a:pPr marL="514350" indent="-514350" algn="just">
              <a:buAutoNum type="alphaLcPeriod"/>
            </a:pPr>
            <a:r>
              <a:rPr lang="es-CO" sz="3200" dirty="0" smtClean="0">
                <a:latin typeface="Arial" pitchFamily="34" charset="0"/>
                <a:cs typeface="Arial" pitchFamily="34" charset="0"/>
              </a:rPr>
              <a:t>Capacidad competitiva: todos los aspectos relacionados con el área comercial.</a:t>
            </a:r>
          </a:p>
          <a:p>
            <a:pPr marL="514350" indent="-514350" algn="just">
              <a:buAutoNum type="alphaLcPeriod"/>
            </a:pPr>
            <a:r>
              <a:rPr lang="es-CO" sz="3200" dirty="0" smtClean="0">
                <a:latin typeface="Arial" pitchFamily="34" charset="0"/>
                <a:cs typeface="Arial" pitchFamily="34" charset="0"/>
              </a:rPr>
              <a:t>Capacidad financiera: incluye todos los aspectos relacionados con las fortalezas o debilidades de la compañía.</a:t>
            </a:r>
            <a:endParaRPr lang="es-CO" sz="3200" dirty="0">
              <a:latin typeface="Arial" pitchFamily="34" charset="0"/>
              <a:cs typeface="Arial" pitchFamily="34"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0" y="571480"/>
            <a:ext cx="8143900" cy="5554683"/>
          </a:xfrm>
        </p:spPr>
        <p:txBody>
          <a:bodyPr/>
          <a:lstStyle/>
          <a:p>
            <a:pPr algn="just">
              <a:buNone/>
            </a:pPr>
            <a:r>
              <a:rPr lang="es-CO" dirty="0" smtClean="0">
                <a:solidFill>
                  <a:schemeClr val="tx2">
                    <a:lumMod val="60000"/>
                    <a:lumOff val="40000"/>
                  </a:schemeClr>
                </a:solidFill>
              </a:rPr>
              <a:t>d</a:t>
            </a:r>
            <a:r>
              <a:rPr lang="es-CO" sz="3200" dirty="0" smtClean="0">
                <a:solidFill>
                  <a:schemeClr val="tx2">
                    <a:lumMod val="60000"/>
                    <a:lumOff val="40000"/>
                  </a:schemeClr>
                </a:solidFill>
              </a:rPr>
              <a:t>. </a:t>
            </a:r>
            <a:r>
              <a:rPr lang="es-CO" sz="3200" dirty="0" smtClean="0">
                <a:latin typeface="Arial" pitchFamily="34" charset="0"/>
                <a:cs typeface="Arial" pitchFamily="34" charset="0"/>
              </a:rPr>
              <a:t>Capacidad técnica o tecnológica: aquí se incluyen todos los aspectos relacionados con el proceso de producción en las empresas industriales y con la infraestructura y los procesos en las empresas de servicio.</a:t>
            </a:r>
          </a:p>
          <a:p>
            <a:pPr algn="just">
              <a:buNone/>
            </a:pPr>
            <a:r>
              <a:rPr lang="es-CO" sz="3200" dirty="0" smtClean="0">
                <a:solidFill>
                  <a:schemeClr val="tx2">
                    <a:lumMod val="60000"/>
                    <a:lumOff val="40000"/>
                  </a:schemeClr>
                </a:solidFill>
                <a:latin typeface="Arial" pitchFamily="34" charset="0"/>
                <a:cs typeface="Arial" pitchFamily="34" charset="0"/>
              </a:rPr>
              <a:t>e. </a:t>
            </a:r>
            <a:r>
              <a:rPr lang="es-CO" sz="3200" dirty="0" smtClean="0">
                <a:latin typeface="Arial" pitchFamily="34" charset="0"/>
                <a:cs typeface="Arial" pitchFamily="34" charset="0"/>
              </a:rPr>
              <a:t>Capacidad de talento humano: se refiere a todas las fortalezas y debilidades relacionadas con el recurso humano.</a:t>
            </a:r>
          </a:p>
          <a:p>
            <a:pPr>
              <a:buNone/>
            </a:pPr>
            <a:endParaRPr lang="es-CO"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85720" y="2011680"/>
            <a:ext cx="7239000" cy="4846320"/>
          </a:xfrm>
        </p:spPr>
        <p:txBody>
          <a:bodyPr>
            <a:normAutofit/>
          </a:bodyPr>
          <a:lstStyle/>
          <a:p>
            <a:pPr marL="514350" indent="-514350" algn="just">
              <a:buAutoNum type="alphaLcPeriod"/>
            </a:pPr>
            <a:r>
              <a:rPr lang="es-CO" dirty="0" smtClean="0">
                <a:latin typeface="Arial" pitchFamily="34" charset="0"/>
                <a:cs typeface="Arial" pitchFamily="34" charset="0"/>
              </a:rPr>
              <a:t>Factores económicos: aquello relacionados con el comportamiento de la economía, tanto a nivel nacional como internacional.</a:t>
            </a:r>
          </a:p>
          <a:p>
            <a:pPr marL="514350" indent="-514350" algn="just">
              <a:buAutoNum type="alphaLcPeriod"/>
            </a:pPr>
            <a:r>
              <a:rPr lang="es-CO" dirty="0" smtClean="0">
                <a:latin typeface="Arial" pitchFamily="34" charset="0"/>
                <a:cs typeface="Arial" pitchFamily="34" charset="0"/>
              </a:rPr>
              <a:t> Factores políticas: se refieren al uso o migración del poder</a:t>
            </a:r>
          </a:p>
          <a:p>
            <a:pPr marL="514350" indent="-514350" algn="just">
              <a:buAutoNum type="alphaLcPeriod"/>
            </a:pPr>
            <a:r>
              <a:rPr lang="es-CO" dirty="0" smtClean="0">
                <a:latin typeface="Arial" pitchFamily="34" charset="0"/>
                <a:cs typeface="Arial" pitchFamily="34" charset="0"/>
              </a:rPr>
              <a:t>Factores sociales: los que afectan el modo de vivir de la gente, incluso sus valores.</a:t>
            </a:r>
            <a:endParaRPr lang="es-CO" dirty="0">
              <a:latin typeface="Arial" pitchFamily="34" charset="0"/>
              <a:cs typeface="Arial" pitchFamily="34" charset="0"/>
            </a:endParaRPr>
          </a:p>
        </p:txBody>
      </p:sp>
      <p:pic>
        <p:nvPicPr>
          <p:cNvPr id="28674" name="Picture 2" descr="http://tbn0.google.com/images?q=tbn:D7zECqyt9_6R5M:http://innova.fox.presidencia.gob.mx/archivos/4/5/4/1/files/fotos/sip-4053.jpg">
            <a:hlinkClick r:id="rId2"/>
          </p:cNvPr>
          <p:cNvPicPr>
            <a:picLocks noChangeAspect="1" noChangeArrowheads="1"/>
          </p:cNvPicPr>
          <p:nvPr/>
        </p:nvPicPr>
        <p:blipFill>
          <a:blip r:embed="rId3"/>
          <a:srcRect/>
          <a:stretch>
            <a:fillRect/>
          </a:stretch>
        </p:blipFill>
        <p:spPr bwMode="auto">
          <a:xfrm>
            <a:off x="6143636" y="642918"/>
            <a:ext cx="1000125" cy="742951"/>
          </a:xfrm>
          <a:prstGeom prst="rect">
            <a:avLst/>
          </a:prstGeom>
          <a:noFill/>
        </p:spPr>
      </p:pic>
      <p:pic>
        <p:nvPicPr>
          <p:cNvPr id="28676" name="Picture 4" descr="http://tbn1.google.com/images?q=tbn:khUV_SEp0oh1SM:http://www.igadi.org/artigos/2006/imaxes/20050215caracas_alvaro_uribe_e_hugo_chavez640.jpg">
            <a:hlinkClick r:id="rId4"/>
          </p:cNvPr>
          <p:cNvPicPr>
            <a:picLocks noChangeAspect="1" noChangeArrowheads="1"/>
          </p:cNvPicPr>
          <p:nvPr/>
        </p:nvPicPr>
        <p:blipFill>
          <a:blip r:embed="rId5"/>
          <a:srcRect/>
          <a:stretch>
            <a:fillRect/>
          </a:stretch>
        </p:blipFill>
        <p:spPr bwMode="auto">
          <a:xfrm>
            <a:off x="7143768" y="0"/>
            <a:ext cx="981075" cy="1304926"/>
          </a:xfrm>
          <a:prstGeom prst="rect">
            <a:avLst/>
          </a:prstGeom>
          <a:noFill/>
        </p:spPr>
      </p:pic>
      <p:pic>
        <p:nvPicPr>
          <p:cNvPr id="28678" name="Picture 6" descr="http://tbn2.google.com/images?q=tbn:Rc0WYNJ2qJ4oRM:http://www.comfama.com/contenidos/servicios/Empresas/Programas%2520y%2520servicios%2520para%2520empresas/Centro%2520de%2520Desarrollo%2520Empresarial/Emprendimiento/emprendimiento.jpg">
            <a:hlinkClick r:id="rId6"/>
          </p:cNvPr>
          <p:cNvPicPr>
            <a:picLocks noChangeAspect="1" noChangeArrowheads="1"/>
          </p:cNvPicPr>
          <p:nvPr/>
        </p:nvPicPr>
        <p:blipFill>
          <a:blip r:embed="rId7"/>
          <a:srcRect/>
          <a:stretch>
            <a:fillRect/>
          </a:stretch>
        </p:blipFill>
        <p:spPr bwMode="auto">
          <a:xfrm>
            <a:off x="6072198" y="0"/>
            <a:ext cx="1104900" cy="666751"/>
          </a:xfrm>
          <a:prstGeom prst="rect">
            <a:avLst/>
          </a:prstGeom>
          <a:noFill/>
        </p:spPr>
      </p:pic>
      <p:sp>
        <p:nvSpPr>
          <p:cNvPr id="7" name="6 Rectángulo"/>
          <p:cNvSpPr/>
          <p:nvPr/>
        </p:nvSpPr>
        <p:spPr>
          <a:xfrm>
            <a:off x="0" y="214290"/>
            <a:ext cx="6215074" cy="1754326"/>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5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Diagnostico Externo</a:t>
            </a:r>
            <a:endParaRPr lang="es-E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42844" y="500042"/>
            <a:ext cx="8001024" cy="5483245"/>
          </a:xfrm>
        </p:spPr>
        <p:txBody>
          <a:bodyPr>
            <a:noAutofit/>
          </a:bodyPr>
          <a:lstStyle/>
          <a:p>
            <a:pPr marL="514350" indent="-514350" algn="just">
              <a:buFont typeface="+mj-lt"/>
              <a:buAutoNum type="alphaLcPeriod" startAt="4"/>
            </a:pPr>
            <a:r>
              <a:rPr lang="es-CO" sz="3200" dirty="0" smtClean="0"/>
              <a:t>Factores tecnológicos: los relacionados con el desarrollo de maquinas, herramientas, materiales (hardware), así como los procesos (software).</a:t>
            </a:r>
          </a:p>
          <a:p>
            <a:pPr marL="514350" indent="-514350" algn="just">
              <a:buFont typeface="+mj-lt"/>
              <a:buAutoNum type="alphaLcPeriod" startAt="4"/>
            </a:pPr>
            <a:r>
              <a:rPr lang="es-CO" sz="3200" dirty="0" smtClean="0"/>
              <a:t>Factores geográficos: los relativos a la ubicación, espacio, topografía, clima, recursos naturales, etc.</a:t>
            </a:r>
          </a:p>
          <a:p>
            <a:pPr marL="514350" indent="-514350" algn="just">
              <a:buFont typeface="+mj-lt"/>
              <a:buAutoNum type="alphaLcPeriod" startAt="4"/>
            </a:pPr>
            <a:r>
              <a:rPr lang="es-CO" sz="3200" dirty="0" smtClean="0"/>
              <a:t>Factores competitivos: todos los determinados por la competencia, los productos, el mercado, la calidad y el servicio.</a:t>
            </a:r>
            <a:endParaRPr lang="es-CO" sz="3200"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2 Marcador de contenido"/>
          <p:cNvSpPr>
            <a:spLocks noGrp="1"/>
          </p:cNvSpPr>
          <p:nvPr>
            <p:ph idx="1"/>
          </p:nvPr>
        </p:nvSpPr>
        <p:spPr>
          <a:xfrm>
            <a:off x="0" y="1857364"/>
            <a:ext cx="8229600" cy="4525962"/>
          </a:xfrm>
        </p:spPr>
        <p:txBody>
          <a:bodyPr/>
          <a:lstStyle/>
          <a:p>
            <a:pPr algn="just">
              <a:buFont typeface="Arial" charset="0"/>
              <a:buNone/>
            </a:pPr>
            <a:r>
              <a:rPr lang="es-CO" dirty="0" smtClean="0"/>
              <a:t>	</a:t>
            </a:r>
            <a:r>
              <a:rPr lang="es-CO" sz="4000" dirty="0" smtClean="0">
                <a:latin typeface="Arial" charset="0"/>
                <a:cs typeface="Arial" charset="0"/>
              </a:rPr>
              <a:t>DOFA es la sigla de debilidades, oportunidades y amenazas, ayuda a determinar si la organización esta capacitada para desempeñarse en su medio.</a:t>
            </a:r>
          </a:p>
        </p:txBody>
      </p:sp>
      <p:pic>
        <p:nvPicPr>
          <p:cNvPr id="16386" name="Picture 2" descr="http://tbn3.google.com/images?q=tbn:JuuHIy3fXLrRrM:http://www.virtual.unal.edu.co/cursos/economicas/2008551/images/innovacion%2520y%2520gestion/dofa.png">
            <a:hlinkClick r:id="rId2"/>
          </p:cNvPr>
          <p:cNvPicPr>
            <a:picLocks noChangeAspect="1" noChangeArrowheads="1"/>
          </p:cNvPicPr>
          <p:nvPr/>
        </p:nvPicPr>
        <p:blipFill>
          <a:blip r:embed="rId3"/>
          <a:srcRect/>
          <a:stretch>
            <a:fillRect/>
          </a:stretch>
        </p:blipFill>
        <p:spPr bwMode="auto">
          <a:xfrm rot="20756005">
            <a:off x="164483" y="5044770"/>
            <a:ext cx="2926092" cy="1714507"/>
          </a:xfrm>
          <a:prstGeom prst="rect">
            <a:avLst/>
          </a:prstGeom>
          <a:noFill/>
          <a:effectLst>
            <a:outerShdw blurRad="76200" dir="13500000" sy="23000" kx="1200000" algn="br" rotWithShape="0">
              <a:prstClr val="black">
                <a:alpha val="20000"/>
              </a:prstClr>
            </a:outerShdw>
            <a:softEdge rad="127000"/>
          </a:effectLst>
        </p:spPr>
      </p:pic>
      <p:sp>
        <p:nvSpPr>
          <p:cNvPr id="5" name="4 Rectángulo"/>
          <p:cNvSpPr/>
          <p:nvPr/>
        </p:nvSpPr>
        <p:spPr>
          <a:xfrm>
            <a:off x="0" y="214290"/>
            <a:ext cx="8429684" cy="1569660"/>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48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Análisis DOFA</a:t>
            </a:r>
          </a:p>
          <a:p>
            <a:pPr algn="ctr"/>
            <a:r>
              <a:rPr lang="es-ES" sz="48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Análisis De Vulnerabilidad</a:t>
            </a:r>
            <a:endParaRPr lang="es-ES" sz="48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2 Marcador de contenido"/>
          <p:cNvSpPr>
            <a:spLocks noGrp="1"/>
          </p:cNvSpPr>
          <p:nvPr>
            <p:ph idx="1"/>
          </p:nvPr>
        </p:nvSpPr>
        <p:spPr/>
        <p:txBody>
          <a:bodyPr/>
          <a:lstStyle/>
          <a:p>
            <a:pPr marL="514350" indent="-514350" algn="just">
              <a:buFont typeface="+mj-lt"/>
              <a:buAutoNum type="arabicPeriod"/>
            </a:pPr>
            <a:r>
              <a:rPr lang="es-CO" sz="3200" dirty="0" smtClean="0">
                <a:latin typeface="Arial" charset="0"/>
                <a:cs typeface="Arial" charset="0"/>
              </a:rPr>
              <a:t> Identificar una ventaja distintiva o competitiva de la organización, algo que esta hace particularmente bien y por tanto la distingue de sus competidores.</a:t>
            </a:r>
          </a:p>
          <a:p>
            <a:pPr marL="514350" indent="-514350" algn="just">
              <a:buFont typeface="+mj-lt"/>
              <a:buAutoNum type="arabicPeriod"/>
            </a:pPr>
            <a:r>
              <a:rPr lang="es-CO" sz="3200" dirty="0" smtClean="0">
                <a:latin typeface="Arial" charset="0"/>
                <a:cs typeface="Arial" charset="0"/>
              </a:rPr>
              <a:t>Encontrar un nicho en el medio. Un nicho es la posición de la empresa en un segmento del mercado compatible con la visión corporativa</a:t>
            </a:r>
            <a:r>
              <a:rPr lang="es-CO" dirty="0" smtClean="0">
                <a:latin typeface="Arial" charset="0"/>
                <a:cs typeface="Arial" charset="0"/>
              </a:rPr>
              <a:t>.</a:t>
            </a:r>
          </a:p>
        </p:txBody>
      </p:sp>
      <p:sp>
        <p:nvSpPr>
          <p:cNvPr id="5" name="4 Rectángulo"/>
          <p:cNvSpPr/>
          <p:nvPr/>
        </p:nvSpPr>
        <p:spPr>
          <a:xfrm>
            <a:off x="857224" y="357166"/>
            <a:ext cx="5912196" cy="923330"/>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54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Elementos Claves</a:t>
            </a:r>
            <a:endParaRPr lang="es-E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2 Marcador de contenido"/>
          <p:cNvSpPr>
            <a:spLocks noGrp="1"/>
          </p:cNvSpPr>
          <p:nvPr>
            <p:ph idx="1"/>
          </p:nvPr>
        </p:nvSpPr>
        <p:spPr>
          <a:xfrm>
            <a:off x="357158" y="714356"/>
            <a:ext cx="7429523" cy="5840412"/>
          </a:xfrm>
        </p:spPr>
        <p:txBody>
          <a:bodyPr/>
          <a:lstStyle/>
          <a:p>
            <a:pPr marL="742950" indent="-742950" algn="just">
              <a:buFont typeface="+mj-lt"/>
              <a:buAutoNum type="arabicPeriod" startAt="3"/>
            </a:pPr>
            <a:r>
              <a:rPr lang="es-CO" sz="4000" dirty="0" smtClean="0">
                <a:latin typeface="Arial" charset="0"/>
                <a:cs typeface="Arial" charset="0"/>
              </a:rPr>
              <a:t>Encontrar el mejor acoplamiento entre las ventajas competitivas, las comparativas y los nichos que están a su alcance.</a:t>
            </a:r>
          </a:p>
          <a:p>
            <a:pPr algn="just">
              <a:buFont typeface="Arial" charset="0"/>
              <a:buNone/>
            </a:pPr>
            <a:endParaRPr lang="es-CO" dirty="0" smtClean="0">
              <a:latin typeface="Arial" charset="0"/>
              <a:cs typeface="Arial"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Marcador de contenido"/>
          <p:cNvGraphicFramePr>
            <a:graphicFrameLocks noGrp="1"/>
          </p:cNvGraphicFramePr>
          <p:nvPr>
            <p:ph idx="1"/>
          </p:nvPr>
        </p:nvGraphicFramePr>
        <p:xfrm>
          <a:off x="214282" y="2143116"/>
          <a:ext cx="7929618" cy="1527498"/>
        </p:xfrm>
        <a:graphic>
          <a:graphicData uri="http://schemas.openxmlformats.org/drawingml/2006/table">
            <a:tbl>
              <a:tblPr firstRow="1" bandRow="1">
                <a:tableStyleId>{C4B1156A-380E-4F78-BDF5-A606A8083BF9}</a:tableStyleId>
              </a:tblPr>
              <a:tblGrid>
                <a:gridCol w="3964809"/>
                <a:gridCol w="3964809"/>
              </a:tblGrid>
              <a:tr h="370840">
                <a:tc>
                  <a:txBody>
                    <a:bodyPr/>
                    <a:lstStyle/>
                    <a:p>
                      <a:pPr algn="ctr"/>
                      <a:r>
                        <a:rPr lang="es-CO" dirty="0" smtClean="0"/>
                        <a:t>OPORTUNIDADES</a:t>
                      </a:r>
                      <a:endParaRPr lang="es-CO" dirty="0"/>
                    </a:p>
                  </a:txBody>
                  <a:tcPr/>
                </a:tc>
                <a:tc>
                  <a:txBody>
                    <a:bodyPr/>
                    <a:lstStyle/>
                    <a:p>
                      <a:pPr algn="ctr"/>
                      <a:r>
                        <a:rPr lang="es-CO" dirty="0" smtClean="0"/>
                        <a:t>AMENAZAS</a:t>
                      </a:r>
                      <a:endParaRPr lang="es-CO" dirty="0"/>
                    </a:p>
                  </a:txBody>
                  <a:tcPr/>
                </a:tc>
              </a:tr>
              <a:tr h="414978">
                <a:tc>
                  <a:txBody>
                    <a:bodyPr/>
                    <a:lstStyle/>
                    <a:p>
                      <a:pPr algn="ctr"/>
                      <a:r>
                        <a:rPr lang="es-CO" dirty="0" smtClean="0"/>
                        <a:t>Enumerar</a:t>
                      </a:r>
                      <a:r>
                        <a:rPr lang="es-CO" baseline="0" dirty="0" smtClean="0"/>
                        <a:t> oportunidades claves</a:t>
                      </a:r>
                      <a:endParaRPr lang="es-CO" dirty="0"/>
                    </a:p>
                  </a:txBody>
                  <a:tcPr/>
                </a:tc>
                <a:tc>
                  <a:txBody>
                    <a:bodyPr/>
                    <a:lstStyle/>
                    <a:p>
                      <a:pPr algn="ctr"/>
                      <a:r>
                        <a:rPr lang="es-CO" dirty="0" smtClean="0"/>
                        <a:t>Enumerar amenazas claves</a:t>
                      </a:r>
                      <a:endParaRPr lang="es-CO" dirty="0"/>
                    </a:p>
                  </a:txBody>
                  <a:tcPr/>
                </a:tc>
              </a:tr>
              <a:tr h="370840">
                <a:tc>
                  <a:txBody>
                    <a:bodyPr/>
                    <a:lstStyle/>
                    <a:p>
                      <a:pPr algn="ctr"/>
                      <a:r>
                        <a:rPr lang="es-CO" b="1" dirty="0" smtClean="0"/>
                        <a:t>FORTALEZA</a:t>
                      </a:r>
                      <a:endParaRPr lang="es-CO" b="1" dirty="0"/>
                    </a:p>
                  </a:txBody>
                  <a:tcPr/>
                </a:tc>
                <a:tc>
                  <a:txBody>
                    <a:bodyPr/>
                    <a:lstStyle/>
                    <a:p>
                      <a:pPr algn="ctr"/>
                      <a:r>
                        <a:rPr lang="es-CO" b="1" dirty="0" smtClean="0"/>
                        <a:t>DEBILIDADES</a:t>
                      </a:r>
                      <a:endParaRPr lang="es-CO" b="1" dirty="0"/>
                    </a:p>
                  </a:txBody>
                  <a:tcPr/>
                </a:tc>
              </a:tr>
              <a:tr h="370840">
                <a:tc>
                  <a:txBody>
                    <a:bodyPr/>
                    <a:lstStyle/>
                    <a:p>
                      <a:pPr algn="ctr"/>
                      <a:r>
                        <a:rPr lang="es-CO" dirty="0" smtClean="0"/>
                        <a:t>Enumerar fortalezas</a:t>
                      </a:r>
                      <a:r>
                        <a:rPr lang="es-CO" baseline="0" dirty="0" smtClean="0"/>
                        <a:t> claves</a:t>
                      </a:r>
                      <a:endParaRPr lang="es-CO" dirty="0"/>
                    </a:p>
                  </a:txBody>
                  <a:tcPr/>
                </a:tc>
                <a:tc>
                  <a:txBody>
                    <a:bodyPr/>
                    <a:lstStyle/>
                    <a:p>
                      <a:pPr algn="ctr"/>
                      <a:r>
                        <a:rPr lang="es-CO" dirty="0" smtClean="0"/>
                        <a:t>Enumerar</a:t>
                      </a:r>
                      <a:r>
                        <a:rPr lang="es-CO" baseline="0" dirty="0" smtClean="0"/>
                        <a:t> debilidades claves</a:t>
                      </a:r>
                      <a:endParaRPr lang="es-CO" dirty="0"/>
                    </a:p>
                  </a:txBody>
                  <a:tcPr/>
                </a:tc>
              </a:tr>
            </a:tbl>
          </a:graphicData>
        </a:graphic>
      </p:graphicFrame>
      <p:sp>
        <p:nvSpPr>
          <p:cNvPr id="5140" name="4 CuadroTexto"/>
          <p:cNvSpPr txBox="1">
            <a:spLocks noChangeArrowheads="1"/>
          </p:cNvSpPr>
          <p:nvPr/>
        </p:nvSpPr>
        <p:spPr bwMode="auto">
          <a:xfrm>
            <a:off x="214282" y="4143380"/>
            <a:ext cx="7786688" cy="1570038"/>
          </a:xfrm>
          <a:prstGeom prst="rect">
            <a:avLst/>
          </a:prstGeom>
          <a:noFill/>
          <a:ln w="9525">
            <a:noFill/>
            <a:miter lim="800000"/>
            <a:headEnd/>
            <a:tailEnd/>
          </a:ln>
        </p:spPr>
        <p:txBody>
          <a:bodyPr>
            <a:spAutoFit/>
          </a:bodyPr>
          <a:lstStyle/>
          <a:p>
            <a:pPr algn="just"/>
            <a:r>
              <a:rPr lang="es-CO" sz="3200" dirty="0"/>
              <a:t>Al elaborarse este cuadro no debe dejarse por fuera del análisis ningún elemento clave.</a:t>
            </a:r>
          </a:p>
        </p:txBody>
      </p:sp>
      <p:sp>
        <p:nvSpPr>
          <p:cNvPr id="5" name="4 Rectángulo"/>
          <p:cNvSpPr/>
          <p:nvPr/>
        </p:nvSpPr>
        <p:spPr>
          <a:xfrm>
            <a:off x="214282" y="285728"/>
            <a:ext cx="7911910" cy="1754326"/>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914400" indent="-914400" algn="ctr">
              <a:buAutoNum type="arabicPeriod"/>
            </a:pPr>
            <a:r>
              <a:rPr lang="es-ES" sz="5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Elaboración de Hoja </a:t>
            </a:r>
            <a:endParaRPr lang="es-ES" sz="54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a:p>
            <a:pPr marL="914400" indent="-914400" algn="ctr"/>
            <a:r>
              <a:rPr lang="es-ES" sz="5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de Trabajo</a:t>
            </a:r>
            <a:endParaRPr lang="es-E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Marcador de contenido"/>
          <p:cNvGraphicFramePr>
            <a:graphicFrameLocks noGrp="1"/>
          </p:cNvGraphicFramePr>
          <p:nvPr>
            <p:ph idx="1"/>
          </p:nvPr>
        </p:nvGraphicFramePr>
        <p:xfrm>
          <a:off x="0" y="457200"/>
          <a:ext cx="8143900" cy="6400800"/>
        </p:xfrm>
        <a:graphic>
          <a:graphicData uri="http://schemas.openxmlformats.org/drawingml/2006/table">
            <a:tbl>
              <a:tblPr firstRow="1" bandRow="1">
                <a:tableStyleId>{C4B1156A-380E-4F78-BDF5-A606A8083BF9}</a:tableStyleId>
              </a:tblPr>
              <a:tblGrid>
                <a:gridCol w="4071950"/>
                <a:gridCol w="4071950"/>
              </a:tblGrid>
              <a:tr h="359230">
                <a:tc>
                  <a:txBody>
                    <a:bodyPr/>
                    <a:lstStyle/>
                    <a:p>
                      <a:pPr algn="ctr"/>
                      <a:r>
                        <a:rPr lang="es-CO" dirty="0" smtClean="0"/>
                        <a:t>OPORTUNIDADES</a:t>
                      </a:r>
                      <a:endParaRPr lang="es-CO" dirty="0"/>
                    </a:p>
                  </a:txBody>
                  <a:tcPr/>
                </a:tc>
                <a:tc>
                  <a:txBody>
                    <a:bodyPr/>
                    <a:lstStyle/>
                    <a:p>
                      <a:pPr algn="ctr"/>
                      <a:r>
                        <a:rPr lang="es-CO" dirty="0" smtClean="0"/>
                        <a:t>AMENAZAS</a:t>
                      </a:r>
                      <a:endParaRPr lang="es-CO" dirty="0"/>
                    </a:p>
                  </a:txBody>
                  <a:tcPr/>
                </a:tc>
              </a:tr>
              <a:tr h="3053453">
                <a:tc>
                  <a:txBody>
                    <a:bodyPr/>
                    <a:lstStyle/>
                    <a:p>
                      <a:pPr algn="just">
                        <a:buFont typeface="Arial" pitchFamily="34" charset="0"/>
                        <a:buChar char="•"/>
                      </a:pPr>
                      <a:r>
                        <a:rPr lang="es-CO" dirty="0" smtClean="0"/>
                        <a:t>Mantenimiento y liderazgo del mercado</a:t>
                      </a:r>
                    </a:p>
                    <a:p>
                      <a:pPr algn="just">
                        <a:buFont typeface="Arial" pitchFamily="34" charset="0"/>
                        <a:buChar char="•"/>
                      </a:pPr>
                      <a:r>
                        <a:rPr lang="es-CO" dirty="0" smtClean="0"/>
                        <a:t>Nuevas innovaciones,</a:t>
                      </a:r>
                      <a:r>
                        <a:rPr lang="es-CO" baseline="0" dirty="0" smtClean="0"/>
                        <a:t> insumos de mejor calidad</a:t>
                      </a:r>
                    </a:p>
                    <a:p>
                      <a:pPr algn="just">
                        <a:buFont typeface="Arial" pitchFamily="34" charset="0"/>
                        <a:buChar char="•"/>
                      </a:pPr>
                      <a:r>
                        <a:rPr lang="es-CO" baseline="0" dirty="0" smtClean="0"/>
                        <a:t>Mejor posición financiera</a:t>
                      </a:r>
                    </a:p>
                    <a:p>
                      <a:pPr algn="just">
                        <a:buFont typeface="Arial" pitchFamily="34" charset="0"/>
                        <a:buChar char="•"/>
                      </a:pPr>
                      <a:r>
                        <a:rPr lang="es-CO" baseline="0" dirty="0" smtClean="0"/>
                        <a:t>Nuevos mercados para productos a nivel nacional</a:t>
                      </a:r>
                    </a:p>
                    <a:p>
                      <a:pPr algn="just">
                        <a:buFont typeface="Arial" pitchFamily="34" charset="0"/>
                        <a:buChar char="•"/>
                      </a:pPr>
                      <a:r>
                        <a:rPr lang="es-CO" baseline="0" dirty="0" smtClean="0"/>
                        <a:t>Diversificación en el mercado de nuevos productos</a:t>
                      </a:r>
                    </a:p>
                    <a:p>
                      <a:pPr algn="just">
                        <a:buFont typeface="Arial" pitchFamily="34" charset="0"/>
                        <a:buChar char="•"/>
                      </a:pPr>
                      <a:r>
                        <a:rPr lang="es-CO" baseline="0" dirty="0" smtClean="0"/>
                        <a:t>Desarrollo tecnológico</a:t>
                      </a:r>
                    </a:p>
                    <a:p>
                      <a:pPr algn="just"/>
                      <a:endParaRPr lang="es-CO" dirty="0"/>
                    </a:p>
                  </a:txBody>
                  <a:tcPr/>
                </a:tc>
                <a:tc>
                  <a:txBody>
                    <a:bodyPr/>
                    <a:lstStyle/>
                    <a:p>
                      <a:pPr algn="just">
                        <a:buFont typeface="Arial" pitchFamily="34" charset="0"/>
                        <a:buChar char="•"/>
                      </a:pPr>
                      <a:r>
                        <a:rPr lang="es-CO" dirty="0" smtClean="0"/>
                        <a:t>Continúan los problemas tecnológicos</a:t>
                      </a:r>
                    </a:p>
                    <a:p>
                      <a:pPr algn="just">
                        <a:buFont typeface="Arial" pitchFamily="34" charset="0"/>
                        <a:buChar char="•"/>
                      </a:pPr>
                      <a:r>
                        <a:rPr lang="es-CO" dirty="0" smtClean="0"/>
                        <a:t>Saturación del mercado</a:t>
                      </a:r>
                    </a:p>
                    <a:p>
                      <a:pPr algn="just">
                        <a:buFont typeface="Arial" pitchFamily="34" charset="0"/>
                        <a:buChar char="•"/>
                      </a:pPr>
                      <a:r>
                        <a:rPr lang="es-CO" dirty="0" smtClean="0"/>
                        <a:t>Fuerte</a:t>
                      </a:r>
                      <a:r>
                        <a:rPr lang="es-CO" baseline="0" dirty="0" smtClean="0"/>
                        <a:t> competencia para las bases de lubricación</a:t>
                      </a:r>
                    </a:p>
                    <a:p>
                      <a:pPr algn="just">
                        <a:buFont typeface="Arial" pitchFamily="34" charset="0"/>
                        <a:buChar char="•"/>
                      </a:pPr>
                      <a:r>
                        <a:rPr lang="es-CO" baseline="0" dirty="0" smtClean="0"/>
                        <a:t>Amenaza de sacarlo del mercado</a:t>
                      </a:r>
                    </a:p>
                    <a:p>
                      <a:pPr algn="just">
                        <a:buFont typeface="Arial" pitchFamily="34" charset="0"/>
                        <a:buChar char="•"/>
                      </a:pPr>
                      <a:r>
                        <a:rPr lang="es-CO" baseline="0" dirty="0" smtClean="0"/>
                        <a:t>Resistencia interna al cambio</a:t>
                      </a:r>
                      <a:endParaRPr lang="es-CO" dirty="0"/>
                    </a:p>
                  </a:txBody>
                  <a:tcPr/>
                </a:tc>
              </a:tr>
              <a:tr h="359230">
                <a:tc>
                  <a:txBody>
                    <a:bodyPr/>
                    <a:lstStyle/>
                    <a:p>
                      <a:pPr algn="ctr"/>
                      <a:r>
                        <a:rPr lang="es-CO" b="1" dirty="0" smtClean="0"/>
                        <a:t>FORTALEZAS</a:t>
                      </a:r>
                      <a:endParaRPr lang="es-CO" b="1" dirty="0"/>
                    </a:p>
                  </a:txBody>
                  <a:tcPr/>
                </a:tc>
                <a:tc>
                  <a:txBody>
                    <a:bodyPr/>
                    <a:lstStyle/>
                    <a:p>
                      <a:pPr algn="ctr"/>
                      <a:r>
                        <a:rPr lang="es-CO" b="1" dirty="0" smtClean="0"/>
                        <a:t>DEBILIDADES</a:t>
                      </a:r>
                      <a:endParaRPr lang="es-CO" b="1" dirty="0"/>
                    </a:p>
                  </a:txBody>
                  <a:tcPr/>
                </a:tc>
              </a:tr>
              <a:tr h="2514608">
                <a:tc>
                  <a:txBody>
                    <a:bodyPr/>
                    <a:lstStyle/>
                    <a:p>
                      <a:pPr algn="just">
                        <a:buFont typeface="Arial" pitchFamily="34" charset="0"/>
                        <a:buChar char="•"/>
                      </a:pPr>
                      <a:r>
                        <a:rPr lang="es-CO" dirty="0" smtClean="0"/>
                        <a:t>Liderazgo</a:t>
                      </a:r>
                      <a:r>
                        <a:rPr lang="es-CO" baseline="0" dirty="0" smtClean="0"/>
                        <a:t> del mercado como productora única de derivados del petróleo</a:t>
                      </a:r>
                    </a:p>
                    <a:p>
                      <a:pPr algn="just">
                        <a:buFont typeface="Arial" pitchFamily="34" charset="0"/>
                        <a:buChar char="•"/>
                      </a:pPr>
                      <a:r>
                        <a:rPr lang="es-CO" baseline="0" dirty="0" smtClean="0"/>
                        <a:t>Fuete departamento de mercadeo</a:t>
                      </a:r>
                    </a:p>
                    <a:p>
                      <a:pPr algn="just">
                        <a:buFont typeface="Arial" pitchFamily="34" charset="0"/>
                        <a:buChar char="•"/>
                      </a:pPr>
                      <a:r>
                        <a:rPr lang="es-CO" baseline="0" dirty="0" smtClean="0"/>
                        <a:t>Productos de alta calidad</a:t>
                      </a:r>
                    </a:p>
                    <a:p>
                      <a:pPr algn="just">
                        <a:buFont typeface="Arial" pitchFamily="34" charset="0"/>
                        <a:buChar char="•"/>
                      </a:pPr>
                      <a:r>
                        <a:rPr lang="es-CO" baseline="0" dirty="0" smtClean="0"/>
                        <a:t>Alto grado de autosuficiencia</a:t>
                      </a:r>
                    </a:p>
                    <a:p>
                      <a:pPr algn="just">
                        <a:buFont typeface="Arial" pitchFamily="34" charset="0"/>
                        <a:buChar char="•"/>
                      </a:pPr>
                      <a:r>
                        <a:rPr lang="es-CO" baseline="0" dirty="0" smtClean="0"/>
                        <a:t>Liderazgo regional consolidado</a:t>
                      </a:r>
                    </a:p>
                    <a:p>
                      <a:pPr algn="just">
                        <a:buFont typeface="Arial" pitchFamily="34" charset="0"/>
                        <a:buChar char="•"/>
                      </a:pPr>
                      <a:r>
                        <a:rPr lang="es-CO" baseline="0" dirty="0" smtClean="0"/>
                        <a:t>Los consumidores prefieren Petrolil</a:t>
                      </a:r>
                    </a:p>
                    <a:p>
                      <a:pPr algn="just"/>
                      <a:endParaRPr lang="es-CO" dirty="0"/>
                    </a:p>
                  </a:txBody>
                  <a:tcPr/>
                </a:tc>
                <a:tc>
                  <a:txBody>
                    <a:bodyPr/>
                    <a:lstStyle/>
                    <a:p>
                      <a:pPr algn="just">
                        <a:buFont typeface="Arial" pitchFamily="34" charset="0"/>
                        <a:buChar char="•"/>
                      </a:pPr>
                      <a:r>
                        <a:rPr lang="es-CO" dirty="0" smtClean="0"/>
                        <a:t>Dificultades</a:t>
                      </a:r>
                      <a:r>
                        <a:rPr lang="es-CO" baseline="0" dirty="0" smtClean="0"/>
                        <a:t> financieras</a:t>
                      </a:r>
                    </a:p>
                    <a:p>
                      <a:pPr algn="just">
                        <a:buFont typeface="Arial" pitchFamily="34" charset="0"/>
                        <a:buChar char="•"/>
                      </a:pPr>
                      <a:r>
                        <a:rPr lang="es-CO" baseline="0" dirty="0" smtClean="0"/>
                        <a:t>Grandes inventarios</a:t>
                      </a:r>
                    </a:p>
                    <a:p>
                      <a:pPr algn="just">
                        <a:buFont typeface="Arial" pitchFamily="34" charset="0"/>
                        <a:buChar char="•"/>
                      </a:pPr>
                      <a:r>
                        <a:rPr lang="es-CO" baseline="0" dirty="0" smtClean="0"/>
                        <a:t>Inferioridad del producto frente al importado</a:t>
                      </a:r>
                    </a:p>
                    <a:p>
                      <a:pPr algn="just">
                        <a:buFont typeface="Arial" pitchFamily="34" charset="0"/>
                        <a:buChar char="•"/>
                      </a:pPr>
                      <a:r>
                        <a:rPr lang="es-CO" baseline="0" dirty="0" smtClean="0"/>
                        <a:t>Administración estratégica, proyección a corto plazo</a:t>
                      </a:r>
                    </a:p>
                    <a:p>
                      <a:pPr algn="just">
                        <a:buFont typeface="Arial" pitchFamily="34" charset="0"/>
                        <a:buChar char="•"/>
                      </a:pPr>
                      <a:r>
                        <a:rPr lang="es-CO" baseline="0" dirty="0" smtClean="0"/>
                        <a:t>Precios de los insumos</a:t>
                      </a:r>
                    </a:p>
                    <a:p>
                      <a:pPr algn="just">
                        <a:buFont typeface="Arial" pitchFamily="34" charset="0"/>
                        <a:buChar char="•"/>
                      </a:pPr>
                      <a:r>
                        <a:rPr lang="es-CO" baseline="0" dirty="0" smtClean="0"/>
                        <a:t>Cargas laborales</a:t>
                      </a:r>
                    </a:p>
                    <a:p>
                      <a:pPr algn="just">
                        <a:buFont typeface="Arial" pitchFamily="34" charset="0"/>
                        <a:buChar char="•"/>
                      </a:pPr>
                      <a:r>
                        <a:rPr lang="es-CO" baseline="0" dirty="0" smtClean="0"/>
                        <a:t>Cultura monopolística</a:t>
                      </a:r>
                      <a:endParaRPr lang="es-CO" dirty="0"/>
                    </a:p>
                  </a:txBody>
                  <a:tcPr/>
                </a:tc>
              </a:tr>
            </a:tbl>
          </a:graphicData>
        </a:graphic>
      </p:graphicFrame>
      <p:sp>
        <p:nvSpPr>
          <p:cNvPr id="6163" name="4 CuadroTexto"/>
          <p:cNvSpPr txBox="1">
            <a:spLocks noChangeArrowheads="1"/>
          </p:cNvSpPr>
          <p:nvPr/>
        </p:nvSpPr>
        <p:spPr bwMode="auto">
          <a:xfrm>
            <a:off x="785786" y="0"/>
            <a:ext cx="7143800" cy="584775"/>
          </a:xfrm>
          <a:prstGeom prst="rect">
            <a:avLst/>
          </a:prstGeom>
          <a:noFill/>
          <a:ln w="9525">
            <a:noFill/>
            <a:miter lim="800000"/>
            <a:headEnd/>
            <a:tailEnd/>
          </a:ln>
        </p:spPr>
        <p:txBody>
          <a:bodyPr wrap="square">
            <a:spAutoFit/>
          </a:bodyPr>
          <a:lstStyle/>
          <a:p>
            <a:r>
              <a:rPr lang="es-CO" sz="3200" dirty="0">
                <a:latin typeface="Calibri" pitchFamily="34" charset="0"/>
              </a:rPr>
              <a:t>Ejemplo hoja de trabajo. Caso petrolil</a:t>
            </a: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2 Marcador de contenido"/>
          <p:cNvSpPr>
            <a:spLocks noGrp="1"/>
          </p:cNvSpPr>
          <p:nvPr>
            <p:ph idx="1"/>
          </p:nvPr>
        </p:nvSpPr>
        <p:spPr>
          <a:xfrm>
            <a:off x="0" y="2332037"/>
            <a:ext cx="8229600" cy="4525963"/>
          </a:xfrm>
        </p:spPr>
        <p:txBody>
          <a:bodyPr/>
          <a:lstStyle/>
          <a:p>
            <a:pPr algn="just">
              <a:buFont typeface="Arial" charset="0"/>
              <a:buNone/>
            </a:pPr>
            <a:r>
              <a:rPr lang="es-CO" dirty="0" smtClean="0">
                <a:latin typeface="Arial" charset="0"/>
                <a:cs typeface="Arial" charset="0"/>
              </a:rPr>
              <a:t>	</a:t>
            </a:r>
            <a:r>
              <a:rPr lang="es-CO" sz="3600" dirty="0" smtClean="0">
                <a:latin typeface="Arial" charset="0"/>
                <a:cs typeface="Arial" charset="0"/>
              </a:rPr>
              <a:t>Una vez llena la hoja de trabajo, debe hacerse una selección de los factores clave de éxito que servirán de base para el análisis DOFA.</a:t>
            </a:r>
          </a:p>
          <a:p>
            <a:pPr algn="just">
              <a:buFont typeface="Arial" charset="0"/>
              <a:buNone/>
            </a:pPr>
            <a:endParaRPr lang="es-CO" dirty="0" smtClean="0">
              <a:latin typeface="Arial" charset="0"/>
              <a:cs typeface="Arial" charset="0"/>
            </a:endParaRPr>
          </a:p>
        </p:txBody>
      </p:sp>
      <p:sp>
        <p:nvSpPr>
          <p:cNvPr id="4" name="3 Rectángulo"/>
          <p:cNvSpPr/>
          <p:nvPr/>
        </p:nvSpPr>
        <p:spPr>
          <a:xfrm>
            <a:off x="0" y="142852"/>
            <a:ext cx="7929586" cy="2123658"/>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914400" indent="-914400" algn="ctr">
              <a:buAutoNum type="arabicPeriod" startAt="2"/>
            </a:pPr>
            <a:r>
              <a:rPr lang="es-ES" sz="44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Selección de Factores Claves</a:t>
            </a:r>
          </a:p>
          <a:p>
            <a:pPr marL="914400" indent="-914400" algn="ctr"/>
            <a:r>
              <a:rPr lang="es-ES" sz="44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De Éxito (FCE)</a:t>
            </a: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2 Marcador de contenido"/>
          <p:cNvSpPr>
            <a:spLocks noGrp="1"/>
          </p:cNvSpPr>
          <p:nvPr>
            <p:ph idx="1"/>
          </p:nvPr>
        </p:nvSpPr>
        <p:spPr>
          <a:xfrm>
            <a:off x="-142908" y="1571612"/>
            <a:ext cx="8229600" cy="3357562"/>
          </a:xfrm>
        </p:spPr>
        <p:txBody>
          <a:bodyPr>
            <a:normAutofit/>
          </a:bodyPr>
          <a:lstStyle/>
          <a:p>
            <a:pPr algn="just">
              <a:buFont typeface="Arial" charset="0"/>
              <a:buNone/>
            </a:pPr>
            <a:r>
              <a:rPr lang="es-CO" sz="4000" dirty="0" smtClean="0">
                <a:latin typeface="Arial" charset="0"/>
                <a:cs typeface="Arial" charset="0"/>
              </a:rPr>
              <a:t>	Hay que escoger solamente aquellos que sean fundamentales para el éxito o fracaso de la compañía. Para ello, debe utilizarse el análisis de impacto.</a:t>
            </a: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2 Marcador de contenido"/>
          <p:cNvSpPr>
            <a:spLocks noGrp="1"/>
          </p:cNvSpPr>
          <p:nvPr>
            <p:ph idx="1"/>
          </p:nvPr>
        </p:nvSpPr>
        <p:spPr>
          <a:xfrm>
            <a:off x="357158" y="1928802"/>
            <a:ext cx="7239000" cy="4632006"/>
          </a:xfrm>
        </p:spPr>
        <p:txBody>
          <a:bodyPr/>
          <a:lstStyle/>
          <a:p>
            <a:pPr algn="just">
              <a:buFont typeface="Arial" charset="0"/>
              <a:buNone/>
            </a:pPr>
            <a:r>
              <a:rPr lang="es-CO" dirty="0" smtClean="0"/>
              <a:t>	</a:t>
            </a:r>
            <a:r>
              <a:rPr lang="es-CO" sz="3600" dirty="0" smtClean="0">
                <a:latin typeface="Arial" charset="0"/>
                <a:cs typeface="Arial" charset="0"/>
              </a:rPr>
              <a:t>Consiste en definir cual es el impacto de cada fortaleza, debilidad, oportunidad o amenaza en el negocio, y, por tanto convertirla en factor clave del éxito.</a:t>
            </a:r>
          </a:p>
        </p:txBody>
      </p:sp>
      <p:sp>
        <p:nvSpPr>
          <p:cNvPr id="4" name="3 Rectángulo"/>
          <p:cNvSpPr/>
          <p:nvPr/>
        </p:nvSpPr>
        <p:spPr>
          <a:xfrm>
            <a:off x="714348" y="571480"/>
            <a:ext cx="6575839" cy="923330"/>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5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Análisis De Impacto</a:t>
            </a:r>
            <a:endParaRPr lang="es-E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5 Marcador de contenido"/>
          <p:cNvGraphicFramePr>
            <a:graphicFrameLocks noGrp="1"/>
          </p:cNvGraphicFramePr>
          <p:nvPr>
            <p:ph idx="1"/>
          </p:nvPr>
        </p:nvGraphicFramePr>
        <p:xfrm>
          <a:off x="-1" y="2571744"/>
          <a:ext cx="8111004" cy="2204720"/>
        </p:xfrm>
        <a:graphic>
          <a:graphicData uri="http://schemas.openxmlformats.org/drawingml/2006/table">
            <a:tbl>
              <a:tblPr firstRow="1" bandRow="1">
                <a:tableStyleId>{16D9F66E-5EB9-4882-86FB-DCBF35E3C3E4}</a:tableStyleId>
              </a:tblPr>
              <a:tblGrid>
                <a:gridCol w="1785919"/>
                <a:gridCol w="714408"/>
                <a:gridCol w="929438"/>
                <a:gridCol w="642942"/>
                <a:gridCol w="1785178"/>
                <a:gridCol w="714380"/>
                <a:gridCol w="895797"/>
                <a:gridCol w="642942"/>
              </a:tblGrid>
              <a:tr h="321471">
                <a:tc rowSpan="2">
                  <a:txBody>
                    <a:bodyPr/>
                    <a:lstStyle/>
                    <a:p>
                      <a:pPr algn="ctr"/>
                      <a:r>
                        <a:rPr lang="es-CO" dirty="0" smtClean="0"/>
                        <a:t>Fortalezas</a:t>
                      </a:r>
                      <a:endParaRPr lang="es-CO" dirty="0"/>
                    </a:p>
                  </a:txBody>
                  <a:tcPr/>
                </a:tc>
                <a:tc gridSpan="3">
                  <a:txBody>
                    <a:bodyPr/>
                    <a:lstStyle/>
                    <a:p>
                      <a:pPr algn="ctr"/>
                      <a:r>
                        <a:rPr lang="es-CO" dirty="0" smtClean="0"/>
                        <a:t>Impacto</a:t>
                      </a:r>
                      <a:endParaRPr lang="es-CO" dirty="0"/>
                    </a:p>
                  </a:txBody>
                  <a:tcPr>
                    <a:lnB w="12700" cap="flat" cmpd="sng" algn="ctr">
                      <a:solidFill>
                        <a:schemeClr val="accent6">
                          <a:lumMod val="60000"/>
                          <a:lumOff val="40000"/>
                        </a:schemeClr>
                      </a:solidFill>
                      <a:prstDash val="solid"/>
                      <a:round/>
                      <a:headEnd type="none" w="med" len="med"/>
                      <a:tailEnd type="none" w="med" len="med"/>
                    </a:lnB>
                    <a:lnTlToBr w="12700" cap="flat" cmpd="sng" algn="ctr">
                      <a:noFill/>
                      <a:prstDash val="solid"/>
                      <a:round/>
                      <a:headEnd type="none" w="med" len="med"/>
                      <a:tailEnd type="none" w="med" len="med"/>
                    </a:lnTlToBr>
                  </a:tcPr>
                </a:tc>
                <a:tc hMerge="1">
                  <a:txBody>
                    <a:bodyPr/>
                    <a:lstStyle/>
                    <a:p>
                      <a:endParaRPr lang="es-CO"/>
                    </a:p>
                  </a:txBody>
                  <a:tcPr/>
                </a:tc>
                <a:tc hMerge="1">
                  <a:txBody>
                    <a:bodyPr/>
                    <a:lstStyle/>
                    <a:p>
                      <a:endParaRPr lang="es-ES"/>
                    </a:p>
                  </a:txBody>
                  <a:tcPr/>
                </a:tc>
                <a:tc rowSpan="2">
                  <a:txBody>
                    <a:bodyPr/>
                    <a:lstStyle/>
                    <a:p>
                      <a:pPr algn="ctr"/>
                      <a:r>
                        <a:rPr lang="es-CO" dirty="0" smtClean="0"/>
                        <a:t>Oportunidades</a:t>
                      </a:r>
                      <a:endParaRPr lang="es-CO" dirty="0"/>
                    </a:p>
                  </a:txBody>
                  <a:tcPr/>
                </a:tc>
                <a:tc gridSpan="3">
                  <a:txBody>
                    <a:bodyPr/>
                    <a:lstStyle/>
                    <a:p>
                      <a:pPr algn="ctr"/>
                      <a:r>
                        <a:rPr lang="es-CO" dirty="0" smtClean="0"/>
                        <a:t>Impacto</a:t>
                      </a:r>
                      <a:endParaRPr lang="es-CO" dirty="0"/>
                    </a:p>
                  </a:txBody>
                  <a:tcPr>
                    <a:lnB w="12700" cap="flat" cmpd="sng" algn="ctr">
                      <a:solidFill>
                        <a:schemeClr val="accent6">
                          <a:lumMod val="60000"/>
                          <a:lumOff val="40000"/>
                        </a:schemeClr>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r>
              <a:tr h="321471">
                <a:tc vMerge="1">
                  <a:txBody>
                    <a:bodyPr/>
                    <a:lstStyle/>
                    <a:p>
                      <a:endParaRPr lang="es-CO"/>
                    </a:p>
                  </a:txBody>
                  <a:tcPr/>
                </a:tc>
                <a:tc>
                  <a:txBody>
                    <a:bodyPr/>
                    <a:lstStyle/>
                    <a:p>
                      <a:pPr algn="ctr"/>
                      <a:r>
                        <a:rPr lang="es-CO" dirty="0" smtClean="0"/>
                        <a:t>alto</a:t>
                      </a:r>
                      <a:endParaRPr lang="es-CO" dirty="0"/>
                    </a:p>
                  </a:txBody>
                  <a:tcPr>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TlToBr w="12700" cap="flat" cmpd="sng" algn="ctr">
                      <a:noFill/>
                      <a:prstDash val="solid"/>
                      <a:round/>
                      <a:headEnd type="none" w="med" len="med"/>
                      <a:tailEnd type="none" w="med" len="med"/>
                    </a:lnTlToBr>
                  </a:tcPr>
                </a:tc>
                <a:tc>
                  <a:txBody>
                    <a:bodyPr/>
                    <a:lstStyle/>
                    <a:p>
                      <a:pPr algn="ctr"/>
                      <a:r>
                        <a:rPr lang="es-CO" dirty="0" smtClean="0"/>
                        <a:t>medio</a:t>
                      </a:r>
                      <a:endParaRPr lang="es-CO" dirty="0"/>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TlToBr w="12700" cap="flat" cmpd="sng" algn="ctr">
                      <a:noFill/>
                      <a:prstDash val="solid"/>
                      <a:round/>
                      <a:headEnd type="none" w="med" len="med"/>
                      <a:tailEnd type="none" w="med" len="med"/>
                    </a:lnTlToBr>
                  </a:tcPr>
                </a:tc>
                <a:tc>
                  <a:txBody>
                    <a:bodyPr/>
                    <a:lstStyle/>
                    <a:p>
                      <a:pPr algn="ctr"/>
                      <a:r>
                        <a:rPr lang="es-CO" dirty="0" smtClean="0"/>
                        <a:t>bajo</a:t>
                      </a:r>
                      <a:endParaRPr lang="es-CO" dirty="0"/>
                    </a:p>
                  </a:txBody>
                  <a:tcPr>
                    <a:lnL w="12700" cap="flat" cmpd="sng" algn="ctr">
                      <a:solidFill>
                        <a:schemeClr val="accent6">
                          <a:lumMod val="60000"/>
                          <a:lumOff val="40000"/>
                        </a:schemeClr>
                      </a:solidFill>
                      <a:prstDash val="solid"/>
                      <a:round/>
                      <a:headEnd type="none" w="med" len="med"/>
                      <a:tailEnd type="none" w="med" len="med"/>
                    </a:lnL>
                    <a:lnT w="12700" cap="flat" cmpd="sng" algn="ctr">
                      <a:solidFill>
                        <a:schemeClr val="accent6">
                          <a:lumMod val="60000"/>
                          <a:lumOff val="40000"/>
                        </a:schemeClr>
                      </a:solidFill>
                      <a:prstDash val="solid"/>
                      <a:round/>
                      <a:headEnd type="none" w="med" len="med"/>
                      <a:tailEnd type="none" w="med" len="med"/>
                    </a:lnT>
                    <a:lnTlToBr w="12700" cap="flat" cmpd="sng" algn="ctr">
                      <a:noFill/>
                      <a:prstDash val="solid"/>
                      <a:round/>
                      <a:headEnd type="none" w="med" len="med"/>
                      <a:tailEnd type="none" w="med" len="med"/>
                    </a:lnTlToBr>
                  </a:tcPr>
                </a:tc>
                <a:tc vMerge="1">
                  <a:txBody>
                    <a:bodyPr/>
                    <a:lstStyle/>
                    <a:p>
                      <a:endParaRPr lang="es-CO"/>
                    </a:p>
                  </a:txBody>
                  <a:tcPr/>
                </a:tc>
                <a:tc>
                  <a:txBody>
                    <a:bodyPr/>
                    <a:lstStyle/>
                    <a:p>
                      <a:pPr algn="ctr"/>
                      <a:r>
                        <a:rPr lang="es-CO" dirty="0" smtClean="0"/>
                        <a:t>alto</a:t>
                      </a:r>
                      <a:endParaRPr lang="es-CO" dirty="0"/>
                    </a:p>
                  </a:txBody>
                  <a:tcPr>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tcPr>
                </a:tc>
                <a:tc>
                  <a:txBody>
                    <a:bodyPr/>
                    <a:lstStyle/>
                    <a:p>
                      <a:pPr algn="ctr"/>
                      <a:r>
                        <a:rPr lang="es-CO" dirty="0" smtClean="0"/>
                        <a:t>medio</a:t>
                      </a:r>
                      <a:endParaRPr lang="es-CO" dirty="0"/>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tcPr>
                </a:tc>
                <a:tc>
                  <a:txBody>
                    <a:bodyPr/>
                    <a:lstStyle/>
                    <a:p>
                      <a:pPr algn="ctr"/>
                      <a:r>
                        <a:rPr lang="es-CO" dirty="0" smtClean="0"/>
                        <a:t>Bajo</a:t>
                      </a:r>
                      <a:endParaRPr lang="es-CO" dirty="0"/>
                    </a:p>
                  </a:txBody>
                  <a:tcPr>
                    <a:lnL w="12700" cap="flat" cmpd="sng" algn="ctr">
                      <a:solidFill>
                        <a:schemeClr val="accent6">
                          <a:lumMod val="60000"/>
                          <a:lumOff val="40000"/>
                        </a:schemeClr>
                      </a:solidFill>
                      <a:prstDash val="solid"/>
                      <a:round/>
                      <a:headEnd type="none" w="med" len="med"/>
                      <a:tailEnd type="none" w="med" len="med"/>
                    </a:lnL>
                    <a:lnT w="12700" cap="flat" cmpd="sng" algn="ctr">
                      <a:solidFill>
                        <a:schemeClr val="accent6">
                          <a:lumMod val="60000"/>
                          <a:lumOff val="40000"/>
                        </a:schemeClr>
                      </a:solidFill>
                      <a:prstDash val="solid"/>
                      <a:round/>
                      <a:headEnd type="none" w="med" len="med"/>
                      <a:tailEnd type="none" w="med" len="med"/>
                    </a:lnT>
                  </a:tcPr>
                </a:tc>
              </a:tr>
              <a:tr h="370840">
                <a:tc>
                  <a:txBody>
                    <a:bodyPr/>
                    <a:lstStyle/>
                    <a:p>
                      <a:endParaRPr lang="es-CO" dirty="0"/>
                    </a:p>
                  </a:txBody>
                  <a:tcPr/>
                </a:tc>
                <a:tc>
                  <a:txBody>
                    <a:bodyPr/>
                    <a:lstStyle/>
                    <a:p>
                      <a:endParaRPr lang="es-CO" dirty="0"/>
                    </a:p>
                  </a:txBody>
                  <a:tcPr>
                    <a:lnR w="12700" cap="flat" cmpd="sng" algn="ctr">
                      <a:solidFill>
                        <a:schemeClr val="accent6">
                          <a:lumMod val="60000"/>
                          <a:lumOff val="40000"/>
                        </a:schemeClr>
                      </a:solidFill>
                      <a:prstDash val="solid"/>
                      <a:round/>
                      <a:headEnd type="none" w="med" len="med"/>
                      <a:tailEnd type="none" w="med" len="med"/>
                    </a:lnR>
                  </a:tcPr>
                </a:tc>
                <a:tc>
                  <a:txBody>
                    <a:bodyPr/>
                    <a:lstStyle/>
                    <a:p>
                      <a:endParaRPr lang="es-CO" dirty="0"/>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tcPr>
                </a:tc>
                <a:tc>
                  <a:txBody>
                    <a:bodyPr/>
                    <a:lstStyle/>
                    <a:p>
                      <a:endParaRPr lang="es-ES" dirty="0"/>
                    </a:p>
                  </a:txBody>
                  <a:tcPr>
                    <a:lnL w="12700" cap="flat" cmpd="sng" algn="ctr">
                      <a:solidFill>
                        <a:schemeClr val="accent6">
                          <a:lumMod val="60000"/>
                          <a:lumOff val="40000"/>
                        </a:schemeClr>
                      </a:solidFill>
                      <a:prstDash val="solid"/>
                      <a:round/>
                      <a:headEnd type="none" w="med" len="med"/>
                      <a:tailEnd type="none" w="med" len="med"/>
                    </a:lnL>
                  </a:tcPr>
                </a:tc>
                <a:tc>
                  <a:txBody>
                    <a:bodyPr/>
                    <a:lstStyle/>
                    <a:p>
                      <a:endParaRPr lang="es-CO" dirty="0"/>
                    </a:p>
                  </a:txBody>
                  <a:tcPr/>
                </a:tc>
                <a:tc>
                  <a:txBody>
                    <a:bodyPr/>
                    <a:lstStyle/>
                    <a:p>
                      <a:endParaRPr lang="es-CO" dirty="0"/>
                    </a:p>
                  </a:txBody>
                  <a:tcPr>
                    <a:lnR w="12700" cap="flat" cmpd="sng" algn="ctr">
                      <a:solidFill>
                        <a:schemeClr val="accent6">
                          <a:lumMod val="60000"/>
                          <a:lumOff val="40000"/>
                        </a:schemeClr>
                      </a:solidFill>
                      <a:prstDash val="solid"/>
                      <a:round/>
                      <a:headEnd type="none" w="med" len="med"/>
                      <a:tailEnd type="none" w="med" len="med"/>
                    </a:lnR>
                  </a:tcPr>
                </a:tc>
                <a:tc>
                  <a:txBody>
                    <a:bodyPr/>
                    <a:lstStyle/>
                    <a:p>
                      <a:endParaRPr lang="es-ES" dirty="0"/>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tcPr>
                </a:tc>
                <a:tc>
                  <a:txBody>
                    <a:bodyPr/>
                    <a:lstStyle/>
                    <a:p>
                      <a:endParaRPr lang="es-ES" dirty="0"/>
                    </a:p>
                  </a:txBody>
                  <a:tcPr>
                    <a:lnL w="12700" cap="flat" cmpd="sng" algn="ctr">
                      <a:solidFill>
                        <a:schemeClr val="accent6">
                          <a:lumMod val="60000"/>
                          <a:lumOff val="40000"/>
                        </a:schemeClr>
                      </a:solidFill>
                      <a:prstDash val="solid"/>
                      <a:round/>
                      <a:headEnd type="none" w="med" len="med"/>
                      <a:tailEnd type="none" w="med" len="med"/>
                    </a:lnL>
                  </a:tcPr>
                </a:tc>
              </a:tr>
              <a:tr h="341795">
                <a:tc rowSpan="2">
                  <a:txBody>
                    <a:bodyPr/>
                    <a:lstStyle/>
                    <a:p>
                      <a:pPr algn="ctr"/>
                      <a:r>
                        <a:rPr lang="es-CO" b="1" dirty="0" smtClean="0"/>
                        <a:t>Debilidades</a:t>
                      </a:r>
                      <a:endParaRPr lang="es-CO" b="1" dirty="0"/>
                    </a:p>
                  </a:txBody>
                  <a:tcPr/>
                </a:tc>
                <a:tc gridSpan="3">
                  <a:txBody>
                    <a:bodyPr/>
                    <a:lstStyle/>
                    <a:p>
                      <a:pPr algn="ctr"/>
                      <a:r>
                        <a:rPr lang="es-CO" b="1" dirty="0" smtClean="0"/>
                        <a:t>Impacto</a:t>
                      </a:r>
                      <a:endParaRPr lang="es-CO" b="1" dirty="0"/>
                    </a:p>
                  </a:txBody>
                  <a:tcPr>
                    <a:lnB w="12700" cap="flat" cmpd="sng" algn="ctr">
                      <a:solidFill>
                        <a:schemeClr val="accent6">
                          <a:lumMod val="60000"/>
                          <a:lumOff val="40000"/>
                        </a:schemeClr>
                      </a:solidFill>
                      <a:prstDash val="solid"/>
                      <a:round/>
                      <a:headEnd type="none" w="med" len="med"/>
                      <a:tailEnd type="none" w="med" len="med"/>
                    </a:lnB>
                  </a:tcPr>
                </a:tc>
                <a:tc hMerge="1">
                  <a:txBody>
                    <a:bodyPr/>
                    <a:lstStyle/>
                    <a:p>
                      <a:endParaRPr lang="es-CO"/>
                    </a:p>
                  </a:txBody>
                  <a:tcPr/>
                </a:tc>
                <a:tc hMerge="1">
                  <a:txBody>
                    <a:bodyPr/>
                    <a:lstStyle/>
                    <a:p>
                      <a:endParaRPr lang="es-ES"/>
                    </a:p>
                  </a:txBody>
                  <a:tcPr/>
                </a:tc>
                <a:tc rowSpan="2">
                  <a:txBody>
                    <a:bodyPr/>
                    <a:lstStyle/>
                    <a:p>
                      <a:pPr algn="ctr"/>
                      <a:r>
                        <a:rPr lang="es-CO" b="1" dirty="0" smtClean="0"/>
                        <a:t>Amenazas</a:t>
                      </a:r>
                      <a:endParaRPr lang="es-CO" b="1" dirty="0"/>
                    </a:p>
                  </a:txBody>
                  <a:tcPr/>
                </a:tc>
                <a:tc gridSpan="3">
                  <a:txBody>
                    <a:bodyPr/>
                    <a:lstStyle/>
                    <a:p>
                      <a:pPr algn="ctr"/>
                      <a:r>
                        <a:rPr lang="es-CO" b="1" dirty="0" smtClean="0"/>
                        <a:t>Impacto</a:t>
                      </a:r>
                      <a:endParaRPr lang="es-CO" b="1" dirty="0"/>
                    </a:p>
                  </a:txBody>
                  <a:tcPr>
                    <a:lnB w="12700" cap="flat" cmpd="sng" algn="ctr">
                      <a:solidFill>
                        <a:schemeClr val="accent6">
                          <a:lumMod val="60000"/>
                          <a:lumOff val="40000"/>
                        </a:schemeClr>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r>
              <a:tr h="341795">
                <a:tc vMerge="1">
                  <a:txBody>
                    <a:bodyPr/>
                    <a:lstStyle/>
                    <a:p>
                      <a:endParaRPr lang="es-CO"/>
                    </a:p>
                  </a:txBody>
                  <a:tcPr/>
                </a:tc>
                <a:tc>
                  <a:txBody>
                    <a:bodyPr/>
                    <a:lstStyle/>
                    <a:p>
                      <a:pPr algn="ctr"/>
                      <a:r>
                        <a:rPr lang="es-CO" dirty="0" smtClean="0"/>
                        <a:t>alto</a:t>
                      </a:r>
                      <a:endParaRPr lang="es-CO" dirty="0"/>
                    </a:p>
                  </a:txBody>
                  <a:tcPr>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tcPr>
                </a:tc>
                <a:tc>
                  <a:txBody>
                    <a:bodyPr/>
                    <a:lstStyle/>
                    <a:p>
                      <a:pPr algn="ctr"/>
                      <a:r>
                        <a:rPr lang="es-CO" dirty="0" smtClean="0"/>
                        <a:t>medio</a:t>
                      </a:r>
                      <a:endParaRPr lang="es-CO" dirty="0"/>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tcPr>
                </a:tc>
                <a:tc>
                  <a:txBody>
                    <a:bodyPr/>
                    <a:lstStyle/>
                    <a:p>
                      <a:pPr algn="ctr"/>
                      <a:r>
                        <a:rPr lang="es-CO" dirty="0" smtClean="0"/>
                        <a:t>bajo</a:t>
                      </a:r>
                      <a:endParaRPr lang="es-CO" dirty="0"/>
                    </a:p>
                  </a:txBody>
                  <a:tcPr>
                    <a:lnL w="12700" cap="flat" cmpd="sng" algn="ctr">
                      <a:solidFill>
                        <a:schemeClr val="accent6">
                          <a:lumMod val="60000"/>
                          <a:lumOff val="40000"/>
                        </a:schemeClr>
                      </a:solidFill>
                      <a:prstDash val="solid"/>
                      <a:round/>
                      <a:headEnd type="none" w="med" len="med"/>
                      <a:tailEnd type="none" w="med" len="med"/>
                    </a:lnL>
                    <a:lnT w="12700" cap="flat" cmpd="sng" algn="ctr">
                      <a:solidFill>
                        <a:schemeClr val="accent6">
                          <a:lumMod val="60000"/>
                          <a:lumOff val="40000"/>
                        </a:schemeClr>
                      </a:solidFill>
                      <a:prstDash val="solid"/>
                      <a:round/>
                      <a:headEnd type="none" w="med" len="med"/>
                      <a:tailEnd type="none" w="med" len="med"/>
                    </a:lnT>
                  </a:tcPr>
                </a:tc>
                <a:tc vMerge="1">
                  <a:txBody>
                    <a:bodyPr/>
                    <a:lstStyle/>
                    <a:p>
                      <a:endParaRPr lang="es-CO"/>
                    </a:p>
                  </a:txBody>
                  <a:tcPr/>
                </a:tc>
                <a:tc>
                  <a:txBody>
                    <a:bodyPr/>
                    <a:lstStyle/>
                    <a:p>
                      <a:pPr algn="ctr"/>
                      <a:r>
                        <a:rPr lang="es-CO" dirty="0" smtClean="0"/>
                        <a:t>alto</a:t>
                      </a:r>
                      <a:endParaRPr lang="es-CO" dirty="0"/>
                    </a:p>
                  </a:txBody>
                  <a:tcPr>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tcPr>
                </a:tc>
                <a:tc>
                  <a:txBody>
                    <a:bodyPr/>
                    <a:lstStyle/>
                    <a:p>
                      <a:pPr algn="ctr"/>
                      <a:r>
                        <a:rPr lang="es-CO" dirty="0" smtClean="0"/>
                        <a:t>medio</a:t>
                      </a:r>
                      <a:endParaRPr lang="es-CO" dirty="0"/>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tcPr>
                </a:tc>
                <a:tc>
                  <a:txBody>
                    <a:bodyPr/>
                    <a:lstStyle/>
                    <a:p>
                      <a:pPr algn="ctr"/>
                      <a:r>
                        <a:rPr lang="es-CO" dirty="0" smtClean="0"/>
                        <a:t>bajo</a:t>
                      </a:r>
                      <a:endParaRPr lang="es-CO" dirty="0"/>
                    </a:p>
                  </a:txBody>
                  <a:tcPr>
                    <a:lnL w="12700" cap="flat" cmpd="sng" algn="ctr">
                      <a:solidFill>
                        <a:schemeClr val="accent6">
                          <a:lumMod val="60000"/>
                          <a:lumOff val="40000"/>
                        </a:schemeClr>
                      </a:solidFill>
                      <a:prstDash val="solid"/>
                      <a:round/>
                      <a:headEnd type="none" w="med" len="med"/>
                      <a:tailEnd type="none" w="med" len="med"/>
                    </a:lnL>
                    <a:lnT w="12700" cap="flat" cmpd="sng" algn="ctr">
                      <a:solidFill>
                        <a:schemeClr val="accent6">
                          <a:lumMod val="60000"/>
                          <a:lumOff val="40000"/>
                        </a:schemeClr>
                      </a:solidFill>
                      <a:prstDash val="solid"/>
                      <a:round/>
                      <a:headEnd type="none" w="med" len="med"/>
                      <a:tailEnd type="none" w="med" len="med"/>
                    </a:lnT>
                  </a:tcPr>
                </a:tc>
              </a:tr>
              <a:tr h="370840">
                <a:tc>
                  <a:txBody>
                    <a:bodyPr/>
                    <a:lstStyle/>
                    <a:p>
                      <a:endParaRPr lang="es-CO" dirty="0"/>
                    </a:p>
                  </a:txBody>
                  <a:tcPr/>
                </a:tc>
                <a:tc>
                  <a:txBody>
                    <a:bodyPr/>
                    <a:lstStyle/>
                    <a:p>
                      <a:endParaRPr lang="es-CO" dirty="0"/>
                    </a:p>
                  </a:txBody>
                  <a:tcPr>
                    <a:lnR w="12700" cap="flat" cmpd="sng" algn="ctr">
                      <a:solidFill>
                        <a:schemeClr val="accent6">
                          <a:lumMod val="60000"/>
                          <a:lumOff val="40000"/>
                        </a:schemeClr>
                      </a:solidFill>
                      <a:prstDash val="solid"/>
                      <a:round/>
                      <a:headEnd type="none" w="med" len="med"/>
                      <a:tailEnd type="none" w="med" len="med"/>
                    </a:lnR>
                  </a:tcPr>
                </a:tc>
                <a:tc>
                  <a:txBody>
                    <a:bodyPr/>
                    <a:lstStyle/>
                    <a:p>
                      <a:endParaRPr lang="es-CO" dirty="0"/>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tcPr>
                </a:tc>
                <a:tc>
                  <a:txBody>
                    <a:bodyPr/>
                    <a:lstStyle/>
                    <a:p>
                      <a:endParaRPr lang="es-ES" dirty="0"/>
                    </a:p>
                  </a:txBody>
                  <a:tcPr>
                    <a:lnL w="12700" cap="flat" cmpd="sng" algn="ctr">
                      <a:solidFill>
                        <a:schemeClr val="accent6">
                          <a:lumMod val="60000"/>
                          <a:lumOff val="40000"/>
                        </a:schemeClr>
                      </a:solidFill>
                      <a:prstDash val="solid"/>
                      <a:round/>
                      <a:headEnd type="none" w="med" len="med"/>
                      <a:tailEnd type="none" w="med" len="med"/>
                    </a:lnL>
                  </a:tcPr>
                </a:tc>
                <a:tc>
                  <a:txBody>
                    <a:bodyPr/>
                    <a:lstStyle/>
                    <a:p>
                      <a:endParaRPr lang="es-CO" dirty="0"/>
                    </a:p>
                  </a:txBody>
                  <a:tcPr/>
                </a:tc>
                <a:tc>
                  <a:txBody>
                    <a:bodyPr/>
                    <a:lstStyle/>
                    <a:p>
                      <a:endParaRPr lang="es-CO" dirty="0"/>
                    </a:p>
                  </a:txBody>
                  <a:tcPr>
                    <a:lnR w="12700" cap="flat" cmpd="sng" algn="ctr">
                      <a:solidFill>
                        <a:schemeClr val="accent6">
                          <a:lumMod val="60000"/>
                          <a:lumOff val="40000"/>
                        </a:schemeClr>
                      </a:solidFill>
                      <a:prstDash val="solid"/>
                      <a:round/>
                      <a:headEnd type="none" w="med" len="med"/>
                      <a:tailEnd type="none" w="med" len="med"/>
                    </a:lnR>
                  </a:tcPr>
                </a:tc>
                <a:tc>
                  <a:txBody>
                    <a:bodyPr/>
                    <a:lstStyle/>
                    <a:p>
                      <a:endParaRPr lang="es-ES" dirty="0"/>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tcPr>
                </a:tc>
                <a:tc>
                  <a:txBody>
                    <a:bodyPr/>
                    <a:lstStyle/>
                    <a:p>
                      <a:endParaRPr lang="es-ES" dirty="0"/>
                    </a:p>
                  </a:txBody>
                  <a:tcPr>
                    <a:lnL w="12700" cap="flat" cmpd="sng" algn="ctr">
                      <a:solidFill>
                        <a:schemeClr val="accent6">
                          <a:lumMod val="60000"/>
                          <a:lumOff val="40000"/>
                        </a:schemeClr>
                      </a:solidFill>
                      <a:prstDash val="solid"/>
                      <a:round/>
                      <a:headEnd type="none" w="med" len="med"/>
                      <a:tailEnd type="none" w="med" len="med"/>
                    </a:lnL>
                  </a:tcPr>
                </a:tc>
              </a:tr>
            </a:tbl>
          </a:graphicData>
        </a:graphic>
      </p:graphicFrame>
      <p:sp>
        <p:nvSpPr>
          <p:cNvPr id="4" name="3 Rectángulo"/>
          <p:cNvSpPr/>
          <p:nvPr/>
        </p:nvSpPr>
        <p:spPr>
          <a:xfrm>
            <a:off x="0" y="500042"/>
            <a:ext cx="8143900" cy="1569660"/>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48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Matriz de impactos DOFA </a:t>
            </a:r>
          </a:p>
          <a:p>
            <a:pPr algn="ctr"/>
            <a:r>
              <a:rPr lang="es-ES" sz="48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Ponderado</a:t>
            </a:r>
            <a:endParaRPr lang="es-ES" sz="48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2 Marcador de contenido"/>
          <p:cNvSpPr>
            <a:spLocks noGrp="1"/>
          </p:cNvSpPr>
          <p:nvPr>
            <p:ph idx="1"/>
          </p:nvPr>
        </p:nvSpPr>
        <p:spPr/>
        <p:txBody>
          <a:bodyPr/>
          <a:lstStyle/>
          <a:p>
            <a:pPr algn="just">
              <a:buFont typeface="Arial" charset="0"/>
              <a:buNone/>
            </a:pPr>
            <a:r>
              <a:rPr lang="es-CO" sz="3600" dirty="0" smtClean="0">
                <a:latin typeface="Arial" charset="0"/>
                <a:cs typeface="Arial" charset="0"/>
              </a:rPr>
              <a:t>	Los factores que se incluyen en el DOFA ponderado son aquellos de mas alto impacto en cada uno de los cuadrantes. Su enumeración debe ser de alto a bajo impacto en forma descendiente.</a:t>
            </a:r>
          </a:p>
        </p:txBody>
      </p:sp>
      <p:sp>
        <p:nvSpPr>
          <p:cNvPr id="4" name="3 Rectángulo"/>
          <p:cNvSpPr/>
          <p:nvPr/>
        </p:nvSpPr>
        <p:spPr>
          <a:xfrm>
            <a:off x="0" y="428604"/>
            <a:ext cx="8072462" cy="769441"/>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4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3.  Ponderación de </a:t>
            </a:r>
            <a:r>
              <a:rPr lang="es-ES" sz="44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F</a:t>
            </a:r>
            <a:r>
              <a:rPr lang="es-ES" sz="4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actores</a:t>
            </a:r>
            <a:endParaRPr lang="es-ES" sz="4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2 Marcador de contenido"/>
          <p:cNvSpPr>
            <a:spLocks noGrp="1"/>
          </p:cNvSpPr>
          <p:nvPr>
            <p:ph idx="1"/>
          </p:nvPr>
        </p:nvSpPr>
        <p:spPr/>
        <p:txBody>
          <a:bodyPr/>
          <a:lstStyle/>
          <a:p>
            <a:pPr algn="just">
              <a:buFont typeface="Arial" charset="0"/>
              <a:buNone/>
            </a:pPr>
            <a:r>
              <a:rPr lang="es-CO" dirty="0" smtClean="0"/>
              <a:t>	</a:t>
            </a:r>
            <a:r>
              <a:rPr lang="es-CO" sz="4000" dirty="0" smtClean="0">
                <a:latin typeface="Arial" charset="0"/>
                <a:cs typeface="Arial" charset="0"/>
              </a:rPr>
              <a:t>Con base en la selección de los factores clave de éxito de mas alto impacto se realiza el análisis DOFA.</a:t>
            </a:r>
          </a:p>
        </p:txBody>
      </p:sp>
      <p:sp>
        <p:nvSpPr>
          <p:cNvPr id="4" name="3 Rectángulo"/>
          <p:cNvSpPr/>
          <p:nvPr/>
        </p:nvSpPr>
        <p:spPr>
          <a:xfrm>
            <a:off x="428596" y="571480"/>
            <a:ext cx="7031348" cy="923330"/>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5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4.  </a:t>
            </a:r>
            <a:r>
              <a:rPr lang="es-ES" sz="54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Realización DOFA</a:t>
            </a:r>
            <a:endParaRPr lang="es-E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2 Marcador de contenido"/>
          <p:cNvSpPr>
            <a:spLocks noGrp="1"/>
          </p:cNvSpPr>
          <p:nvPr>
            <p:ph idx="1"/>
          </p:nvPr>
        </p:nvSpPr>
        <p:spPr>
          <a:xfrm>
            <a:off x="428596" y="1857364"/>
            <a:ext cx="7239000" cy="4846320"/>
          </a:xfrm>
        </p:spPr>
        <p:txBody>
          <a:bodyPr/>
          <a:lstStyle/>
          <a:p>
            <a:pPr algn="just">
              <a:buFont typeface="Arial" charset="0"/>
              <a:buNone/>
            </a:pPr>
            <a:r>
              <a:rPr lang="es-CO" dirty="0" smtClean="0">
                <a:latin typeface="Arial" charset="0"/>
                <a:cs typeface="Arial" charset="0"/>
              </a:rPr>
              <a:t>	</a:t>
            </a:r>
            <a:r>
              <a:rPr lang="es-CO" sz="3200" dirty="0" smtClean="0">
                <a:latin typeface="Arial" charset="0"/>
                <a:cs typeface="Arial" charset="0"/>
              </a:rPr>
              <a:t>Consiste en relacionar oportunidades, amenazas, fortalezas y debilidades, preguntándose como convertir una amenaza en oportunidad, como aprovechar una fortaleza, como anticipar el efecto de una amenaza y prevenir el efecto de una debilidad.</a:t>
            </a:r>
            <a:endParaRPr lang="es-CO" sz="3200" dirty="0" smtClean="0"/>
          </a:p>
        </p:txBody>
      </p:sp>
      <p:sp>
        <p:nvSpPr>
          <p:cNvPr id="6" name="5 Rectángulo"/>
          <p:cNvSpPr/>
          <p:nvPr/>
        </p:nvSpPr>
        <p:spPr>
          <a:xfrm>
            <a:off x="1071538" y="571480"/>
            <a:ext cx="5857916" cy="923330"/>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5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Análisis DOFA</a:t>
            </a:r>
            <a:endParaRPr lang="es-E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Marcador de contenido"/>
          <p:cNvGraphicFramePr>
            <a:graphicFrameLocks noGrp="1"/>
          </p:cNvGraphicFramePr>
          <p:nvPr>
            <p:ph idx="1"/>
          </p:nvPr>
        </p:nvGraphicFramePr>
        <p:xfrm>
          <a:off x="0" y="2428868"/>
          <a:ext cx="8143899" cy="2763520"/>
        </p:xfrm>
        <a:graphic>
          <a:graphicData uri="http://schemas.openxmlformats.org/drawingml/2006/table">
            <a:tbl>
              <a:tblPr firstRow="1" bandRow="1">
                <a:tableStyleId>{22838BEF-8BB2-4498-84A7-C5851F593DF1}</a:tableStyleId>
              </a:tblPr>
              <a:tblGrid>
                <a:gridCol w="2714633"/>
                <a:gridCol w="2714633"/>
                <a:gridCol w="2714633"/>
              </a:tblGrid>
              <a:tr h="370840">
                <a:tc>
                  <a:txBody>
                    <a:bodyPr/>
                    <a:lstStyle/>
                    <a:p>
                      <a:pPr algn="ctr"/>
                      <a:endParaRPr lang="es-CO" dirty="0"/>
                    </a:p>
                  </a:txBody>
                  <a:tcPr/>
                </a:tc>
                <a:tc>
                  <a:txBody>
                    <a:bodyPr/>
                    <a:lstStyle/>
                    <a:p>
                      <a:pPr algn="ctr"/>
                      <a:r>
                        <a:rPr lang="es-CO" dirty="0" smtClean="0"/>
                        <a:t>OPORTUNIDADES</a:t>
                      </a:r>
                      <a:endParaRPr lang="es-CO" dirty="0"/>
                    </a:p>
                  </a:txBody>
                  <a:tcPr/>
                </a:tc>
                <a:tc>
                  <a:txBody>
                    <a:bodyPr/>
                    <a:lstStyle/>
                    <a:p>
                      <a:pPr algn="ctr"/>
                      <a:r>
                        <a:rPr lang="es-CO" dirty="0" smtClean="0"/>
                        <a:t>AMENAZAS</a:t>
                      </a:r>
                      <a:endParaRPr lang="es-CO" dirty="0"/>
                    </a:p>
                  </a:txBody>
                  <a:tcPr/>
                </a:tc>
              </a:tr>
              <a:tr h="370840">
                <a:tc>
                  <a:txBody>
                    <a:bodyPr/>
                    <a:lstStyle/>
                    <a:p>
                      <a:pPr algn="ctr"/>
                      <a:endParaRPr lang="es-CO" dirty="0"/>
                    </a:p>
                  </a:txBody>
                  <a:tcPr/>
                </a:tc>
                <a:tc>
                  <a:txBody>
                    <a:bodyPr/>
                    <a:lstStyle/>
                    <a:p>
                      <a:pPr algn="ctr"/>
                      <a:endParaRPr lang="es-CO" dirty="0"/>
                    </a:p>
                  </a:txBody>
                  <a:tcPr/>
                </a:tc>
                <a:tc>
                  <a:txBody>
                    <a:bodyPr/>
                    <a:lstStyle/>
                    <a:p>
                      <a:pPr algn="ctr"/>
                      <a:endParaRPr lang="es-CO" dirty="0"/>
                    </a:p>
                  </a:txBody>
                  <a:tcPr/>
                </a:tc>
              </a:tr>
              <a:tr h="370840">
                <a:tc>
                  <a:txBody>
                    <a:bodyPr/>
                    <a:lstStyle/>
                    <a:p>
                      <a:pPr algn="ctr"/>
                      <a:r>
                        <a:rPr lang="es-CO" b="1" dirty="0" smtClean="0"/>
                        <a:t>FORTALEZAS</a:t>
                      </a:r>
                      <a:endParaRPr lang="es-CO" b="1" dirty="0"/>
                    </a:p>
                  </a:txBody>
                  <a:tcPr/>
                </a:tc>
                <a:tc>
                  <a:txBody>
                    <a:bodyPr/>
                    <a:lstStyle/>
                    <a:p>
                      <a:pPr algn="ctr"/>
                      <a:r>
                        <a:rPr lang="es-CO" b="1" dirty="0" smtClean="0"/>
                        <a:t>ESTRATEGIAS</a:t>
                      </a:r>
                      <a:endParaRPr lang="es-CO" b="1" dirty="0"/>
                    </a:p>
                  </a:txBody>
                  <a:tcPr/>
                </a:tc>
                <a:tc>
                  <a:txBody>
                    <a:bodyPr/>
                    <a:lstStyle/>
                    <a:p>
                      <a:pPr algn="ctr"/>
                      <a:r>
                        <a:rPr lang="es-CO" b="1" dirty="0" smtClean="0"/>
                        <a:t>ESTRATEGIAS</a:t>
                      </a:r>
                      <a:endParaRPr lang="es-CO" b="1" dirty="0"/>
                    </a:p>
                  </a:txBody>
                  <a:tcPr/>
                </a:tc>
              </a:tr>
              <a:tr h="370840">
                <a:tc>
                  <a:txBody>
                    <a:bodyPr/>
                    <a:lstStyle/>
                    <a:p>
                      <a:pPr algn="ctr"/>
                      <a:r>
                        <a:rPr lang="es-CO" dirty="0" smtClean="0"/>
                        <a:t>Enumerar</a:t>
                      </a:r>
                      <a:r>
                        <a:rPr lang="es-CO" baseline="0" dirty="0" smtClean="0"/>
                        <a:t> las de mayor impacto</a:t>
                      </a:r>
                      <a:endParaRPr lang="es-CO" dirty="0"/>
                    </a:p>
                  </a:txBody>
                  <a:tcPr/>
                </a:tc>
                <a:tc>
                  <a:txBody>
                    <a:bodyPr/>
                    <a:lstStyle/>
                    <a:p>
                      <a:pPr algn="ctr"/>
                      <a:r>
                        <a:rPr lang="es-CO" dirty="0" smtClean="0"/>
                        <a:t>FO</a:t>
                      </a:r>
                      <a:endParaRPr lang="es-CO" dirty="0"/>
                    </a:p>
                  </a:txBody>
                  <a:tcPr/>
                </a:tc>
                <a:tc>
                  <a:txBody>
                    <a:bodyPr/>
                    <a:lstStyle/>
                    <a:p>
                      <a:pPr algn="ctr"/>
                      <a:r>
                        <a:rPr lang="es-CO" dirty="0" smtClean="0"/>
                        <a:t>FA</a:t>
                      </a:r>
                      <a:endParaRPr lang="es-CO" dirty="0"/>
                    </a:p>
                  </a:txBody>
                  <a:tcPr/>
                </a:tc>
              </a:tr>
              <a:tr h="370840">
                <a:tc>
                  <a:txBody>
                    <a:bodyPr/>
                    <a:lstStyle/>
                    <a:p>
                      <a:pPr algn="ctr"/>
                      <a:r>
                        <a:rPr lang="es-CO" b="1" dirty="0" smtClean="0"/>
                        <a:t>DEBILIDADES</a:t>
                      </a:r>
                      <a:endParaRPr lang="es-CO" b="1" dirty="0"/>
                    </a:p>
                  </a:txBody>
                  <a:tcPr/>
                </a:tc>
                <a:tc>
                  <a:txBody>
                    <a:bodyPr/>
                    <a:lstStyle/>
                    <a:p>
                      <a:pPr algn="ctr"/>
                      <a:r>
                        <a:rPr lang="es-CO" b="1" dirty="0" smtClean="0"/>
                        <a:t>ESTRATEGIAS</a:t>
                      </a:r>
                      <a:endParaRPr lang="es-CO" b="1" dirty="0"/>
                    </a:p>
                  </a:txBody>
                  <a:tcPr/>
                </a:tc>
                <a:tc>
                  <a:txBody>
                    <a:bodyPr/>
                    <a:lstStyle/>
                    <a:p>
                      <a:pPr algn="ctr"/>
                      <a:r>
                        <a:rPr lang="es-CO" b="1" dirty="0" smtClean="0"/>
                        <a:t>ESTRATEGIAS</a:t>
                      </a:r>
                      <a:endParaRPr lang="es-CO" b="1" dirty="0"/>
                    </a:p>
                  </a:txBody>
                  <a:tcPr/>
                </a:tc>
              </a:tr>
              <a:tr h="370840">
                <a:tc>
                  <a:txBody>
                    <a:bodyPr/>
                    <a:lstStyle/>
                    <a:p>
                      <a:pPr algn="ctr"/>
                      <a:r>
                        <a:rPr lang="es-CO" dirty="0" smtClean="0"/>
                        <a:t>Enumerara las de mayor</a:t>
                      </a:r>
                      <a:r>
                        <a:rPr lang="es-CO" baseline="0" dirty="0" smtClean="0"/>
                        <a:t> impacto</a:t>
                      </a:r>
                      <a:endParaRPr lang="es-CO" dirty="0"/>
                    </a:p>
                  </a:txBody>
                  <a:tcPr/>
                </a:tc>
                <a:tc>
                  <a:txBody>
                    <a:bodyPr/>
                    <a:lstStyle/>
                    <a:p>
                      <a:pPr algn="ctr"/>
                      <a:r>
                        <a:rPr lang="es-CO" dirty="0" smtClean="0"/>
                        <a:t>DO</a:t>
                      </a:r>
                      <a:endParaRPr lang="es-CO" dirty="0"/>
                    </a:p>
                  </a:txBody>
                  <a:tcPr/>
                </a:tc>
                <a:tc>
                  <a:txBody>
                    <a:bodyPr/>
                    <a:lstStyle/>
                    <a:p>
                      <a:pPr algn="ctr"/>
                      <a:r>
                        <a:rPr lang="es-CO" dirty="0" smtClean="0"/>
                        <a:t>DA</a:t>
                      </a:r>
                      <a:endParaRPr lang="es-CO" dirty="0"/>
                    </a:p>
                  </a:txBody>
                  <a:tcPr/>
                </a:tc>
              </a:tr>
            </a:tbl>
          </a:graphicData>
        </a:graphic>
      </p:graphicFrame>
      <p:sp>
        <p:nvSpPr>
          <p:cNvPr id="5" name="4 Rectángulo"/>
          <p:cNvSpPr/>
          <p:nvPr/>
        </p:nvSpPr>
        <p:spPr>
          <a:xfrm>
            <a:off x="1857356" y="928670"/>
            <a:ext cx="4644477" cy="923330"/>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CO" sz="5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Análisis DOFA</a:t>
            </a:r>
            <a:endParaRPr lang="es-E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320040"/>
            <a:ext cx="6400816" cy="1323010"/>
          </a:xfrm>
        </p:spPr>
        <p:txBody>
          <a:bodyPr/>
          <a:lstStyle/>
          <a:p>
            <a:endParaRPr lang="es-ES" dirty="0"/>
          </a:p>
        </p:txBody>
      </p:sp>
      <p:graphicFrame>
        <p:nvGraphicFramePr>
          <p:cNvPr id="5" name="4 Marcador de contenido"/>
          <p:cNvGraphicFramePr>
            <a:graphicFrameLocks noGrp="1"/>
          </p:cNvGraphicFramePr>
          <p:nvPr>
            <p:ph idx="1"/>
          </p:nvPr>
        </p:nvGraphicFramePr>
        <p:xfrm>
          <a:off x="428596" y="1000108"/>
          <a:ext cx="7239000" cy="5564253"/>
        </p:xfrm>
        <a:graphic>
          <a:graphicData uri="http://schemas.openxmlformats.org/drawingml/2006/table">
            <a:tbl>
              <a:tblPr firstRow="1" bandRow="1">
                <a:tableStyleId>{5C22544A-7EE6-4342-B048-85BDC9FD1C3A}</a:tableStyleId>
              </a:tblPr>
              <a:tblGrid>
                <a:gridCol w="2413000"/>
                <a:gridCol w="2413000"/>
                <a:gridCol w="2413000"/>
              </a:tblGrid>
              <a:tr h="214314">
                <a:tc>
                  <a:txBody>
                    <a:bodyPr/>
                    <a:lstStyle/>
                    <a:p>
                      <a:endParaRPr lang="es-ES" dirty="0"/>
                    </a:p>
                  </a:txBody>
                  <a:tcPr/>
                </a:tc>
                <a:tc>
                  <a:txBody>
                    <a:bodyPr/>
                    <a:lstStyle/>
                    <a:p>
                      <a:pPr algn="ctr"/>
                      <a:r>
                        <a:rPr lang="es-ES" sz="1200" b="0" dirty="0" smtClean="0"/>
                        <a:t>OPORTUNIDADES</a:t>
                      </a:r>
                      <a:endParaRPr lang="es-ES" sz="1200" b="0" dirty="0"/>
                    </a:p>
                  </a:txBody>
                  <a:tcPr/>
                </a:tc>
                <a:tc>
                  <a:txBody>
                    <a:bodyPr/>
                    <a:lstStyle/>
                    <a:p>
                      <a:pPr algn="ctr"/>
                      <a:r>
                        <a:rPr lang="es-ES" sz="1200" b="0" dirty="0" smtClean="0"/>
                        <a:t>AMENAZAS</a:t>
                      </a:r>
                      <a:endParaRPr lang="es-ES" sz="1200" b="0" dirty="0"/>
                    </a:p>
                  </a:txBody>
                  <a:tcPr/>
                </a:tc>
              </a:tr>
              <a:tr h="1384169">
                <a:tc>
                  <a:txBody>
                    <a:bodyPr/>
                    <a:lstStyle/>
                    <a:p>
                      <a:endParaRPr lang="es-ES" dirty="0"/>
                    </a:p>
                  </a:txBody>
                  <a:tcPr/>
                </a:tc>
                <a:tc>
                  <a:txBody>
                    <a:bodyPr/>
                    <a:lstStyle/>
                    <a:p>
                      <a:pPr marL="342900" indent="-342900">
                        <a:buAutoNum type="arabicPeriod"/>
                      </a:pPr>
                      <a:r>
                        <a:rPr lang="es-ES" sz="1200" dirty="0" smtClean="0"/>
                        <a:t>El desarrollo tecnológico y la innovación</a:t>
                      </a:r>
                      <a:r>
                        <a:rPr lang="es-ES" sz="1200" baseline="0" dirty="0" smtClean="0"/>
                        <a:t> en productos</a:t>
                      </a:r>
                    </a:p>
                    <a:p>
                      <a:pPr marL="342900" indent="-342900">
                        <a:buAutoNum type="arabicPeriod"/>
                      </a:pPr>
                      <a:r>
                        <a:rPr lang="es-ES" sz="1200" baseline="0" dirty="0" smtClean="0"/>
                        <a:t> la apertura de nuevos mercados</a:t>
                      </a:r>
                    </a:p>
                    <a:p>
                      <a:pPr marL="342900" indent="-342900">
                        <a:buAutoNum type="arabicPeriod"/>
                      </a:pPr>
                      <a:r>
                        <a:rPr lang="es-ES" sz="1200" baseline="0" dirty="0" smtClean="0"/>
                        <a:t>Nuevos inversionistas.</a:t>
                      </a:r>
                    </a:p>
                    <a:p>
                      <a:pPr marL="342900" indent="-342900">
                        <a:buAutoNum type="arabicPeriod"/>
                      </a:pPr>
                      <a:endParaRPr lang="es-ES" dirty="0"/>
                    </a:p>
                  </a:txBody>
                  <a:tcPr/>
                </a:tc>
                <a:tc>
                  <a:txBody>
                    <a:bodyPr/>
                    <a:lstStyle/>
                    <a:p>
                      <a:pPr marL="342900" indent="-342900">
                        <a:buAutoNum type="arabicPeriod"/>
                      </a:pPr>
                      <a:r>
                        <a:rPr lang="es-ES" sz="1200" baseline="0" dirty="0" smtClean="0"/>
                        <a:t>Llegada de competidores</a:t>
                      </a:r>
                    </a:p>
                    <a:p>
                      <a:pPr marL="342900" indent="-342900">
                        <a:buAutoNum type="arabicPeriod"/>
                      </a:pPr>
                      <a:r>
                        <a:rPr lang="es-ES" sz="1200" baseline="0" dirty="0" smtClean="0"/>
                        <a:t>Supervisión tecnológica para la competencia</a:t>
                      </a:r>
                    </a:p>
                    <a:p>
                      <a:pPr marL="342900" indent="-342900">
                        <a:buAutoNum type="arabicPeriod"/>
                      </a:pPr>
                      <a:r>
                        <a:rPr lang="es-ES" sz="1200" baseline="0" dirty="0" smtClean="0"/>
                        <a:t>Pérdida del mercado </a:t>
                      </a:r>
                    </a:p>
                    <a:p>
                      <a:pPr marL="342900" indent="-342900">
                        <a:buAutoNum type="arabicPeriod"/>
                      </a:pPr>
                      <a:r>
                        <a:rPr lang="es-ES" sz="1200" baseline="0" dirty="0" smtClean="0"/>
                        <a:t>Pérdida de ejecutivos</a:t>
                      </a:r>
                    </a:p>
                    <a:p>
                      <a:pPr marL="342900" indent="-342900">
                        <a:buAutoNum type="arabicPeriod"/>
                      </a:pPr>
                      <a:endParaRPr lang="es-ES" sz="1400" dirty="0"/>
                    </a:p>
                  </a:txBody>
                  <a:tcPr/>
                </a:tc>
              </a:tr>
              <a:tr h="256489">
                <a:tc>
                  <a:txBody>
                    <a:bodyPr/>
                    <a:lstStyle/>
                    <a:p>
                      <a:pPr algn="ctr"/>
                      <a:r>
                        <a:rPr lang="es-ES" sz="1200" b="1" dirty="0" smtClean="0"/>
                        <a:t>FORTALEZAS</a:t>
                      </a:r>
                      <a:endParaRPr lang="es-ES" sz="1200" b="1" dirty="0"/>
                    </a:p>
                  </a:txBody>
                  <a:tcPr/>
                </a:tc>
                <a:tc>
                  <a:txBody>
                    <a:bodyPr/>
                    <a:lstStyle/>
                    <a:p>
                      <a:pPr algn="ctr"/>
                      <a:r>
                        <a:rPr lang="es-ES" sz="1200" b="1" dirty="0" smtClean="0"/>
                        <a:t>ESTRATEGIAS FO</a:t>
                      </a:r>
                      <a:endParaRPr lang="es-ES" sz="1200" b="1" dirty="0"/>
                    </a:p>
                  </a:txBody>
                  <a:tcPr/>
                </a:tc>
                <a:tc>
                  <a:txBody>
                    <a:bodyPr/>
                    <a:lstStyle/>
                    <a:p>
                      <a:pPr algn="ctr"/>
                      <a:r>
                        <a:rPr lang="es-ES" sz="1200" dirty="0" smtClean="0"/>
                        <a:t>ESTRATEGIAS FA</a:t>
                      </a:r>
                      <a:endParaRPr lang="es-ES" sz="1200" dirty="0"/>
                    </a:p>
                  </a:txBody>
                  <a:tcPr/>
                </a:tc>
              </a:tr>
              <a:tr h="1680777">
                <a:tc>
                  <a:txBody>
                    <a:bodyPr/>
                    <a:lstStyle/>
                    <a:p>
                      <a:pPr marL="228600" indent="-228600">
                        <a:buAutoNum type="arabicPeriod"/>
                      </a:pPr>
                      <a:r>
                        <a:rPr lang="es-ES" sz="1200" baseline="0" dirty="0" smtClean="0"/>
                        <a:t>La estructura organizacional</a:t>
                      </a:r>
                    </a:p>
                    <a:p>
                      <a:pPr marL="228600" indent="-228600">
                        <a:buAutoNum type="arabicPeriod"/>
                      </a:pPr>
                      <a:r>
                        <a:rPr lang="es-ES" sz="1200" baseline="0" dirty="0" smtClean="0"/>
                        <a:t>La lealtad de los clientes</a:t>
                      </a:r>
                    </a:p>
                    <a:p>
                      <a:pPr marL="228600" indent="-228600">
                        <a:buAutoNum type="arabicPeriod"/>
                      </a:pPr>
                      <a:r>
                        <a:rPr lang="es-ES" sz="1200" baseline="0" dirty="0" smtClean="0"/>
                        <a:t>La exclusividad del producto</a:t>
                      </a:r>
                    </a:p>
                    <a:p>
                      <a:pPr marL="228600" indent="-228600">
                        <a:buAutoNum type="arabicPeriod"/>
                      </a:pPr>
                      <a:r>
                        <a:rPr lang="es-ES" sz="1200" baseline="0" dirty="0" smtClean="0"/>
                        <a:t>No competencia</a:t>
                      </a:r>
                    </a:p>
                    <a:p>
                      <a:pPr marL="228600" indent="-228600">
                        <a:buAutoNum type="arabicPeriod"/>
                      </a:pPr>
                      <a:r>
                        <a:rPr lang="es-ES" sz="1200" baseline="0" dirty="0" smtClean="0"/>
                        <a:t>La cultura financiera de la empresa</a:t>
                      </a:r>
                      <a:endParaRPr lang="es-ES" sz="1200" dirty="0"/>
                    </a:p>
                  </a:txBody>
                  <a:tcPr/>
                </a:tc>
                <a:tc>
                  <a:txBody>
                    <a:bodyPr/>
                    <a:lstStyle/>
                    <a:p>
                      <a:pPr marL="228600" indent="-228600">
                        <a:buAutoNum type="arabicPeriod"/>
                      </a:pPr>
                      <a:r>
                        <a:rPr lang="es-ES" sz="1200" dirty="0" smtClean="0"/>
                        <a:t>Desarrollo de nuevos productos acorde con las necesidades del cliente</a:t>
                      </a:r>
                    </a:p>
                    <a:p>
                      <a:pPr marL="228600" indent="-228600">
                        <a:buAutoNum type="arabicPeriod"/>
                      </a:pPr>
                      <a:r>
                        <a:rPr lang="es-ES" sz="1200" dirty="0" smtClean="0"/>
                        <a:t>Iniciar</a:t>
                      </a:r>
                      <a:r>
                        <a:rPr lang="es-ES" sz="1200" baseline="0" dirty="0" smtClean="0"/>
                        <a:t> exportación del producto </a:t>
                      </a:r>
                    </a:p>
                    <a:p>
                      <a:pPr marL="228600" indent="-228600">
                        <a:buAutoNum type="arabicPeriod"/>
                      </a:pPr>
                      <a:r>
                        <a:rPr lang="es-ES" sz="1200" baseline="0" dirty="0" smtClean="0"/>
                        <a:t>Asociarse con nuevos inversionistas para ampliar la acción empresa</a:t>
                      </a:r>
                      <a:endParaRPr lang="es-ES" sz="1200" dirty="0"/>
                    </a:p>
                  </a:txBody>
                  <a:tcPr/>
                </a:tc>
                <a:tc>
                  <a:txBody>
                    <a:bodyPr/>
                    <a:lstStyle/>
                    <a:p>
                      <a:pPr marL="228600" indent="-228600">
                        <a:buAutoNum type="arabicPeriod"/>
                      </a:pPr>
                      <a:r>
                        <a:rPr lang="es-ES" sz="1200" baseline="0" dirty="0" smtClean="0"/>
                        <a:t>Diseñar un programa de servicio al cliente para mantener su lealtad.</a:t>
                      </a:r>
                    </a:p>
                    <a:p>
                      <a:pPr marL="228600" indent="-228600">
                        <a:buAutoNum type="arabicPeriod"/>
                      </a:pPr>
                      <a:r>
                        <a:rPr lang="es-ES" sz="1200" baseline="0" dirty="0" smtClean="0"/>
                        <a:t>Preparar estrategias de mercado para impulsar la competencia</a:t>
                      </a:r>
                    </a:p>
                    <a:p>
                      <a:pPr marL="228600" indent="-228600">
                        <a:buAutoNum type="arabicPeriod"/>
                      </a:pPr>
                      <a:r>
                        <a:rPr lang="es-ES" sz="1200" baseline="0" dirty="0" smtClean="0"/>
                        <a:t>Iniciar programa de evaluación del desempeño para estimular la permanencia del personal</a:t>
                      </a:r>
                      <a:endParaRPr lang="es-ES" sz="1200" dirty="0"/>
                    </a:p>
                  </a:txBody>
                  <a:tcPr/>
                </a:tc>
              </a:tr>
              <a:tr h="431044">
                <a:tc>
                  <a:txBody>
                    <a:bodyPr/>
                    <a:lstStyle/>
                    <a:p>
                      <a:pPr algn="ctr"/>
                      <a:r>
                        <a:rPr lang="es-ES" sz="1200" b="1" dirty="0" smtClean="0"/>
                        <a:t>DEBILIDADES</a:t>
                      </a:r>
                      <a:endParaRPr lang="es-ES" sz="1200" b="1" dirty="0"/>
                    </a:p>
                  </a:txBody>
                  <a:tcPr/>
                </a:tc>
                <a:tc>
                  <a:txBody>
                    <a:bodyPr/>
                    <a:lstStyle/>
                    <a:p>
                      <a:pPr algn="ctr"/>
                      <a:r>
                        <a:rPr lang="es-ES" sz="1200" b="1" dirty="0" smtClean="0"/>
                        <a:t>ESTRATEGIAS</a:t>
                      </a:r>
                      <a:r>
                        <a:rPr lang="es-ES" sz="1200" b="1" baseline="0" dirty="0" smtClean="0"/>
                        <a:t> DO</a:t>
                      </a:r>
                      <a:endParaRPr lang="es-ES" sz="1200" b="1" dirty="0"/>
                    </a:p>
                  </a:txBody>
                  <a:tcPr/>
                </a:tc>
                <a:tc>
                  <a:txBody>
                    <a:bodyPr/>
                    <a:lstStyle/>
                    <a:p>
                      <a:pPr algn="ctr"/>
                      <a:r>
                        <a:rPr lang="es-ES" sz="1200" b="1" dirty="0" smtClean="0"/>
                        <a:t>ESTRATEGIAS DA</a:t>
                      </a:r>
                      <a:endParaRPr lang="es-ES" sz="1200" b="1" dirty="0"/>
                    </a:p>
                  </a:txBody>
                  <a:tcPr/>
                </a:tc>
              </a:tr>
              <a:tr h="431044">
                <a:tc>
                  <a:txBody>
                    <a:bodyPr/>
                    <a:lstStyle/>
                    <a:p>
                      <a:r>
                        <a:rPr lang="es-ES" sz="1200" dirty="0" smtClean="0"/>
                        <a:t>1</a:t>
                      </a:r>
                      <a:r>
                        <a:rPr lang="es-ES" sz="1200" baseline="0" dirty="0" smtClean="0"/>
                        <a:t> La dependencia tecnológica de la casa matriz</a:t>
                      </a:r>
                    </a:p>
                    <a:p>
                      <a:r>
                        <a:rPr lang="es-ES" sz="1200" baseline="0" dirty="0" smtClean="0"/>
                        <a:t>2. El poco desarrollo de sistema</a:t>
                      </a:r>
                    </a:p>
                    <a:p>
                      <a:r>
                        <a:rPr lang="es-ES" sz="1200" baseline="0" dirty="0" smtClean="0"/>
                        <a:t>3.El recurso humano</a:t>
                      </a:r>
                    </a:p>
                    <a:p>
                      <a:r>
                        <a:rPr lang="es-ES" sz="1200" baseline="0" dirty="0" smtClean="0"/>
                        <a:t>4. Dependencia de un solo proveedor</a:t>
                      </a:r>
                      <a:endParaRPr lang="es-ES" sz="1200" dirty="0"/>
                    </a:p>
                  </a:txBody>
                  <a:tcPr/>
                </a:tc>
                <a:tc>
                  <a:txBody>
                    <a:bodyPr/>
                    <a:lstStyle/>
                    <a:p>
                      <a:r>
                        <a:rPr lang="es-ES" sz="1200" dirty="0" smtClean="0"/>
                        <a:t>1</a:t>
                      </a:r>
                      <a:r>
                        <a:rPr lang="es-ES" sz="1200" baseline="0" dirty="0" smtClean="0"/>
                        <a:t> iniciar desarrollos tecnológicos propios  </a:t>
                      </a:r>
                    </a:p>
                    <a:p>
                      <a:r>
                        <a:rPr lang="es-ES" sz="1200" baseline="0" dirty="0" smtClean="0"/>
                        <a:t>2. Aprovechar las asociación con socios para hacer inversión en sistemas.</a:t>
                      </a:r>
                      <a:endParaRPr lang="es-ES" sz="1200" dirty="0"/>
                    </a:p>
                  </a:txBody>
                  <a:tcPr/>
                </a:tc>
                <a:tc>
                  <a:txBody>
                    <a:bodyPr/>
                    <a:lstStyle/>
                    <a:p>
                      <a:pPr marL="228600" indent="-228600">
                        <a:buFont typeface="+mj-lt"/>
                        <a:buAutoNum type="arabicPeriod"/>
                      </a:pPr>
                      <a:r>
                        <a:rPr lang="es-ES" sz="1200" dirty="0" smtClean="0"/>
                        <a:t>Iniciar un programa del I&amp;D</a:t>
                      </a:r>
                    </a:p>
                    <a:p>
                      <a:pPr marL="228600" indent="-228600">
                        <a:buFont typeface="+mj-lt"/>
                        <a:buAutoNum type="arabicPeriod"/>
                      </a:pPr>
                      <a:r>
                        <a:rPr lang="es-ES" sz="1200" dirty="0" smtClean="0"/>
                        <a:t>Diseñar</a:t>
                      </a:r>
                      <a:r>
                        <a:rPr lang="es-ES" sz="1200" baseline="0" dirty="0" smtClean="0"/>
                        <a:t> y realizar un desarrollo del recurso humano</a:t>
                      </a:r>
                    </a:p>
                    <a:p>
                      <a:pPr marL="228600" indent="-228600">
                        <a:buFont typeface="+mj-lt"/>
                        <a:buAutoNum type="arabicPeriod"/>
                      </a:pPr>
                      <a:r>
                        <a:rPr lang="es-ES" sz="1200" baseline="0" dirty="0" smtClean="0"/>
                        <a:t>Llegar a acuerdos con proveedores just in time</a:t>
                      </a:r>
                      <a:endParaRPr lang="es-ES" sz="1200" dirty="0"/>
                    </a:p>
                  </a:txBody>
                  <a:tcPr/>
                </a:tc>
              </a:tr>
            </a:tbl>
          </a:graphicData>
        </a:graphic>
      </p:graphicFrame>
      <p:sp>
        <p:nvSpPr>
          <p:cNvPr id="4" name="3 Rectángulo"/>
          <p:cNvSpPr/>
          <p:nvPr/>
        </p:nvSpPr>
        <p:spPr>
          <a:xfrm>
            <a:off x="1285852" y="142852"/>
            <a:ext cx="4871761" cy="923330"/>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5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Análisis DOFA</a:t>
            </a:r>
            <a:endParaRPr lang="es-E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609416"/>
            <a:ext cx="7686700" cy="4962856"/>
          </a:xfrm>
        </p:spPr>
        <p:txBody>
          <a:bodyPr>
            <a:normAutofit/>
          </a:bodyPr>
          <a:lstStyle/>
          <a:p>
            <a:pPr algn="just">
              <a:buNone/>
            </a:pPr>
            <a:r>
              <a:rPr lang="es-ES" sz="2400" dirty="0" smtClean="0">
                <a:latin typeface="Arial" pitchFamily="34" charset="0"/>
                <a:cs typeface="Arial" pitchFamily="34" charset="0"/>
              </a:rPr>
              <a:t>	Es un trabajo que desarrolla el nivel ejecutivo de una compañía, y completamente, como se anoto en el diagnostico estratégico.</a:t>
            </a:r>
          </a:p>
          <a:p>
            <a:pPr algn="just">
              <a:buNone/>
            </a:pPr>
            <a:endParaRPr lang="es-ES" sz="2400" dirty="0" smtClean="0">
              <a:latin typeface="Arial" pitchFamily="34" charset="0"/>
              <a:cs typeface="Arial" pitchFamily="34" charset="0"/>
            </a:endParaRPr>
          </a:p>
          <a:p>
            <a:pPr algn="just">
              <a:buNone/>
            </a:pPr>
            <a:r>
              <a:rPr lang="es-ES" sz="2400" dirty="0" smtClean="0">
                <a:latin typeface="Arial" pitchFamily="34" charset="0"/>
                <a:cs typeface="Arial" pitchFamily="34" charset="0"/>
              </a:rPr>
              <a:t>	Según Allan J. </a:t>
            </a:r>
            <a:r>
              <a:rPr lang="es-ES" sz="2400" dirty="0" err="1" smtClean="0">
                <a:latin typeface="Arial" pitchFamily="34" charset="0"/>
                <a:cs typeface="Arial" pitchFamily="34" charset="0"/>
              </a:rPr>
              <a:t>Rowe</a:t>
            </a:r>
            <a:r>
              <a:rPr lang="es-ES" sz="2400" dirty="0" smtClean="0">
                <a:latin typeface="Arial" pitchFamily="34" charset="0"/>
                <a:cs typeface="Arial" pitchFamily="34" charset="0"/>
              </a:rPr>
              <a:t> comprende las siguientes etapas:</a:t>
            </a:r>
            <a:endParaRPr lang="es-ES" sz="2400" dirty="0">
              <a:latin typeface="Arial" pitchFamily="34" charset="0"/>
              <a:cs typeface="Arial" pitchFamily="34" charset="0"/>
            </a:endParaRPr>
          </a:p>
        </p:txBody>
      </p:sp>
      <p:sp>
        <p:nvSpPr>
          <p:cNvPr id="4" name="3 Rectángulo"/>
          <p:cNvSpPr/>
          <p:nvPr/>
        </p:nvSpPr>
        <p:spPr>
          <a:xfrm>
            <a:off x="785787" y="-142900"/>
            <a:ext cx="6500857" cy="1754326"/>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5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cs typeface="Arial" pitchFamily="34" charset="0"/>
              </a:rPr>
              <a:t>Análisis de vulnerabilidad</a:t>
            </a:r>
            <a:endParaRPr lang="es-E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500034" y="357166"/>
            <a:ext cx="7286676" cy="6098570"/>
          </a:xfrm>
        </p:spPr>
        <p:txBody>
          <a:bodyPr/>
          <a:lstStyle/>
          <a:p>
            <a:pPr marL="514350" indent="-514350" algn="just">
              <a:buFont typeface="+mj-lt"/>
              <a:buAutoNum type="arabicPeriod"/>
            </a:pPr>
            <a:r>
              <a:rPr lang="es-ES" dirty="0" smtClean="0"/>
              <a:t>Identificación de puntuales: </a:t>
            </a:r>
          </a:p>
          <a:p>
            <a:pPr marL="514350" indent="-514350" algn="just">
              <a:buNone/>
            </a:pPr>
            <a:r>
              <a:rPr lang="es-ES" dirty="0" smtClean="0"/>
              <a:t> lo primero que se debe identificar son los</a:t>
            </a:r>
          </a:p>
          <a:p>
            <a:pPr marL="514350" indent="-514350" algn="just">
              <a:buNone/>
            </a:pPr>
            <a:r>
              <a:rPr lang="es-ES" dirty="0" smtClean="0"/>
              <a:t>factores puntuales sobre los cuales se soporta</a:t>
            </a:r>
          </a:p>
          <a:p>
            <a:pPr marL="514350" indent="-514350" algn="just">
              <a:buNone/>
            </a:pPr>
            <a:r>
              <a:rPr lang="es-ES" dirty="0" smtClean="0"/>
              <a:t>la organización, estos pueden referirse a</a:t>
            </a:r>
          </a:p>
          <a:p>
            <a:pPr marL="514350" indent="-514350" algn="just">
              <a:buNone/>
            </a:pPr>
            <a:r>
              <a:rPr lang="es-ES" dirty="0" smtClean="0"/>
              <a:t>recursos humanos, a la situación en el</a:t>
            </a:r>
          </a:p>
          <a:p>
            <a:pPr marL="514350" indent="-514350" algn="just">
              <a:buNone/>
            </a:pPr>
            <a:r>
              <a:rPr lang="es-ES" dirty="0" smtClean="0"/>
              <a:t>mercado, situación financiera, a la relación</a:t>
            </a:r>
          </a:p>
          <a:p>
            <a:pPr marL="514350" indent="-514350" algn="just">
              <a:buNone/>
            </a:pPr>
            <a:r>
              <a:rPr lang="es-ES" dirty="0" smtClean="0"/>
              <a:t>con la competencia, etc.</a:t>
            </a:r>
          </a:p>
          <a:p>
            <a:pPr marL="514350" indent="-514350" algn="just">
              <a:buFont typeface="+mj-lt"/>
              <a:buAutoNum type="arabicPeriod" startAt="2"/>
            </a:pPr>
            <a:r>
              <a:rPr lang="es-ES" dirty="0" smtClean="0"/>
              <a:t>Traducir los puntuales en amenazas para el negocio:</a:t>
            </a:r>
          </a:p>
          <a:p>
            <a:pPr algn="just">
              <a:buNone/>
            </a:pPr>
            <a:r>
              <a:rPr lang="es-ES" dirty="0" smtClean="0"/>
              <a:t>	Imaginar lo peor les permite a los ejecutivos superar el impacto potencial de una amenaza.</a:t>
            </a:r>
          </a:p>
          <a:p>
            <a:pPr marL="514350" indent="-514350" algn="just">
              <a:buNone/>
            </a:pPr>
            <a:endParaRPr lang="es-ES" dirty="0" smtClean="0"/>
          </a:p>
          <a:p>
            <a:pPr marL="514350" indent="-514350" algn="just">
              <a:buFont typeface="+mj-lt"/>
              <a:buAutoNum type="arabicPeriod"/>
            </a:pPr>
            <a:endParaRPr lang="es-ES" dirty="0" smtClean="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357166"/>
            <a:ext cx="7239000" cy="6098570"/>
          </a:xfrm>
        </p:spPr>
        <p:txBody>
          <a:bodyPr/>
          <a:lstStyle/>
          <a:p>
            <a:pPr marL="514350" indent="-514350">
              <a:buFont typeface="+mj-lt"/>
              <a:buAutoNum type="arabicPeriod" startAt="3"/>
            </a:pPr>
            <a:r>
              <a:rPr lang="es-ES" dirty="0" smtClean="0"/>
              <a:t>Evaluación de las competencias:</a:t>
            </a:r>
          </a:p>
          <a:p>
            <a:pPr marL="514350" indent="-514350" algn="just">
              <a:buNone/>
            </a:pPr>
            <a:r>
              <a:rPr lang="es-ES" dirty="0" smtClean="0"/>
              <a:t>	El grupo deberá analizar cuidadosamente las consecuencias que traería a la firma la ocurrencia de la amenaza señalada.</a:t>
            </a:r>
          </a:p>
          <a:p>
            <a:pPr marL="514350" indent="-514350" algn="just">
              <a:buFont typeface="+mj-lt"/>
              <a:buAutoNum type="arabicPeriod" startAt="4"/>
            </a:pPr>
            <a:endParaRPr lang="es-ES" dirty="0" smtClean="0"/>
          </a:p>
          <a:p>
            <a:pPr marL="514350" indent="-514350" algn="just">
              <a:buFont typeface="+mj-lt"/>
              <a:buAutoNum type="arabicPeriod" startAt="4"/>
            </a:pPr>
            <a:r>
              <a:rPr lang="es-ES" dirty="0" smtClean="0"/>
              <a:t> Valorizar el impacto:</a:t>
            </a:r>
          </a:p>
          <a:p>
            <a:pPr marL="514350" indent="-514350" algn="just">
              <a:buNone/>
            </a:pPr>
            <a:r>
              <a:rPr lang="es-ES" dirty="0" smtClean="0"/>
              <a:t>	Evaluadas las consecuencias de cada puntual, el grupo debe valorar y calificar la magnitud del impacto. Esto puede  hacerlo de una escala de 0 a 10.</a:t>
            </a:r>
          </a:p>
          <a:p>
            <a:pPr marL="514350" indent="-514350">
              <a:buNone/>
            </a:pPr>
            <a:endParaRPr lang="es-ES" dirty="0" smtClean="0"/>
          </a:p>
          <a:p>
            <a:pPr>
              <a:buNone/>
            </a:pPr>
            <a:endParaRPr lang="es-E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285728"/>
            <a:ext cx="7239000" cy="6170008"/>
          </a:xfrm>
        </p:spPr>
        <p:txBody>
          <a:bodyPr/>
          <a:lstStyle/>
          <a:p>
            <a:pPr marL="514350" indent="-514350">
              <a:buFont typeface="+mj-lt"/>
              <a:buAutoNum type="arabicPeriod" startAt="5"/>
            </a:pPr>
            <a:r>
              <a:rPr lang="es-ES" dirty="0" smtClean="0"/>
              <a:t> Probabilidades de ocurrencia a la amenaza:</a:t>
            </a:r>
          </a:p>
          <a:p>
            <a:pPr marL="514350" indent="-514350" algn="just">
              <a:buNone/>
            </a:pPr>
            <a:r>
              <a:rPr lang="es-ES" dirty="0" smtClean="0"/>
              <a:t>	Consiste en estimar la probabilidad que una determinada amenaza se haga realidad. Utilizando un puntaje entre0 y 1, el grupo ejecutivo evaluara la probabilidad de ocurrencia de un hecho puntual.</a:t>
            </a:r>
          </a:p>
          <a:p>
            <a:pPr marL="514350" indent="-514350">
              <a:buNone/>
            </a:pPr>
            <a:endParaRPr lang="es-ES" dirty="0" smtClean="0"/>
          </a:p>
          <a:p>
            <a:pPr marL="514350" indent="-514350">
              <a:buNone/>
            </a:pPr>
            <a:endParaRPr lang="es-E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500042"/>
            <a:ext cx="7239000" cy="5955694"/>
          </a:xfrm>
        </p:spPr>
        <p:txBody>
          <a:bodyPr/>
          <a:lstStyle/>
          <a:p>
            <a:pPr marL="514350" indent="-514350" algn="just">
              <a:buFont typeface="+mj-lt"/>
              <a:buAutoNum type="arabicPeriod" startAt="6"/>
            </a:pPr>
            <a:r>
              <a:rPr lang="es-ES" dirty="0" smtClean="0"/>
              <a:t>Capacidad de reacción:</a:t>
            </a:r>
          </a:p>
          <a:p>
            <a:pPr marL="514350" indent="-514350" algn="just">
              <a:buNone/>
            </a:pPr>
            <a:r>
              <a:rPr lang="es-ES" dirty="0" smtClean="0"/>
              <a:t>	Establecida la magnitud de la amenaza, sus consecuencias, la probabilidad de ocurrencia, el grupo estratégico debe preguntarse cual es la capacidad de acción de la empresa.</a:t>
            </a:r>
          </a:p>
          <a:p>
            <a:pPr marL="514350" indent="-514350" algn="just">
              <a:buNone/>
            </a:pPr>
            <a:r>
              <a:rPr lang="es-ES" dirty="0" smtClean="0"/>
              <a:t>Al determinar el impacto, debe procederse con prudencia y </a:t>
            </a:r>
            <a:r>
              <a:rPr lang="es-ES" dirty="0" err="1" smtClean="0"/>
              <a:t>precaucion</a:t>
            </a:r>
            <a:r>
              <a:rPr lang="es-ES" dirty="0" smtClean="0"/>
              <a:t> con el fin de no incurrir en errores emocionales que puedan afectar la organización.</a:t>
            </a:r>
          </a:p>
          <a:p>
            <a:pPr>
              <a:buNone/>
            </a:pPr>
            <a:endParaRPr lang="es-E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Marcador de contenido"/>
          <p:cNvGraphicFramePr>
            <a:graphicFrameLocks noGrp="1"/>
          </p:cNvGraphicFramePr>
          <p:nvPr>
            <p:ph idx="1"/>
          </p:nvPr>
        </p:nvGraphicFramePr>
        <p:xfrm>
          <a:off x="0" y="0"/>
          <a:ext cx="9144000" cy="7114030"/>
        </p:xfrm>
        <a:graphic>
          <a:graphicData uri="http://schemas.openxmlformats.org/drawingml/2006/table">
            <a:tbl>
              <a:tblPr firstRow="1" bandRow="1">
                <a:tableStyleId>{FABFCF23-3B69-468F-B69F-88F6DE6A72F2}</a:tableStyleId>
              </a:tblPr>
              <a:tblGrid>
                <a:gridCol w="1423397"/>
                <a:gridCol w="1576967"/>
                <a:gridCol w="1571636"/>
                <a:gridCol w="1071570"/>
                <a:gridCol w="857256"/>
                <a:gridCol w="1071570"/>
                <a:gridCol w="1571604"/>
              </a:tblGrid>
              <a:tr h="500042">
                <a:tc>
                  <a:txBody>
                    <a:bodyPr/>
                    <a:lstStyle/>
                    <a:p>
                      <a:r>
                        <a:rPr lang="es-ES" sz="1600" dirty="0" smtClean="0"/>
                        <a:t>Puntual</a:t>
                      </a:r>
                      <a:endParaRPr lang="es-ES" sz="1600" dirty="0"/>
                    </a:p>
                  </a:txBody>
                  <a:tcPr/>
                </a:tc>
                <a:tc>
                  <a:txBody>
                    <a:bodyPr/>
                    <a:lstStyle/>
                    <a:p>
                      <a:r>
                        <a:rPr lang="es-ES" sz="1600" dirty="0" smtClean="0"/>
                        <a:t>Amenaza</a:t>
                      </a:r>
                      <a:endParaRPr lang="es-ES" sz="1600" dirty="0"/>
                    </a:p>
                  </a:txBody>
                  <a:tcPr/>
                </a:tc>
                <a:tc>
                  <a:txBody>
                    <a:bodyPr/>
                    <a:lstStyle/>
                    <a:p>
                      <a:r>
                        <a:rPr lang="es-ES" sz="1600" dirty="0" smtClean="0"/>
                        <a:t>consecuencia</a:t>
                      </a:r>
                      <a:endParaRPr lang="es-ES" sz="1600" dirty="0"/>
                    </a:p>
                  </a:txBody>
                  <a:tcPr/>
                </a:tc>
                <a:tc>
                  <a:txBody>
                    <a:bodyPr/>
                    <a:lstStyle/>
                    <a:p>
                      <a:r>
                        <a:rPr lang="es-ES" sz="1600" dirty="0" smtClean="0"/>
                        <a:t>0-10</a:t>
                      </a:r>
                    </a:p>
                    <a:p>
                      <a:r>
                        <a:rPr lang="es-ES" sz="1600" dirty="0" smtClean="0"/>
                        <a:t>impacto</a:t>
                      </a:r>
                      <a:endParaRPr lang="es-ES" sz="1600" dirty="0"/>
                    </a:p>
                  </a:txBody>
                  <a:tcPr/>
                </a:tc>
                <a:tc>
                  <a:txBody>
                    <a:bodyPr/>
                    <a:lstStyle/>
                    <a:p>
                      <a:r>
                        <a:rPr lang="es-ES" sz="1600" dirty="0" smtClean="0"/>
                        <a:t>0-1</a:t>
                      </a:r>
                    </a:p>
                    <a:p>
                      <a:r>
                        <a:rPr lang="es-ES" sz="1600" dirty="0" err="1" smtClean="0"/>
                        <a:t>prob</a:t>
                      </a:r>
                      <a:endParaRPr lang="es-ES" sz="1600" dirty="0"/>
                    </a:p>
                  </a:txBody>
                  <a:tcPr/>
                </a:tc>
                <a:tc>
                  <a:txBody>
                    <a:bodyPr/>
                    <a:lstStyle/>
                    <a:p>
                      <a:r>
                        <a:rPr lang="es-ES" sz="1600" dirty="0" smtClean="0"/>
                        <a:t>0-10</a:t>
                      </a:r>
                    </a:p>
                    <a:p>
                      <a:r>
                        <a:rPr lang="es-ES" sz="1600" dirty="0" err="1" smtClean="0"/>
                        <a:t>reaccion</a:t>
                      </a:r>
                      <a:endParaRPr lang="es-ES" sz="1600" dirty="0"/>
                    </a:p>
                  </a:txBody>
                  <a:tcPr/>
                </a:tc>
                <a:tc>
                  <a:txBody>
                    <a:bodyPr/>
                    <a:lstStyle/>
                    <a:p>
                      <a:r>
                        <a:rPr lang="es-ES" sz="1600" dirty="0" smtClean="0"/>
                        <a:t>Grado de vulnerabilidad</a:t>
                      </a:r>
                      <a:endParaRPr lang="es-ES" sz="1600" dirty="0"/>
                    </a:p>
                  </a:txBody>
                  <a:tcPr/>
                </a:tc>
              </a:tr>
              <a:tr h="921054">
                <a:tc>
                  <a:txBody>
                    <a:bodyPr/>
                    <a:lstStyle/>
                    <a:p>
                      <a:pPr algn="just"/>
                      <a:r>
                        <a:rPr lang="es-ES" sz="1400" dirty="0" smtClean="0">
                          <a:latin typeface="Arial" pitchFamily="34" charset="0"/>
                          <a:cs typeface="Arial" pitchFamily="34" charset="0"/>
                        </a:rPr>
                        <a:t>1. Necesidades y actitudes, expectativas de</a:t>
                      </a:r>
                      <a:r>
                        <a:rPr lang="es-ES" sz="1400" baseline="0" dirty="0" smtClean="0">
                          <a:latin typeface="Arial" pitchFamily="34" charset="0"/>
                          <a:cs typeface="Arial" pitchFamily="34" charset="0"/>
                        </a:rPr>
                        <a:t> los clientes</a:t>
                      </a:r>
                      <a:endParaRPr lang="es-ES" sz="1400" dirty="0">
                        <a:latin typeface="Arial" pitchFamily="34" charset="0"/>
                        <a:cs typeface="Arial" pitchFamily="34" charset="0"/>
                      </a:endParaRPr>
                    </a:p>
                  </a:txBody>
                  <a:tcPr/>
                </a:tc>
                <a:tc>
                  <a:txBody>
                    <a:bodyPr/>
                    <a:lstStyle/>
                    <a:p>
                      <a:r>
                        <a:rPr lang="es-ES" sz="1400" dirty="0" smtClean="0">
                          <a:latin typeface="Arial" pitchFamily="34" charset="0"/>
                          <a:cs typeface="Arial" pitchFamily="34" charset="0"/>
                        </a:rPr>
                        <a:t>Falta de interés en nuevos</a:t>
                      </a:r>
                      <a:r>
                        <a:rPr lang="es-ES" sz="1400" baseline="0" dirty="0" smtClean="0">
                          <a:latin typeface="Arial" pitchFamily="34" charset="0"/>
                          <a:cs typeface="Arial" pitchFamily="34" charset="0"/>
                        </a:rPr>
                        <a:t> productos</a:t>
                      </a:r>
                      <a:endParaRPr lang="es-ES" sz="1400" dirty="0">
                        <a:latin typeface="Arial" pitchFamily="34" charset="0"/>
                        <a:cs typeface="Arial" pitchFamily="34" charset="0"/>
                      </a:endParaRPr>
                    </a:p>
                  </a:txBody>
                  <a:tcPr/>
                </a:tc>
                <a:tc>
                  <a:txBody>
                    <a:bodyPr/>
                    <a:lstStyle/>
                    <a:p>
                      <a:pPr algn="just"/>
                      <a:r>
                        <a:rPr lang="es-ES" sz="1400" dirty="0" smtClean="0">
                          <a:latin typeface="Arial" pitchFamily="34" charset="0"/>
                          <a:cs typeface="Arial" pitchFamily="34" charset="0"/>
                        </a:rPr>
                        <a:t>Perdida de grandes</a:t>
                      </a:r>
                      <a:r>
                        <a:rPr lang="es-ES" sz="1400" baseline="0" dirty="0" smtClean="0">
                          <a:latin typeface="Arial" pitchFamily="34" charset="0"/>
                          <a:cs typeface="Arial" pitchFamily="34" charset="0"/>
                        </a:rPr>
                        <a:t> inversiones en  L &amp; D</a:t>
                      </a:r>
                      <a:endParaRPr lang="es-ES" sz="1400" dirty="0">
                        <a:latin typeface="Arial" pitchFamily="34" charset="0"/>
                        <a:cs typeface="Arial" pitchFamily="34" charset="0"/>
                      </a:endParaRPr>
                    </a:p>
                  </a:txBody>
                  <a:tcPr/>
                </a:tc>
                <a:tc>
                  <a:txBody>
                    <a:bodyPr/>
                    <a:lstStyle/>
                    <a:p>
                      <a:pPr algn="ctr"/>
                      <a:r>
                        <a:rPr lang="es-ES" sz="1400" dirty="0" smtClean="0">
                          <a:latin typeface="Arial" pitchFamily="34" charset="0"/>
                          <a:cs typeface="Arial" pitchFamily="34" charset="0"/>
                        </a:rPr>
                        <a:t>9</a:t>
                      </a:r>
                    </a:p>
                    <a:p>
                      <a:pPr algn="ctr"/>
                      <a:endParaRPr lang="es-ES" sz="1400" dirty="0">
                        <a:latin typeface="Arial" pitchFamily="34" charset="0"/>
                        <a:cs typeface="Arial" pitchFamily="34" charset="0"/>
                      </a:endParaRPr>
                    </a:p>
                  </a:txBody>
                  <a:tcPr/>
                </a:tc>
                <a:tc>
                  <a:txBody>
                    <a:bodyPr/>
                    <a:lstStyle/>
                    <a:p>
                      <a:pPr algn="ctr"/>
                      <a:r>
                        <a:rPr lang="es-ES" sz="1400" dirty="0" smtClean="0">
                          <a:latin typeface="Arial" pitchFamily="34" charset="0"/>
                          <a:cs typeface="Arial" pitchFamily="34" charset="0"/>
                        </a:rPr>
                        <a:t>0.9</a:t>
                      </a:r>
                      <a:endParaRPr lang="es-ES" sz="1400" dirty="0">
                        <a:latin typeface="Arial" pitchFamily="34" charset="0"/>
                        <a:cs typeface="Arial" pitchFamily="34" charset="0"/>
                      </a:endParaRPr>
                    </a:p>
                  </a:txBody>
                  <a:tcPr/>
                </a:tc>
                <a:tc>
                  <a:txBody>
                    <a:bodyPr/>
                    <a:lstStyle/>
                    <a:p>
                      <a:pPr algn="ctr"/>
                      <a:r>
                        <a:rPr lang="es-ES" sz="1400" dirty="0" smtClean="0">
                          <a:latin typeface="Arial" pitchFamily="34" charset="0"/>
                          <a:cs typeface="Arial" pitchFamily="34" charset="0"/>
                        </a:rPr>
                        <a:t>3</a:t>
                      </a:r>
                      <a:endParaRPr lang="es-ES" sz="1400" dirty="0">
                        <a:latin typeface="Arial" pitchFamily="34" charset="0"/>
                        <a:cs typeface="Arial" pitchFamily="34" charset="0"/>
                      </a:endParaRPr>
                    </a:p>
                  </a:txBody>
                  <a:tcPr/>
                </a:tc>
                <a:tc>
                  <a:txBody>
                    <a:bodyPr/>
                    <a:lstStyle/>
                    <a:p>
                      <a:pPr algn="ctr"/>
                      <a:r>
                        <a:rPr lang="es-ES" sz="1400" dirty="0" smtClean="0">
                          <a:latin typeface="Arial" pitchFamily="34" charset="0"/>
                          <a:cs typeface="Arial" pitchFamily="34" charset="0"/>
                        </a:rPr>
                        <a:t>I</a:t>
                      </a:r>
                      <a:endParaRPr lang="es-ES" sz="1400" dirty="0">
                        <a:latin typeface="Arial" pitchFamily="34" charset="0"/>
                        <a:cs typeface="Arial" pitchFamily="34" charset="0"/>
                      </a:endParaRPr>
                    </a:p>
                  </a:txBody>
                  <a:tcPr/>
                </a:tc>
              </a:tr>
              <a:tr h="887024">
                <a:tc>
                  <a:txBody>
                    <a:bodyPr/>
                    <a:lstStyle/>
                    <a:p>
                      <a:r>
                        <a:rPr lang="es-ES" sz="1400" dirty="0" smtClean="0">
                          <a:latin typeface="Arial" pitchFamily="34" charset="0"/>
                          <a:cs typeface="Arial" pitchFamily="34" charset="0"/>
                        </a:rPr>
                        <a:t>2. Capacidad financiera</a:t>
                      </a:r>
                      <a:endParaRPr lang="es-ES" sz="1400" dirty="0">
                        <a:latin typeface="Arial" pitchFamily="34" charset="0"/>
                        <a:cs typeface="Arial" pitchFamily="34" charset="0"/>
                      </a:endParaRPr>
                    </a:p>
                  </a:txBody>
                  <a:tcPr/>
                </a:tc>
                <a:tc>
                  <a:txBody>
                    <a:bodyPr/>
                    <a:lstStyle/>
                    <a:p>
                      <a:r>
                        <a:rPr lang="es-ES" sz="1400" dirty="0" smtClean="0">
                          <a:latin typeface="Arial" pitchFamily="34" charset="0"/>
                          <a:cs typeface="Arial" pitchFamily="34" charset="0"/>
                        </a:rPr>
                        <a:t>Perdida RH, capacidad inutilizada</a:t>
                      </a:r>
                      <a:endParaRPr lang="es-ES" sz="1400" dirty="0">
                        <a:latin typeface="Arial" pitchFamily="34" charset="0"/>
                        <a:cs typeface="Arial" pitchFamily="34" charset="0"/>
                      </a:endParaRPr>
                    </a:p>
                  </a:txBody>
                  <a:tcPr/>
                </a:tc>
                <a:tc>
                  <a:txBody>
                    <a:bodyPr/>
                    <a:lstStyle/>
                    <a:p>
                      <a:pPr algn="just"/>
                      <a:r>
                        <a:rPr lang="es-ES" sz="1400" dirty="0" smtClean="0">
                          <a:latin typeface="Arial" pitchFamily="34" charset="0"/>
                          <a:cs typeface="Arial" pitchFamily="34" charset="0"/>
                        </a:rPr>
                        <a:t>Perdida de utilidades, de ejecutivos y despidos</a:t>
                      </a:r>
                      <a:endParaRPr lang="es-ES" sz="1400" dirty="0">
                        <a:latin typeface="Arial" pitchFamily="34" charset="0"/>
                        <a:cs typeface="Arial" pitchFamily="34" charset="0"/>
                      </a:endParaRPr>
                    </a:p>
                  </a:txBody>
                  <a:tcPr/>
                </a:tc>
                <a:tc>
                  <a:txBody>
                    <a:bodyPr/>
                    <a:lstStyle/>
                    <a:p>
                      <a:pPr algn="ctr"/>
                      <a:r>
                        <a:rPr lang="es-ES" sz="1400" dirty="0" smtClean="0">
                          <a:latin typeface="Arial" pitchFamily="34" charset="0"/>
                          <a:cs typeface="Arial" pitchFamily="34" charset="0"/>
                        </a:rPr>
                        <a:t>7</a:t>
                      </a:r>
                      <a:endParaRPr lang="es-ES" sz="1400" dirty="0">
                        <a:latin typeface="Arial" pitchFamily="34" charset="0"/>
                        <a:cs typeface="Arial" pitchFamily="34" charset="0"/>
                      </a:endParaRPr>
                    </a:p>
                  </a:txBody>
                  <a:tcPr/>
                </a:tc>
                <a:tc>
                  <a:txBody>
                    <a:bodyPr/>
                    <a:lstStyle/>
                    <a:p>
                      <a:pPr algn="ctr"/>
                      <a:r>
                        <a:rPr lang="es-ES" sz="1400" dirty="0" smtClean="0">
                          <a:latin typeface="Arial" pitchFamily="34" charset="0"/>
                          <a:cs typeface="Arial" pitchFamily="34" charset="0"/>
                        </a:rPr>
                        <a:t>0.9</a:t>
                      </a:r>
                      <a:endParaRPr lang="es-ES" sz="1400" dirty="0">
                        <a:latin typeface="Arial" pitchFamily="34" charset="0"/>
                        <a:cs typeface="Arial" pitchFamily="34" charset="0"/>
                      </a:endParaRPr>
                    </a:p>
                  </a:txBody>
                  <a:tcPr/>
                </a:tc>
                <a:tc>
                  <a:txBody>
                    <a:bodyPr/>
                    <a:lstStyle/>
                    <a:p>
                      <a:pPr algn="ctr"/>
                      <a:r>
                        <a:rPr lang="es-ES" sz="1400" dirty="0" smtClean="0">
                          <a:latin typeface="Arial" pitchFamily="34" charset="0"/>
                          <a:cs typeface="Arial" pitchFamily="34" charset="0"/>
                        </a:rPr>
                        <a:t>4</a:t>
                      </a:r>
                      <a:endParaRPr lang="es-ES" sz="1400" dirty="0">
                        <a:latin typeface="Arial" pitchFamily="34" charset="0"/>
                        <a:cs typeface="Arial" pitchFamily="34" charset="0"/>
                      </a:endParaRPr>
                    </a:p>
                  </a:txBody>
                  <a:tcPr/>
                </a:tc>
                <a:tc>
                  <a:txBody>
                    <a:bodyPr/>
                    <a:lstStyle/>
                    <a:p>
                      <a:pPr algn="ctr"/>
                      <a:r>
                        <a:rPr lang="es-ES" sz="1400" dirty="0" smtClean="0">
                          <a:latin typeface="Arial" pitchFamily="34" charset="0"/>
                          <a:cs typeface="Arial" pitchFamily="34" charset="0"/>
                        </a:rPr>
                        <a:t>I</a:t>
                      </a:r>
                      <a:endParaRPr lang="es-ES" sz="1400" dirty="0">
                        <a:latin typeface="Arial" pitchFamily="34" charset="0"/>
                        <a:cs typeface="Arial" pitchFamily="34" charset="0"/>
                      </a:endParaRPr>
                    </a:p>
                  </a:txBody>
                  <a:tcPr/>
                </a:tc>
              </a:tr>
              <a:tr h="1013714">
                <a:tc>
                  <a:txBody>
                    <a:bodyPr/>
                    <a:lstStyle/>
                    <a:p>
                      <a:r>
                        <a:rPr lang="es-ES" dirty="0" smtClean="0"/>
                        <a:t>3. </a:t>
                      </a:r>
                      <a:r>
                        <a:rPr lang="es-ES" sz="1400" dirty="0" smtClean="0">
                          <a:latin typeface="Arial" pitchFamily="34" charset="0"/>
                          <a:cs typeface="Arial" pitchFamily="34" charset="0"/>
                        </a:rPr>
                        <a:t>Posición de costos</a:t>
                      </a:r>
                      <a:r>
                        <a:rPr lang="es-ES" sz="1400" baseline="0" dirty="0" smtClean="0">
                          <a:latin typeface="Arial" pitchFamily="34" charset="0"/>
                          <a:cs typeface="Arial" pitchFamily="34" charset="0"/>
                        </a:rPr>
                        <a:t> con relación a los competidores</a:t>
                      </a:r>
                      <a:endParaRPr lang="es-ES" sz="1400" dirty="0">
                        <a:latin typeface="Arial" pitchFamily="34" charset="0"/>
                        <a:cs typeface="Arial" pitchFamily="34" charset="0"/>
                      </a:endParaRPr>
                    </a:p>
                  </a:txBody>
                  <a:tcPr/>
                </a:tc>
                <a:tc>
                  <a:txBody>
                    <a:bodyPr/>
                    <a:lstStyle/>
                    <a:p>
                      <a:r>
                        <a:rPr lang="es-ES" sz="1400" dirty="0" smtClean="0">
                          <a:latin typeface="Arial" pitchFamily="34" charset="0"/>
                          <a:cs typeface="Arial" pitchFamily="34" charset="0"/>
                        </a:rPr>
                        <a:t>Incremento en costos debido a la falta de venta</a:t>
                      </a:r>
                      <a:endParaRPr lang="es-ES" sz="1400" dirty="0">
                        <a:latin typeface="Arial" pitchFamily="34" charset="0"/>
                        <a:cs typeface="Arial" pitchFamily="34" charset="0"/>
                      </a:endParaRPr>
                    </a:p>
                  </a:txBody>
                  <a:tcPr/>
                </a:tc>
                <a:tc>
                  <a:txBody>
                    <a:bodyPr/>
                    <a:lstStyle/>
                    <a:p>
                      <a:pPr algn="just"/>
                      <a:r>
                        <a:rPr lang="es-ES" sz="1400" dirty="0" smtClean="0">
                          <a:latin typeface="Arial" pitchFamily="34" charset="0"/>
                          <a:cs typeface="Arial" pitchFamily="34" charset="0"/>
                        </a:rPr>
                        <a:t>Pérdida de utilidades posición</a:t>
                      </a:r>
                      <a:r>
                        <a:rPr lang="es-ES" sz="1400" baseline="0" dirty="0" smtClean="0">
                          <a:latin typeface="Arial" pitchFamily="34" charset="0"/>
                          <a:cs typeface="Arial" pitchFamily="34" charset="0"/>
                        </a:rPr>
                        <a:t> debilitada</a:t>
                      </a:r>
                      <a:endParaRPr lang="es-ES" sz="1400" dirty="0">
                        <a:latin typeface="Arial" pitchFamily="34" charset="0"/>
                        <a:cs typeface="Arial" pitchFamily="34" charset="0"/>
                      </a:endParaRPr>
                    </a:p>
                  </a:txBody>
                  <a:tcPr/>
                </a:tc>
                <a:tc>
                  <a:txBody>
                    <a:bodyPr/>
                    <a:lstStyle/>
                    <a:p>
                      <a:pPr algn="ctr"/>
                      <a:r>
                        <a:rPr lang="es-ES" sz="1400" dirty="0" smtClean="0">
                          <a:latin typeface="Arial" pitchFamily="34" charset="0"/>
                          <a:cs typeface="Arial" pitchFamily="34" charset="0"/>
                        </a:rPr>
                        <a:t>5</a:t>
                      </a:r>
                      <a:endParaRPr lang="es-ES" sz="1400" dirty="0">
                        <a:latin typeface="Arial" pitchFamily="34" charset="0"/>
                        <a:cs typeface="Arial" pitchFamily="34" charset="0"/>
                      </a:endParaRPr>
                    </a:p>
                  </a:txBody>
                  <a:tcPr/>
                </a:tc>
                <a:tc>
                  <a:txBody>
                    <a:bodyPr/>
                    <a:lstStyle/>
                    <a:p>
                      <a:pPr algn="ctr"/>
                      <a:r>
                        <a:rPr lang="es-ES" sz="1400" dirty="0" smtClean="0">
                          <a:latin typeface="Arial" pitchFamily="34" charset="0"/>
                          <a:cs typeface="Arial" pitchFamily="34" charset="0"/>
                        </a:rPr>
                        <a:t>0.3</a:t>
                      </a:r>
                      <a:endParaRPr lang="es-ES" sz="1400" dirty="0">
                        <a:latin typeface="Arial" pitchFamily="34" charset="0"/>
                        <a:cs typeface="Arial" pitchFamily="34" charset="0"/>
                      </a:endParaRPr>
                    </a:p>
                  </a:txBody>
                  <a:tcPr/>
                </a:tc>
                <a:tc>
                  <a:txBody>
                    <a:bodyPr/>
                    <a:lstStyle/>
                    <a:p>
                      <a:pPr algn="ctr"/>
                      <a:r>
                        <a:rPr lang="es-ES" sz="1400" dirty="0" smtClean="0">
                          <a:latin typeface="Arial" pitchFamily="34" charset="0"/>
                          <a:cs typeface="Arial" pitchFamily="34" charset="0"/>
                        </a:rPr>
                        <a:t>4</a:t>
                      </a:r>
                      <a:endParaRPr lang="es-ES" sz="1400" dirty="0">
                        <a:latin typeface="Arial" pitchFamily="34" charset="0"/>
                        <a:cs typeface="Arial" pitchFamily="34" charset="0"/>
                      </a:endParaRPr>
                    </a:p>
                  </a:txBody>
                  <a:tcPr/>
                </a:tc>
                <a:tc>
                  <a:txBody>
                    <a:bodyPr/>
                    <a:lstStyle/>
                    <a:p>
                      <a:pPr algn="ctr"/>
                      <a:r>
                        <a:rPr lang="es-ES" sz="1400" dirty="0" smtClean="0">
                          <a:latin typeface="Arial" pitchFamily="34" charset="0"/>
                          <a:cs typeface="Arial" pitchFamily="34" charset="0"/>
                        </a:rPr>
                        <a:t>IV</a:t>
                      </a:r>
                      <a:endParaRPr lang="es-ES" sz="1400" dirty="0">
                        <a:latin typeface="Arial" pitchFamily="34" charset="0"/>
                        <a:cs typeface="Arial" pitchFamily="34" charset="0"/>
                      </a:endParaRPr>
                    </a:p>
                  </a:txBody>
                  <a:tcPr/>
                </a:tc>
              </a:tr>
              <a:tr h="1101338">
                <a:tc>
                  <a:txBody>
                    <a:bodyPr/>
                    <a:lstStyle/>
                    <a:p>
                      <a:r>
                        <a:rPr lang="es-ES" sz="1400" dirty="0" smtClean="0">
                          <a:latin typeface="Arial" pitchFamily="34" charset="0"/>
                          <a:cs typeface="Arial" pitchFamily="34" charset="0"/>
                        </a:rPr>
                        <a:t>4. Tecnologías</a:t>
                      </a:r>
                      <a:endParaRPr lang="es-ES" sz="1400" dirty="0">
                        <a:latin typeface="Arial" pitchFamily="34" charset="0"/>
                        <a:cs typeface="Arial" pitchFamily="34" charset="0"/>
                      </a:endParaRPr>
                    </a:p>
                  </a:txBody>
                  <a:tcPr/>
                </a:tc>
                <a:tc>
                  <a:txBody>
                    <a:bodyPr/>
                    <a:lstStyle/>
                    <a:p>
                      <a:r>
                        <a:rPr lang="es-ES" sz="1400" dirty="0" smtClean="0">
                          <a:latin typeface="Arial" pitchFamily="34" charset="0"/>
                          <a:cs typeface="Arial" pitchFamily="34" charset="0"/>
                        </a:rPr>
                        <a:t>Perdida</a:t>
                      </a:r>
                      <a:r>
                        <a:rPr lang="es-ES" sz="1400" baseline="0" dirty="0" smtClean="0">
                          <a:latin typeface="Arial" pitchFamily="34" charset="0"/>
                          <a:cs typeface="Arial" pitchFamily="34" charset="0"/>
                        </a:rPr>
                        <a:t> de prima tecnológica</a:t>
                      </a:r>
                      <a:endParaRPr lang="es-ES" sz="1400" dirty="0">
                        <a:latin typeface="Arial" pitchFamily="34" charset="0"/>
                        <a:cs typeface="Arial" pitchFamily="34" charset="0"/>
                      </a:endParaRPr>
                    </a:p>
                  </a:txBody>
                  <a:tcPr/>
                </a:tc>
                <a:tc>
                  <a:txBody>
                    <a:bodyPr/>
                    <a:lstStyle/>
                    <a:p>
                      <a:pPr algn="just"/>
                      <a:r>
                        <a:rPr lang="es-ES" sz="1400" dirty="0" smtClean="0">
                          <a:latin typeface="Arial" pitchFamily="34" charset="0"/>
                          <a:cs typeface="Arial" pitchFamily="34" charset="0"/>
                        </a:rPr>
                        <a:t>Perdida de participación en el mercado y beneficios</a:t>
                      </a:r>
                      <a:endParaRPr lang="es-ES" sz="1400" dirty="0">
                        <a:latin typeface="Arial" pitchFamily="34" charset="0"/>
                        <a:cs typeface="Arial" pitchFamily="34" charset="0"/>
                      </a:endParaRPr>
                    </a:p>
                  </a:txBody>
                  <a:tcPr/>
                </a:tc>
                <a:tc>
                  <a:txBody>
                    <a:bodyPr/>
                    <a:lstStyle/>
                    <a:p>
                      <a:pPr algn="ctr"/>
                      <a:r>
                        <a:rPr lang="es-ES" sz="1400" dirty="0" smtClean="0">
                          <a:latin typeface="Arial" pitchFamily="34" charset="0"/>
                          <a:cs typeface="Arial" pitchFamily="34" charset="0"/>
                        </a:rPr>
                        <a:t>7</a:t>
                      </a:r>
                      <a:endParaRPr lang="es-ES" sz="1400" dirty="0">
                        <a:latin typeface="Arial" pitchFamily="34" charset="0"/>
                        <a:cs typeface="Arial" pitchFamily="34" charset="0"/>
                      </a:endParaRPr>
                    </a:p>
                  </a:txBody>
                  <a:tcPr/>
                </a:tc>
                <a:tc>
                  <a:txBody>
                    <a:bodyPr/>
                    <a:lstStyle/>
                    <a:p>
                      <a:pPr algn="ctr"/>
                      <a:r>
                        <a:rPr lang="es-ES" sz="1400" dirty="0" smtClean="0">
                          <a:latin typeface="Arial" pitchFamily="34" charset="0"/>
                          <a:cs typeface="Arial" pitchFamily="34" charset="0"/>
                        </a:rPr>
                        <a:t>0.2</a:t>
                      </a:r>
                      <a:endParaRPr lang="es-ES" sz="1400" dirty="0">
                        <a:latin typeface="Arial" pitchFamily="34" charset="0"/>
                        <a:cs typeface="Arial" pitchFamily="34" charset="0"/>
                      </a:endParaRPr>
                    </a:p>
                  </a:txBody>
                  <a:tcPr/>
                </a:tc>
                <a:tc>
                  <a:txBody>
                    <a:bodyPr/>
                    <a:lstStyle/>
                    <a:p>
                      <a:pPr algn="ctr"/>
                      <a:r>
                        <a:rPr lang="es-ES" sz="1400" dirty="0" smtClean="0">
                          <a:latin typeface="Arial" pitchFamily="34" charset="0"/>
                          <a:cs typeface="Arial" pitchFamily="34" charset="0"/>
                        </a:rPr>
                        <a:t>9</a:t>
                      </a:r>
                      <a:endParaRPr lang="es-ES" sz="1400" dirty="0">
                        <a:latin typeface="Arial" pitchFamily="34" charset="0"/>
                        <a:cs typeface="Arial" pitchFamily="34" charset="0"/>
                      </a:endParaRPr>
                    </a:p>
                  </a:txBody>
                  <a:tcPr/>
                </a:tc>
                <a:tc>
                  <a:txBody>
                    <a:bodyPr/>
                    <a:lstStyle/>
                    <a:p>
                      <a:pPr algn="ctr"/>
                      <a:r>
                        <a:rPr lang="es-ES" sz="1400" dirty="0" smtClean="0">
                          <a:latin typeface="Arial" pitchFamily="34" charset="0"/>
                          <a:cs typeface="Arial" pitchFamily="34" charset="0"/>
                        </a:rPr>
                        <a:t>I</a:t>
                      </a:r>
                      <a:endParaRPr lang="es-ES" sz="1400" dirty="0">
                        <a:latin typeface="Arial" pitchFamily="34" charset="0"/>
                        <a:cs typeface="Arial" pitchFamily="34" charset="0"/>
                      </a:endParaRPr>
                    </a:p>
                  </a:txBody>
                  <a:tcPr/>
                </a:tc>
              </a:tr>
              <a:tr h="1371858">
                <a:tc>
                  <a:txBody>
                    <a:bodyPr/>
                    <a:lstStyle/>
                    <a:p>
                      <a:r>
                        <a:rPr lang="es-ES" sz="1400" dirty="0" smtClean="0">
                          <a:latin typeface="Arial" pitchFamily="34" charset="0"/>
                          <a:cs typeface="Arial" pitchFamily="34" charset="0"/>
                        </a:rPr>
                        <a:t>5. Estructura</a:t>
                      </a:r>
                      <a:r>
                        <a:rPr lang="es-ES" sz="1400" baseline="0" dirty="0" smtClean="0">
                          <a:latin typeface="Arial" pitchFamily="34" charset="0"/>
                          <a:cs typeface="Arial" pitchFamily="34" charset="0"/>
                        </a:rPr>
                        <a:t> organizacional</a:t>
                      </a:r>
                      <a:endParaRPr lang="es-ES" sz="1400" dirty="0">
                        <a:latin typeface="Arial" pitchFamily="34" charset="0"/>
                        <a:cs typeface="Arial" pitchFamily="34" charset="0"/>
                      </a:endParaRPr>
                    </a:p>
                  </a:txBody>
                  <a:tcPr/>
                </a:tc>
                <a:tc>
                  <a:txBody>
                    <a:bodyPr/>
                    <a:lstStyle/>
                    <a:p>
                      <a:r>
                        <a:rPr lang="es-ES" sz="1400" dirty="0" smtClean="0">
                          <a:latin typeface="Arial" pitchFamily="34" charset="0"/>
                          <a:cs typeface="Arial" pitchFamily="34" charset="0"/>
                        </a:rPr>
                        <a:t>Inhabilidad para fraccionar ágilmente a</a:t>
                      </a:r>
                      <a:r>
                        <a:rPr lang="es-ES" sz="1400" baseline="0" dirty="0" smtClean="0">
                          <a:latin typeface="Arial" pitchFamily="34" charset="0"/>
                          <a:cs typeface="Arial" pitchFamily="34" charset="0"/>
                        </a:rPr>
                        <a:t> </a:t>
                      </a:r>
                      <a:r>
                        <a:rPr lang="es-ES" sz="1400" dirty="0" smtClean="0">
                          <a:latin typeface="Arial" pitchFamily="34" charset="0"/>
                          <a:cs typeface="Arial" pitchFamily="34" charset="0"/>
                        </a:rPr>
                        <a:t>necesidades operativas</a:t>
                      </a:r>
                      <a:endParaRPr lang="es-ES" sz="1400" dirty="0">
                        <a:latin typeface="Arial" pitchFamily="34" charset="0"/>
                        <a:cs typeface="Arial" pitchFamily="34" charset="0"/>
                      </a:endParaRPr>
                    </a:p>
                  </a:txBody>
                  <a:tcPr/>
                </a:tc>
                <a:tc>
                  <a:txBody>
                    <a:bodyPr/>
                    <a:lstStyle/>
                    <a:p>
                      <a:pPr algn="just"/>
                      <a:r>
                        <a:rPr lang="es-ES" sz="1400" dirty="0" smtClean="0">
                          <a:latin typeface="Arial" pitchFamily="34" charset="0"/>
                          <a:cs typeface="Arial" pitchFamily="34" charset="0"/>
                        </a:rPr>
                        <a:t>Quejas</a:t>
                      </a:r>
                      <a:r>
                        <a:rPr lang="es-ES" sz="1400" baseline="0" dirty="0" smtClean="0">
                          <a:latin typeface="Arial" pitchFamily="34" charset="0"/>
                          <a:cs typeface="Arial" pitchFamily="34" charset="0"/>
                        </a:rPr>
                        <a:t> de los clientes, ineficiencia</a:t>
                      </a:r>
                      <a:endParaRPr lang="es-ES" sz="1400" dirty="0">
                        <a:latin typeface="Arial" pitchFamily="34" charset="0"/>
                        <a:cs typeface="Arial" pitchFamily="34" charset="0"/>
                      </a:endParaRPr>
                    </a:p>
                  </a:txBody>
                  <a:tcPr/>
                </a:tc>
                <a:tc>
                  <a:txBody>
                    <a:bodyPr/>
                    <a:lstStyle/>
                    <a:p>
                      <a:pPr algn="ctr"/>
                      <a:r>
                        <a:rPr lang="es-ES" sz="1400" dirty="0" smtClean="0">
                          <a:latin typeface="Arial" pitchFamily="34" charset="0"/>
                          <a:cs typeface="Arial" pitchFamily="34" charset="0"/>
                        </a:rPr>
                        <a:t>3</a:t>
                      </a:r>
                      <a:endParaRPr lang="es-ES" sz="1400" dirty="0">
                        <a:latin typeface="Arial" pitchFamily="34" charset="0"/>
                        <a:cs typeface="Arial" pitchFamily="34" charset="0"/>
                      </a:endParaRPr>
                    </a:p>
                  </a:txBody>
                  <a:tcPr/>
                </a:tc>
                <a:tc>
                  <a:txBody>
                    <a:bodyPr/>
                    <a:lstStyle/>
                    <a:p>
                      <a:pPr algn="ctr"/>
                      <a:r>
                        <a:rPr lang="es-ES" sz="1400" dirty="0" smtClean="0">
                          <a:latin typeface="Arial" pitchFamily="34" charset="0"/>
                          <a:cs typeface="Arial" pitchFamily="34" charset="0"/>
                        </a:rPr>
                        <a:t>0.3</a:t>
                      </a:r>
                      <a:endParaRPr lang="es-ES" sz="1400" dirty="0">
                        <a:latin typeface="Arial" pitchFamily="34" charset="0"/>
                        <a:cs typeface="Arial" pitchFamily="34" charset="0"/>
                      </a:endParaRPr>
                    </a:p>
                  </a:txBody>
                  <a:tcPr/>
                </a:tc>
                <a:tc>
                  <a:txBody>
                    <a:bodyPr/>
                    <a:lstStyle/>
                    <a:p>
                      <a:pPr algn="ctr"/>
                      <a:r>
                        <a:rPr lang="es-ES" sz="1400" dirty="0" smtClean="0">
                          <a:latin typeface="Arial" pitchFamily="34" charset="0"/>
                          <a:cs typeface="Arial" pitchFamily="34" charset="0"/>
                        </a:rPr>
                        <a:t>7</a:t>
                      </a:r>
                      <a:endParaRPr lang="es-ES" sz="1400" dirty="0">
                        <a:latin typeface="Arial" pitchFamily="34" charset="0"/>
                        <a:cs typeface="Arial" pitchFamily="34" charset="0"/>
                      </a:endParaRPr>
                    </a:p>
                  </a:txBody>
                  <a:tcPr/>
                </a:tc>
                <a:tc>
                  <a:txBody>
                    <a:bodyPr/>
                    <a:lstStyle/>
                    <a:p>
                      <a:pPr algn="ctr"/>
                      <a:r>
                        <a:rPr lang="es-ES" sz="1400" dirty="0" smtClean="0">
                          <a:latin typeface="Arial" pitchFamily="34" charset="0"/>
                          <a:cs typeface="Arial" pitchFamily="34" charset="0"/>
                        </a:rPr>
                        <a:t>IV</a:t>
                      </a:r>
                      <a:endParaRPr lang="es-ES" sz="1400" dirty="0">
                        <a:latin typeface="Arial" pitchFamily="34" charset="0"/>
                        <a:cs typeface="Arial" pitchFamily="34" charset="0"/>
                      </a:endParaRPr>
                    </a:p>
                  </a:txBody>
                  <a:tcPr/>
                </a:tc>
              </a:tr>
              <a:tr h="993449">
                <a:tc>
                  <a:txBody>
                    <a:bodyPr/>
                    <a:lstStyle/>
                    <a:p>
                      <a:r>
                        <a:rPr lang="es-ES" sz="1400" dirty="0" smtClean="0">
                          <a:latin typeface="Arial" pitchFamily="34" charset="0"/>
                          <a:cs typeface="Arial" pitchFamily="34" charset="0"/>
                        </a:rPr>
                        <a:t>6. Imagen corporativa</a:t>
                      </a:r>
                      <a:endParaRPr lang="es-ES" sz="1400" dirty="0">
                        <a:latin typeface="Arial" pitchFamily="34" charset="0"/>
                        <a:cs typeface="Arial" pitchFamily="34" charset="0"/>
                      </a:endParaRPr>
                    </a:p>
                  </a:txBody>
                  <a:tcPr/>
                </a:tc>
                <a:tc>
                  <a:txBody>
                    <a:bodyPr/>
                    <a:lstStyle/>
                    <a:p>
                      <a:r>
                        <a:rPr lang="es-ES" sz="1400" dirty="0" smtClean="0">
                          <a:latin typeface="Arial" pitchFamily="34" charset="0"/>
                          <a:cs typeface="Arial" pitchFamily="34" charset="0"/>
                        </a:rPr>
                        <a:t>Perdida de lealtad del consumidor, participación</a:t>
                      </a:r>
                      <a:endParaRPr lang="es-ES" sz="1400" dirty="0">
                        <a:latin typeface="Arial" pitchFamily="34" charset="0"/>
                        <a:cs typeface="Arial" pitchFamily="34" charset="0"/>
                      </a:endParaRPr>
                    </a:p>
                  </a:txBody>
                  <a:tcPr/>
                </a:tc>
                <a:tc>
                  <a:txBody>
                    <a:bodyPr/>
                    <a:lstStyle/>
                    <a:p>
                      <a:r>
                        <a:rPr lang="es-ES" sz="1400" dirty="0" smtClean="0">
                          <a:latin typeface="Arial" pitchFamily="34" charset="0"/>
                          <a:cs typeface="Arial" pitchFamily="34" charset="0"/>
                        </a:rPr>
                        <a:t>Perdida de ventas sin beneficio</a:t>
                      </a:r>
                      <a:r>
                        <a:rPr lang="es-ES" sz="1400" baseline="0" dirty="0" smtClean="0">
                          <a:latin typeface="Arial" pitchFamily="34" charset="0"/>
                          <a:cs typeface="Arial" pitchFamily="34" charset="0"/>
                        </a:rPr>
                        <a:t> elevados gastos de publicidad</a:t>
                      </a:r>
                      <a:endParaRPr lang="es-ES" sz="1400" dirty="0">
                        <a:latin typeface="Arial" pitchFamily="34" charset="0"/>
                        <a:cs typeface="Arial" pitchFamily="34" charset="0"/>
                      </a:endParaRPr>
                    </a:p>
                  </a:txBody>
                  <a:tcPr/>
                </a:tc>
                <a:tc>
                  <a:txBody>
                    <a:bodyPr/>
                    <a:lstStyle/>
                    <a:p>
                      <a:pPr algn="ctr"/>
                      <a:r>
                        <a:rPr lang="es-ES" sz="1400" dirty="0" smtClean="0">
                          <a:latin typeface="Arial" pitchFamily="34" charset="0"/>
                          <a:cs typeface="Arial" pitchFamily="34" charset="0"/>
                        </a:rPr>
                        <a:t>4</a:t>
                      </a:r>
                      <a:endParaRPr lang="es-ES" sz="1400" dirty="0">
                        <a:latin typeface="Arial" pitchFamily="34" charset="0"/>
                        <a:cs typeface="Arial" pitchFamily="34" charset="0"/>
                      </a:endParaRPr>
                    </a:p>
                  </a:txBody>
                  <a:tcPr/>
                </a:tc>
                <a:tc>
                  <a:txBody>
                    <a:bodyPr/>
                    <a:lstStyle/>
                    <a:p>
                      <a:pPr algn="ctr"/>
                      <a:r>
                        <a:rPr lang="es-ES" sz="1400" dirty="0" smtClean="0">
                          <a:latin typeface="Arial" pitchFamily="34" charset="0"/>
                          <a:cs typeface="Arial" pitchFamily="34" charset="0"/>
                        </a:rPr>
                        <a:t>0.2</a:t>
                      </a:r>
                      <a:endParaRPr lang="es-ES" sz="1400" dirty="0">
                        <a:latin typeface="Arial" pitchFamily="34" charset="0"/>
                        <a:cs typeface="Arial" pitchFamily="34" charset="0"/>
                      </a:endParaRPr>
                    </a:p>
                  </a:txBody>
                  <a:tcPr/>
                </a:tc>
                <a:tc>
                  <a:txBody>
                    <a:bodyPr/>
                    <a:lstStyle/>
                    <a:p>
                      <a:pPr algn="ctr"/>
                      <a:r>
                        <a:rPr lang="es-ES" sz="1400" dirty="0" smtClean="0">
                          <a:latin typeface="Arial" pitchFamily="34" charset="0"/>
                          <a:cs typeface="Arial" pitchFamily="34" charset="0"/>
                        </a:rPr>
                        <a:t>7</a:t>
                      </a:r>
                      <a:endParaRPr lang="es-ES" sz="1400" dirty="0">
                        <a:latin typeface="Arial" pitchFamily="34" charset="0"/>
                        <a:cs typeface="Arial" pitchFamily="34" charset="0"/>
                      </a:endParaRPr>
                    </a:p>
                  </a:txBody>
                  <a:tcPr/>
                </a:tc>
                <a:tc>
                  <a:txBody>
                    <a:bodyPr/>
                    <a:lstStyle/>
                    <a:p>
                      <a:pPr algn="ctr"/>
                      <a:r>
                        <a:rPr lang="es-ES" sz="1400" dirty="0" smtClean="0">
                          <a:latin typeface="Arial" pitchFamily="34" charset="0"/>
                          <a:cs typeface="Arial" pitchFamily="34" charset="0"/>
                        </a:rPr>
                        <a:t>IV</a:t>
                      </a:r>
                      <a:endParaRPr lang="es-ES" sz="1400" dirty="0">
                        <a:latin typeface="Arial" pitchFamily="34" charset="0"/>
                        <a:cs typeface="Arial" pitchFamily="34" charset="0"/>
                      </a:endParaRPr>
                    </a:p>
                  </a:txBody>
                  <a:tcPr/>
                </a:tc>
              </a:tr>
            </a:tbl>
          </a:graphicData>
        </a:graphic>
      </p:graphicFrame>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571480"/>
            <a:ext cx="7239000" cy="5884256"/>
          </a:xfrm>
        </p:spPr>
        <p:txBody>
          <a:bodyPr/>
          <a:lstStyle/>
          <a:p>
            <a:pPr>
              <a:buNone/>
            </a:pPr>
            <a:r>
              <a:rPr lang="es-ES" dirty="0" smtClean="0"/>
              <a:t>PROBABILIDAD DE OCURRENCIA:</a:t>
            </a:r>
          </a:p>
          <a:p>
            <a:pPr algn="just">
              <a:buNone/>
            </a:pPr>
            <a:r>
              <a:rPr lang="es-ES" dirty="0" smtClean="0"/>
              <a:t>	Se multiplica la probabilidad de ocurrencia por el impacto de la amenaza, con el fin de ponderar estas dos variables.</a:t>
            </a:r>
            <a:endParaRPr lang="es-ES" dirty="0"/>
          </a:p>
        </p:txBody>
      </p:sp>
      <p:graphicFrame>
        <p:nvGraphicFramePr>
          <p:cNvPr id="4" name="3 Tabla"/>
          <p:cNvGraphicFramePr>
            <a:graphicFrameLocks noGrp="1"/>
          </p:cNvGraphicFramePr>
          <p:nvPr/>
        </p:nvGraphicFramePr>
        <p:xfrm>
          <a:off x="1142976" y="3143248"/>
          <a:ext cx="6096000" cy="1500198"/>
        </p:xfrm>
        <a:graphic>
          <a:graphicData uri="http://schemas.openxmlformats.org/drawingml/2006/table">
            <a:tbl>
              <a:tblPr firstRow="1" bandRow="1">
                <a:tableStyleId>{5C22544A-7EE6-4342-B048-85BDC9FD1C3A}</a:tableStyleId>
              </a:tblPr>
              <a:tblGrid>
                <a:gridCol w="3048000"/>
                <a:gridCol w="3048000"/>
              </a:tblGrid>
              <a:tr h="750099">
                <a:tc>
                  <a:txBody>
                    <a:bodyPr/>
                    <a:lstStyle/>
                    <a:p>
                      <a:pPr algn="ctr"/>
                      <a:r>
                        <a:rPr lang="es-ES" dirty="0" smtClean="0"/>
                        <a:t>INDEFENSA</a:t>
                      </a:r>
                    </a:p>
                    <a:p>
                      <a:pPr algn="ctr"/>
                      <a:r>
                        <a:rPr lang="es-ES" dirty="0" smtClean="0"/>
                        <a:t>I</a:t>
                      </a:r>
                      <a:endParaRPr lang="es-ES" dirty="0"/>
                    </a:p>
                  </a:txBody>
                  <a:tcPr/>
                </a:tc>
                <a:tc>
                  <a:txBody>
                    <a:bodyPr/>
                    <a:lstStyle/>
                    <a:p>
                      <a:pPr algn="ctr"/>
                      <a:r>
                        <a:rPr lang="es-ES" dirty="0" smtClean="0"/>
                        <a:t>EN PELIGRO</a:t>
                      </a:r>
                    </a:p>
                    <a:p>
                      <a:pPr algn="ctr"/>
                      <a:r>
                        <a:rPr lang="es-ES" dirty="0" smtClean="0"/>
                        <a:t>II</a:t>
                      </a:r>
                      <a:endParaRPr lang="es-ES" dirty="0"/>
                    </a:p>
                  </a:txBody>
                  <a:tcPr/>
                </a:tc>
              </a:tr>
              <a:tr h="750099">
                <a:tc>
                  <a:txBody>
                    <a:bodyPr/>
                    <a:lstStyle/>
                    <a:p>
                      <a:pPr algn="ctr"/>
                      <a:r>
                        <a:rPr lang="es-ES" dirty="0" smtClean="0"/>
                        <a:t>VULNERABLE</a:t>
                      </a:r>
                    </a:p>
                    <a:p>
                      <a:pPr algn="ctr"/>
                      <a:r>
                        <a:rPr lang="es-ES" dirty="0" smtClean="0"/>
                        <a:t>IV</a:t>
                      </a:r>
                      <a:endParaRPr lang="es-ES" dirty="0"/>
                    </a:p>
                  </a:txBody>
                  <a:tcPr/>
                </a:tc>
                <a:tc>
                  <a:txBody>
                    <a:bodyPr/>
                    <a:lstStyle/>
                    <a:p>
                      <a:pPr algn="ctr"/>
                      <a:r>
                        <a:rPr lang="es-ES" dirty="0" smtClean="0"/>
                        <a:t>PREPARADA </a:t>
                      </a:r>
                    </a:p>
                    <a:p>
                      <a:pPr algn="ctr"/>
                      <a:r>
                        <a:rPr lang="es-ES" dirty="0" smtClean="0"/>
                        <a:t>III</a:t>
                      </a:r>
                      <a:endParaRPr lang="es-ES" dirty="0"/>
                    </a:p>
                  </a:txBody>
                  <a:tcPr/>
                </a:tc>
              </a:tr>
            </a:tbl>
          </a:graphicData>
        </a:graphic>
      </p:graphicFrame>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Rectángulo"/>
          <p:cNvSpPr/>
          <p:nvPr/>
        </p:nvSpPr>
        <p:spPr>
          <a:xfrm>
            <a:off x="857224" y="1571613"/>
            <a:ext cx="7715304" cy="2585323"/>
          </a:xfrm>
          <a:prstGeom prst="rect">
            <a:avLst/>
          </a:prstGeom>
        </p:spPr>
        <p:txBody>
          <a:bodyPr wrap="square">
            <a:spAutoFit/>
          </a:bodyPr>
          <a:lstStyle/>
          <a:p>
            <a:pPr algn="ctr"/>
            <a:r>
              <a:rPr lang="es-MX" sz="5400" b="1" spc="50" dirty="0" smtClean="0">
                <a:ln w="11430"/>
                <a:effectLst>
                  <a:outerShdw blurRad="76200" dist="50800" dir="5400000" algn="tl" rotWithShape="0">
                    <a:srgbClr val="000000">
                      <a:alpha val="65000"/>
                    </a:srgbClr>
                  </a:outerShdw>
                </a:effectLst>
              </a:rPr>
              <a:t/>
            </a:r>
            <a:br>
              <a:rPr lang="es-MX" sz="5400" b="1" spc="50" dirty="0" smtClean="0">
                <a:ln w="11430"/>
                <a:effectLst>
                  <a:outerShdw blurRad="76200" dist="50800" dir="5400000" algn="tl" rotWithShape="0">
                    <a:srgbClr val="000000">
                      <a:alpha val="65000"/>
                    </a:srgbClr>
                  </a:outerShdw>
                </a:effectLst>
              </a:rPr>
            </a:br>
            <a:r>
              <a:rPr lang="es-MX" sz="5400" b="1" spc="50" dirty="0" smtClean="0">
                <a:ln w="11430"/>
                <a:effectLst>
                  <a:outerShdw blurRad="76200" dist="50800" dir="5400000" algn="tl" rotWithShape="0">
                    <a:srgbClr val="000000">
                      <a:alpha val="65000"/>
                    </a:srgbClr>
                  </a:outerShdw>
                </a:effectLst>
              </a:rPr>
              <a:t>DIRECCIONAMIENTO ESTRATÉGICO</a:t>
            </a:r>
            <a:endParaRPr lang="es-ES" sz="5400" b="1" spc="50" dirty="0">
              <a:ln w="11430"/>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ext Box 4"/>
          <p:cNvSpPr txBox="1">
            <a:spLocks noChangeArrowheads="1"/>
          </p:cNvSpPr>
          <p:nvPr/>
        </p:nvSpPr>
        <p:spPr bwMode="auto">
          <a:xfrm>
            <a:off x="1331913" y="2133600"/>
            <a:ext cx="6335712" cy="457200"/>
          </a:xfrm>
          <a:prstGeom prst="rect">
            <a:avLst/>
          </a:prstGeom>
          <a:noFill/>
          <a:ln w="9525">
            <a:noFill/>
            <a:miter lim="800000"/>
            <a:headEnd/>
            <a:tailEnd/>
          </a:ln>
        </p:spPr>
        <p:txBody>
          <a:bodyPr>
            <a:spAutoFit/>
          </a:bodyPr>
          <a:lstStyle/>
          <a:p>
            <a:pPr>
              <a:spcBef>
                <a:spcPct val="50000"/>
              </a:spcBef>
            </a:pPr>
            <a:endParaRPr lang="es-ES" sz="2400" dirty="0"/>
          </a:p>
        </p:txBody>
      </p:sp>
      <p:sp>
        <p:nvSpPr>
          <p:cNvPr id="10244" name="Text Box 5"/>
          <p:cNvSpPr txBox="1">
            <a:spLocks noChangeArrowheads="1"/>
          </p:cNvSpPr>
          <p:nvPr/>
        </p:nvSpPr>
        <p:spPr bwMode="auto">
          <a:xfrm>
            <a:off x="214282" y="2500306"/>
            <a:ext cx="8066087" cy="2800767"/>
          </a:xfrm>
          <a:prstGeom prst="rect">
            <a:avLst/>
          </a:prstGeom>
          <a:noFill/>
          <a:ln w="9525">
            <a:noFill/>
            <a:miter lim="800000"/>
            <a:headEnd/>
            <a:tailEnd/>
          </a:ln>
        </p:spPr>
        <p:txBody>
          <a:bodyPr>
            <a:spAutoFit/>
          </a:bodyPr>
          <a:lstStyle/>
          <a:p>
            <a:pPr>
              <a:spcBef>
                <a:spcPct val="50000"/>
              </a:spcBef>
              <a:buFont typeface="Arial" pitchFamily="34" charset="0"/>
              <a:buChar char="•"/>
            </a:pPr>
            <a:r>
              <a:rPr lang="es-MX" sz="3200" dirty="0">
                <a:latin typeface="Arial" pitchFamily="34" charset="0"/>
                <a:cs typeface="Arial" pitchFamily="34" charset="0"/>
              </a:rPr>
              <a:t>Son el conjunto de valores, creencias normas, que regulan la vida y el comportamiento de una organización.</a:t>
            </a:r>
          </a:p>
          <a:p>
            <a:pPr>
              <a:spcBef>
                <a:spcPct val="50000"/>
              </a:spcBef>
              <a:buFontTx/>
              <a:buChar char="•"/>
            </a:pPr>
            <a:r>
              <a:rPr lang="es-MX" sz="3200" dirty="0">
                <a:latin typeface="Arial" pitchFamily="34" charset="0"/>
                <a:cs typeface="Arial" pitchFamily="34" charset="0"/>
              </a:rPr>
              <a:t>Son parte de una cultura estratégica de la organización</a:t>
            </a:r>
            <a:endParaRPr lang="es-ES" sz="3200" dirty="0">
              <a:latin typeface="Arial" pitchFamily="34" charset="0"/>
              <a:cs typeface="Arial" pitchFamily="34" charset="0"/>
            </a:endParaRPr>
          </a:p>
        </p:txBody>
      </p:sp>
      <p:sp>
        <p:nvSpPr>
          <p:cNvPr id="5" name="4 Rectángulo"/>
          <p:cNvSpPr/>
          <p:nvPr/>
        </p:nvSpPr>
        <p:spPr>
          <a:xfrm>
            <a:off x="0" y="357166"/>
            <a:ext cx="8143900" cy="1569660"/>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MX" sz="48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Verdana" pitchFamily="34" charset="0"/>
              </a:rPr>
              <a:t>1.  LOS PRINCIPIOS CORPORATIVOS:</a:t>
            </a:r>
            <a:endParaRPr lang="es-ES" sz="48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428596" y="3071810"/>
            <a:ext cx="7858180" cy="1754326"/>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5400" b="1" spc="50" dirty="0" smtClean="0">
                <a:ln w="11430"/>
                <a:solidFill>
                  <a:schemeClr val="tx2">
                    <a:lumMod val="75000"/>
                  </a:schemeClr>
                </a:solidFill>
                <a:effectLst>
                  <a:outerShdw blurRad="76200" dist="50800" dir="5400000" algn="tl" rotWithShape="0">
                    <a:srgbClr val="000000">
                      <a:alpha val="65000"/>
                    </a:srgbClr>
                  </a:outerShdw>
                </a:effectLst>
              </a:rPr>
              <a:t>EL PROPOSITO ORGANIZACIONAL</a:t>
            </a:r>
          </a:p>
        </p:txBody>
      </p:sp>
      <p:sp>
        <p:nvSpPr>
          <p:cNvPr id="5" name="4 Rectángulo"/>
          <p:cNvSpPr/>
          <p:nvPr/>
        </p:nvSpPr>
        <p:spPr>
          <a:xfrm>
            <a:off x="857224" y="1214422"/>
            <a:ext cx="7000924" cy="769441"/>
          </a:xfrm>
          <a:prstGeom prst="rect">
            <a:avLst/>
          </a:prstGeom>
        </p:spPr>
        <p:txBody>
          <a:bodyPr wrap="square">
            <a:spAutoFit/>
          </a:bodyPr>
          <a:lstStyle/>
          <a:p>
            <a:pPr algn="ctr"/>
            <a:r>
              <a:rPr lang="es-ES" sz="4400" b="1" spc="50" dirty="0" smtClean="0">
                <a:ln w="11430"/>
                <a:solidFill>
                  <a:srgbClr val="9E388B"/>
                </a:solidFill>
                <a:effectLst>
                  <a:outerShdw blurRad="76200" dist="50800" dir="5400000" algn="tl" rotWithShape="0">
                    <a:srgbClr val="000000">
                      <a:alpha val="65000"/>
                    </a:srgbClr>
                  </a:outerShdw>
                </a:effectLst>
              </a:rPr>
              <a:t>2.   MISION CORPORATIVA</a:t>
            </a:r>
            <a:endParaRPr lang="es-ES" sz="4400" b="1" spc="50" dirty="0">
              <a:ln w="11430"/>
              <a:solidFill>
                <a:srgbClr val="9E388B"/>
              </a:solidFill>
              <a:effectLst>
                <a:outerShdw blurRad="76200" dist="50800" dir="5400000" algn="tl" rotWithShape="0">
                  <a:srgbClr val="000000">
                    <a:alpha val="65000"/>
                  </a:srgbClr>
                </a:outerShdw>
              </a:effectLst>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85720" y="1071546"/>
            <a:ext cx="7786742" cy="5054617"/>
          </a:xfrm>
        </p:spPr>
        <p:txBody>
          <a:bodyPr>
            <a:normAutofit fontScale="77500" lnSpcReduction="20000"/>
          </a:bodyPr>
          <a:lstStyle/>
          <a:p>
            <a:pPr algn="just">
              <a:buNone/>
            </a:pPr>
            <a:endParaRPr lang="es-ES" sz="2000" dirty="0" smtClean="0"/>
          </a:p>
          <a:p>
            <a:pPr algn="just">
              <a:buNone/>
            </a:pPr>
            <a:endParaRPr lang="es-ES" sz="2000" dirty="0"/>
          </a:p>
          <a:p>
            <a:pPr algn="just"/>
            <a:r>
              <a:rPr lang="es-ES" sz="3800" dirty="0" smtClean="0">
                <a:latin typeface="Arial" pitchFamily="34" charset="0"/>
                <a:cs typeface="Arial" pitchFamily="34" charset="0"/>
              </a:rPr>
              <a:t>Toda organización debe definir su misión con claridad y dársela a conocer a todos los miembros de esta.</a:t>
            </a:r>
          </a:p>
          <a:p>
            <a:pPr algn="just"/>
            <a:endParaRPr lang="es-ES" sz="3800" dirty="0" smtClean="0">
              <a:latin typeface="Arial" pitchFamily="34" charset="0"/>
              <a:cs typeface="Arial" pitchFamily="34" charset="0"/>
            </a:endParaRPr>
          </a:p>
          <a:p>
            <a:pPr algn="just"/>
            <a:r>
              <a:rPr lang="es-ES" sz="3800" dirty="0" smtClean="0">
                <a:latin typeface="Arial" pitchFamily="34" charset="0"/>
                <a:cs typeface="Arial" pitchFamily="34" charset="0"/>
              </a:rPr>
              <a:t>La misión indica como se pretende lograr las razones de su existencia.</a:t>
            </a:r>
          </a:p>
          <a:p>
            <a:pPr algn="just">
              <a:buNone/>
            </a:pPr>
            <a:endParaRPr lang="es-ES" sz="3800" dirty="0" smtClean="0">
              <a:latin typeface="Arial" pitchFamily="34" charset="0"/>
              <a:cs typeface="Arial" pitchFamily="34" charset="0"/>
            </a:endParaRPr>
          </a:p>
          <a:p>
            <a:pPr algn="just"/>
            <a:r>
              <a:rPr lang="es-ES" sz="3800" dirty="0" smtClean="0">
                <a:latin typeface="Arial" pitchFamily="34" charset="0"/>
                <a:cs typeface="Arial" pitchFamily="34" charset="0"/>
              </a:rPr>
              <a:t>Señala las prioridades y la dirección de los negocios de una empresa.</a:t>
            </a:r>
          </a:p>
          <a:p>
            <a:pPr algn="just">
              <a:buNone/>
            </a:pPr>
            <a:endParaRPr lang="es-ES" sz="3800" dirty="0" smtClean="0">
              <a:latin typeface="Arial" pitchFamily="34" charset="0"/>
              <a:cs typeface="Arial" pitchFamily="34" charset="0"/>
            </a:endParaRPr>
          </a:p>
          <a:p>
            <a:pPr algn="just"/>
            <a:r>
              <a:rPr lang="es-ES" sz="3800" dirty="0" smtClean="0">
                <a:latin typeface="Arial" pitchFamily="34" charset="0"/>
                <a:cs typeface="Arial" pitchFamily="34" charset="0"/>
              </a:rPr>
              <a:t>La misión apoya a la venta externa.</a:t>
            </a:r>
            <a:endParaRPr lang="es-ES" sz="3800" dirty="0">
              <a:latin typeface="Arial" pitchFamily="34" charset="0"/>
              <a:cs typeface="Arial" pitchFamily="34"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642910" y="1643050"/>
            <a:ext cx="7239000" cy="4846320"/>
          </a:xfrm>
        </p:spPr>
        <p:txBody>
          <a:bodyPr>
            <a:normAutofit/>
          </a:bodyPr>
          <a:lstStyle/>
          <a:p>
            <a:pPr marL="514350" indent="-514350" algn="just">
              <a:buFont typeface="+mj-lt"/>
              <a:buAutoNum type="arabicPeriod"/>
            </a:pPr>
            <a:r>
              <a:rPr lang="es-ES" sz="3200" dirty="0" smtClean="0">
                <a:latin typeface="Arial" pitchFamily="34" charset="0"/>
                <a:cs typeface="Arial" pitchFamily="34" charset="0"/>
              </a:rPr>
              <a:t>Primaria: indica la categoría de los negocios a los que se dedica la compañía.</a:t>
            </a:r>
          </a:p>
          <a:p>
            <a:pPr marL="514350" indent="-514350" algn="just">
              <a:buFont typeface="+mj-lt"/>
              <a:buAutoNum type="arabicPeriod"/>
            </a:pPr>
            <a:r>
              <a:rPr lang="es-ES" sz="3200" dirty="0" smtClean="0">
                <a:latin typeface="Arial" pitchFamily="34" charset="0"/>
                <a:cs typeface="Arial" pitchFamily="34" charset="0"/>
              </a:rPr>
              <a:t>Secundaria:  soporta ala primaria en términos y situaciones mas concretos, involucrando, a sus actores mas importantes.</a:t>
            </a:r>
            <a:endParaRPr lang="es-ES" sz="3200" dirty="0">
              <a:latin typeface="Arial" pitchFamily="34" charset="0"/>
              <a:cs typeface="Arial" pitchFamily="34" charset="0"/>
            </a:endParaRPr>
          </a:p>
        </p:txBody>
      </p:sp>
      <p:sp>
        <p:nvSpPr>
          <p:cNvPr id="4" name="3 Rectángulo"/>
          <p:cNvSpPr/>
          <p:nvPr/>
        </p:nvSpPr>
        <p:spPr>
          <a:xfrm>
            <a:off x="0" y="642918"/>
            <a:ext cx="4214842" cy="923330"/>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5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Niveles:</a:t>
            </a:r>
            <a:endParaRPr lang="es-E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nchor="ctr"/>
          <a:lstStyle/>
          <a:p>
            <a:pPr marL="742950" indent="-742950" algn="just">
              <a:buFont typeface="+mj-lt"/>
              <a:buAutoNum type="arabicPeriod"/>
            </a:pPr>
            <a:r>
              <a:rPr lang="es-ES" sz="3600" dirty="0" smtClean="0">
                <a:latin typeface="Arial" pitchFamily="34" charset="0"/>
                <a:cs typeface="Arial" pitchFamily="34" charset="0"/>
              </a:rPr>
              <a:t>Debe ser definida en un trabajo de equipo que conduzca a la integración que guie a la acción gerencial.</a:t>
            </a:r>
          </a:p>
          <a:p>
            <a:pPr marL="514350" indent="-514350" algn="ctr">
              <a:buNone/>
            </a:pPr>
            <a:endParaRPr lang="es-ES" dirty="0"/>
          </a:p>
        </p:txBody>
      </p:sp>
      <p:sp>
        <p:nvSpPr>
          <p:cNvPr id="5" name="4 Rectángulo"/>
          <p:cNvSpPr/>
          <p:nvPr/>
        </p:nvSpPr>
        <p:spPr>
          <a:xfrm>
            <a:off x="0" y="428604"/>
            <a:ext cx="8143900" cy="1754326"/>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5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¿COMO SE FORMULA UNA MISION?</a:t>
            </a:r>
            <a:endParaRPr lang="es-E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0" y="214290"/>
            <a:ext cx="8215338" cy="6643710"/>
          </a:xfrm>
        </p:spPr>
        <p:txBody>
          <a:bodyPr>
            <a:normAutofit fontScale="70000" lnSpcReduction="20000"/>
          </a:bodyPr>
          <a:lstStyle/>
          <a:p>
            <a:pPr marL="342900" indent="-342900">
              <a:buFont typeface="+mj-lt"/>
              <a:buAutoNum type="arabicPeriod" startAt="2"/>
            </a:pPr>
            <a:r>
              <a:rPr lang="es-ES" sz="5100" dirty="0" smtClean="0">
                <a:latin typeface="Arial" pitchFamily="34" charset="0"/>
                <a:cs typeface="Arial" pitchFamily="34" charset="0"/>
              </a:rPr>
              <a:t>Deben platearse las siguientes preguntas, las cuales deben ser el punto de partida para integrar la misión:</a:t>
            </a:r>
          </a:p>
          <a:p>
            <a:pPr>
              <a:buNone/>
            </a:pPr>
            <a:endParaRPr lang="es-ES" sz="2400" dirty="0" smtClean="0">
              <a:latin typeface="Arial" pitchFamily="34" charset="0"/>
              <a:cs typeface="Arial" pitchFamily="34" charset="0"/>
            </a:endParaRPr>
          </a:p>
          <a:p>
            <a:pPr marL="514350" indent="-514350" algn="just">
              <a:buFont typeface="+mj-lt"/>
              <a:buAutoNum type="arabicPeriod"/>
            </a:pPr>
            <a:r>
              <a:rPr lang="es-ES" sz="4500" dirty="0" smtClean="0">
                <a:latin typeface="Arial" pitchFamily="34" charset="0"/>
                <a:cs typeface="Arial" pitchFamily="34" charset="0"/>
              </a:rPr>
              <a:t>¿En que negocio estamos?</a:t>
            </a:r>
          </a:p>
          <a:p>
            <a:pPr marL="514350" indent="-514350" algn="just">
              <a:buFont typeface="+mj-lt"/>
              <a:buAutoNum type="arabicPeriod"/>
            </a:pPr>
            <a:endParaRPr lang="es-ES" sz="4500" dirty="0" smtClean="0">
              <a:latin typeface="Arial" pitchFamily="34" charset="0"/>
              <a:cs typeface="Arial" pitchFamily="34" charset="0"/>
            </a:endParaRPr>
          </a:p>
          <a:p>
            <a:pPr marL="514350" indent="-514350" algn="just">
              <a:buFont typeface="+mj-lt"/>
              <a:buAutoNum type="arabicPeriod"/>
            </a:pPr>
            <a:r>
              <a:rPr lang="es-ES" sz="4500" dirty="0" smtClean="0">
                <a:latin typeface="Arial" pitchFamily="34" charset="0"/>
                <a:cs typeface="Arial" pitchFamily="34" charset="0"/>
              </a:rPr>
              <a:t>¿Para que existe la empresa? ¿cuál es el propósito básico?</a:t>
            </a:r>
          </a:p>
          <a:p>
            <a:pPr marL="514350" indent="-514350" algn="just">
              <a:buFont typeface="+mj-lt"/>
              <a:buAutoNum type="arabicPeriod"/>
            </a:pPr>
            <a:endParaRPr lang="es-ES" sz="4500" dirty="0" smtClean="0">
              <a:latin typeface="Arial" pitchFamily="34" charset="0"/>
              <a:cs typeface="Arial" pitchFamily="34" charset="0"/>
            </a:endParaRPr>
          </a:p>
          <a:p>
            <a:pPr marL="514350" indent="-514350" algn="just">
              <a:buFont typeface="+mj-lt"/>
              <a:buAutoNum type="arabicPeriod"/>
            </a:pPr>
            <a:r>
              <a:rPr lang="es-ES" sz="4500" dirty="0" smtClean="0">
                <a:latin typeface="Arial" pitchFamily="34" charset="0"/>
                <a:cs typeface="Arial" pitchFamily="34" charset="0"/>
              </a:rPr>
              <a:t>¿Cuales son los elementos diferenciales de la compañía?</a:t>
            </a:r>
          </a:p>
          <a:p>
            <a:pPr marL="514350" indent="-514350" algn="just">
              <a:buFont typeface="+mj-lt"/>
              <a:buAutoNum type="arabicPeriod"/>
            </a:pPr>
            <a:endParaRPr lang="es-ES" sz="4500" dirty="0" smtClean="0">
              <a:latin typeface="Arial" pitchFamily="34" charset="0"/>
              <a:cs typeface="Arial" pitchFamily="34" charset="0"/>
            </a:endParaRPr>
          </a:p>
          <a:p>
            <a:pPr marL="514350" indent="-514350" algn="just">
              <a:buFont typeface="+mj-lt"/>
              <a:buAutoNum type="arabicPeriod"/>
            </a:pPr>
            <a:r>
              <a:rPr lang="es-ES" sz="4500" dirty="0" smtClean="0">
                <a:latin typeface="Arial" pitchFamily="34" charset="0"/>
                <a:cs typeface="Arial" pitchFamily="34" charset="0"/>
              </a:rPr>
              <a:t>¿Quiénes son nuestros clientes?</a:t>
            </a:r>
          </a:p>
          <a:p>
            <a:endParaRPr lang="es-ES" sz="3600" dirty="0" smtClean="0">
              <a:latin typeface="Arial" pitchFamily="34" charset="0"/>
              <a:cs typeface="Arial" pitchFamily="34" charset="0"/>
            </a:endParaRPr>
          </a:p>
          <a:p>
            <a:pPr marL="514350" indent="-514350" algn="just">
              <a:buFont typeface="+mj-lt"/>
              <a:buAutoNum type="arabicPeriod"/>
            </a:pPr>
            <a:endParaRPr lang="es-ES" sz="4500" dirty="0" smtClean="0">
              <a:latin typeface="Arial" pitchFamily="34" charset="0"/>
              <a:cs typeface="Arial" pitchFamily="34"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500042"/>
            <a:ext cx="7239000" cy="5955694"/>
          </a:xfrm>
        </p:spPr>
        <p:txBody>
          <a:bodyPr>
            <a:normAutofit fontScale="92500" lnSpcReduction="10000"/>
          </a:bodyPr>
          <a:lstStyle/>
          <a:p>
            <a:pPr marL="514350" indent="-514350" algn="just">
              <a:buFont typeface="+mj-lt"/>
              <a:buAutoNum type="arabicPeriod" startAt="5"/>
            </a:pPr>
            <a:r>
              <a:rPr lang="es-ES" sz="2800" dirty="0" smtClean="0">
                <a:latin typeface="Arial" pitchFamily="34" charset="0"/>
                <a:cs typeface="Arial" pitchFamily="34" charset="0"/>
              </a:rPr>
              <a:t>¿Cuáles con los productos o servicios presentes y futuros?</a:t>
            </a:r>
          </a:p>
          <a:p>
            <a:pPr marL="514350" indent="-514350" algn="just">
              <a:buFont typeface="+mj-lt"/>
              <a:buAutoNum type="arabicPeriod" startAt="5"/>
            </a:pPr>
            <a:endParaRPr lang="es-ES" sz="2800" dirty="0" smtClean="0">
              <a:latin typeface="Arial" pitchFamily="34" charset="0"/>
              <a:cs typeface="Arial" pitchFamily="34" charset="0"/>
            </a:endParaRPr>
          </a:p>
          <a:p>
            <a:pPr marL="514350" indent="-514350" algn="just">
              <a:buFont typeface="+mj-lt"/>
              <a:buAutoNum type="arabicPeriod" startAt="5"/>
            </a:pPr>
            <a:r>
              <a:rPr lang="es-ES" sz="2800" dirty="0" smtClean="0">
                <a:latin typeface="Arial" pitchFamily="34" charset="0"/>
                <a:cs typeface="Arial" pitchFamily="34" charset="0"/>
              </a:rPr>
              <a:t>¿Cuáles son los mercados presentes y futuros de la empresa?</a:t>
            </a:r>
          </a:p>
          <a:p>
            <a:pPr marL="514350" indent="-514350" algn="just">
              <a:buFont typeface="+mj-lt"/>
              <a:buAutoNum type="arabicPeriod" startAt="5"/>
            </a:pPr>
            <a:endParaRPr lang="es-ES" sz="2800" dirty="0" smtClean="0">
              <a:latin typeface="Arial" pitchFamily="34" charset="0"/>
              <a:cs typeface="Arial" pitchFamily="34" charset="0"/>
            </a:endParaRPr>
          </a:p>
          <a:p>
            <a:pPr marL="514350" indent="-514350" algn="just">
              <a:buFont typeface="+mj-lt"/>
              <a:buAutoNum type="arabicPeriod" startAt="5"/>
            </a:pPr>
            <a:r>
              <a:rPr lang="es-ES" sz="2800" dirty="0" smtClean="0">
                <a:latin typeface="Arial" pitchFamily="34" charset="0"/>
                <a:cs typeface="Arial" pitchFamily="34" charset="0"/>
              </a:rPr>
              <a:t>¿Cuáles son los objetivos de rentabilidad de la empresa?</a:t>
            </a:r>
          </a:p>
          <a:p>
            <a:pPr marL="514350" indent="-514350" algn="just">
              <a:buFont typeface="+mj-lt"/>
              <a:buAutoNum type="arabicPeriod" startAt="5"/>
            </a:pPr>
            <a:endParaRPr lang="es-ES" sz="2800" dirty="0" smtClean="0">
              <a:latin typeface="Arial" pitchFamily="34" charset="0"/>
              <a:cs typeface="Arial" pitchFamily="34" charset="0"/>
            </a:endParaRPr>
          </a:p>
          <a:p>
            <a:pPr marL="514350" indent="-514350" algn="just">
              <a:buFont typeface="+mj-lt"/>
              <a:buAutoNum type="arabicPeriod" startAt="5"/>
            </a:pPr>
            <a:r>
              <a:rPr lang="es-ES" sz="2800" dirty="0" smtClean="0">
                <a:latin typeface="Arial" pitchFamily="34" charset="0"/>
                <a:cs typeface="Arial" pitchFamily="34" charset="0"/>
              </a:rPr>
              <a:t>¿Cuáles son los principios organizacionales?</a:t>
            </a:r>
          </a:p>
          <a:p>
            <a:pPr marL="514350" indent="-514350" algn="just">
              <a:buFont typeface="+mj-lt"/>
              <a:buAutoNum type="arabicPeriod" startAt="5"/>
            </a:pPr>
            <a:endParaRPr lang="es-ES" sz="2800" dirty="0" smtClean="0">
              <a:latin typeface="Arial" pitchFamily="34" charset="0"/>
              <a:cs typeface="Arial" pitchFamily="34" charset="0"/>
            </a:endParaRPr>
          </a:p>
          <a:p>
            <a:pPr marL="514350" indent="-514350" algn="just">
              <a:buFont typeface="+mj-lt"/>
              <a:buAutoNum type="arabicPeriod" startAt="5"/>
            </a:pPr>
            <a:r>
              <a:rPr lang="es-ES" sz="2800" dirty="0" smtClean="0">
                <a:latin typeface="Arial" pitchFamily="34" charset="0"/>
                <a:cs typeface="Arial" pitchFamily="34" charset="0"/>
              </a:rPr>
              <a:t>¿Cuáles son los compromisos con los grupos de referencia?</a:t>
            </a:r>
          </a:p>
          <a:p>
            <a:pPr marL="514350" indent="-514350">
              <a:buNone/>
            </a:pPr>
            <a:endParaRPr lang="es-ES" sz="1200" dirty="0" smtClean="0">
              <a:latin typeface="Arial" pitchFamily="34" charset="0"/>
              <a:cs typeface="Arial" pitchFamily="34" charset="0"/>
            </a:endParaRPr>
          </a:p>
          <a:p>
            <a:endParaRPr lang="es-E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normAutofit/>
          </a:bodyPr>
          <a:lstStyle/>
          <a:p>
            <a:r>
              <a:rPr lang="es-ES" sz="2800" dirty="0" smtClean="0">
                <a:latin typeface="Arial" pitchFamily="34" charset="0"/>
                <a:cs typeface="Arial" pitchFamily="34" charset="0"/>
              </a:rPr>
              <a:t>ALCATEL: </a:t>
            </a:r>
          </a:p>
          <a:p>
            <a:pPr>
              <a:buFont typeface="Wingdings" pitchFamily="2" charset="2"/>
              <a:buChar char="q"/>
            </a:pPr>
            <a:r>
              <a:rPr lang="es-ES" sz="2800" dirty="0" smtClean="0">
                <a:latin typeface="Arial" pitchFamily="34" charset="0"/>
                <a:cs typeface="Arial" pitchFamily="34" charset="0"/>
              </a:rPr>
              <a:t>Misión: EL compromiso central de Alcatel de Colombia S.A. es la satisfacción de las necesidades y expectativas del cliente, suministrándoles soluciones integrales de comunicación de la mas avanzada tecnología en todos los campos, garantizando su eficiencia en e tiempo para mantenernos como lideres en servicio y rentabilidad.</a:t>
            </a:r>
          </a:p>
        </p:txBody>
      </p:sp>
      <p:sp>
        <p:nvSpPr>
          <p:cNvPr id="5" name="4 Rectángulo"/>
          <p:cNvSpPr/>
          <p:nvPr/>
        </p:nvSpPr>
        <p:spPr>
          <a:xfrm>
            <a:off x="285720" y="357166"/>
            <a:ext cx="7066358" cy="923330"/>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5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EJEMPLOS DE MISION</a:t>
            </a:r>
            <a:endParaRPr lang="es-E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500042"/>
            <a:ext cx="7472386" cy="5955694"/>
          </a:xfrm>
        </p:spPr>
        <p:txBody>
          <a:bodyPr>
            <a:normAutofit/>
          </a:bodyPr>
          <a:lstStyle/>
          <a:p>
            <a:r>
              <a:rPr lang="es-ES" sz="3600" dirty="0" smtClean="0">
                <a:latin typeface="Arial" pitchFamily="34" charset="0"/>
                <a:cs typeface="Arial" pitchFamily="34" charset="0"/>
              </a:rPr>
              <a:t>BANCO PAPULAR GLOBAL</a:t>
            </a:r>
          </a:p>
          <a:p>
            <a:pPr>
              <a:buNone/>
            </a:pPr>
            <a:endParaRPr lang="es-ES" sz="3600" dirty="0" smtClean="0">
              <a:latin typeface="Arial" pitchFamily="34" charset="0"/>
              <a:cs typeface="Arial" pitchFamily="34" charset="0"/>
            </a:endParaRPr>
          </a:p>
          <a:p>
            <a:pPr algn="just">
              <a:buFont typeface="Wingdings" pitchFamily="2" charset="2"/>
              <a:buChar char="q"/>
            </a:pPr>
            <a:r>
              <a:rPr lang="es-ES" sz="3600" dirty="0" smtClean="0">
                <a:latin typeface="Arial" pitchFamily="34" charset="0"/>
                <a:cs typeface="Arial" pitchFamily="34" charset="0"/>
              </a:rPr>
              <a:t>Misión: Desarrollar y prestar servicios financieros integrados de excelente calidad para satisfacer oportunamente las necesidades y expectativas de los diversos sectores institucionales</a:t>
            </a:r>
            <a:r>
              <a:rPr lang="es-ES" sz="3600" dirty="0" smtClean="0"/>
              <a:t>. </a:t>
            </a:r>
            <a:endParaRPr lang="es-ES" sz="36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Grp="1" noChangeArrowheads="1"/>
          </p:cNvSpPr>
          <p:nvPr>
            <p:ph idx="1"/>
          </p:nvPr>
        </p:nvSpPr>
        <p:spPr/>
        <p:txBody>
          <a:bodyPr>
            <a:normAutofit/>
          </a:bodyPr>
          <a:lstStyle/>
          <a:p>
            <a:pPr eaLnBrk="1" hangingPunct="1"/>
            <a:r>
              <a:rPr lang="es-MX" sz="2400" dirty="0" smtClean="0">
                <a:latin typeface="Verdana" pitchFamily="34" charset="0"/>
              </a:rPr>
              <a:t>Es un conjunto de ideas generales, que provienen de lo que una empresa quiere y espera ver en el futuro</a:t>
            </a:r>
          </a:p>
          <a:p>
            <a:pPr eaLnBrk="1" hangingPunct="1"/>
            <a:r>
              <a:rPr lang="es-MX" sz="2400" dirty="0" smtClean="0">
                <a:latin typeface="Verdana" pitchFamily="34" charset="0"/>
              </a:rPr>
              <a:t>Señala un camino a la alta gerencia para establecer un rumbo, para lograr el desarrollo de la organización a futuro.</a:t>
            </a:r>
          </a:p>
          <a:p>
            <a:pPr eaLnBrk="1" hangingPunct="1"/>
            <a:r>
              <a:rPr lang="es-MX" sz="2400" dirty="0" smtClean="0">
                <a:latin typeface="Verdana" pitchFamily="34" charset="0"/>
              </a:rPr>
              <a:t>No se expresa en términos numéricos</a:t>
            </a:r>
          </a:p>
          <a:p>
            <a:pPr eaLnBrk="1" hangingPunct="1"/>
            <a:r>
              <a:rPr lang="es-MX" sz="2400" dirty="0" smtClean="0">
                <a:latin typeface="Verdana" pitchFamily="34" charset="0"/>
              </a:rPr>
              <a:t>Debe ser amplia e inspiradora, y conocida por todos</a:t>
            </a:r>
          </a:p>
          <a:p>
            <a:pPr eaLnBrk="1" hangingPunct="1"/>
            <a:r>
              <a:rPr lang="es-MX" sz="2400" dirty="0" smtClean="0">
                <a:latin typeface="Verdana" pitchFamily="34" charset="0"/>
              </a:rPr>
              <a:t>Es la cadena que une, en las empresas, el presente y el futuro.</a:t>
            </a:r>
            <a:endParaRPr lang="es-ES" sz="2400" dirty="0" smtClean="0">
              <a:latin typeface="Verdana" pitchFamily="34" charset="0"/>
            </a:endParaRPr>
          </a:p>
        </p:txBody>
      </p:sp>
      <p:sp>
        <p:nvSpPr>
          <p:cNvPr id="4" name="3 Rectángulo"/>
          <p:cNvSpPr/>
          <p:nvPr/>
        </p:nvSpPr>
        <p:spPr>
          <a:xfrm>
            <a:off x="214282" y="214290"/>
            <a:ext cx="7643866" cy="1446550"/>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MX" sz="4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Verdana" pitchFamily="34" charset="0"/>
              </a:rPr>
              <a:t>3.  LA VISIÓN CORPORATIVA </a:t>
            </a:r>
            <a:endParaRPr lang="es-ES" sz="4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500034" y="2011680"/>
            <a:ext cx="7239000" cy="4846320"/>
          </a:xfrm>
        </p:spPr>
        <p:txBody>
          <a:bodyPr/>
          <a:lstStyle/>
          <a:p>
            <a:pPr marL="609600" indent="-609600" eaLnBrk="1" hangingPunct="1">
              <a:lnSpc>
                <a:spcPct val="110000"/>
              </a:lnSpc>
              <a:buFontTx/>
              <a:buAutoNum type="arabicPeriod"/>
            </a:pPr>
            <a:r>
              <a:rPr lang="es-MX" sz="2400" dirty="0" smtClean="0">
                <a:latin typeface="Verdana" pitchFamily="34" charset="0"/>
              </a:rPr>
              <a:t>Es formuladora para los lideres de la organización.</a:t>
            </a:r>
          </a:p>
          <a:p>
            <a:pPr marL="609600" indent="-609600" eaLnBrk="1" hangingPunct="1">
              <a:lnSpc>
                <a:spcPct val="110000"/>
              </a:lnSpc>
              <a:buFontTx/>
              <a:buAutoNum type="arabicPeriod"/>
            </a:pPr>
            <a:r>
              <a:rPr lang="es-MX" sz="2400" dirty="0" smtClean="0">
                <a:latin typeface="Verdana" pitchFamily="34" charset="0"/>
              </a:rPr>
              <a:t>Tiene la dimensión del tiempo</a:t>
            </a:r>
          </a:p>
          <a:p>
            <a:pPr marL="609600" indent="-609600" eaLnBrk="1" hangingPunct="1">
              <a:lnSpc>
                <a:spcPct val="110000"/>
              </a:lnSpc>
              <a:buFontTx/>
              <a:buAutoNum type="arabicPeriod"/>
            </a:pPr>
            <a:r>
              <a:rPr lang="es-MX" sz="2400" dirty="0" smtClean="0">
                <a:latin typeface="Verdana" pitchFamily="34" charset="0"/>
              </a:rPr>
              <a:t>Es integradora</a:t>
            </a:r>
          </a:p>
          <a:p>
            <a:pPr marL="609600" indent="-609600" eaLnBrk="1" hangingPunct="1">
              <a:lnSpc>
                <a:spcPct val="110000"/>
              </a:lnSpc>
              <a:buFontTx/>
              <a:buAutoNum type="arabicPeriod"/>
            </a:pPr>
            <a:r>
              <a:rPr lang="es-MX" sz="2400" dirty="0" smtClean="0">
                <a:latin typeface="Verdana" pitchFamily="34" charset="0"/>
              </a:rPr>
              <a:t>Es amplia y detallada</a:t>
            </a:r>
          </a:p>
          <a:p>
            <a:pPr marL="609600" indent="-609600" eaLnBrk="1" hangingPunct="1">
              <a:lnSpc>
                <a:spcPct val="110000"/>
              </a:lnSpc>
              <a:buFontTx/>
              <a:buAutoNum type="arabicPeriod"/>
            </a:pPr>
            <a:r>
              <a:rPr lang="es-MX" sz="2400" dirty="0" smtClean="0">
                <a:latin typeface="Verdana" pitchFamily="34" charset="0"/>
              </a:rPr>
              <a:t>Positiva y alentadora</a:t>
            </a:r>
          </a:p>
          <a:p>
            <a:pPr marL="609600" indent="-609600" eaLnBrk="1" hangingPunct="1">
              <a:lnSpc>
                <a:spcPct val="110000"/>
              </a:lnSpc>
              <a:buFontTx/>
              <a:buAutoNum type="arabicPeriod"/>
            </a:pPr>
            <a:r>
              <a:rPr lang="es-MX" sz="2400" dirty="0" smtClean="0">
                <a:latin typeface="Verdana" pitchFamily="34" charset="0"/>
              </a:rPr>
              <a:t>Debe ser realista-posible</a:t>
            </a:r>
          </a:p>
          <a:p>
            <a:pPr marL="609600" indent="-609600" eaLnBrk="1" hangingPunct="1">
              <a:lnSpc>
                <a:spcPct val="110000"/>
              </a:lnSpc>
              <a:buFontTx/>
              <a:buAutoNum type="arabicPeriod"/>
            </a:pPr>
            <a:r>
              <a:rPr lang="es-MX" sz="2400" dirty="0" smtClean="0">
                <a:latin typeface="Verdana" pitchFamily="34" charset="0"/>
              </a:rPr>
              <a:t>Consistente</a:t>
            </a:r>
          </a:p>
          <a:p>
            <a:pPr marL="609600" indent="-609600" eaLnBrk="1" hangingPunct="1">
              <a:lnSpc>
                <a:spcPct val="110000"/>
              </a:lnSpc>
              <a:buFontTx/>
              <a:buAutoNum type="arabicPeriod"/>
            </a:pPr>
            <a:r>
              <a:rPr lang="es-MX" sz="2400" dirty="0" smtClean="0">
                <a:latin typeface="Verdana" pitchFamily="34" charset="0"/>
              </a:rPr>
              <a:t>Difundida interna y externamente</a:t>
            </a:r>
            <a:endParaRPr lang="es-ES" sz="2400" dirty="0" smtClean="0">
              <a:latin typeface="Verdana" pitchFamily="34" charset="0"/>
            </a:endParaRPr>
          </a:p>
        </p:txBody>
      </p:sp>
      <p:sp>
        <p:nvSpPr>
          <p:cNvPr id="4" name="3 Rectángulo"/>
          <p:cNvSpPr/>
          <p:nvPr/>
        </p:nvSpPr>
        <p:spPr>
          <a:xfrm>
            <a:off x="0" y="285728"/>
            <a:ext cx="8715404" cy="1446550"/>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MX" sz="4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Verdana" pitchFamily="34" charset="0"/>
              </a:rPr>
              <a:t>ELEMENTOS DE LA VISIÓN:</a:t>
            </a:r>
            <a:endParaRPr lang="es-ES" sz="4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idx="1"/>
          </p:nvPr>
        </p:nvSpPr>
        <p:spPr/>
        <p:txBody>
          <a:bodyPr>
            <a:normAutofit fontScale="92500"/>
          </a:bodyPr>
          <a:lstStyle/>
          <a:p>
            <a:pPr eaLnBrk="1" hangingPunct="1"/>
            <a:r>
              <a:rPr lang="es-MX" b="1" dirty="0" smtClean="0">
                <a:latin typeface="Verdana" pitchFamily="34" charset="0"/>
              </a:rPr>
              <a:t>EDESA</a:t>
            </a:r>
          </a:p>
          <a:p>
            <a:pPr eaLnBrk="1" hangingPunct="1">
              <a:buFontTx/>
              <a:buNone/>
            </a:pPr>
            <a:r>
              <a:rPr lang="es-MX" sz="2400" dirty="0" smtClean="0">
                <a:latin typeface="Verdana" pitchFamily="34" charset="0"/>
              </a:rPr>
              <a:t>Empresa líder dentro de la industria de acabados de </a:t>
            </a:r>
          </a:p>
          <a:p>
            <a:pPr eaLnBrk="1" hangingPunct="1">
              <a:buFontTx/>
              <a:buNone/>
            </a:pPr>
            <a:r>
              <a:rPr lang="es-MX" sz="2400" dirty="0" smtClean="0">
                <a:latin typeface="Verdana" pitchFamily="34" charset="0"/>
              </a:rPr>
              <a:t>la construcción, por su éxito con los </a:t>
            </a:r>
          </a:p>
          <a:p>
            <a:pPr eaLnBrk="1" hangingPunct="1">
              <a:buFontTx/>
              <a:buNone/>
            </a:pPr>
            <a:r>
              <a:rPr lang="es-MX" sz="2400" dirty="0" smtClean="0">
                <a:latin typeface="Verdana" pitchFamily="34" charset="0"/>
              </a:rPr>
              <a:t>clientes, innovación, tecnología y habilidad para </a:t>
            </a:r>
          </a:p>
          <a:p>
            <a:pPr eaLnBrk="1" hangingPunct="1">
              <a:buFontTx/>
              <a:buNone/>
            </a:pPr>
            <a:r>
              <a:rPr lang="es-MX" sz="2400" dirty="0" smtClean="0">
                <a:latin typeface="Verdana" pitchFamily="34" charset="0"/>
              </a:rPr>
              <a:t>competir exitosamente en los mercados </a:t>
            </a:r>
          </a:p>
          <a:p>
            <a:pPr eaLnBrk="1" hangingPunct="1">
              <a:buFontTx/>
              <a:buNone/>
            </a:pPr>
            <a:r>
              <a:rPr lang="es-MX" sz="2400" dirty="0" smtClean="0">
                <a:latin typeface="Verdana" pitchFamily="34" charset="0"/>
              </a:rPr>
              <a:t>internacionales</a:t>
            </a:r>
          </a:p>
          <a:p>
            <a:pPr eaLnBrk="1" hangingPunct="1">
              <a:buFontTx/>
              <a:buNone/>
            </a:pPr>
            <a:r>
              <a:rPr lang="es-MX" sz="2400" dirty="0" smtClean="0">
                <a:latin typeface="Verdana" pitchFamily="34" charset="0"/>
              </a:rPr>
              <a:t>Destacados además, por su dedicación a la </a:t>
            </a:r>
          </a:p>
          <a:p>
            <a:pPr eaLnBrk="1" hangingPunct="1">
              <a:buFontTx/>
              <a:buNone/>
            </a:pPr>
            <a:r>
              <a:rPr lang="es-MX" sz="2400" dirty="0" smtClean="0">
                <a:latin typeface="Verdana" pitchFamily="34" charset="0"/>
              </a:rPr>
              <a:t>formación, capacitación y desarrollo de sus </a:t>
            </a:r>
          </a:p>
          <a:p>
            <a:pPr eaLnBrk="1" hangingPunct="1">
              <a:buFontTx/>
              <a:buNone/>
            </a:pPr>
            <a:r>
              <a:rPr lang="es-MX" sz="2400" dirty="0" smtClean="0">
                <a:latin typeface="Verdana" pitchFamily="34" charset="0"/>
              </a:rPr>
              <a:t>Empleados, respeto integral al medio ambiente y </a:t>
            </a:r>
          </a:p>
          <a:p>
            <a:pPr eaLnBrk="1" hangingPunct="1">
              <a:buFontTx/>
              <a:buNone/>
            </a:pPr>
            <a:r>
              <a:rPr lang="es-MX" sz="2400" dirty="0" smtClean="0">
                <a:latin typeface="Verdana" pitchFamily="34" charset="0"/>
              </a:rPr>
              <a:t>compromiso con el desarrollo del país.</a:t>
            </a:r>
            <a:endParaRPr lang="es-ES" sz="2400" dirty="0" smtClean="0">
              <a:latin typeface="Verdana" pitchFamily="34" charset="0"/>
            </a:endParaRPr>
          </a:p>
        </p:txBody>
      </p:sp>
      <p:sp>
        <p:nvSpPr>
          <p:cNvPr id="4" name="3 Rectángulo"/>
          <p:cNvSpPr/>
          <p:nvPr/>
        </p:nvSpPr>
        <p:spPr>
          <a:xfrm>
            <a:off x="0" y="428604"/>
            <a:ext cx="8292656" cy="923330"/>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MX" sz="5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Verdana" pitchFamily="34" charset="0"/>
              </a:rPr>
              <a:t>EJEMPLO DE VISIÓN</a:t>
            </a:r>
            <a:endParaRPr lang="es-E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Grp="1" noChangeArrowheads="1"/>
          </p:cNvSpPr>
          <p:nvPr>
            <p:ph idx="1"/>
          </p:nvPr>
        </p:nvSpPr>
        <p:spPr>
          <a:xfrm>
            <a:off x="395288" y="476250"/>
            <a:ext cx="8229600" cy="4525963"/>
          </a:xfrm>
        </p:spPr>
        <p:txBody>
          <a:bodyPr>
            <a:normAutofit fontScale="77500" lnSpcReduction="20000"/>
          </a:bodyPr>
          <a:lstStyle/>
          <a:p>
            <a:pPr eaLnBrk="1" hangingPunct="1">
              <a:lnSpc>
                <a:spcPct val="120000"/>
              </a:lnSpc>
            </a:pPr>
            <a:r>
              <a:rPr lang="es-MX" b="1" dirty="0" smtClean="0">
                <a:latin typeface="Verdana" pitchFamily="34" charset="0"/>
              </a:rPr>
              <a:t>Multibanco BG</a:t>
            </a:r>
          </a:p>
          <a:p>
            <a:pPr eaLnBrk="1" hangingPunct="1">
              <a:lnSpc>
                <a:spcPct val="120000"/>
              </a:lnSpc>
            </a:pPr>
            <a:endParaRPr lang="es-MX" b="1" dirty="0" smtClean="0">
              <a:latin typeface="Verdana" pitchFamily="34" charset="0"/>
            </a:endParaRPr>
          </a:p>
          <a:p>
            <a:pPr eaLnBrk="1" hangingPunct="1">
              <a:lnSpc>
                <a:spcPct val="120000"/>
              </a:lnSpc>
              <a:buFontTx/>
              <a:buNone/>
            </a:pPr>
            <a:r>
              <a:rPr lang="es-MX" sz="2400" dirty="0" smtClean="0">
                <a:latin typeface="Verdana" pitchFamily="34" charset="0"/>
              </a:rPr>
              <a:t>“El multibanco BG será en tres años el banco líder </a:t>
            </a:r>
          </a:p>
          <a:p>
            <a:pPr eaLnBrk="1" hangingPunct="1">
              <a:lnSpc>
                <a:spcPct val="120000"/>
              </a:lnSpc>
              <a:buFontTx/>
              <a:buNone/>
            </a:pPr>
            <a:r>
              <a:rPr lang="es-MX" sz="2400" dirty="0" smtClean="0">
                <a:latin typeface="Verdana" pitchFamily="34" charset="0"/>
              </a:rPr>
              <a:t>en la innovación de productos, con el mejor talento </a:t>
            </a:r>
          </a:p>
          <a:p>
            <a:pPr eaLnBrk="1" hangingPunct="1">
              <a:lnSpc>
                <a:spcPct val="120000"/>
              </a:lnSpc>
              <a:buFontTx/>
              <a:buNone/>
            </a:pPr>
            <a:r>
              <a:rPr lang="es-MX" sz="2400" dirty="0" smtClean="0">
                <a:latin typeface="Verdana" pitchFamily="34" charset="0"/>
              </a:rPr>
              <a:t>Humano, con una organización ágil que se </a:t>
            </a:r>
          </a:p>
          <a:p>
            <a:pPr eaLnBrk="1" hangingPunct="1">
              <a:lnSpc>
                <a:spcPct val="120000"/>
              </a:lnSpc>
              <a:buFontTx/>
              <a:buNone/>
            </a:pPr>
            <a:r>
              <a:rPr lang="es-MX" sz="2400" dirty="0" smtClean="0">
                <a:latin typeface="Verdana" pitchFamily="34" charset="0"/>
              </a:rPr>
              <a:t>identifique por su pro-actividad y capacidad de </a:t>
            </a:r>
          </a:p>
          <a:p>
            <a:pPr eaLnBrk="1" hangingPunct="1">
              <a:lnSpc>
                <a:spcPct val="120000"/>
              </a:lnSpc>
              <a:buFontTx/>
              <a:buNone/>
            </a:pPr>
            <a:r>
              <a:rPr lang="es-MX" sz="2400" dirty="0" smtClean="0">
                <a:latin typeface="Verdana" pitchFamily="34" charset="0"/>
              </a:rPr>
              <a:t>respuesta frente al los cambios.</a:t>
            </a:r>
          </a:p>
          <a:p>
            <a:pPr eaLnBrk="1" hangingPunct="1">
              <a:lnSpc>
                <a:spcPct val="120000"/>
              </a:lnSpc>
              <a:buFontTx/>
              <a:buNone/>
            </a:pPr>
            <a:r>
              <a:rPr lang="es-MX" sz="2400" dirty="0" smtClean="0">
                <a:latin typeface="Verdana" pitchFamily="34" charset="0"/>
              </a:rPr>
              <a:t>El multibanco BG liderara un grupo corporativo, </a:t>
            </a:r>
          </a:p>
          <a:p>
            <a:pPr eaLnBrk="1" hangingPunct="1">
              <a:lnSpc>
                <a:spcPct val="120000"/>
              </a:lnSpc>
              <a:buFontTx/>
              <a:buNone/>
            </a:pPr>
            <a:r>
              <a:rPr lang="es-MX" sz="2400" dirty="0" smtClean="0">
                <a:latin typeface="Verdana" pitchFamily="34" charset="0"/>
              </a:rPr>
              <a:t>tendrá una sólida situación financiera y </a:t>
            </a:r>
          </a:p>
          <a:p>
            <a:pPr eaLnBrk="1" hangingPunct="1">
              <a:lnSpc>
                <a:spcPct val="120000"/>
              </a:lnSpc>
              <a:buFontTx/>
              <a:buNone/>
            </a:pPr>
            <a:r>
              <a:rPr lang="es-MX" sz="2400" dirty="0" smtClean="0">
                <a:latin typeface="Verdana" pitchFamily="34" charset="0"/>
              </a:rPr>
              <a:t>consolidara su función dentro de los primeros </a:t>
            </a:r>
          </a:p>
          <a:p>
            <a:pPr eaLnBrk="1" hangingPunct="1">
              <a:lnSpc>
                <a:spcPct val="120000"/>
              </a:lnSpc>
              <a:buFontTx/>
              <a:buNone/>
            </a:pPr>
            <a:r>
              <a:rPr lang="es-MX" sz="2400" dirty="0" smtClean="0">
                <a:latin typeface="Verdana" pitchFamily="34" charset="0"/>
              </a:rPr>
              <a:t>bancos del país incrementando su participación en</a:t>
            </a:r>
          </a:p>
          <a:p>
            <a:pPr eaLnBrk="1" hangingPunct="1">
              <a:lnSpc>
                <a:spcPct val="120000"/>
              </a:lnSpc>
              <a:buFontTx/>
              <a:buNone/>
            </a:pPr>
            <a:r>
              <a:rPr lang="es-MX" sz="2400" dirty="0" smtClean="0">
                <a:latin typeface="Verdana" pitchFamily="34" charset="0"/>
              </a:rPr>
              <a:t> el mercado”.</a:t>
            </a:r>
            <a:endParaRPr lang="es-ES" sz="2400" dirty="0" smtClean="0">
              <a:latin typeface="Verdana" pitchFamily="34"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3"/>
          <p:cNvSpPr>
            <a:spLocks noGrp="1" noChangeArrowheads="1"/>
          </p:cNvSpPr>
          <p:nvPr>
            <p:ph idx="1"/>
          </p:nvPr>
        </p:nvSpPr>
        <p:spPr>
          <a:xfrm>
            <a:off x="0" y="2143116"/>
            <a:ext cx="8229600" cy="4525963"/>
          </a:xfrm>
        </p:spPr>
        <p:txBody>
          <a:bodyPr/>
          <a:lstStyle/>
          <a:p>
            <a:pPr>
              <a:lnSpc>
                <a:spcPct val="120000"/>
              </a:lnSpc>
            </a:pPr>
            <a:r>
              <a:rPr lang="es-MX" sz="2400" dirty="0" smtClean="0">
                <a:latin typeface="Verdana" pitchFamily="34" charset="0"/>
              </a:rPr>
              <a:t>Las estrategias deben difundirse en toda la organización para lograr la identificación de sus responsabilidades ejecutando el plan y teniendo compromiso con este.</a:t>
            </a:r>
          </a:p>
          <a:p>
            <a:pPr>
              <a:lnSpc>
                <a:spcPct val="120000"/>
              </a:lnSpc>
            </a:pPr>
            <a:r>
              <a:rPr lang="es-MX" sz="2400" dirty="0" smtClean="0">
                <a:latin typeface="Verdana" pitchFamily="34" charset="0"/>
              </a:rPr>
              <a:t>Debe realizarse en cascada: para consolidar el liderazgo en cada nivel de la cascada.</a:t>
            </a:r>
          </a:p>
          <a:p>
            <a:pPr>
              <a:lnSpc>
                <a:spcPct val="120000"/>
              </a:lnSpc>
            </a:pPr>
            <a:r>
              <a:rPr lang="es-MX" sz="2400" dirty="0" smtClean="0">
                <a:latin typeface="Verdana" pitchFamily="34" charset="0"/>
              </a:rPr>
              <a:t>Con la difusión se hará mas eficiente y controlable las estrategias en los niveles.</a:t>
            </a:r>
          </a:p>
          <a:p>
            <a:pPr>
              <a:lnSpc>
                <a:spcPct val="120000"/>
              </a:lnSpc>
            </a:pPr>
            <a:endParaRPr lang="es-ES" sz="2400" dirty="0" smtClean="0">
              <a:solidFill>
                <a:schemeClr val="bg1"/>
              </a:solidFill>
              <a:latin typeface="Verdana" pitchFamily="34" charset="0"/>
            </a:endParaRPr>
          </a:p>
        </p:txBody>
      </p:sp>
      <p:sp>
        <p:nvSpPr>
          <p:cNvPr id="4" name="3 Rectángulo"/>
          <p:cNvSpPr/>
          <p:nvPr/>
        </p:nvSpPr>
        <p:spPr>
          <a:xfrm>
            <a:off x="214282" y="571480"/>
            <a:ext cx="8081006" cy="1200329"/>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MX" sz="36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Verdana" pitchFamily="34" charset="0"/>
              </a:rPr>
              <a:t>4.  LA DIFUSIÓN Y ALINEACIÓN ESTRATÉGICAS</a:t>
            </a:r>
            <a:endParaRPr lang="es-ES" sz="36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0" y="1714488"/>
            <a:ext cx="8229600" cy="4911741"/>
          </a:xfrm>
        </p:spPr>
        <p:txBody>
          <a:bodyPr>
            <a:noAutofit/>
          </a:bodyPr>
          <a:lstStyle/>
          <a:p>
            <a:pPr algn="just">
              <a:buNone/>
            </a:pPr>
            <a:r>
              <a:rPr lang="es-ES" sz="4000" dirty="0" smtClean="0">
                <a:latin typeface="Arial" pitchFamily="34" charset="0"/>
                <a:cs typeface="Arial" pitchFamily="34" charset="0"/>
              </a:rPr>
              <a:t>Los objetivos corporativos son los resultados globales que una organización espera alcanzar en el desarrollo y operacionalizaciòn concreta de su misión y visión. Por ser globales, estos objetivos deben cubrir e involucrar a toda la organización.</a:t>
            </a:r>
            <a:endParaRPr lang="es-ES" sz="4000" dirty="0">
              <a:latin typeface="Arial" pitchFamily="34" charset="0"/>
              <a:cs typeface="Arial" pitchFamily="34" charset="0"/>
            </a:endParaRPr>
          </a:p>
        </p:txBody>
      </p:sp>
      <p:sp>
        <p:nvSpPr>
          <p:cNvPr id="6" name="5 Rectángulo"/>
          <p:cNvSpPr/>
          <p:nvPr/>
        </p:nvSpPr>
        <p:spPr>
          <a:xfrm>
            <a:off x="0" y="214290"/>
            <a:ext cx="8358214" cy="1569660"/>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48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cs typeface="Arial" pitchFamily="34" charset="0"/>
              </a:rPr>
              <a:t>5.  OBJETIVOS CORPORATIVOS</a:t>
            </a:r>
            <a:endParaRPr lang="es-ES" sz="48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357158" y="1785926"/>
            <a:ext cx="7239000" cy="4846320"/>
          </a:xfrm>
        </p:spPr>
        <p:txBody>
          <a:bodyPr>
            <a:normAutofit lnSpcReduction="10000"/>
          </a:bodyPr>
          <a:lstStyle/>
          <a:p>
            <a:pPr algn="just">
              <a:buNone/>
            </a:pPr>
            <a:r>
              <a:rPr lang="es-ES" sz="4000" dirty="0" smtClean="0">
                <a:latin typeface="Arial" pitchFamily="34" charset="0"/>
                <a:cs typeface="Arial" pitchFamily="34" charset="0"/>
              </a:rPr>
              <a:t>Estos objetivos globales corporativos y estrategias son los factores integradores de la tarea de la alta gerencia y, por tanto, deberán reflejarse en los planes funcionales y operativos de cada unidad estratégica de negocio.</a:t>
            </a:r>
            <a:endParaRPr lang="es-ES" sz="4000" dirty="0">
              <a:latin typeface="Arial" pitchFamily="34" charset="0"/>
              <a:cs typeface="Arial" pitchFamily="34" charset="0"/>
            </a:endParaRPr>
          </a:p>
        </p:txBody>
      </p:sp>
      <p:sp>
        <p:nvSpPr>
          <p:cNvPr id="4" name="3 Rectángulo"/>
          <p:cNvSpPr/>
          <p:nvPr/>
        </p:nvSpPr>
        <p:spPr>
          <a:xfrm>
            <a:off x="357158" y="428604"/>
            <a:ext cx="7572428" cy="1200329"/>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36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cs typeface="Arial" pitchFamily="34" charset="0"/>
              </a:rPr>
              <a:t>OBJETIVOS</a:t>
            </a:r>
            <a:r>
              <a:rPr lang="es-ES" sz="36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 GLOBALES, CORPORATIVOS Y ESTRATEGIAS</a:t>
            </a:r>
            <a:endParaRPr lang="es-ES" sz="36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28596" y="2011680"/>
            <a:ext cx="7239000" cy="4846320"/>
          </a:xfrm>
        </p:spPr>
        <p:txBody>
          <a:bodyPr>
            <a:normAutofit/>
          </a:bodyPr>
          <a:lstStyle/>
          <a:p>
            <a:pPr algn="just">
              <a:buNone/>
            </a:pPr>
            <a:r>
              <a:rPr lang="es-ES" sz="4000" dirty="0" smtClean="0">
                <a:latin typeface="Arial" pitchFamily="34" charset="0"/>
                <a:cs typeface="Arial" pitchFamily="34" charset="0"/>
              </a:rPr>
              <a:t>Los objetivos globales identifican las “áreas estratégicas” y definen la dirección que ha de seguirse en la búsqueda por logar la mision y la visión corporativas.</a:t>
            </a:r>
            <a:endParaRPr lang="es-ES" sz="4000" dirty="0">
              <a:latin typeface="Arial" pitchFamily="34" charset="0"/>
              <a:cs typeface="Arial" pitchFamily="34" charset="0"/>
            </a:endParaRPr>
          </a:p>
        </p:txBody>
      </p:sp>
      <p:sp>
        <p:nvSpPr>
          <p:cNvPr id="4" name="3 Rectángulo"/>
          <p:cNvSpPr/>
          <p:nvPr/>
        </p:nvSpPr>
        <p:spPr>
          <a:xfrm>
            <a:off x="285720" y="357166"/>
            <a:ext cx="7786742" cy="1323439"/>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40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cs typeface="Arial" pitchFamily="34" charset="0"/>
              </a:rPr>
              <a:t>OBEJETIVOS GLOBALES CORPORATIVOS</a:t>
            </a:r>
            <a:endParaRPr lang="es-ES" sz="40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28596" y="1785926"/>
            <a:ext cx="7239000" cy="4846320"/>
          </a:xfrm>
        </p:spPr>
        <p:txBody>
          <a:bodyPr>
            <a:normAutofit/>
          </a:bodyPr>
          <a:lstStyle/>
          <a:p>
            <a:pPr algn="just">
              <a:buNone/>
            </a:pPr>
            <a:r>
              <a:rPr lang="es-ES" sz="3600" dirty="0" smtClean="0">
                <a:latin typeface="Arial" pitchFamily="34" charset="0"/>
                <a:cs typeface="Arial" pitchFamily="34" charset="0"/>
              </a:rPr>
              <a:t>La conjunción de los objetivos globales y las estrategias que se definan para cada objetivo integran para la empresa su formulación estratégica corporativa. Esta se concreta al establecer cada uno de ellos en forma concatenada.</a:t>
            </a:r>
            <a:endParaRPr lang="es-ES" sz="3600" dirty="0">
              <a:latin typeface="Arial" pitchFamily="34" charset="0"/>
              <a:cs typeface="Arial" pitchFamily="34" charset="0"/>
            </a:endParaRPr>
          </a:p>
        </p:txBody>
      </p:sp>
      <p:sp>
        <p:nvSpPr>
          <p:cNvPr id="4" name="3 Rectángulo"/>
          <p:cNvSpPr/>
          <p:nvPr/>
        </p:nvSpPr>
        <p:spPr>
          <a:xfrm>
            <a:off x="285720" y="285728"/>
            <a:ext cx="7929618" cy="1323439"/>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40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cs typeface="Arial" pitchFamily="34" charset="0"/>
              </a:rPr>
              <a:t>FORMULACION ESTRATEGICA CORPORATIVA</a:t>
            </a:r>
            <a:endParaRPr lang="es-ES" sz="40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85720" y="1571612"/>
            <a:ext cx="7239000" cy="4846320"/>
          </a:xfrm>
        </p:spPr>
        <p:txBody>
          <a:bodyPr>
            <a:normAutofit/>
          </a:bodyPr>
          <a:lstStyle/>
          <a:p>
            <a:pPr algn="just">
              <a:buNone/>
            </a:pPr>
            <a:r>
              <a:rPr lang="es-ES" sz="4000" dirty="0" smtClean="0"/>
              <a:t>Objetivos corporativos de Paper Ink Corp.</a:t>
            </a:r>
          </a:p>
          <a:p>
            <a:pPr algn="just">
              <a:buNone/>
            </a:pPr>
            <a:r>
              <a:rPr lang="es-ES" sz="4000" dirty="0" smtClean="0"/>
              <a:t>El desarrollo de su mision, Paper Ink corp. Tendrá como objetivos corporativos para los próximos tres años, los siguientes:</a:t>
            </a:r>
            <a:endParaRPr lang="es-ES" sz="4000" dirty="0"/>
          </a:p>
        </p:txBody>
      </p:sp>
      <p:sp>
        <p:nvSpPr>
          <p:cNvPr id="4" name="3 Rectángulo"/>
          <p:cNvSpPr/>
          <p:nvPr/>
        </p:nvSpPr>
        <p:spPr>
          <a:xfrm>
            <a:off x="1" y="428604"/>
            <a:ext cx="8215338" cy="769441"/>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4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cs typeface="Arial" pitchFamily="34" charset="0"/>
              </a:rPr>
              <a:t>EJEMPLOS DE OBJETIVOS</a:t>
            </a:r>
            <a:endParaRPr lang="es-ES" sz="4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214282" y="1071546"/>
            <a:ext cx="7786742" cy="5000660"/>
          </a:xfrm>
        </p:spPr>
        <p:txBody>
          <a:bodyPr>
            <a:normAutofit/>
          </a:bodyPr>
          <a:lstStyle/>
          <a:p>
            <a:pPr marL="514350" indent="-514350" algn="just">
              <a:buNone/>
            </a:pPr>
            <a:r>
              <a:rPr lang="es-ES" sz="3200" dirty="0" smtClean="0">
                <a:latin typeface="Arial" pitchFamily="34" charset="0"/>
                <a:cs typeface="Arial" pitchFamily="34" charset="0"/>
              </a:rPr>
              <a:t>Paper Ink corp.  De crecer en los próximos cinco años para ello fija objetivos con los que debe comprometerse toda organización</a:t>
            </a:r>
          </a:p>
          <a:p>
            <a:pPr marL="514350" indent="-514350" algn="just"/>
            <a:r>
              <a:rPr lang="es-ES" sz="3200" dirty="0" smtClean="0">
                <a:latin typeface="Arial" pitchFamily="34" charset="0"/>
                <a:cs typeface="Arial" pitchFamily="34" charset="0"/>
              </a:rPr>
              <a:t>Consolidación en el mercado laboral</a:t>
            </a:r>
          </a:p>
          <a:p>
            <a:pPr marL="514350" indent="-514350" algn="just"/>
            <a:r>
              <a:rPr lang="es-ES" sz="3200" dirty="0" smtClean="0">
                <a:latin typeface="Arial" pitchFamily="34" charset="0"/>
                <a:cs typeface="Arial" pitchFamily="34" charset="0"/>
              </a:rPr>
              <a:t>Crecimiento de nuevas líneas de producto</a:t>
            </a:r>
          </a:p>
          <a:p>
            <a:pPr marL="514350" indent="-514350" algn="just"/>
            <a:r>
              <a:rPr lang="es-ES" sz="3200" dirty="0" smtClean="0">
                <a:latin typeface="Arial" pitchFamily="34" charset="0"/>
                <a:cs typeface="Arial" pitchFamily="34" charset="0"/>
              </a:rPr>
              <a:t>Diversificación geográfica.</a:t>
            </a:r>
          </a:p>
          <a:p>
            <a:pPr marL="514350" indent="-514350">
              <a:buNone/>
            </a:pPr>
            <a:endParaRPr lang="es-ES" sz="3200" dirty="0"/>
          </a:p>
        </p:txBody>
      </p:sp>
      <p:sp>
        <p:nvSpPr>
          <p:cNvPr id="6" name="5 Rectángulo"/>
          <p:cNvSpPr/>
          <p:nvPr/>
        </p:nvSpPr>
        <p:spPr>
          <a:xfrm>
            <a:off x="0" y="214290"/>
            <a:ext cx="8429652" cy="646331"/>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36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cs typeface="Arial" pitchFamily="34" charset="0"/>
              </a:rPr>
              <a:t>1.  OBJETIVOS DE CRECIMIENTO</a:t>
            </a:r>
            <a:endParaRPr lang="es-ES" sz="36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357158" y="1428736"/>
            <a:ext cx="7239000" cy="4846320"/>
          </a:xfrm>
        </p:spPr>
        <p:txBody>
          <a:bodyPr>
            <a:normAutofit lnSpcReduction="10000"/>
          </a:bodyPr>
          <a:lstStyle/>
          <a:p>
            <a:pPr algn="just">
              <a:buNone/>
            </a:pPr>
            <a:r>
              <a:rPr lang="es-ES" sz="3600" dirty="0" smtClean="0">
                <a:latin typeface="Arial" pitchFamily="34" charset="0"/>
                <a:cs typeface="Arial" pitchFamily="34" charset="0"/>
              </a:rPr>
              <a:t>La permanencia y el crecimiento de una empresa se determina por los niveles de rentabilidad que alcance.  La empresa deberá generar una utilidad operacional de por menos un 23% sobre ventas y una utilidad antes de impuestos, se por lo menos 15% sobre las ventas.</a:t>
            </a:r>
            <a:endParaRPr lang="es-ES" sz="3600" dirty="0">
              <a:latin typeface="Arial" pitchFamily="34" charset="0"/>
              <a:cs typeface="Arial" pitchFamily="34" charset="0"/>
            </a:endParaRPr>
          </a:p>
        </p:txBody>
      </p:sp>
      <p:sp>
        <p:nvSpPr>
          <p:cNvPr id="4" name="3 Rectángulo"/>
          <p:cNvSpPr/>
          <p:nvPr/>
        </p:nvSpPr>
        <p:spPr>
          <a:xfrm>
            <a:off x="0" y="285728"/>
            <a:ext cx="8721506" cy="646331"/>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36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cs typeface="Arial" pitchFamily="34" charset="0"/>
              </a:rPr>
              <a:t>2. OBJETIVOS DE RENTABILIDAD</a:t>
            </a:r>
            <a:endParaRPr lang="es-ES" sz="36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noAutofit/>
          </a:bodyPr>
          <a:lstStyle/>
          <a:p>
            <a:pPr algn="just">
              <a:buNone/>
            </a:pPr>
            <a:r>
              <a:rPr lang="es-ES" sz="3600" dirty="0" smtClean="0">
                <a:latin typeface="Arial" pitchFamily="34" charset="0"/>
                <a:cs typeface="Arial" pitchFamily="34" charset="0"/>
              </a:rPr>
              <a:t>Paper Ink corp. Considera de vital importancia el liderazgo en el desarrollo tecnológico. Para ello, se propone dos objetivos fundamentales. Revitalización de la investigación y desarrollo y búsqueda de tecnología extranjera. </a:t>
            </a:r>
            <a:endParaRPr lang="es-ES" sz="3600" dirty="0">
              <a:latin typeface="Arial" pitchFamily="34" charset="0"/>
              <a:cs typeface="Arial" pitchFamily="34" charset="0"/>
            </a:endParaRPr>
          </a:p>
        </p:txBody>
      </p:sp>
      <p:sp>
        <p:nvSpPr>
          <p:cNvPr id="4" name="3 Rectángulo"/>
          <p:cNvSpPr/>
          <p:nvPr/>
        </p:nvSpPr>
        <p:spPr>
          <a:xfrm>
            <a:off x="0" y="285728"/>
            <a:ext cx="8493880" cy="1200329"/>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36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cs typeface="Arial" pitchFamily="34" charset="0"/>
              </a:rPr>
              <a:t>3. OBJETIVOS DE DESARROLLO TECNOLOGICO</a:t>
            </a:r>
            <a:endParaRPr lang="es-ES" sz="36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normAutofit lnSpcReduction="10000"/>
          </a:bodyPr>
          <a:lstStyle/>
          <a:p>
            <a:pPr algn="just">
              <a:buNone/>
            </a:pPr>
            <a:r>
              <a:rPr lang="es-ES" sz="4000" dirty="0" smtClean="0">
                <a:latin typeface="Arial" pitchFamily="34" charset="0"/>
                <a:cs typeface="Arial" pitchFamily="34" charset="0"/>
              </a:rPr>
              <a:t>En los próximos cinco años deberá concluir la modernización de los equipos de producción para garantizar la productividad y el permanente control del proceso, con la máxima flexibilidad y calidad.</a:t>
            </a:r>
            <a:endParaRPr lang="es-ES" sz="4000" dirty="0">
              <a:latin typeface="Arial" pitchFamily="34" charset="0"/>
              <a:cs typeface="Arial" pitchFamily="34" charset="0"/>
            </a:endParaRPr>
          </a:p>
        </p:txBody>
      </p:sp>
      <p:sp>
        <p:nvSpPr>
          <p:cNvPr id="4" name="3 Rectángulo"/>
          <p:cNvSpPr/>
          <p:nvPr/>
        </p:nvSpPr>
        <p:spPr>
          <a:xfrm>
            <a:off x="0" y="214290"/>
            <a:ext cx="8221754" cy="1200329"/>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36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4</a:t>
            </a:r>
            <a:r>
              <a:rPr lang="es-ES" sz="36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cs typeface="Arial" pitchFamily="34" charset="0"/>
              </a:rPr>
              <a:t>. OJETIVOS DE MODERNIZACION TECNLOGICA</a:t>
            </a:r>
            <a:endParaRPr lang="es-ES" sz="36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normAutofit lnSpcReduction="10000"/>
          </a:bodyPr>
          <a:lstStyle/>
          <a:p>
            <a:pPr algn="just">
              <a:buNone/>
            </a:pPr>
            <a:r>
              <a:rPr lang="es-ES" sz="4000" dirty="0" smtClean="0">
                <a:latin typeface="Arial" pitchFamily="34" charset="0"/>
                <a:cs typeface="Arial" pitchFamily="34" charset="0"/>
              </a:rPr>
              <a:t>Paper mantendrá su preocupación permanente por el desarrollo de los procesos de selección del recurso humano, para que se integre con entusiasmo a los desafíos de la organización y el mercado </a:t>
            </a:r>
            <a:endParaRPr lang="es-ES" sz="4000" dirty="0">
              <a:latin typeface="Arial" pitchFamily="34" charset="0"/>
              <a:cs typeface="Arial" pitchFamily="34" charset="0"/>
            </a:endParaRPr>
          </a:p>
        </p:txBody>
      </p:sp>
      <p:sp>
        <p:nvSpPr>
          <p:cNvPr id="4" name="3 Rectángulo"/>
          <p:cNvSpPr/>
          <p:nvPr/>
        </p:nvSpPr>
        <p:spPr>
          <a:xfrm>
            <a:off x="0" y="142852"/>
            <a:ext cx="8458472" cy="1200329"/>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36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cs typeface="Arial" pitchFamily="34" charset="0"/>
              </a:rPr>
              <a:t>5. OBJETIVOS DE DESARROLLO HUMANO</a:t>
            </a:r>
            <a:endParaRPr lang="es-ES" sz="36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normAutofit fontScale="92500"/>
          </a:bodyPr>
          <a:lstStyle/>
          <a:p>
            <a:pPr algn="just">
              <a:buNone/>
            </a:pPr>
            <a:r>
              <a:rPr lang="es-ES" sz="4000" dirty="0" smtClean="0">
                <a:latin typeface="Arial" pitchFamily="34" charset="0"/>
                <a:cs typeface="Arial" pitchFamily="34" charset="0"/>
              </a:rPr>
              <a:t>Paper continuara identificando, profesionalizando y consolidando su desarrollo comercial, reforzando sus divisiones regionales, consolidando el área de servicio técnico y creando el área de mercadeo, entre otros.</a:t>
            </a:r>
            <a:endParaRPr lang="es-ES" sz="4000" dirty="0">
              <a:latin typeface="Arial" pitchFamily="34" charset="0"/>
              <a:cs typeface="Arial" pitchFamily="34" charset="0"/>
            </a:endParaRPr>
          </a:p>
        </p:txBody>
      </p:sp>
      <p:sp>
        <p:nvSpPr>
          <p:cNvPr id="4" name="3 Rectángulo"/>
          <p:cNvSpPr/>
          <p:nvPr/>
        </p:nvSpPr>
        <p:spPr>
          <a:xfrm>
            <a:off x="0" y="142852"/>
            <a:ext cx="8435195" cy="1200329"/>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36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Arial" pitchFamily="34" charset="0"/>
                <a:cs typeface="Arial" pitchFamily="34" charset="0"/>
              </a:rPr>
              <a:t>6. OBJETIVOS DE DESARROLLO COMERCIAL</a:t>
            </a:r>
            <a:endParaRPr lang="es-ES" sz="36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42844" y="1071546"/>
            <a:ext cx="8072494" cy="4768865"/>
          </a:xfrm>
        </p:spPr>
        <p:txBody>
          <a:bodyPr>
            <a:normAutofit fontScale="92500"/>
          </a:bodyPr>
          <a:lstStyle/>
          <a:p>
            <a:pPr marL="742950" indent="-742950" algn="just">
              <a:buFont typeface="+mj-lt"/>
              <a:buAutoNum type="arabicPeriod" startAt="7"/>
            </a:pPr>
            <a:r>
              <a:rPr lang="es-ES" sz="4300" dirty="0" smtClean="0">
                <a:latin typeface="Arial" pitchFamily="34" charset="0"/>
                <a:cs typeface="Arial" pitchFamily="34" charset="0"/>
              </a:rPr>
              <a:t>Orientación hacia el cliente.</a:t>
            </a:r>
          </a:p>
          <a:p>
            <a:pPr marL="742950" indent="-742950" algn="just">
              <a:buFont typeface="+mj-lt"/>
              <a:buAutoNum type="arabicPeriod" startAt="7"/>
            </a:pPr>
            <a:r>
              <a:rPr lang="es-ES" sz="4300" dirty="0" smtClean="0">
                <a:latin typeface="Arial" pitchFamily="34" charset="0"/>
                <a:cs typeface="Arial" pitchFamily="34" charset="0"/>
              </a:rPr>
              <a:t> Productividad laboral.</a:t>
            </a:r>
          </a:p>
          <a:p>
            <a:pPr marL="742950" indent="-742950" algn="just">
              <a:buFont typeface="+mj-lt"/>
              <a:buAutoNum type="arabicPeriod" startAt="7"/>
            </a:pPr>
            <a:r>
              <a:rPr lang="es-ES" sz="4300" dirty="0" smtClean="0">
                <a:latin typeface="Arial" pitchFamily="34" charset="0"/>
                <a:cs typeface="Arial" pitchFamily="34" charset="0"/>
              </a:rPr>
              <a:t> Control total de la calidad.</a:t>
            </a:r>
          </a:p>
          <a:p>
            <a:pPr marL="742950" indent="-742950" algn="just">
              <a:buFont typeface="+mj-lt"/>
              <a:buAutoNum type="arabicPeriod" startAt="7"/>
            </a:pPr>
            <a:r>
              <a:rPr lang="es-ES" sz="4300" dirty="0" smtClean="0">
                <a:latin typeface="Arial" pitchFamily="34" charset="0"/>
                <a:cs typeface="Arial" pitchFamily="34" charset="0"/>
              </a:rPr>
              <a:t>La preservación del medio ambiente.</a:t>
            </a:r>
          </a:p>
          <a:p>
            <a:pPr marL="742950" indent="-742950" algn="just">
              <a:buFont typeface="+mj-lt"/>
              <a:buAutoNum type="arabicPeriod" startAt="7"/>
            </a:pPr>
            <a:r>
              <a:rPr lang="es-ES" sz="4300" dirty="0" smtClean="0">
                <a:latin typeface="Arial" pitchFamily="34" charset="0"/>
                <a:cs typeface="Arial" pitchFamily="34" charset="0"/>
              </a:rPr>
              <a:t>Conocimiento del entorno.</a:t>
            </a:r>
          </a:p>
          <a:p>
            <a:pPr marL="742950" indent="-742950" algn="just">
              <a:buFont typeface="+mj-lt"/>
              <a:buAutoNum type="arabicPeriod" startAt="7"/>
            </a:pPr>
            <a:r>
              <a:rPr lang="es-ES" sz="4300" dirty="0" smtClean="0">
                <a:latin typeface="Arial" pitchFamily="34" charset="0"/>
                <a:cs typeface="Arial" pitchFamily="34" charset="0"/>
              </a:rPr>
              <a:t>Nuestra responsabilidad social.</a:t>
            </a:r>
          </a:p>
          <a:p>
            <a:pPr marL="514350" indent="-514350">
              <a:buNone/>
            </a:pPr>
            <a:endParaRPr lang="es-ES" sz="4300" dirty="0" smtClean="0"/>
          </a:p>
          <a:p>
            <a:pPr marL="514350" indent="-514350">
              <a:buNone/>
            </a:pPr>
            <a:endParaRPr lang="es-ES" dirty="0"/>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1346469" y="2967335"/>
            <a:ext cx="7139327" cy="1015663"/>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6000" b="1" cap="none" spc="50" dirty="0" smtClean="0">
                <a:ln w="11430"/>
                <a:effectLst>
                  <a:outerShdw blurRad="76200" dist="50800" dir="5400000" algn="tl" rotWithShape="0">
                    <a:srgbClr val="000000">
                      <a:alpha val="65000"/>
                    </a:srgbClr>
                  </a:outerShdw>
                </a:effectLst>
              </a:rPr>
              <a:t>BANCO AMERICANO</a:t>
            </a:r>
            <a:endParaRPr lang="es-ES" sz="6000" b="1" cap="none" spc="50" dirty="0">
              <a:ln w="11430"/>
              <a:effectLst>
                <a:outerShdw blurRad="76200" dist="50800" dir="5400000" algn="tl" rotWithShape="0">
                  <a:srgbClr val="000000">
                    <a:alpha val="65000"/>
                  </a:srgbClr>
                </a:outerShdw>
              </a:effectLst>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357158" y="1428736"/>
            <a:ext cx="7643866" cy="5429264"/>
          </a:xfrm>
        </p:spPr>
        <p:txBody>
          <a:bodyPr anchor="ctr">
            <a:noAutofit/>
          </a:bodyPr>
          <a:lstStyle/>
          <a:p>
            <a:pPr algn="just"/>
            <a:r>
              <a:rPr lang="es-ES" sz="2000" dirty="0" smtClean="0">
                <a:latin typeface="Arial" pitchFamily="34" charset="0"/>
                <a:cs typeface="Arial" pitchFamily="34" charset="0"/>
              </a:rPr>
              <a:t>Nace en Colombia el 1 de mayo de 1992, con un capital de 45 millones de pesos aportados por  los socios fundadores.</a:t>
            </a:r>
          </a:p>
          <a:p>
            <a:pPr algn="just">
              <a:buNone/>
            </a:pPr>
            <a:endParaRPr lang="es-ES" sz="2000" dirty="0" smtClean="0">
              <a:latin typeface="Arial" pitchFamily="34" charset="0"/>
              <a:cs typeface="Arial" pitchFamily="34" charset="0"/>
            </a:endParaRPr>
          </a:p>
          <a:p>
            <a:pPr algn="just"/>
            <a:r>
              <a:rPr lang="es-ES" sz="2000" dirty="0" smtClean="0">
                <a:latin typeface="Arial" pitchFamily="34" charset="0"/>
                <a:cs typeface="Arial" pitchFamily="34" charset="0"/>
              </a:rPr>
              <a:t>Su objetivo es prestar servicio bancario a las pequeñas y medianas empresas que incursionan en el mercado internacional.</a:t>
            </a:r>
          </a:p>
          <a:p>
            <a:pPr algn="just"/>
            <a:endParaRPr lang="es-ES" sz="2000" dirty="0" smtClean="0">
              <a:latin typeface="Arial" pitchFamily="34" charset="0"/>
              <a:cs typeface="Arial" pitchFamily="34" charset="0"/>
            </a:endParaRPr>
          </a:p>
          <a:p>
            <a:pPr algn="just"/>
            <a:r>
              <a:rPr lang="es-ES" sz="2000" dirty="0" smtClean="0">
                <a:latin typeface="Arial" pitchFamily="34" charset="0"/>
                <a:cs typeface="Arial" pitchFamily="34" charset="0"/>
              </a:rPr>
              <a:t>Los primeros productos fueron la cuanta de ahorro, personal, corriente y crédito empresarial.</a:t>
            </a:r>
          </a:p>
          <a:p>
            <a:pPr algn="just"/>
            <a:endParaRPr lang="es-ES" sz="2000" dirty="0" smtClean="0">
              <a:latin typeface="Arial" pitchFamily="34" charset="0"/>
              <a:cs typeface="Arial" pitchFamily="34" charset="0"/>
            </a:endParaRPr>
          </a:p>
          <a:p>
            <a:pPr algn="just"/>
            <a:r>
              <a:rPr lang="es-ES" sz="2000" dirty="0" smtClean="0">
                <a:latin typeface="Arial" pitchFamily="34" charset="0"/>
                <a:cs typeface="Arial" pitchFamily="34" charset="0"/>
              </a:rPr>
              <a:t>En 1996 crea la red de cajeros y lanza la tarjeta de crédito y debito.</a:t>
            </a:r>
          </a:p>
          <a:p>
            <a:pPr algn="just"/>
            <a:endParaRPr lang="es-ES" sz="2000" dirty="0">
              <a:latin typeface="Arial" pitchFamily="34" charset="0"/>
              <a:cs typeface="Arial" pitchFamily="34" charset="0"/>
            </a:endParaRPr>
          </a:p>
          <a:p>
            <a:pPr algn="just"/>
            <a:r>
              <a:rPr lang="es-ES" sz="2000" dirty="0" smtClean="0">
                <a:latin typeface="Arial" pitchFamily="34" charset="0"/>
                <a:cs typeface="Arial" pitchFamily="34" charset="0"/>
              </a:rPr>
              <a:t>En el 2005 el Banco crece internacionalmente.</a:t>
            </a:r>
            <a:endParaRPr lang="es-ES" sz="2000" dirty="0">
              <a:latin typeface="Arial" pitchFamily="34" charset="0"/>
              <a:cs typeface="Arial" pitchFamily="34" charset="0"/>
            </a:endParaRPr>
          </a:p>
        </p:txBody>
      </p:sp>
      <p:sp>
        <p:nvSpPr>
          <p:cNvPr id="4" name="3 Rectángulo"/>
          <p:cNvSpPr/>
          <p:nvPr/>
        </p:nvSpPr>
        <p:spPr>
          <a:xfrm>
            <a:off x="571472" y="571480"/>
            <a:ext cx="3518588" cy="923330"/>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5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HISTORIA</a:t>
            </a:r>
            <a:endParaRPr lang="es-E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28596" y="1714488"/>
            <a:ext cx="7239000" cy="4846320"/>
          </a:xfrm>
        </p:spPr>
        <p:txBody>
          <a:bodyPr>
            <a:normAutofit/>
          </a:bodyPr>
          <a:lstStyle/>
          <a:p>
            <a:pPr algn="just">
              <a:buNone/>
            </a:pPr>
            <a:endParaRPr lang="es-ES" sz="2000" dirty="0" smtClean="0"/>
          </a:p>
          <a:p>
            <a:pPr algn="just">
              <a:buNone/>
            </a:pPr>
            <a:r>
              <a:rPr lang="es-ES" sz="2400" dirty="0" smtClean="0">
                <a:latin typeface="Arial" pitchFamily="34" charset="0"/>
                <a:cs typeface="Arial" pitchFamily="34" charset="0"/>
              </a:rPr>
              <a:t>Presenta tres niveles:</a:t>
            </a:r>
          </a:p>
          <a:p>
            <a:pPr algn="just">
              <a:buNone/>
            </a:pPr>
            <a:endParaRPr lang="es-ES" sz="2400" dirty="0">
              <a:latin typeface="Arial" pitchFamily="34" charset="0"/>
              <a:cs typeface="Arial" pitchFamily="34" charset="0"/>
            </a:endParaRPr>
          </a:p>
          <a:p>
            <a:pPr algn="just"/>
            <a:r>
              <a:rPr lang="es-ES" sz="2400" dirty="0" smtClean="0">
                <a:latin typeface="Arial" pitchFamily="34" charset="0"/>
                <a:cs typeface="Arial" pitchFamily="34" charset="0"/>
              </a:rPr>
              <a:t>Nivel Estratégico: Lo componen La Asamblea de Socios.</a:t>
            </a:r>
          </a:p>
          <a:p>
            <a:pPr algn="just"/>
            <a:endParaRPr lang="es-ES" sz="2400" dirty="0" smtClean="0">
              <a:latin typeface="Arial" pitchFamily="34" charset="0"/>
              <a:cs typeface="Arial" pitchFamily="34" charset="0"/>
            </a:endParaRPr>
          </a:p>
          <a:p>
            <a:pPr algn="just"/>
            <a:r>
              <a:rPr lang="es-ES" sz="2400" dirty="0" smtClean="0">
                <a:latin typeface="Arial" pitchFamily="34" charset="0"/>
                <a:cs typeface="Arial" pitchFamily="34" charset="0"/>
              </a:rPr>
              <a:t>Nivel Táctico: Compuesto por las Vicepresidencias de la Organización.</a:t>
            </a:r>
          </a:p>
          <a:p>
            <a:pPr algn="just"/>
            <a:endParaRPr lang="es-ES" sz="2400" dirty="0" smtClean="0">
              <a:latin typeface="Arial" pitchFamily="34" charset="0"/>
              <a:cs typeface="Arial" pitchFamily="34" charset="0"/>
            </a:endParaRPr>
          </a:p>
          <a:p>
            <a:pPr algn="just"/>
            <a:r>
              <a:rPr lang="es-ES" sz="2400" dirty="0" smtClean="0">
                <a:latin typeface="Arial" pitchFamily="34" charset="0"/>
                <a:cs typeface="Arial" pitchFamily="34" charset="0"/>
              </a:rPr>
              <a:t>Nivel Operativo: Compuesto por las Gerencias de la organización.</a:t>
            </a:r>
          </a:p>
          <a:p>
            <a:pPr algn="just"/>
            <a:endParaRPr lang="es-ES" sz="2400" dirty="0" smtClean="0">
              <a:latin typeface="Arial" pitchFamily="34" charset="0"/>
              <a:cs typeface="Arial" pitchFamily="34" charset="0"/>
            </a:endParaRPr>
          </a:p>
          <a:p>
            <a:pPr>
              <a:buNone/>
            </a:pPr>
            <a:endParaRPr lang="es-ES" sz="2400" dirty="0">
              <a:latin typeface="Arial" pitchFamily="34" charset="0"/>
              <a:cs typeface="Arial" pitchFamily="34" charset="0"/>
            </a:endParaRPr>
          </a:p>
        </p:txBody>
      </p:sp>
      <p:sp>
        <p:nvSpPr>
          <p:cNvPr id="4" name="3 Rectángulo"/>
          <p:cNvSpPr/>
          <p:nvPr/>
        </p:nvSpPr>
        <p:spPr>
          <a:xfrm>
            <a:off x="0" y="500042"/>
            <a:ext cx="8286776" cy="1446550"/>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4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ESTRUCTURA ORGANIZACIONAL</a:t>
            </a:r>
            <a:endParaRPr lang="es-ES" sz="4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numCol="2">
            <a:normAutofit/>
          </a:bodyPr>
          <a:lstStyle/>
          <a:p>
            <a:pPr algn="just">
              <a:buNone/>
            </a:pPr>
            <a:r>
              <a:rPr lang="es-ES" sz="1800" dirty="0" smtClean="0"/>
              <a:t>El Banco ofrece a los clientes los </a:t>
            </a:r>
          </a:p>
          <a:p>
            <a:pPr algn="just">
              <a:buNone/>
            </a:pPr>
            <a:r>
              <a:rPr lang="es-ES" sz="1800" dirty="0" smtClean="0"/>
              <a:t>siguientes productos y servicios:</a:t>
            </a:r>
          </a:p>
          <a:p>
            <a:pPr algn="just">
              <a:buNone/>
            </a:pPr>
            <a:endParaRPr lang="es-ES" sz="1800" dirty="0"/>
          </a:p>
          <a:p>
            <a:pPr algn="just"/>
            <a:r>
              <a:rPr lang="es-ES" sz="1800" dirty="0" smtClean="0"/>
              <a:t>Cuenta Corriente y Cuenta de  Ahorro </a:t>
            </a:r>
          </a:p>
          <a:p>
            <a:pPr algn="just"/>
            <a:r>
              <a:rPr lang="es-ES" sz="1800" dirty="0" smtClean="0"/>
              <a:t>Fideicomiso</a:t>
            </a:r>
          </a:p>
          <a:p>
            <a:pPr algn="just"/>
            <a:r>
              <a:rPr lang="es-ES" sz="1800" dirty="0" smtClean="0"/>
              <a:t>Cuenta Premier</a:t>
            </a:r>
          </a:p>
          <a:p>
            <a:pPr algn="just"/>
            <a:r>
              <a:rPr lang="es-ES" sz="1800" dirty="0" smtClean="0"/>
              <a:t>Deposito a  Plazo Fijo</a:t>
            </a:r>
          </a:p>
          <a:p>
            <a:pPr algn="just"/>
            <a:r>
              <a:rPr lang="es-ES" sz="1800" dirty="0" smtClean="0"/>
              <a:t>Ahorro Pro-Vivienda</a:t>
            </a:r>
          </a:p>
          <a:p>
            <a:pPr algn="just"/>
            <a:r>
              <a:rPr lang="es-ES" sz="1800" dirty="0" smtClean="0"/>
              <a:t>Cuenta de Ahorro con Seguro de Vida</a:t>
            </a:r>
          </a:p>
          <a:p>
            <a:pPr algn="just"/>
            <a:r>
              <a:rPr lang="es-ES" sz="1800" dirty="0" smtClean="0"/>
              <a:t>Presta – Ahorro</a:t>
            </a:r>
          </a:p>
          <a:p>
            <a:pPr algn="just"/>
            <a:r>
              <a:rPr lang="es-ES" sz="1800" dirty="0" smtClean="0"/>
              <a:t>Cartas de Crédito</a:t>
            </a:r>
          </a:p>
          <a:p>
            <a:pPr algn="just"/>
            <a:r>
              <a:rPr lang="es-ES" sz="1800" dirty="0" smtClean="0"/>
              <a:t>Descuentos</a:t>
            </a:r>
          </a:p>
          <a:p>
            <a:pPr algn="just"/>
            <a:endParaRPr lang="es-ES" sz="1800" dirty="0" smtClean="0"/>
          </a:p>
          <a:p>
            <a:pPr algn="just"/>
            <a:endParaRPr lang="es-ES" sz="1800" dirty="0"/>
          </a:p>
          <a:p>
            <a:pPr algn="just"/>
            <a:endParaRPr lang="es-ES" sz="1800" dirty="0" smtClean="0"/>
          </a:p>
          <a:p>
            <a:pPr algn="just"/>
            <a:r>
              <a:rPr lang="es-ES" sz="1800" dirty="0" smtClean="0"/>
              <a:t>Fianzas/ Avales</a:t>
            </a:r>
          </a:p>
          <a:p>
            <a:pPr algn="just"/>
            <a:r>
              <a:rPr lang="es-ES" sz="1800" dirty="0" smtClean="0"/>
              <a:t>Líneas de Crédito</a:t>
            </a:r>
          </a:p>
          <a:p>
            <a:pPr algn="just"/>
            <a:r>
              <a:rPr lang="es-ES" sz="1800" dirty="0" smtClean="0"/>
              <a:t>Pagare</a:t>
            </a:r>
          </a:p>
          <a:p>
            <a:pPr algn="just"/>
            <a:r>
              <a:rPr lang="es-ES" sz="1800" dirty="0" smtClean="0"/>
              <a:t>Prestamos </a:t>
            </a:r>
          </a:p>
          <a:p>
            <a:pPr algn="just"/>
            <a:r>
              <a:rPr lang="es-ES" sz="1800" dirty="0" smtClean="0"/>
              <a:t>Tarjetas de Crédito y Debito</a:t>
            </a:r>
          </a:p>
          <a:p>
            <a:pPr algn="just"/>
            <a:r>
              <a:rPr lang="es-ES" sz="1800" dirty="0" smtClean="0"/>
              <a:t>Pagos de Servicios</a:t>
            </a:r>
          </a:p>
          <a:p>
            <a:pPr algn="just"/>
            <a:r>
              <a:rPr lang="es-ES" sz="1800" dirty="0" smtClean="0"/>
              <a:t>Credypime</a:t>
            </a:r>
          </a:p>
          <a:p>
            <a:pPr>
              <a:buNone/>
            </a:pPr>
            <a:endParaRPr lang="es-ES" sz="1800" dirty="0"/>
          </a:p>
        </p:txBody>
      </p:sp>
      <p:sp>
        <p:nvSpPr>
          <p:cNvPr id="4" name="3 Rectángulo"/>
          <p:cNvSpPr/>
          <p:nvPr/>
        </p:nvSpPr>
        <p:spPr>
          <a:xfrm>
            <a:off x="500034" y="500042"/>
            <a:ext cx="7166577" cy="923330"/>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5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Productos y servicios</a:t>
            </a:r>
            <a:endParaRPr lang="es-E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28596" y="1714488"/>
            <a:ext cx="7239000" cy="4846320"/>
          </a:xfrm>
        </p:spPr>
        <p:txBody>
          <a:bodyPr>
            <a:normAutofit/>
          </a:bodyPr>
          <a:lstStyle/>
          <a:p>
            <a:pPr algn="just">
              <a:buFont typeface="+mj-lt"/>
              <a:buAutoNum type="arabicPeriod"/>
            </a:pPr>
            <a:r>
              <a:rPr lang="es-ES" sz="3000" dirty="0" smtClean="0">
                <a:latin typeface="Arial" pitchFamily="34" charset="0"/>
                <a:cs typeface="Arial" pitchFamily="34" charset="0"/>
              </a:rPr>
              <a:t>Direccionamiento estratégico:  </a:t>
            </a:r>
          </a:p>
          <a:p>
            <a:pPr algn="just"/>
            <a:r>
              <a:rPr lang="es-ES" sz="3000" dirty="0" smtClean="0">
                <a:latin typeface="Arial" pitchFamily="34" charset="0"/>
                <a:cs typeface="Arial" pitchFamily="34" charset="0"/>
              </a:rPr>
              <a:t>Principios corporativos: las instituciones deben formular y practicar un conjunto de principios que constituyen el marco de referencia de su cultura y de su actuar diario de la organización. </a:t>
            </a:r>
          </a:p>
          <a:p>
            <a:pPr algn="just"/>
            <a:r>
              <a:rPr lang="es-ES" sz="3000" dirty="0" smtClean="0">
                <a:latin typeface="Arial" pitchFamily="34" charset="0"/>
                <a:cs typeface="Arial" pitchFamily="34" charset="0"/>
              </a:rPr>
              <a:t>Principios organizacionales: son los que aseguran la permanencia en un futuro de la organización.</a:t>
            </a:r>
          </a:p>
          <a:p>
            <a:pPr algn="just">
              <a:buNone/>
            </a:pPr>
            <a:endParaRPr lang="es-ES" sz="3000" dirty="0" smtClean="0">
              <a:latin typeface="Arial" pitchFamily="34" charset="0"/>
              <a:cs typeface="Arial" pitchFamily="34" charset="0"/>
            </a:endParaRPr>
          </a:p>
          <a:p>
            <a:pPr algn="just"/>
            <a:endParaRPr lang="es-ES" sz="3000" dirty="0">
              <a:latin typeface="Arial" pitchFamily="34" charset="0"/>
              <a:cs typeface="Arial" pitchFamily="34" charset="0"/>
            </a:endParaRPr>
          </a:p>
          <a:p>
            <a:pPr algn="just"/>
            <a:endParaRPr lang="es-ES" sz="3000" dirty="0" smtClean="0">
              <a:latin typeface="Arial" pitchFamily="34" charset="0"/>
              <a:cs typeface="Arial" pitchFamily="34" charset="0"/>
            </a:endParaRPr>
          </a:p>
          <a:p>
            <a:pPr algn="just"/>
            <a:endParaRPr lang="es-ES" sz="1800" dirty="0" smtClean="0"/>
          </a:p>
          <a:p>
            <a:pPr>
              <a:buFont typeface="Wingdings" pitchFamily="2" charset="2"/>
              <a:buChar char="ü"/>
            </a:pPr>
            <a:endParaRPr lang="es-ES" sz="1800" dirty="0" smtClean="0"/>
          </a:p>
          <a:p>
            <a:pPr>
              <a:buNone/>
            </a:pPr>
            <a:endParaRPr lang="es-ES" sz="1800" dirty="0"/>
          </a:p>
        </p:txBody>
      </p:sp>
      <p:sp>
        <p:nvSpPr>
          <p:cNvPr id="4" name="3 Rectángulo"/>
          <p:cNvSpPr/>
          <p:nvPr/>
        </p:nvSpPr>
        <p:spPr>
          <a:xfrm>
            <a:off x="0" y="214290"/>
            <a:ext cx="8501090" cy="1323439"/>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40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PLAN ESTRATEGICO DEL BANCO AMERICANO</a:t>
            </a:r>
            <a:endParaRPr lang="es-ES" sz="40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357158" y="642918"/>
            <a:ext cx="7286676" cy="5429288"/>
          </a:xfrm>
        </p:spPr>
        <p:txBody>
          <a:bodyPr>
            <a:normAutofit/>
          </a:bodyPr>
          <a:lstStyle/>
          <a:p>
            <a:pPr algn="just">
              <a:buFont typeface="+mj-lt"/>
              <a:buAutoNum type="arabicPeriod" startAt="2"/>
            </a:pPr>
            <a:r>
              <a:rPr lang="es-ES" sz="4000" dirty="0" smtClean="0">
                <a:latin typeface="Arial" pitchFamily="34" charset="0"/>
                <a:cs typeface="Arial" pitchFamily="34" charset="0"/>
              </a:rPr>
              <a:t>Valores:</a:t>
            </a:r>
          </a:p>
          <a:p>
            <a:pPr algn="just"/>
            <a:r>
              <a:rPr lang="es-ES" sz="3600" dirty="0" smtClean="0">
                <a:latin typeface="Arial" pitchFamily="34" charset="0"/>
                <a:cs typeface="Arial" pitchFamily="34" charset="0"/>
              </a:rPr>
              <a:t>Códigos de Comportamientos: se refiere al cumplimiento de las normas leyes y la transparencia en el actuar por los miembros de la organización.</a:t>
            </a:r>
          </a:p>
          <a:p>
            <a:pPr algn="just"/>
            <a:r>
              <a:rPr lang="es-ES" sz="3600" dirty="0" smtClean="0">
                <a:latin typeface="Arial" pitchFamily="34" charset="0"/>
                <a:cs typeface="Arial" pitchFamily="34" charset="0"/>
              </a:rPr>
              <a:t>Servicio: compromete a todos por igual ya que es esencial en todas las aéreas de la empresa.</a:t>
            </a:r>
          </a:p>
          <a:p>
            <a:endParaRPr lang="es-ES"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357166"/>
            <a:ext cx="7239000" cy="6098570"/>
          </a:xfrm>
        </p:spPr>
        <p:txBody>
          <a:bodyPr>
            <a:normAutofit/>
          </a:bodyPr>
          <a:lstStyle/>
          <a:p>
            <a:pPr algn="just"/>
            <a:r>
              <a:rPr lang="es-ES" sz="3600" dirty="0" smtClean="0">
                <a:latin typeface="Arial" pitchFamily="34" charset="0"/>
                <a:cs typeface="Arial" pitchFamily="34" charset="0"/>
              </a:rPr>
              <a:t>Rentabilidad: Se asegura la generación de los clientes, colaboradores, accionistas y la sociedad en una empresa.</a:t>
            </a:r>
          </a:p>
          <a:p>
            <a:pPr algn="just"/>
            <a:r>
              <a:rPr lang="es-ES" sz="3600" dirty="0" smtClean="0">
                <a:latin typeface="Arial" pitchFamily="34" charset="0"/>
                <a:cs typeface="Arial" pitchFamily="34" charset="0"/>
              </a:rPr>
              <a:t>Calidad: Es un principio y una obsesión en la organización.</a:t>
            </a:r>
          </a:p>
          <a:p>
            <a:pPr algn="just"/>
            <a:r>
              <a:rPr lang="es-ES" sz="3600" dirty="0" smtClean="0">
                <a:latin typeface="Arial" pitchFamily="34" charset="0"/>
                <a:cs typeface="Arial" pitchFamily="34" charset="0"/>
              </a:rPr>
              <a:t>Calidad humana: Implica un reconocimiento de las responsabilidades y deberes frente a la organización.</a:t>
            </a:r>
          </a:p>
          <a:p>
            <a:endParaRPr lang="es-ES"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714356"/>
            <a:ext cx="7239000" cy="5741380"/>
          </a:xfrm>
        </p:spPr>
        <p:txBody>
          <a:bodyPr>
            <a:normAutofit/>
          </a:bodyPr>
          <a:lstStyle/>
          <a:p>
            <a:pPr algn="just"/>
            <a:r>
              <a:rPr lang="es-ES" sz="3200" dirty="0" smtClean="0">
                <a:latin typeface="Arial" pitchFamily="34" charset="0"/>
                <a:cs typeface="Arial" pitchFamily="34" charset="0"/>
              </a:rPr>
              <a:t>Aprendizajes en equipo: Es un componente para fomentar el desarrollo intelectual, el sentido de pertenencia, compromiso y la orientación hacia el logro de los objetivos y metas organizacionales. </a:t>
            </a:r>
          </a:p>
          <a:p>
            <a:endParaRPr lang="es-ES" sz="3200" dirty="0">
              <a:latin typeface="Arial" pitchFamily="34" charset="0"/>
              <a:cs typeface="Arial" pitchFamily="34" charset="0"/>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571480"/>
            <a:ext cx="7239000" cy="5884256"/>
          </a:xfrm>
        </p:spPr>
        <p:txBody>
          <a:bodyPr>
            <a:normAutofit/>
          </a:bodyPr>
          <a:lstStyle/>
          <a:p>
            <a:pPr algn="just"/>
            <a:r>
              <a:rPr lang="es-ES" sz="3600" dirty="0" smtClean="0">
                <a:latin typeface="Arial" pitchFamily="34" charset="0"/>
                <a:cs typeface="Arial" pitchFamily="34" charset="0"/>
              </a:rPr>
              <a:t>Lealtad: cada funcionario de la organización debe ser fiel a la compañía, a normas y principios y a los demás miembros de la organización.</a:t>
            </a:r>
          </a:p>
          <a:p>
            <a:pPr algn="just">
              <a:buNone/>
            </a:pPr>
            <a:endParaRPr lang="es-ES" sz="3600" dirty="0">
              <a:latin typeface="Arial" pitchFamily="34" charset="0"/>
              <a:cs typeface="Arial" pitchFamily="34" charset="0"/>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0" y="785794"/>
            <a:ext cx="8229600" cy="5340369"/>
          </a:xfrm>
        </p:spPr>
        <p:txBody>
          <a:bodyPr>
            <a:normAutofit/>
          </a:bodyPr>
          <a:lstStyle/>
          <a:p>
            <a:pPr marL="514350" indent="-514350" algn="ctr">
              <a:buAutoNum type="arabicPeriod" startAt="3"/>
            </a:pPr>
            <a:endParaRPr lang="es-ES" sz="3200" dirty="0" smtClean="0">
              <a:latin typeface="Arial" pitchFamily="34" charset="0"/>
              <a:cs typeface="Arial" pitchFamily="34" charset="0"/>
            </a:endParaRPr>
          </a:p>
          <a:p>
            <a:pPr marL="514350" indent="-514350" algn="ctr">
              <a:buNone/>
            </a:pPr>
            <a:endParaRPr lang="es-ES" sz="3200" dirty="0">
              <a:latin typeface="Arial" pitchFamily="34" charset="0"/>
              <a:cs typeface="Arial" pitchFamily="34" charset="0"/>
            </a:endParaRPr>
          </a:p>
          <a:p>
            <a:pPr marL="514350" indent="-514350" algn="ctr">
              <a:buNone/>
            </a:pPr>
            <a:endParaRPr lang="es-ES" sz="3200" dirty="0">
              <a:latin typeface="Arial" pitchFamily="34" charset="0"/>
              <a:cs typeface="Arial" pitchFamily="34" charset="0"/>
            </a:endParaRPr>
          </a:p>
          <a:p>
            <a:pPr marL="514350" indent="-514350" algn="ctr">
              <a:buNone/>
            </a:pPr>
            <a:r>
              <a:rPr lang="es-ES" sz="3200" dirty="0" smtClean="0">
                <a:latin typeface="Arial" pitchFamily="34" charset="0"/>
                <a:cs typeface="Arial" pitchFamily="34" charset="0"/>
              </a:rPr>
              <a:t>Generar confianza y lealtad para nuestros clientes internos, externos y accionistas, mediante valor agregado superior al de los competidores. </a:t>
            </a:r>
          </a:p>
          <a:p>
            <a:pPr marL="514350" indent="-514350" algn="ctr">
              <a:buAutoNum type="arabicPeriod" startAt="3"/>
            </a:pPr>
            <a:endParaRPr lang="es-ES" sz="3200" dirty="0">
              <a:latin typeface="Arial" pitchFamily="34" charset="0"/>
              <a:cs typeface="Arial" pitchFamily="34" charset="0"/>
            </a:endParaRPr>
          </a:p>
          <a:p>
            <a:pPr marL="514350" indent="-514350" algn="ctr">
              <a:buNone/>
            </a:pPr>
            <a:r>
              <a:rPr lang="es-ES" sz="3200" dirty="0" smtClean="0">
                <a:latin typeface="Arial" pitchFamily="34" charset="0"/>
                <a:cs typeface="Arial" pitchFamily="34" charset="0"/>
              </a:rPr>
              <a:t>  </a:t>
            </a:r>
            <a:endParaRPr lang="es-ES" sz="3200" dirty="0">
              <a:latin typeface="Arial" pitchFamily="34" charset="0"/>
              <a:cs typeface="Arial" pitchFamily="34" charset="0"/>
            </a:endParaRPr>
          </a:p>
        </p:txBody>
      </p:sp>
      <p:sp>
        <p:nvSpPr>
          <p:cNvPr id="4" name="3 Rectángulo"/>
          <p:cNvSpPr/>
          <p:nvPr/>
        </p:nvSpPr>
        <p:spPr>
          <a:xfrm>
            <a:off x="2643174" y="500042"/>
            <a:ext cx="3500462" cy="923330"/>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5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3. MISIÓN</a:t>
            </a:r>
            <a:endParaRPr lang="es-E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normAutofit/>
          </a:bodyPr>
          <a:lstStyle/>
          <a:p>
            <a:pPr algn="just">
              <a:buNone/>
            </a:pPr>
            <a:r>
              <a:rPr lang="es-ES" sz="2800" dirty="0" smtClean="0"/>
              <a:t>Para el año 2010 serán:</a:t>
            </a:r>
          </a:p>
          <a:p>
            <a:pPr algn="just">
              <a:buNone/>
            </a:pPr>
            <a:endParaRPr lang="es-ES" sz="2800" dirty="0"/>
          </a:p>
          <a:p>
            <a:pPr algn="just"/>
            <a:r>
              <a:rPr lang="es-ES" sz="2800" dirty="0" smtClean="0"/>
              <a:t>La mejor institución financiera (multicanal) líder en banca retail con la marca reconocida.</a:t>
            </a:r>
          </a:p>
          <a:p>
            <a:pPr algn="just">
              <a:buNone/>
            </a:pPr>
            <a:endParaRPr lang="es-ES" sz="2800" dirty="0" smtClean="0"/>
          </a:p>
          <a:p>
            <a:pPr algn="just"/>
            <a:r>
              <a:rPr lang="es-ES" sz="2800" dirty="0" smtClean="0"/>
              <a:t>El primer banco líder en la banca detal y de apoyo al sector de las pymes del país.</a:t>
            </a:r>
          </a:p>
          <a:p>
            <a:pPr algn="just">
              <a:buNone/>
            </a:pPr>
            <a:endParaRPr lang="es-ES" sz="2800" dirty="0"/>
          </a:p>
        </p:txBody>
      </p:sp>
      <p:sp>
        <p:nvSpPr>
          <p:cNvPr id="4" name="3 Rectángulo"/>
          <p:cNvSpPr/>
          <p:nvPr/>
        </p:nvSpPr>
        <p:spPr>
          <a:xfrm>
            <a:off x="500034" y="428604"/>
            <a:ext cx="3445175" cy="923330"/>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5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4.  VISIÓN</a:t>
            </a:r>
            <a:endParaRPr lang="es-E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normAutofit/>
          </a:bodyPr>
          <a:lstStyle/>
          <a:p>
            <a:r>
              <a:rPr lang="es-ES" sz="2800" dirty="0" smtClean="0"/>
              <a:t>Despliega:</a:t>
            </a:r>
          </a:p>
          <a:p>
            <a:endParaRPr lang="es-ES" sz="2800" dirty="0"/>
          </a:p>
          <a:p>
            <a:pPr>
              <a:buFont typeface="Wingdings" pitchFamily="2" charset="2"/>
              <a:buChar char="ü"/>
            </a:pPr>
            <a:r>
              <a:rPr lang="es-ES" sz="2800" dirty="0" smtClean="0"/>
              <a:t>Los procesos misionales y su interacción.</a:t>
            </a:r>
            <a:endParaRPr lang="es-ES" sz="2800" dirty="0"/>
          </a:p>
          <a:p>
            <a:pPr>
              <a:buFont typeface="Wingdings" pitchFamily="2" charset="2"/>
              <a:buChar char="ü"/>
            </a:pPr>
            <a:r>
              <a:rPr lang="es-ES" sz="2800" dirty="0" smtClean="0"/>
              <a:t>Los procesos estratégicos y su direccionamiento global</a:t>
            </a:r>
          </a:p>
          <a:p>
            <a:pPr>
              <a:buFont typeface="Wingdings" pitchFamily="2" charset="2"/>
              <a:buChar char="ü"/>
            </a:pPr>
            <a:r>
              <a:rPr lang="es-ES" sz="2800" dirty="0" smtClean="0"/>
              <a:t>Procesos de apoyo como indicadores verticales para el desempeño de los procesos misionales.</a:t>
            </a:r>
          </a:p>
          <a:p>
            <a:pPr>
              <a:buNone/>
            </a:pPr>
            <a:endParaRPr lang="es-ES" sz="2800" dirty="0"/>
          </a:p>
          <a:p>
            <a:pPr>
              <a:buNone/>
            </a:pPr>
            <a:endParaRPr lang="es-ES" sz="2800" dirty="0"/>
          </a:p>
        </p:txBody>
      </p:sp>
      <p:sp>
        <p:nvSpPr>
          <p:cNvPr id="4" name="3 Rectángulo"/>
          <p:cNvSpPr/>
          <p:nvPr/>
        </p:nvSpPr>
        <p:spPr>
          <a:xfrm>
            <a:off x="500034" y="500042"/>
            <a:ext cx="6380273" cy="923330"/>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5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5. Cadena de valor</a:t>
            </a:r>
            <a:endParaRPr lang="es-E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lstStyle/>
          <a:p>
            <a:pPr algn="just"/>
            <a:endParaRPr lang="es-ES" dirty="0" smtClean="0"/>
          </a:p>
          <a:p>
            <a:pPr algn="just"/>
            <a:r>
              <a:rPr lang="es-ES" sz="4000" dirty="0" smtClean="0">
                <a:latin typeface="Arial" pitchFamily="34" charset="0"/>
                <a:cs typeface="Arial" pitchFamily="34" charset="0"/>
              </a:rPr>
              <a:t>Procesos corporativos</a:t>
            </a:r>
          </a:p>
          <a:p>
            <a:pPr algn="just"/>
            <a:endParaRPr lang="es-ES" sz="4000" dirty="0" smtClean="0">
              <a:latin typeface="Arial" pitchFamily="34" charset="0"/>
              <a:cs typeface="Arial" pitchFamily="34" charset="0"/>
            </a:endParaRPr>
          </a:p>
          <a:p>
            <a:pPr algn="just"/>
            <a:r>
              <a:rPr lang="es-ES" sz="4000" dirty="0" smtClean="0">
                <a:latin typeface="Arial" pitchFamily="34" charset="0"/>
                <a:cs typeface="Arial" pitchFamily="34" charset="0"/>
              </a:rPr>
              <a:t>Procesos vitales </a:t>
            </a:r>
          </a:p>
          <a:p>
            <a:pPr algn="just">
              <a:buNone/>
            </a:pPr>
            <a:endParaRPr lang="es-ES" sz="4000" dirty="0" smtClean="0">
              <a:latin typeface="Arial" pitchFamily="34" charset="0"/>
              <a:cs typeface="Arial" pitchFamily="34" charset="0"/>
            </a:endParaRPr>
          </a:p>
          <a:p>
            <a:pPr algn="just"/>
            <a:r>
              <a:rPr lang="es-ES" sz="4000" dirty="0" smtClean="0">
                <a:latin typeface="Arial" pitchFamily="34" charset="0"/>
                <a:cs typeface="Arial" pitchFamily="34" charset="0"/>
              </a:rPr>
              <a:t>Procesos de apoyo</a:t>
            </a:r>
            <a:endParaRPr lang="es-ES" sz="4000" dirty="0">
              <a:latin typeface="Arial" pitchFamily="34" charset="0"/>
              <a:cs typeface="Arial" pitchFamily="34" charset="0"/>
            </a:endParaRPr>
          </a:p>
        </p:txBody>
      </p:sp>
      <p:sp>
        <p:nvSpPr>
          <p:cNvPr id="4" name="3 Rectángulo"/>
          <p:cNvSpPr/>
          <p:nvPr/>
        </p:nvSpPr>
        <p:spPr>
          <a:xfrm>
            <a:off x="0" y="428604"/>
            <a:ext cx="8358214" cy="1446550"/>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4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La cadena de valor definida por el Banco </a:t>
            </a:r>
            <a:r>
              <a:rPr lang="es-ES" sz="4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A</a:t>
            </a:r>
            <a:r>
              <a:rPr lang="es-ES" sz="4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mericano: </a:t>
            </a:r>
            <a:endParaRPr lang="es-ES" sz="4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500174"/>
            <a:ext cx="7239000" cy="4955562"/>
          </a:xfrm>
        </p:spPr>
        <p:txBody>
          <a:bodyPr>
            <a:normAutofit fontScale="92500" lnSpcReduction="10000"/>
          </a:bodyPr>
          <a:lstStyle/>
          <a:p>
            <a:r>
              <a:rPr lang="es-ES" sz="3200" dirty="0" smtClean="0">
                <a:latin typeface="Arial" pitchFamily="34" charset="0"/>
                <a:cs typeface="Arial" pitchFamily="34" charset="0"/>
              </a:rPr>
              <a:t>señala las retas atreves de las cuales el banco asegura el logro de su misión y visión. </a:t>
            </a:r>
          </a:p>
          <a:p>
            <a:r>
              <a:rPr lang="es-ES" sz="3200" dirty="0" smtClean="0">
                <a:latin typeface="Arial" pitchFamily="34" charset="0"/>
                <a:cs typeface="Arial" pitchFamily="34" charset="0"/>
              </a:rPr>
              <a:t>Los ejes son:</a:t>
            </a:r>
          </a:p>
          <a:p>
            <a:pPr>
              <a:buFont typeface="Wingdings" pitchFamily="2" charset="2"/>
              <a:buChar char="ü"/>
            </a:pPr>
            <a:r>
              <a:rPr lang="es-ES" sz="3200" dirty="0" smtClean="0">
                <a:latin typeface="Arial" pitchFamily="34" charset="0"/>
                <a:cs typeface="Arial" pitchFamily="34" charset="0"/>
              </a:rPr>
              <a:t>Rentabilidad </a:t>
            </a:r>
          </a:p>
          <a:p>
            <a:pPr>
              <a:buFont typeface="Wingdings" pitchFamily="2" charset="2"/>
              <a:buChar char="ü"/>
            </a:pPr>
            <a:r>
              <a:rPr lang="es-ES" sz="3200" dirty="0" smtClean="0">
                <a:latin typeface="Arial" pitchFamily="34" charset="0"/>
                <a:cs typeface="Arial" pitchFamily="34" charset="0"/>
              </a:rPr>
              <a:t>Capital intelectual </a:t>
            </a:r>
          </a:p>
          <a:p>
            <a:pPr>
              <a:buFont typeface="Wingdings" pitchFamily="2" charset="2"/>
              <a:buChar char="ü"/>
            </a:pPr>
            <a:r>
              <a:rPr lang="es-ES" sz="3200" dirty="0" smtClean="0">
                <a:latin typeface="Arial" pitchFamily="34" charset="0"/>
                <a:cs typeface="Arial" pitchFamily="34" charset="0"/>
              </a:rPr>
              <a:t>Gestión de clientes y mercados </a:t>
            </a:r>
          </a:p>
          <a:p>
            <a:pPr>
              <a:buFont typeface="Wingdings" pitchFamily="2" charset="2"/>
              <a:buChar char="ü"/>
            </a:pPr>
            <a:r>
              <a:rPr lang="es-ES" sz="3200" dirty="0" smtClean="0">
                <a:latin typeface="Arial" pitchFamily="34" charset="0"/>
                <a:cs typeface="Arial" pitchFamily="34" charset="0"/>
              </a:rPr>
              <a:t>Excelencia operacional</a:t>
            </a:r>
          </a:p>
          <a:p>
            <a:pPr>
              <a:buFont typeface="Wingdings" pitchFamily="2" charset="2"/>
              <a:buChar char="ü"/>
            </a:pPr>
            <a:r>
              <a:rPr lang="es-ES" sz="3200" dirty="0" smtClean="0">
                <a:latin typeface="Arial" pitchFamily="34" charset="0"/>
                <a:cs typeface="Arial" pitchFamily="34" charset="0"/>
              </a:rPr>
              <a:t>Tecnología</a:t>
            </a:r>
          </a:p>
          <a:p>
            <a:pPr>
              <a:buFont typeface="Wingdings" pitchFamily="2" charset="2"/>
              <a:buChar char="ü"/>
            </a:pPr>
            <a:r>
              <a:rPr lang="es-ES" sz="3200" dirty="0" smtClean="0">
                <a:latin typeface="Arial" pitchFamily="34" charset="0"/>
                <a:cs typeface="Arial" pitchFamily="34" charset="0"/>
              </a:rPr>
              <a:t>Orientación  a los resultados </a:t>
            </a:r>
          </a:p>
          <a:p>
            <a:endParaRPr lang="es-ES" dirty="0"/>
          </a:p>
          <a:p>
            <a:pPr>
              <a:buFont typeface="Wingdings" pitchFamily="2" charset="2"/>
              <a:buChar char="ü"/>
            </a:pPr>
            <a:endParaRPr lang="es-ES" dirty="0"/>
          </a:p>
        </p:txBody>
      </p:sp>
      <p:sp>
        <p:nvSpPr>
          <p:cNvPr id="4" name="3 Rectángulo"/>
          <p:cNvSpPr/>
          <p:nvPr/>
        </p:nvSpPr>
        <p:spPr>
          <a:xfrm>
            <a:off x="357158" y="285728"/>
            <a:ext cx="7643866" cy="923330"/>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5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6. EJES ESTRATEGICOS</a:t>
            </a:r>
            <a:endParaRPr lang="es-E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lstStyle/>
          <a:p>
            <a:pPr algn="just">
              <a:buNone/>
            </a:pPr>
            <a:r>
              <a:rPr lang="es-ES" dirty="0" smtClean="0"/>
              <a:t>    </a:t>
            </a:r>
          </a:p>
          <a:p>
            <a:pPr algn="just">
              <a:buNone/>
            </a:pPr>
            <a:r>
              <a:rPr lang="es-ES" sz="3600" dirty="0" smtClean="0"/>
              <a:t>    </a:t>
            </a:r>
            <a:r>
              <a:rPr lang="es-ES" sz="3600" dirty="0" smtClean="0">
                <a:latin typeface="Arial" pitchFamily="34" charset="0"/>
                <a:cs typeface="Arial" pitchFamily="34" charset="0"/>
              </a:rPr>
              <a:t>Es una tarea que corresponde a cada una de las unidades del negocio a nivel táctico, como las unidades de soporte y facilitadoras del desempeño del Banco ante los clientes y el mercado.</a:t>
            </a:r>
            <a:endParaRPr lang="es-ES" sz="3600" dirty="0">
              <a:latin typeface="Arial" pitchFamily="34" charset="0"/>
              <a:cs typeface="Arial" pitchFamily="34" charset="0"/>
            </a:endParaRPr>
          </a:p>
        </p:txBody>
      </p:sp>
      <p:sp>
        <p:nvSpPr>
          <p:cNvPr id="4" name="3 Rectángulo"/>
          <p:cNvSpPr/>
          <p:nvPr/>
        </p:nvSpPr>
        <p:spPr>
          <a:xfrm>
            <a:off x="0" y="285728"/>
            <a:ext cx="8143900" cy="1569660"/>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s-ES" sz="48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FORMULACION ESTRATEGICA DEL BANCO </a:t>
            </a:r>
            <a:endParaRPr lang="es-ES" sz="48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ulento">
  <a:themeElements>
    <a:clrScheme name="Opulento">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pulento">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pulento">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Opulent</Template>
  <TotalTime>559</TotalTime>
  <Words>4645</Words>
  <Application>Microsoft Office PowerPoint</Application>
  <PresentationFormat>Presentación en pantalla (4:3)</PresentationFormat>
  <Paragraphs>751</Paragraphs>
  <Slides>120</Slides>
  <Notes>21</Notes>
  <HiddenSlides>0</HiddenSlides>
  <MMClips>0</MMClips>
  <ScaleCrop>false</ScaleCrop>
  <HeadingPairs>
    <vt:vector size="4" baseType="variant">
      <vt:variant>
        <vt:lpstr>Tema</vt:lpstr>
      </vt:variant>
      <vt:variant>
        <vt:i4>1</vt:i4>
      </vt:variant>
      <vt:variant>
        <vt:lpstr>Títulos de diapositiva</vt:lpstr>
      </vt:variant>
      <vt:variant>
        <vt:i4>120</vt:i4>
      </vt:variant>
    </vt:vector>
  </HeadingPairs>
  <TitlesOfParts>
    <vt:vector size="121" baseType="lpstr">
      <vt:lpstr>Opulento</vt:lpstr>
      <vt:lpstr>Diapositiva 1</vt:lpstr>
      <vt:lpstr>          Estrategia </vt:lpstr>
      <vt:lpstr>Diapositiva 3</vt:lpstr>
      <vt:lpstr>Diapositiva 4</vt:lpstr>
      <vt:lpstr>Diapositiva 5</vt:lpstr>
      <vt:lpstr>Diapositiva 6</vt:lpstr>
      <vt:lpstr>Diapositiva 7</vt:lpstr>
      <vt:lpstr>Diapositiva 8</vt:lpstr>
      <vt:lpstr>Diapositiva 9</vt:lpstr>
      <vt:lpstr>Diapositiva 10</vt:lpstr>
      <vt:lpstr>Diapositiva 11</vt:lpstr>
      <vt:lpstr>Diapositiva 12</vt:lpstr>
      <vt:lpstr>Diapositiva 13</vt:lpstr>
      <vt:lpstr>Diapositiva 14</vt:lpstr>
      <vt:lpstr>Diapositiva 15</vt:lpstr>
      <vt:lpstr>Diapositiva 16</vt:lpstr>
      <vt:lpstr>Diapositiva 17</vt:lpstr>
      <vt:lpstr>Diapositiva 18</vt:lpstr>
      <vt:lpstr>Diapositiva 19</vt:lpstr>
      <vt:lpstr>Diapositiva 20</vt:lpstr>
      <vt:lpstr>Diapositiva 21</vt:lpstr>
      <vt:lpstr>Diapositiva 22</vt:lpstr>
      <vt:lpstr>Diapositiva 23</vt:lpstr>
      <vt:lpstr>Diapositiva 24</vt:lpstr>
      <vt:lpstr>Diapositiva 25</vt:lpstr>
      <vt:lpstr>Diapositiva 26</vt:lpstr>
      <vt:lpstr>Diapositiva 27</vt:lpstr>
      <vt:lpstr>Diapositiva 28</vt:lpstr>
      <vt:lpstr>Diapositiva 29</vt:lpstr>
      <vt:lpstr>Diapositiva 30</vt:lpstr>
      <vt:lpstr>Diapositiva 31</vt:lpstr>
      <vt:lpstr>Diapositiva 32</vt:lpstr>
      <vt:lpstr>Diapositiva 33</vt:lpstr>
      <vt:lpstr>Diapositiva 34</vt:lpstr>
      <vt:lpstr>Diapositiva 35</vt:lpstr>
      <vt:lpstr>Diapositiva 36</vt:lpstr>
      <vt:lpstr>Diapositiva 37</vt:lpstr>
      <vt:lpstr>Diapositiva 38</vt:lpstr>
      <vt:lpstr>Diapositiva 39</vt:lpstr>
      <vt:lpstr>Diapositiva 40</vt:lpstr>
      <vt:lpstr>Diapositiva 41</vt:lpstr>
      <vt:lpstr>Diapositiva 42</vt:lpstr>
      <vt:lpstr>Diapositiva 43</vt:lpstr>
      <vt:lpstr>Diapositiva 44</vt:lpstr>
      <vt:lpstr>Diapositiva 45</vt:lpstr>
      <vt:lpstr>Diapositiva 46</vt:lpstr>
      <vt:lpstr>Diapositiva 47</vt:lpstr>
      <vt:lpstr>Diapositiva 48</vt:lpstr>
      <vt:lpstr>Diapositiva 49</vt:lpstr>
      <vt:lpstr>Diapositiva 50</vt:lpstr>
      <vt:lpstr>Diapositiva 51</vt:lpstr>
      <vt:lpstr>Diapositiva 52</vt:lpstr>
      <vt:lpstr>Diapositiva 53</vt:lpstr>
      <vt:lpstr>Diapositiva 54</vt:lpstr>
      <vt:lpstr>Diapositiva 55</vt:lpstr>
      <vt:lpstr>Diapositiva 56</vt:lpstr>
      <vt:lpstr>Diapositiva 57</vt:lpstr>
      <vt:lpstr>Diapositiva 58</vt:lpstr>
      <vt:lpstr>Diapositiva 59</vt:lpstr>
      <vt:lpstr>Diapositiva 60</vt:lpstr>
      <vt:lpstr>Diapositiva 61</vt:lpstr>
      <vt:lpstr>Diapositiva 62</vt:lpstr>
      <vt:lpstr>Diapositiva 63</vt:lpstr>
      <vt:lpstr>Diapositiva 64</vt:lpstr>
      <vt:lpstr>Diapositiva 65</vt:lpstr>
      <vt:lpstr>Diapositiva 66</vt:lpstr>
      <vt:lpstr>Diapositiva 67</vt:lpstr>
      <vt:lpstr>Diapositiva 68</vt:lpstr>
      <vt:lpstr>Diapositiva 69</vt:lpstr>
      <vt:lpstr>Diapositiva 70</vt:lpstr>
      <vt:lpstr>Diapositiva 71</vt:lpstr>
      <vt:lpstr>Diapositiva 72</vt:lpstr>
      <vt:lpstr>Diapositiva 73</vt:lpstr>
      <vt:lpstr>Diapositiva 74</vt:lpstr>
      <vt:lpstr>Diapositiva 75</vt:lpstr>
      <vt:lpstr>Diapositiva 76</vt:lpstr>
      <vt:lpstr>Diapositiva 77</vt:lpstr>
      <vt:lpstr>Diapositiva 78</vt:lpstr>
      <vt:lpstr>Diapositiva 79</vt:lpstr>
      <vt:lpstr>Diapositiva 80</vt:lpstr>
      <vt:lpstr>Diapositiva 81</vt:lpstr>
      <vt:lpstr>Diapositiva 82</vt:lpstr>
      <vt:lpstr>Diapositiva 83</vt:lpstr>
      <vt:lpstr>Diapositiva 84</vt:lpstr>
      <vt:lpstr>Diapositiva 85</vt:lpstr>
      <vt:lpstr>Diapositiva 86</vt:lpstr>
      <vt:lpstr>Diapositiva 87</vt:lpstr>
      <vt:lpstr>Diapositiva 88</vt:lpstr>
      <vt:lpstr>Diapositiva 89</vt:lpstr>
      <vt:lpstr>Diapositiva 90</vt:lpstr>
      <vt:lpstr>Diapositiva 91</vt:lpstr>
      <vt:lpstr>Diapositiva 92</vt:lpstr>
      <vt:lpstr>Diapositiva 93</vt:lpstr>
      <vt:lpstr>Diapositiva 94</vt:lpstr>
      <vt:lpstr>Diapositiva 95</vt:lpstr>
      <vt:lpstr>Diapositiva 96</vt:lpstr>
      <vt:lpstr>Diapositiva 97</vt:lpstr>
      <vt:lpstr>Diapositiva 98</vt:lpstr>
      <vt:lpstr>Diapositiva 99</vt:lpstr>
      <vt:lpstr>Diapositiva 100</vt:lpstr>
      <vt:lpstr>Diapositiva 101</vt:lpstr>
      <vt:lpstr>Diapositiva 102</vt:lpstr>
      <vt:lpstr>Diapositiva 103</vt:lpstr>
      <vt:lpstr>Diapositiva 104</vt:lpstr>
      <vt:lpstr>Diapositiva 105</vt:lpstr>
      <vt:lpstr>Diapositiva 106</vt:lpstr>
      <vt:lpstr>Diapositiva 107</vt:lpstr>
      <vt:lpstr>Diapositiva 108</vt:lpstr>
      <vt:lpstr>Diapositiva 109</vt:lpstr>
      <vt:lpstr>Diapositiva 110</vt:lpstr>
      <vt:lpstr>Diapositiva 111</vt:lpstr>
      <vt:lpstr>Diapositiva 112</vt:lpstr>
      <vt:lpstr>Diapositiva 113</vt:lpstr>
      <vt:lpstr>Diapositiva 114</vt:lpstr>
      <vt:lpstr>Diapositiva 115</vt:lpstr>
      <vt:lpstr>Diapositiva 116</vt:lpstr>
      <vt:lpstr>Diapositiva 117</vt:lpstr>
      <vt:lpstr>Diapositiva 118</vt:lpstr>
      <vt:lpstr>Diapositiva 119</vt:lpstr>
      <vt:lpstr>Diapositiva 120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PLANEACION ESTRATEGICA</dc:title>
  <dc:creator>Personal</dc:creator>
  <cp:lastModifiedBy>jorge lopez</cp:lastModifiedBy>
  <cp:revision>86</cp:revision>
  <dcterms:created xsi:type="dcterms:W3CDTF">2009-04-27T23:53:31Z</dcterms:created>
  <dcterms:modified xsi:type="dcterms:W3CDTF">2009-05-05T19:42:00Z</dcterms:modified>
</cp:coreProperties>
</file>