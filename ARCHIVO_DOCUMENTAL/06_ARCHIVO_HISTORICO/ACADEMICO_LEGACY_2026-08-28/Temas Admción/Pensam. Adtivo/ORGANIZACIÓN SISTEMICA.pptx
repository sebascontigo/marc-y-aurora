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1" r:id="rId8"/>
    <p:sldId id="265" r:id="rId9"/>
    <p:sldId id="266" r:id="rId10"/>
    <p:sldId id="267" r:id="rId11"/>
    <p:sldId id="268" r:id="rId12"/>
    <p:sldId id="269" r:id="rId13"/>
    <p:sldId id="270" r:id="rId14"/>
    <p:sldId id="271" r:id="rId15"/>
    <p:sldId id="278" r:id="rId16"/>
    <p:sldId id="279" r:id="rId17"/>
    <p:sldId id="280" r:id="rId18"/>
    <p:sldId id="282" r:id="rId19"/>
    <p:sldId id="262" r:id="rId20"/>
    <p:sldId id="263" r:id="rId21"/>
    <p:sldId id="272" r:id="rId22"/>
    <p:sldId id="273" r:id="rId23"/>
    <p:sldId id="275" r:id="rId24"/>
    <p:sldId id="274" r:id="rId25"/>
    <p:sldId id="281" r:id="rId26"/>
    <p:sldId id="283" r:id="rId27"/>
    <p:sldId id="284" r:id="rId28"/>
    <p:sldId id="285" r:id="rId29"/>
    <p:sldId id="276" r:id="rId30"/>
    <p:sldId id="286" r:id="rId31"/>
    <p:sldId id="277" r:id="rId32"/>
  </p:sldIdLst>
  <p:sldSz cx="9144000" cy="6858000" type="screen4x3"/>
  <p:notesSz cx="6858000" cy="9144000"/>
  <p:defaultTextStyle>
    <a:defPPr>
      <a:defRPr lang="es-E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366"/>
    <a:srgbClr val="2C0454"/>
    <a:srgbClr val="363ACA"/>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062"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C404A199-B260-41A2-8FE9-EF5C75D997C8}" type="slidenum">
              <a:rPr lang="es-ES"/>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D08DEE1F-428C-40F1-AE1B-6C5A03F1ED8C}" type="slidenum">
              <a:rPr lang="es-ES"/>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387311C5-B88E-477C-B623-F4F07894060A}" type="slidenum">
              <a:rPr lang="es-ES"/>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BB9FA845-9ED8-4DC0-9830-D62DD8CAC796}" type="slidenum">
              <a:rPr lang="es-ES"/>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lvl1pPr>
              <a:defRPr/>
            </a:lvl1pPr>
          </a:lstStyle>
          <a:p>
            <a:endParaRPr lang="es-ES"/>
          </a:p>
        </p:txBody>
      </p:sp>
      <p:sp>
        <p:nvSpPr>
          <p:cNvPr id="8" name="7 Marcador de pie de página"/>
          <p:cNvSpPr>
            <a:spLocks noGrp="1"/>
          </p:cNvSpPr>
          <p:nvPr>
            <p:ph type="ftr" sz="quarter" idx="11"/>
          </p:nvPr>
        </p:nvSpPr>
        <p:spPr/>
        <p:txBody>
          <a:bodyPr/>
          <a:lstStyle>
            <a:lvl1pPr>
              <a:defRPr/>
            </a:lvl1pPr>
          </a:lstStyle>
          <a:p>
            <a:endParaRPr lang="es-ES"/>
          </a:p>
        </p:txBody>
      </p:sp>
      <p:sp>
        <p:nvSpPr>
          <p:cNvPr id="9" name="8 Marcador de número de diapositiva"/>
          <p:cNvSpPr>
            <a:spLocks noGrp="1"/>
          </p:cNvSpPr>
          <p:nvPr>
            <p:ph type="sldNum" sz="quarter" idx="12"/>
          </p:nvPr>
        </p:nvSpPr>
        <p:spPr/>
        <p:txBody>
          <a:bodyPr/>
          <a:lstStyle>
            <a:lvl1pPr>
              <a:defRPr/>
            </a:lvl1pPr>
          </a:lstStyle>
          <a:p>
            <a:fld id="{1D95FAB8-6A74-47A9-BE15-5DBC9C9FEE5D}" type="slidenum">
              <a:rPr lang="es-ES"/>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lvl1pPr>
              <a:defRPr/>
            </a:lvl1pPr>
          </a:lstStyle>
          <a:p>
            <a:endParaRPr lang="es-ES"/>
          </a:p>
        </p:txBody>
      </p:sp>
      <p:sp>
        <p:nvSpPr>
          <p:cNvPr id="4" name="3 Marcador de pie de página"/>
          <p:cNvSpPr>
            <a:spLocks noGrp="1"/>
          </p:cNvSpPr>
          <p:nvPr>
            <p:ph type="ftr" sz="quarter" idx="11"/>
          </p:nvPr>
        </p:nvSpPr>
        <p:spPr/>
        <p:txBody>
          <a:bodyPr/>
          <a:lstStyle>
            <a:lvl1pPr>
              <a:defRPr/>
            </a:lvl1pPr>
          </a:lstStyle>
          <a:p>
            <a:endParaRPr lang="es-ES"/>
          </a:p>
        </p:txBody>
      </p:sp>
      <p:sp>
        <p:nvSpPr>
          <p:cNvPr id="5" name="4 Marcador de número de diapositiva"/>
          <p:cNvSpPr>
            <a:spLocks noGrp="1"/>
          </p:cNvSpPr>
          <p:nvPr>
            <p:ph type="sldNum" sz="quarter" idx="12"/>
          </p:nvPr>
        </p:nvSpPr>
        <p:spPr/>
        <p:txBody>
          <a:bodyPr/>
          <a:lstStyle>
            <a:lvl1pPr>
              <a:defRPr/>
            </a:lvl1pPr>
          </a:lstStyle>
          <a:p>
            <a:fld id="{416B1264-AADF-4165-8F92-E2359EF77A47}" type="slidenum">
              <a:rPr lang="es-ES"/>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lvl1pPr>
          </a:lstStyle>
          <a:p>
            <a:endParaRPr lang="es-ES"/>
          </a:p>
        </p:txBody>
      </p:sp>
      <p:sp>
        <p:nvSpPr>
          <p:cNvPr id="3" name="2 Marcador de pie de página"/>
          <p:cNvSpPr>
            <a:spLocks noGrp="1"/>
          </p:cNvSpPr>
          <p:nvPr>
            <p:ph type="ftr" sz="quarter" idx="11"/>
          </p:nvPr>
        </p:nvSpPr>
        <p:spPr/>
        <p:txBody>
          <a:bodyPr/>
          <a:lstStyle>
            <a:lvl1pPr>
              <a:defRPr/>
            </a:lvl1pPr>
          </a:lstStyle>
          <a:p>
            <a:endParaRPr lang="es-ES"/>
          </a:p>
        </p:txBody>
      </p:sp>
      <p:sp>
        <p:nvSpPr>
          <p:cNvPr id="4" name="3 Marcador de número de diapositiva"/>
          <p:cNvSpPr>
            <a:spLocks noGrp="1"/>
          </p:cNvSpPr>
          <p:nvPr>
            <p:ph type="sldNum" sz="quarter" idx="12"/>
          </p:nvPr>
        </p:nvSpPr>
        <p:spPr/>
        <p:txBody>
          <a:bodyPr/>
          <a:lstStyle>
            <a:lvl1pPr>
              <a:defRPr/>
            </a:lvl1pPr>
          </a:lstStyle>
          <a:p>
            <a:fld id="{FFE7581B-F1BA-4887-8D06-FB6E6F20806A}" type="slidenum">
              <a:rPr lang="es-ES"/>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DD09446F-D272-4EF6-8A2C-B39792A85036}" type="slidenum">
              <a:rPr lang="es-ES"/>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lvl1pPr>
              <a:defRPr/>
            </a:lvl1pPr>
          </a:lstStyle>
          <a:p>
            <a:endParaRPr lang="es-ES"/>
          </a:p>
        </p:txBody>
      </p:sp>
      <p:sp>
        <p:nvSpPr>
          <p:cNvPr id="6" name="5 Marcador de pie de página"/>
          <p:cNvSpPr>
            <a:spLocks noGrp="1"/>
          </p:cNvSpPr>
          <p:nvPr>
            <p:ph type="ftr" sz="quarter" idx="11"/>
          </p:nvPr>
        </p:nvSpPr>
        <p:spPr/>
        <p:txBody>
          <a:bodyPr/>
          <a:lstStyle>
            <a:lvl1pPr>
              <a:defRPr/>
            </a:lvl1pPr>
          </a:lstStyle>
          <a:p>
            <a:endParaRPr lang="es-ES"/>
          </a:p>
        </p:txBody>
      </p:sp>
      <p:sp>
        <p:nvSpPr>
          <p:cNvPr id="7" name="6 Marcador de número de diapositiva"/>
          <p:cNvSpPr>
            <a:spLocks noGrp="1"/>
          </p:cNvSpPr>
          <p:nvPr>
            <p:ph type="sldNum" sz="quarter" idx="12"/>
          </p:nvPr>
        </p:nvSpPr>
        <p:spPr/>
        <p:txBody>
          <a:bodyPr/>
          <a:lstStyle>
            <a:lvl1pPr>
              <a:defRPr/>
            </a:lvl1pPr>
          </a:lstStyle>
          <a:p>
            <a:fld id="{F9793FD0-A4F3-4106-9ADF-B63276117672}" type="slidenum">
              <a:rPr lang="es-ES"/>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27BFEB44-386E-4155-BAE4-6D5E48CF0961}" type="slidenum">
              <a:rPr lang="es-ES"/>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lvl1pPr>
              <a:defRPr/>
            </a:lvl1pPr>
          </a:lstStyle>
          <a:p>
            <a:endParaRPr lang="es-ES"/>
          </a:p>
        </p:txBody>
      </p:sp>
      <p:sp>
        <p:nvSpPr>
          <p:cNvPr id="5" name="4 Marcador de pie de página"/>
          <p:cNvSpPr>
            <a:spLocks noGrp="1"/>
          </p:cNvSpPr>
          <p:nvPr>
            <p:ph type="ftr" sz="quarter" idx="11"/>
          </p:nvPr>
        </p:nvSpPr>
        <p:spPr/>
        <p:txBody>
          <a:bodyPr/>
          <a:lstStyle>
            <a:lvl1pPr>
              <a:defRPr/>
            </a:lvl1pPr>
          </a:lstStyle>
          <a:p>
            <a:endParaRPr lang="es-ES"/>
          </a:p>
        </p:txBody>
      </p:sp>
      <p:sp>
        <p:nvSpPr>
          <p:cNvPr id="6" name="5 Marcador de número de diapositiva"/>
          <p:cNvSpPr>
            <a:spLocks noGrp="1"/>
          </p:cNvSpPr>
          <p:nvPr>
            <p:ph type="sldNum" sz="quarter" idx="12"/>
          </p:nvPr>
        </p:nvSpPr>
        <p:spPr/>
        <p:txBody>
          <a:bodyPr/>
          <a:lstStyle>
            <a:lvl1pPr>
              <a:defRPr/>
            </a:lvl1pPr>
          </a:lstStyle>
          <a:p>
            <a:fld id="{4938E521-4DE6-40CC-A853-9DEBED3E1AD7}" type="slidenum">
              <a:rPr lang="es-ES"/>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3501">
              <a:srgbClr val="E6E6E6"/>
            </a:gs>
            <a:gs pos="16000">
              <a:srgbClr val="7D8496"/>
            </a:gs>
            <a:gs pos="23500">
              <a:srgbClr val="E6E6E6"/>
            </a:gs>
            <a:gs pos="42501">
              <a:srgbClr val="7D8496"/>
            </a:gs>
            <a:gs pos="50000">
              <a:srgbClr val="E6E6E6"/>
            </a:gs>
            <a:gs pos="57500">
              <a:srgbClr val="7D8496"/>
            </a:gs>
            <a:gs pos="76500">
              <a:srgbClr val="E6E6E6"/>
            </a:gs>
            <a:gs pos="84000">
              <a:srgbClr val="7D8496"/>
            </a:gs>
            <a:gs pos="96500">
              <a:srgbClr val="E6E6E6"/>
            </a:gs>
            <a:gs pos="100000">
              <a:srgbClr val="FFFFFF"/>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55675E9A-94A8-467A-BD24-4624FD33D8CD}" type="slidenum">
              <a:rPr lang="es-ES"/>
              <a:pPr/>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11188" y="549275"/>
            <a:ext cx="7772400" cy="1470025"/>
          </a:xfrm>
        </p:spPr>
        <p:txBody>
          <a:bodyPr/>
          <a:lstStyle/>
          <a:p>
            <a:r>
              <a:rPr lang="es-CO">
                <a:solidFill>
                  <a:schemeClr val="tx1"/>
                </a:solidFill>
              </a:rPr>
              <a:t>ORGANIZACIÓN SISTEMICA</a:t>
            </a:r>
            <a:r>
              <a:rPr lang="es-CO">
                <a:solidFill>
                  <a:srgbClr val="001366"/>
                </a:solidFill>
              </a:rPr>
              <a:t/>
            </a:r>
            <a:br>
              <a:rPr lang="es-CO">
                <a:solidFill>
                  <a:srgbClr val="001366"/>
                </a:solidFill>
              </a:rPr>
            </a:br>
            <a:endParaRPr lang="es-ES">
              <a:solidFill>
                <a:srgbClr val="001366"/>
              </a:solidFill>
            </a:endParaRPr>
          </a:p>
        </p:txBody>
      </p:sp>
      <p:sp>
        <p:nvSpPr>
          <p:cNvPr id="2051" name="Rectangle 3"/>
          <p:cNvSpPr>
            <a:spLocks noGrp="1" noChangeArrowheads="1"/>
          </p:cNvSpPr>
          <p:nvPr>
            <p:ph type="subTitle" idx="1"/>
          </p:nvPr>
        </p:nvSpPr>
        <p:spPr>
          <a:xfrm>
            <a:off x="1476375" y="2997200"/>
            <a:ext cx="6400800" cy="2112963"/>
          </a:xfrm>
        </p:spPr>
        <p:txBody>
          <a:bodyPr/>
          <a:lstStyle/>
          <a:p>
            <a:endParaRPr lang="es-E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68313" y="404813"/>
            <a:ext cx="8229600" cy="1143000"/>
          </a:xfrm>
        </p:spPr>
        <p:txBody>
          <a:bodyPr/>
          <a:lstStyle/>
          <a:p>
            <a:r>
              <a:rPr lang="es-CO" sz="4000"/>
              <a:t>Introducción</a:t>
            </a:r>
            <a:br>
              <a:rPr lang="es-CO" sz="4000"/>
            </a:br>
            <a:endParaRPr lang="es-ES" sz="4000"/>
          </a:p>
        </p:txBody>
      </p:sp>
      <p:sp>
        <p:nvSpPr>
          <p:cNvPr id="3075" name="Rectangle 3"/>
          <p:cNvSpPr>
            <a:spLocks noGrp="1" noChangeArrowheads="1"/>
          </p:cNvSpPr>
          <p:nvPr>
            <p:ph type="body" idx="1"/>
          </p:nvPr>
        </p:nvSpPr>
        <p:spPr>
          <a:xfrm>
            <a:off x="611188" y="1916113"/>
            <a:ext cx="8229600" cy="4525962"/>
          </a:xfrm>
        </p:spPr>
        <p:txBody>
          <a:bodyPr/>
          <a:lstStyle/>
          <a:p>
            <a:pPr algn="just">
              <a:buFontTx/>
              <a:buNone/>
            </a:pPr>
            <a:r>
              <a:rPr lang="es-CO"/>
              <a:t>   	La teoría de sistemas, es la perspectiva integradora de la ciencia moderna surgida de la biología impactando la teoría organizacional, es así como modernamente se a elaborado una teoría sistemática de las organizaciones.</a:t>
            </a:r>
          </a:p>
          <a:p>
            <a:pPr algn="just">
              <a:buFontTx/>
              <a:buNone/>
            </a:pPr>
            <a:endParaRPr lang="es-E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s-CO"/>
              <a:t>Pioneros y evolución</a:t>
            </a:r>
            <a:endParaRPr lang="es-ES"/>
          </a:p>
        </p:txBody>
      </p:sp>
      <p:sp>
        <p:nvSpPr>
          <p:cNvPr id="4099" name="Rectangle 3"/>
          <p:cNvSpPr>
            <a:spLocks noGrp="1" noChangeArrowheads="1"/>
          </p:cNvSpPr>
          <p:nvPr>
            <p:ph type="body" idx="1"/>
          </p:nvPr>
        </p:nvSpPr>
        <p:spPr>
          <a:xfrm>
            <a:off x="468313" y="1268413"/>
            <a:ext cx="8229600" cy="4525962"/>
          </a:xfrm>
        </p:spPr>
        <p:txBody>
          <a:bodyPr/>
          <a:lstStyle/>
          <a:p>
            <a:pPr algn="just">
              <a:buFontTx/>
              <a:buNone/>
            </a:pPr>
            <a:r>
              <a:rPr lang="es-CO" sz="2800"/>
              <a:t>   </a:t>
            </a:r>
            <a:r>
              <a:rPr lang="es-CO" sz="2400"/>
              <a:t>El enfoque sistemático de las organizaciones es una aplicación al campo de la teoría organizacional, de la teoría general de sistemas cuyos conceptos básicos fueron desarrollados por:</a:t>
            </a:r>
          </a:p>
          <a:p>
            <a:pPr algn="just">
              <a:buFontTx/>
              <a:buNone/>
            </a:pPr>
            <a:r>
              <a:rPr lang="es-CO" sz="2400"/>
              <a:t>   *Ludwig Von Bertalanffy</a:t>
            </a:r>
          </a:p>
          <a:p>
            <a:pPr algn="just">
              <a:buFontTx/>
              <a:buNone/>
            </a:pPr>
            <a:r>
              <a:rPr lang="es-CO" sz="2400"/>
              <a:t>   *Kenneth Boulding</a:t>
            </a:r>
          </a:p>
          <a:p>
            <a:pPr algn="just">
              <a:buFontTx/>
              <a:buNone/>
            </a:pPr>
            <a:r>
              <a:rPr lang="es-CO" sz="2400"/>
              <a:t>   *Robert Kahn y Daniel Katz</a:t>
            </a:r>
          </a:p>
          <a:p>
            <a:pPr algn="just">
              <a:buFontTx/>
              <a:buNone/>
            </a:pPr>
            <a:r>
              <a:rPr lang="es-CO" sz="2400"/>
              <a:t>   *Bernard</a:t>
            </a:r>
          </a:p>
          <a:p>
            <a:pPr algn="just">
              <a:buFontTx/>
              <a:buNone/>
            </a:pPr>
            <a:r>
              <a:rPr lang="es-CO" sz="2400"/>
              <a:t>   *George Homans</a:t>
            </a:r>
          </a:p>
          <a:p>
            <a:pPr algn="just">
              <a:buFontTx/>
              <a:buNone/>
            </a:pPr>
            <a:r>
              <a:rPr lang="es-CO" sz="2400"/>
              <a:t>   </a:t>
            </a:r>
          </a:p>
          <a:p>
            <a:pPr algn="just">
              <a:buFontTx/>
              <a:buNone/>
            </a:pPr>
            <a:endParaRPr lang="es-ES" sz="24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s-CO" sz="3600"/>
              <a:t>Etapas de la investigación operacional</a:t>
            </a:r>
            <a:endParaRPr lang="es-ES" sz="3600"/>
          </a:p>
        </p:txBody>
      </p:sp>
      <p:sp>
        <p:nvSpPr>
          <p:cNvPr id="5130" name="Rectangle 10"/>
          <p:cNvSpPr>
            <a:spLocks noChangeArrowheads="1"/>
          </p:cNvSpPr>
          <p:nvPr/>
        </p:nvSpPr>
        <p:spPr bwMode="auto">
          <a:xfrm>
            <a:off x="2843213" y="1557338"/>
            <a:ext cx="3529012" cy="431800"/>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Formulación del problema</a:t>
            </a:r>
            <a:endParaRPr lang="es-ES" sz="1800"/>
          </a:p>
        </p:txBody>
      </p:sp>
      <p:sp>
        <p:nvSpPr>
          <p:cNvPr id="5131" name="Line 11"/>
          <p:cNvSpPr>
            <a:spLocks noChangeShapeType="1"/>
          </p:cNvSpPr>
          <p:nvPr/>
        </p:nvSpPr>
        <p:spPr bwMode="auto">
          <a:xfrm>
            <a:off x="4643438" y="1989138"/>
            <a:ext cx="0" cy="287337"/>
          </a:xfrm>
          <a:prstGeom prst="line">
            <a:avLst/>
          </a:prstGeom>
          <a:noFill/>
          <a:ln w="9525">
            <a:solidFill>
              <a:schemeClr val="tx1"/>
            </a:solidFill>
            <a:round/>
            <a:headEnd/>
            <a:tailEnd type="triangle" w="med" len="med"/>
          </a:ln>
          <a:effectLst/>
        </p:spPr>
        <p:txBody>
          <a:bodyPr/>
          <a:lstStyle/>
          <a:p>
            <a:endParaRPr lang="es-ES"/>
          </a:p>
        </p:txBody>
      </p:sp>
      <p:sp>
        <p:nvSpPr>
          <p:cNvPr id="5132" name="Rectangle 12"/>
          <p:cNvSpPr>
            <a:spLocks noChangeArrowheads="1"/>
          </p:cNvSpPr>
          <p:nvPr/>
        </p:nvSpPr>
        <p:spPr bwMode="auto">
          <a:xfrm>
            <a:off x="1042988" y="2276475"/>
            <a:ext cx="6913562" cy="574675"/>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Construcción de un modelo matemático para presentar el problema</a:t>
            </a:r>
            <a:endParaRPr lang="es-ES" sz="1800"/>
          </a:p>
        </p:txBody>
      </p:sp>
      <p:sp>
        <p:nvSpPr>
          <p:cNvPr id="5133" name="Line 13"/>
          <p:cNvSpPr>
            <a:spLocks noChangeShapeType="1"/>
          </p:cNvSpPr>
          <p:nvPr/>
        </p:nvSpPr>
        <p:spPr bwMode="auto">
          <a:xfrm>
            <a:off x="4643438" y="2852738"/>
            <a:ext cx="0" cy="288925"/>
          </a:xfrm>
          <a:prstGeom prst="line">
            <a:avLst/>
          </a:prstGeom>
          <a:noFill/>
          <a:ln w="9525">
            <a:solidFill>
              <a:schemeClr val="tx1"/>
            </a:solidFill>
            <a:round/>
            <a:headEnd/>
            <a:tailEnd type="triangle" w="med" len="med"/>
          </a:ln>
          <a:effectLst/>
        </p:spPr>
        <p:txBody>
          <a:bodyPr/>
          <a:lstStyle/>
          <a:p>
            <a:endParaRPr lang="es-ES"/>
          </a:p>
        </p:txBody>
      </p:sp>
      <p:sp>
        <p:nvSpPr>
          <p:cNvPr id="5134" name="Rectangle 14"/>
          <p:cNvSpPr>
            <a:spLocks noChangeArrowheads="1"/>
          </p:cNvSpPr>
          <p:nvPr/>
        </p:nvSpPr>
        <p:spPr bwMode="auto">
          <a:xfrm>
            <a:off x="2051050" y="3213100"/>
            <a:ext cx="4967288" cy="431800"/>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Derivar una solución a partir del modelo</a:t>
            </a:r>
            <a:endParaRPr lang="es-ES" sz="1800"/>
          </a:p>
        </p:txBody>
      </p:sp>
      <p:sp>
        <p:nvSpPr>
          <p:cNvPr id="5135" name="Line 15"/>
          <p:cNvSpPr>
            <a:spLocks noChangeShapeType="1"/>
          </p:cNvSpPr>
          <p:nvPr/>
        </p:nvSpPr>
        <p:spPr bwMode="auto">
          <a:xfrm>
            <a:off x="4643438" y="3644900"/>
            <a:ext cx="0" cy="288925"/>
          </a:xfrm>
          <a:prstGeom prst="line">
            <a:avLst/>
          </a:prstGeom>
          <a:noFill/>
          <a:ln w="9525">
            <a:solidFill>
              <a:schemeClr val="tx1"/>
            </a:solidFill>
            <a:round/>
            <a:headEnd/>
            <a:tailEnd type="triangle" w="med" len="med"/>
          </a:ln>
          <a:effectLst/>
        </p:spPr>
        <p:txBody>
          <a:bodyPr/>
          <a:lstStyle/>
          <a:p>
            <a:endParaRPr lang="es-ES"/>
          </a:p>
        </p:txBody>
      </p:sp>
      <p:sp>
        <p:nvSpPr>
          <p:cNvPr id="5136" name="Rectangle 16"/>
          <p:cNvSpPr>
            <a:spLocks noChangeArrowheads="1"/>
          </p:cNvSpPr>
          <p:nvPr/>
        </p:nvSpPr>
        <p:spPr bwMode="auto">
          <a:xfrm>
            <a:off x="1547813" y="4076700"/>
            <a:ext cx="6048375" cy="503238"/>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Probar el modelo y la solución derivada del mismo</a:t>
            </a:r>
            <a:endParaRPr lang="es-ES" sz="1800"/>
          </a:p>
        </p:txBody>
      </p:sp>
      <p:sp>
        <p:nvSpPr>
          <p:cNvPr id="5137" name="Line 17"/>
          <p:cNvSpPr>
            <a:spLocks noChangeShapeType="1"/>
          </p:cNvSpPr>
          <p:nvPr/>
        </p:nvSpPr>
        <p:spPr bwMode="auto">
          <a:xfrm>
            <a:off x="4643438" y="4652963"/>
            <a:ext cx="0" cy="288925"/>
          </a:xfrm>
          <a:prstGeom prst="line">
            <a:avLst/>
          </a:prstGeom>
          <a:noFill/>
          <a:ln w="9525">
            <a:solidFill>
              <a:schemeClr val="tx1"/>
            </a:solidFill>
            <a:round/>
            <a:headEnd/>
            <a:tailEnd type="triangle" w="med" len="med"/>
          </a:ln>
          <a:effectLst/>
        </p:spPr>
        <p:txBody>
          <a:bodyPr/>
          <a:lstStyle/>
          <a:p>
            <a:endParaRPr lang="es-ES"/>
          </a:p>
        </p:txBody>
      </p:sp>
      <p:sp>
        <p:nvSpPr>
          <p:cNvPr id="5138" name="Rectangle 18"/>
          <p:cNvSpPr>
            <a:spLocks noChangeArrowheads="1"/>
          </p:cNvSpPr>
          <p:nvPr/>
        </p:nvSpPr>
        <p:spPr bwMode="auto">
          <a:xfrm>
            <a:off x="1619250" y="5013325"/>
            <a:ext cx="5976938" cy="503238"/>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Establecimiento de controles sobre la solución</a:t>
            </a:r>
            <a:endParaRPr lang="es-ES" sz="1800"/>
          </a:p>
        </p:txBody>
      </p:sp>
      <p:sp>
        <p:nvSpPr>
          <p:cNvPr id="5139" name="Line 19"/>
          <p:cNvSpPr>
            <a:spLocks noChangeShapeType="1"/>
          </p:cNvSpPr>
          <p:nvPr/>
        </p:nvSpPr>
        <p:spPr bwMode="auto">
          <a:xfrm>
            <a:off x="4643438" y="5661025"/>
            <a:ext cx="0" cy="215900"/>
          </a:xfrm>
          <a:prstGeom prst="line">
            <a:avLst/>
          </a:prstGeom>
          <a:noFill/>
          <a:ln w="9525">
            <a:solidFill>
              <a:schemeClr val="tx1"/>
            </a:solidFill>
            <a:round/>
            <a:headEnd/>
            <a:tailEnd type="triangle" w="med" len="med"/>
          </a:ln>
          <a:effectLst/>
        </p:spPr>
        <p:txBody>
          <a:bodyPr/>
          <a:lstStyle/>
          <a:p>
            <a:endParaRPr lang="es-ES"/>
          </a:p>
        </p:txBody>
      </p:sp>
      <p:sp>
        <p:nvSpPr>
          <p:cNvPr id="5140" name="Rectangle 20"/>
          <p:cNvSpPr>
            <a:spLocks noChangeArrowheads="1"/>
          </p:cNvSpPr>
          <p:nvPr/>
        </p:nvSpPr>
        <p:spPr bwMode="auto">
          <a:xfrm>
            <a:off x="2411413" y="6021388"/>
            <a:ext cx="4392612" cy="431800"/>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Implantación de la solución</a:t>
            </a:r>
            <a:endParaRPr lang="es-ES" sz="180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s-CO" sz="3600"/>
              <a:t>Teoría general de los sistemas</a:t>
            </a:r>
            <a:endParaRPr lang="es-ES" sz="3600"/>
          </a:p>
        </p:txBody>
      </p:sp>
      <p:sp>
        <p:nvSpPr>
          <p:cNvPr id="6147" name="Rectangle 3"/>
          <p:cNvSpPr>
            <a:spLocks noGrp="1" noChangeArrowheads="1"/>
          </p:cNvSpPr>
          <p:nvPr>
            <p:ph type="body" idx="1"/>
          </p:nvPr>
        </p:nvSpPr>
        <p:spPr/>
        <p:txBody>
          <a:bodyPr/>
          <a:lstStyle/>
          <a:p>
            <a:pPr>
              <a:buFontTx/>
              <a:buNone/>
            </a:pPr>
            <a:r>
              <a:rPr lang="es-CO"/>
              <a:t>   se basa en la comprensión de la dependencia científica de todas las disciplinas y de la necesidad de su integración. Las diversas ramas del conocimiento (hasta entonces extrañas unas a las otras por la especialización y consecuente aislamiento) trataron sus objetos de estudio. </a:t>
            </a:r>
            <a:endParaRPr lang="es-E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4" name="Oval 10"/>
          <p:cNvSpPr>
            <a:spLocks noChangeArrowheads="1"/>
          </p:cNvSpPr>
          <p:nvPr/>
        </p:nvSpPr>
        <p:spPr bwMode="auto">
          <a:xfrm>
            <a:off x="1403350" y="1773238"/>
            <a:ext cx="3024188" cy="2303462"/>
          </a:xfrm>
          <a:prstGeom prst="ellipse">
            <a:avLst/>
          </a:prstGeom>
          <a:solidFill>
            <a:schemeClr val="accent1"/>
          </a:solidFill>
          <a:ln w="9525">
            <a:solidFill>
              <a:schemeClr val="tx1"/>
            </a:solidFill>
            <a:round/>
            <a:headEnd/>
            <a:tailEnd/>
          </a:ln>
          <a:effectLst/>
        </p:spPr>
        <p:txBody>
          <a:bodyPr wrap="none" anchor="ctr"/>
          <a:lstStyle/>
          <a:p>
            <a:endParaRPr lang="es-ES"/>
          </a:p>
        </p:txBody>
      </p:sp>
      <p:sp>
        <p:nvSpPr>
          <p:cNvPr id="11266" name="Rectangle 2"/>
          <p:cNvSpPr>
            <a:spLocks noGrp="1" noChangeArrowheads="1"/>
          </p:cNvSpPr>
          <p:nvPr>
            <p:ph type="title"/>
          </p:nvPr>
        </p:nvSpPr>
        <p:spPr>
          <a:xfrm>
            <a:off x="457200" y="274638"/>
            <a:ext cx="8229600" cy="706437"/>
          </a:xfrm>
        </p:spPr>
        <p:txBody>
          <a:bodyPr/>
          <a:lstStyle/>
          <a:p>
            <a:r>
              <a:rPr lang="es-CO" sz="3600"/>
              <a:t>Características de un sistema</a:t>
            </a:r>
            <a:endParaRPr lang="es-ES" sz="3600"/>
          </a:p>
        </p:txBody>
      </p:sp>
      <p:sp>
        <p:nvSpPr>
          <p:cNvPr id="11271" name="Oval 7"/>
          <p:cNvSpPr>
            <a:spLocks noChangeArrowheads="1"/>
          </p:cNvSpPr>
          <p:nvPr/>
        </p:nvSpPr>
        <p:spPr bwMode="auto">
          <a:xfrm>
            <a:off x="2051050" y="2636838"/>
            <a:ext cx="649288" cy="504825"/>
          </a:xfrm>
          <a:prstGeom prst="ellipse">
            <a:avLst/>
          </a:prstGeom>
          <a:solidFill>
            <a:schemeClr val="accent1"/>
          </a:solidFill>
          <a:ln w="9525">
            <a:solidFill>
              <a:schemeClr val="tx1"/>
            </a:solidFill>
            <a:round/>
            <a:headEnd/>
            <a:tailEnd/>
          </a:ln>
          <a:effectLst/>
        </p:spPr>
        <p:txBody>
          <a:bodyPr wrap="none" anchor="ctr"/>
          <a:lstStyle/>
          <a:p>
            <a:endParaRPr lang="es-ES"/>
          </a:p>
        </p:txBody>
      </p:sp>
      <p:sp>
        <p:nvSpPr>
          <p:cNvPr id="11272" name="Oval 8"/>
          <p:cNvSpPr>
            <a:spLocks noChangeArrowheads="1"/>
          </p:cNvSpPr>
          <p:nvPr/>
        </p:nvSpPr>
        <p:spPr bwMode="auto">
          <a:xfrm>
            <a:off x="3059113" y="2636838"/>
            <a:ext cx="649287" cy="504825"/>
          </a:xfrm>
          <a:prstGeom prst="ellipse">
            <a:avLst/>
          </a:prstGeom>
          <a:solidFill>
            <a:schemeClr val="accent1"/>
          </a:solidFill>
          <a:ln w="9525">
            <a:solidFill>
              <a:schemeClr val="tx1"/>
            </a:solidFill>
            <a:round/>
            <a:headEnd/>
            <a:tailEnd/>
          </a:ln>
          <a:effectLst/>
        </p:spPr>
        <p:txBody>
          <a:bodyPr wrap="none" anchor="ctr"/>
          <a:lstStyle/>
          <a:p>
            <a:endParaRPr lang="es-ES"/>
          </a:p>
        </p:txBody>
      </p:sp>
      <p:sp>
        <p:nvSpPr>
          <p:cNvPr id="11275" name="Line 11"/>
          <p:cNvSpPr>
            <a:spLocks noChangeShapeType="1"/>
          </p:cNvSpPr>
          <p:nvPr/>
        </p:nvSpPr>
        <p:spPr bwMode="auto">
          <a:xfrm>
            <a:off x="2627313" y="3141663"/>
            <a:ext cx="504825" cy="0"/>
          </a:xfrm>
          <a:prstGeom prst="line">
            <a:avLst/>
          </a:prstGeom>
          <a:noFill/>
          <a:ln w="9525">
            <a:solidFill>
              <a:schemeClr val="tx1"/>
            </a:solidFill>
            <a:round/>
            <a:headEnd/>
            <a:tailEnd type="triangle" w="med" len="med"/>
          </a:ln>
          <a:effectLst/>
        </p:spPr>
        <p:txBody>
          <a:bodyPr/>
          <a:lstStyle/>
          <a:p>
            <a:endParaRPr lang="es-ES"/>
          </a:p>
        </p:txBody>
      </p:sp>
      <p:sp>
        <p:nvSpPr>
          <p:cNvPr id="11276" name="Line 12"/>
          <p:cNvSpPr>
            <a:spLocks noChangeShapeType="1"/>
          </p:cNvSpPr>
          <p:nvPr/>
        </p:nvSpPr>
        <p:spPr bwMode="auto">
          <a:xfrm flipH="1">
            <a:off x="2627313" y="2708275"/>
            <a:ext cx="431800" cy="0"/>
          </a:xfrm>
          <a:prstGeom prst="line">
            <a:avLst/>
          </a:prstGeom>
          <a:noFill/>
          <a:ln w="9525">
            <a:solidFill>
              <a:schemeClr val="tx1"/>
            </a:solidFill>
            <a:round/>
            <a:headEnd/>
            <a:tailEnd type="triangle" w="med" len="med"/>
          </a:ln>
          <a:effectLst/>
        </p:spPr>
        <p:txBody>
          <a:bodyPr/>
          <a:lstStyle/>
          <a:p>
            <a:endParaRPr lang="es-ES"/>
          </a:p>
        </p:txBody>
      </p:sp>
      <p:sp>
        <p:nvSpPr>
          <p:cNvPr id="11277" name="Line 13"/>
          <p:cNvSpPr>
            <a:spLocks noChangeShapeType="1"/>
          </p:cNvSpPr>
          <p:nvPr/>
        </p:nvSpPr>
        <p:spPr bwMode="auto">
          <a:xfrm>
            <a:off x="3635375" y="1916113"/>
            <a:ext cx="2592388" cy="0"/>
          </a:xfrm>
          <a:prstGeom prst="line">
            <a:avLst/>
          </a:prstGeom>
          <a:noFill/>
          <a:ln w="9525">
            <a:solidFill>
              <a:schemeClr val="tx1"/>
            </a:solidFill>
            <a:round/>
            <a:headEnd/>
            <a:tailEnd type="triangle" w="med" len="med"/>
          </a:ln>
          <a:effectLst/>
        </p:spPr>
        <p:txBody>
          <a:bodyPr/>
          <a:lstStyle/>
          <a:p>
            <a:endParaRPr lang="es-ES"/>
          </a:p>
        </p:txBody>
      </p:sp>
      <p:sp>
        <p:nvSpPr>
          <p:cNvPr id="11278" name="Rectangle 14"/>
          <p:cNvSpPr>
            <a:spLocks noChangeArrowheads="1"/>
          </p:cNvSpPr>
          <p:nvPr/>
        </p:nvSpPr>
        <p:spPr bwMode="auto">
          <a:xfrm>
            <a:off x="6300788" y="1628775"/>
            <a:ext cx="1798637" cy="576263"/>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Delineado por limites</a:t>
            </a:r>
          </a:p>
          <a:p>
            <a:pPr algn="ctr"/>
            <a:r>
              <a:rPr lang="es-CO" sz="1500"/>
              <a:t> específicos</a:t>
            </a:r>
            <a:r>
              <a:rPr lang="es-CO"/>
              <a:t> </a:t>
            </a:r>
            <a:endParaRPr lang="es-ES"/>
          </a:p>
        </p:txBody>
      </p:sp>
      <p:sp>
        <p:nvSpPr>
          <p:cNvPr id="11280" name="Line 16"/>
          <p:cNvSpPr>
            <a:spLocks noChangeShapeType="1"/>
          </p:cNvSpPr>
          <p:nvPr/>
        </p:nvSpPr>
        <p:spPr bwMode="auto">
          <a:xfrm>
            <a:off x="4211638" y="2781300"/>
            <a:ext cx="1944687" cy="0"/>
          </a:xfrm>
          <a:prstGeom prst="line">
            <a:avLst/>
          </a:prstGeom>
          <a:noFill/>
          <a:ln w="9525">
            <a:solidFill>
              <a:schemeClr val="tx1"/>
            </a:solidFill>
            <a:round/>
            <a:headEnd/>
            <a:tailEnd type="triangle" w="med" len="med"/>
          </a:ln>
          <a:effectLst/>
        </p:spPr>
        <p:txBody>
          <a:bodyPr/>
          <a:lstStyle/>
          <a:p>
            <a:endParaRPr lang="es-ES"/>
          </a:p>
        </p:txBody>
      </p:sp>
      <p:sp>
        <p:nvSpPr>
          <p:cNvPr id="11281" name="Rectangle 17"/>
          <p:cNvSpPr>
            <a:spLocks noChangeArrowheads="1"/>
          </p:cNvSpPr>
          <p:nvPr/>
        </p:nvSpPr>
        <p:spPr bwMode="auto">
          <a:xfrm>
            <a:off x="6300788" y="2492375"/>
            <a:ext cx="1800225" cy="576263"/>
          </a:xfrm>
          <a:prstGeom prst="rect">
            <a:avLst/>
          </a:prstGeom>
          <a:solidFill>
            <a:schemeClr val="accent1"/>
          </a:solidFill>
          <a:ln w="9525">
            <a:solidFill>
              <a:schemeClr val="tx1"/>
            </a:solidFill>
            <a:miter lim="800000"/>
            <a:headEnd/>
            <a:tailEnd/>
          </a:ln>
          <a:effectLst/>
        </p:spPr>
        <p:txBody>
          <a:bodyPr wrap="none" anchor="ctr"/>
          <a:lstStyle/>
          <a:p>
            <a:pPr algn="ctr"/>
            <a:r>
              <a:rPr lang="es-CO"/>
              <a:t>Todo unitario y </a:t>
            </a:r>
          </a:p>
          <a:p>
            <a:pPr algn="ctr"/>
            <a:r>
              <a:rPr lang="es-CO"/>
              <a:t>organizado</a:t>
            </a:r>
            <a:endParaRPr lang="es-ES"/>
          </a:p>
        </p:txBody>
      </p:sp>
      <p:sp>
        <p:nvSpPr>
          <p:cNvPr id="11283" name="Line 19"/>
          <p:cNvSpPr>
            <a:spLocks noChangeShapeType="1"/>
          </p:cNvSpPr>
          <p:nvPr/>
        </p:nvSpPr>
        <p:spPr bwMode="auto">
          <a:xfrm>
            <a:off x="2916238" y="2924175"/>
            <a:ext cx="3240087" cy="720725"/>
          </a:xfrm>
          <a:prstGeom prst="line">
            <a:avLst/>
          </a:prstGeom>
          <a:noFill/>
          <a:ln w="9525">
            <a:solidFill>
              <a:schemeClr val="tx1"/>
            </a:solidFill>
            <a:round/>
            <a:headEnd/>
            <a:tailEnd type="triangle" w="med" len="med"/>
          </a:ln>
          <a:effectLst/>
        </p:spPr>
        <p:txBody>
          <a:bodyPr/>
          <a:lstStyle/>
          <a:p>
            <a:endParaRPr lang="es-ES"/>
          </a:p>
        </p:txBody>
      </p:sp>
      <p:sp>
        <p:nvSpPr>
          <p:cNvPr id="11285" name="Rectangle 21"/>
          <p:cNvSpPr>
            <a:spLocks noChangeArrowheads="1"/>
          </p:cNvSpPr>
          <p:nvPr/>
        </p:nvSpPr>
        <p:spPr bwMode="auto">
          <a:xfrm>
            <a:off x="6227763" y="3500438"/>
            <a:ext cx="1873250" cy="792162"/>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Relaciones de</a:t>
            </a:r>
          </a:p>
          <a:p>
            <a:pPr algn="ctr"/>
            <a:r>
              <a:rPr lang="es-CO" sz="1500"/>
              <a:t> interdependencia </a:t>
            </a:r>
          </a:p>
          <a:p>
            <a:pPr algn="ctr"/>
            <a:r>
              <a:rPr lang="es-CO" sz="1500"/>
              <a:t>de sus elementos</a:t>
            </a:r>
            <a:endParaRPr lang="es-ES" sz="1500"/>
          </a:p>
        </p:txBody>
      </p:sp>
      <p:sp>
        <p:nvSpPr>
          <p:cNvPr id="11286" name="Line 22"/>
          <p:cNvSpPr>
            <a:spLocks noChangeShapeType="1"/>
          </p:cNvSpPr>
          <p:nvPr/>
        </p:nvSpPr>
        <p:spPr bwMode="auto">
          <a:xfrm>
            <a:off x="3348038" y="3141663"/>
            <a:ext cx="0" cy="1727200"/>
          </a:xfrm>
          <a:prstGeom prst="line">
            <a:avLst/>
          </a:prstGeom>
          <a:noFill/>
          <a:ln w="9525">
            <a:solidFill>
              <a:schemeClr val="tx1"/>
            </a:solidFill>
            <a:round/>
            <a:headEnd/>
            <a:tailEnd/>
          </a:ln>
          <a:effectLst/>
        </p:spPr>
        <p:txBody>
          <a:bodyPr/>
          <a:lstStyle/>
          <a:p>
            <a:endParaRPr lang="es-ES"/>
          </a:p>
        </p:txBody>
      </p:sp>
      <p:sp>
        <p:nvSpPr>
          <p:cNvPr id="11287" name="Line 23"/>
          <p:cNvSpPr>
            <a:spLocks noChangeShapeType="1"/>
          </p:cNvSpPr>
          <p:nvPr/>
        </p:nvSpPr>
        <p:spPr bwMode="auto">
          <a:xfrm>
            <a:off x="3348038" y="4868863"/>
            <a:ext cx="2808287" cy="0"/>
          </a:xfrm>
          <a:prstGeom prst="line">
            <a:avLst/>
          </a:prstGeom>
          <a:noFill/>
          <a:ln w="9525">
            <a:solidFill>
              <a:schemeClr val="tx1"/>
            </a:solidFill>
            <a:round/>
            <a:headEnd/>
            <a:tailEnd type="triangle" w="med" len="med"/>
          </a:ln>
          <a:effectLst/>
        </p:spPr>
        <p:txBody>
          <a:bodyPr/>
          <a:lstStyle/>
          <a:p>
            <a:endParaRPr lang="es-ES"/>
          </a:p>
        </p:txBody>
      </p:sp>
      <p:sp>
        <p:nvSpPr>
          <p:cNvPr id="11288" name="Rectangle 24"/>
          <p:cNvSpPr>
            <a:spLocks noChangeArrowheads="1"/>
          </p:cNvSpPr>
          <p:nvPr/>
        </p:nvSpPr>
        <p:spPr bwMode="auto">
          <a:xfrm>
            <a:off x="6227763" y="4652963"/>
            <a:ext cx="1873250" cy="1512887"/>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Compuestos por</a:t>
            </a:r>
          </a:p>
          <a:p>
            <a:pPr algn="ctr"/>
            <a:r>
              <a:rPr lang="es-CO" sz="1500"/>
              <a:t> dos</a:t>
            </a:r>
          </a:p>
          <a:p>
            <a:pPr algn="ctr"/>
            <a:r>
              <a:rPr lang="es-CO" sz="1500"/>
              <a:t> o mas partes</a:t>
            </a:r>
          </a:p>
          <a:p>
            <a:pPr algn="ctr"/>
            <a:r>
              <a:rPr lang="es-CO" sz="1500"/>
              <a:t> o subsistemas</a:t>
            </a:r>
          </a:p>
          <a:p>
            <a:pPr algn="ctr"/>
            <a:r>
              <a:rPr lang="es-CO" sz="1500"/>
              <a:t> interdependientes</a:t>
            </a:r>
            <a:endParaRPr lang="es-ES" sz="1500"/>
          </a:p>
        </p:txBody>
      </p:sp>
      <p:sp>
        <p:nvSpPr>
          <p:cNvPr id="11291" name="Line 27"/>
          <p:cNvSpPr>
            <a:spLocks noChangeShapeType="1"/>
          </p:cNvSpPr>
          <p:nvPr/>
        </p:nvSpPr>
        <p:spPr bwMode="auto">
          <a:xfrm>
            <a:off x="2339975" y="3141663"/>
            <a:ext cx="0" cy="2374900"/>
          </a:xfrm>
          <a:prstGeom prst="line">
            <a:avLst/>
          </a:prstGeom>
          <a:noFill/>
          <a:ln w="9525">
            <a:solidFill>
              <a:schemeClr val="tx1"/>
            </a:solidFill>
            <a:round/>
            <a:headEnd/>
            <a:tailEnd/>
          </a:ln>
          <a:effectLst/>
        </p:spPr>
        <p:txBody>
          <a:bodyPr/>
          <a:lstStyle/>
          <a:p>
            <a:endParaRPr lang="es-ES"/>
          </a:p>
        </p:txBody>
      </p:sp>
      <p:sp>
        <p:nvSpPr>
          <p:cNvPr id="11292" name="Line 28"/>
          <p:cNvSpPr>
            <a:spLocks noChangeShapeType="1"/>
          </p:cNvSpPr>
          <p:nvPr/>
        </p:nvSpPr>
        <p:spPr bwMode="auto">
          <a:xfrm>
            <a:off x="2339975" y="5516563"/>
            <a:ext cx="3744913" cy="0"/>
          </a:xfrm>
          <a:prstGeom prst="line">
            <a:avLst/>
          </a:prstGeom>
          <a:noFill/>
          <a:ln w="9525">
            <a:solidFill>
              <a:schemeClr val="tx1"/>
            </a:solidFill>
            <a:round/>
            <a:headEnd/>
            <a:tailEnd type="triangle" w="med" len="med"/>
          </a:ln>
          <a:effectLst/>
        </p:spPr>
        <p:txBody>
          <a:bodyPr/>
          <a:lstStyle/>
          <a:p>
            <a:endParaRPr lang="es-ES"/>
          </a:p>
        </p:txBody>
      </p:sp>
      <p:sp>
        <p:nvSpPr>
          <p:cNvPr id="11293" name="Line 29"/>
          <p:cNvSpPr>
            <a:spLocks noChangeShapeType="1"/>
          </p:cNvSpPr>
          <p:nvPr/>
        </p:nvSpPr>
        <p:spPr bwMode="auto">
          <a:xfrm flipH="1">
            <a:off x="1331913" y="3644900"/>
            <a:ext cx="576262" cy="792163"/>
          </a:xfrm>
          <a:prstGeom prst="line">
            <a:avLst/>
          </a:prstGeom>
          <a:noFill/>
          <a:ln w="9525">
            <a:solidFill>
              <a:schemeClr val="tx1"/>
            </a:solidFill>
            <a:round/>
            <a:headEnd/>
            <a:tailEnd type="triangle" w="med" len="med"/>
          </a:ln>
          <a:effectLst/>
        </p:spPr>
        <p:txBody>
          <a:bodyPr/>
          <a:lstStyle/>
          <a:p>
            <a:endParaRPr lang="es-ES"/>
          </a:p>
        </p:txBody>
      </p:sp>
      <p:sp>
        <p:nvSpPr>
          <p:cNvPr id="11294" name="Rectangle 30"/>
          <p:cNvSpPr>
            <a:spLocks noChangeArrowheads="1"/>
          </p:cNvSpPr>
          <p:nvPr/>
        </p:nvSpPr>
        <p:spPr bwMode="auto">
          <a:xfrm>
            <a:off x="539750" y="4437063"/>
            <a:ext cx="1511300" cy="1008062"/>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Es mas que</a:t>
            </a:r>
          </a:p>
          <a:p>
            <a:pPr algn="ctr"/>
            <a:r>
              <a:rPr lang="es-CO" sz="1500"/>
              <a:t> la suma</a:t>
            </a:r>
          </a:p>
          <a:p>
            <a:pPr algn="ctr"/>
            <a:r>
              <a:rPr lang="es-CO" sz="1500"/>
              <a:t> de sus partes</a:t>
            </a:r>
            <a:endParaRPr lang="es-ES" sz="15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s-CO" sz="3600"/>
              <a:t>Clasificación del TGS</a:t>
            </a:r>
            <a:endParaRPr lang="es-ES" sz="3600"/>
          </a:p>
        </p:txBody>
      </p:sp>
      <p:sp>
        <p:nvSpPr>
          <p:cNvPr id="8195" name="Rectangle 3"/>
          <p:cNvSpPr>
            <a:spLocks noGrp="1" noChangeArrowheads="1"/>
          </p:cNvSpPr>
          <p:nvPr>
            <p:ph type="body" idx="1"/>
          </p:nvPr>
        </p:nvSpPr>
        <p:spPr/>
        <p:txBody>
          <a:bodyPr/>
          <a:lstStyle/>
          <a:p>
            <a:pPr>
              <a:lnSpc>
                <a:spcPct val="80000"/>
              </a:lnSpc>
              <a:buFontTx/>
              <a:buNone/>
            </a:pPr>
            <a:r>
              <a:rPr lang="es-CO" sz="2800"/>
              <a:t>   Se clasifica en 9 niveles  los cuales son:</a:t>
            </a:r>
          </a:p>
          <a:p>
            <a:pPr>
              <a:lnSpc>
                <a:spcPct val="80000"/>
              </a:lnSpc>
              <a:buFontTx/>
              <a:buNone/>
            </a:pPr>
            <a:r>
              <a:rPr lang="es-CO" sz="2800"/>
              <a:t>   *Control</a:t>
            </a:r>
          </a:p>
          <a:p>
            <a:pPr>
              <a:lnSpc>
                <a:spcPct val="80000"/>
              </a:lnSpc>
              <a:buFontTx/>
              <a:buNone/>
            </a:pPr>
            <a:r>
              <a:rPr lang="es-CO" sz="2800"/>
              <a:t>   *Dinámica</a:t>
            </a:r>
          </a:p>
          <a:p>
            <a:pPr>
              <a:lnSpc>
                <a:spcPct val="80000"/>
              </a:lnSpc>
              <a:buFontTx/>
              <a:buNone/>
            </a:pPr>
            <a:r>
              <a:rPr lang="es-CO" sz="2800"/>
              <a:t>   *Autocontrol</a:t>
            </a:r>
          </a:p>
          <a:p>
            <a:pPr>
              <a:lnSpc>
                <a:spcPct val="80000"/>
              </a:lnSpc>
              <a:buFontTx/>
              <a:buNone/>
            </a:pPr>
            <a:r>
              <a:rPr lang="es-CO" sz="2800"/>
              <a:t>   *Autonomía</a:t>
            </a:r>
          </a:p>
          <a:p>
            <a:pPr>
              <a:lnSpc>
                <a:spcPct val="80000"/>
              </a:lnSpc>
              <a:buFontTx/>
              <a:buNone/>
            </a:pPr>
            <a:r>
              <a:rPr lang="es-CO" sz="2800"/>
              <a:t>   *Características</a:t>
            </a:r>
          </a:p>
          <a:p>
            <a:pPr>
              <a:lnSpc>
                <a:spcPct val="80000"/>
              </a:lnSpc>
              <a:buFontTx/>
              <a:buNone/>
            </a:pPr>
            <a:r>
              <a:rPr lang="es-CO" sz="2800"/>
              <a:t>   *Sistemas</a:t>
            </a:r>
          </a:p>
          <a:p>
            <a:pPr>
              <a:lnSpc>
                <a:spcPct val="80000"/>
              </a:lnSpc>
              <a:buFontTx/>
              <a:buNone/>
            </a:pPr>
            <a:r>
              <a:rPr lang="es-CO" sz="2800"/>
              <a:t>   *Capacidad</a:t>
            </a:r>
          </a:p>
          <a:p>
            <a:pPr>
              <a:lnSpc>
                <a:spcPct val="80000"/>
              </a:lnSpc>
              <a:buFontTx/>
              <a:buNone/>
            </a:pPr>
            <a:r>
              <a:rPr lang="es-CO" sz="2800"/>
              <a:t>   *Sociales</a:t>
            </a:r>
          </a:p>
          <a:p>
            <a:pPr>
              <a:lnSpc>
                <a:spcPct val="80000"/>
              </a:lnSpc>
              <a:buFontTx/>
              <a:buNone/>
            </a:pPr>
            <a:r>
              <a:rPr lang="es-CO" sz="2800"/>
              <a:t>   *Trascendentales </a:t>
            </a:r>
            <a:endParaRPr lang="es-ES" sz="28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s-CO" sz="3600"/>
              <a:t>Teoría sistemática de las organizaciones</a:t>
            </a:r>
            <a:endParaRPr lang="es-ES" sz="3600"/>
          </a:p>
        </p:txBody>
      </p:sp>
      <p:sp>
        <p:nvSpPr>
          <p:cNvPr id="12292" name="Rectangle 4"/>
          <p:cNvSpPr>
            <a:spLocks noChangeArrowheads="1"/>
          </p:cNvSpPr>
          <p:nvPr/>
        </p:nvSpPr>
        <p:spPr bwMode="auto">
          <a:xfrm>
            <a:off x="2843213" y="1628775"/>
            <a:ext cx="3816350" cy="504825"/>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SISTEMAS ABIERTOS</a:t>
            </a:r>
            <a:endParaRPr lang="es-ES" sz="1800"/>
          </a:p>
        </p:txBody>
      </p:sp>
      <p:sp>
        <p:nvSpPr>
          <p:cNvPr id="12293" name="Line 5"/>
          <p:cNvSpPr>
            <a:spLocks noChangeShapeType="1"/>
          </p:cNvSpPr>
          <p:nvPr/>
        </p:nvSpPr>
        <p:spPr bwMode="auto">
          <a:xfrm>
            <a:off x="4716463" y="2133600"/>
            <a:ext cx="0" cy="288925"/>
          </a:xfrm>
          <a:prstGeom prst="line">
            <a:avLst/>
          </a:prstGeom>
          <a:noFill/>
          <a:ln w="9525">
            <a:solidFill>
              <a:schemeClr val="tx1"/>
            </a:solidFill>
            <a:round/>
            <a:headEnd/>
            <a:tailEnd/>
          </a:ln>
          <a:effectLst/>
        </p:spPr>
        <p:txBody>
          <a:bodyPr/>
          <a:lstStyle/>
          <a:p>
            <a:endParaRPr lang="es-ES"/>
          </a:p>
        </p:txBody>
      </p:sp>
      <p:sp>
        <p:nvSpPr>
          <p:cNvPr id="12294" name="Line 6"/>
          <p:cNvSpPr>
            <a:spLocks noChangeShapeType="1"/>
          </p:cNvSpPr>
          <p:nvPr/>
        </p:nvSpPr>
        <p:spPr bwMode="auto">
          <a:xfrm>
            <a:off x="684213" y="2420938"/>
            <a:ext cx="7632700" cy="0"/>
          </a:xfrm>
          <a:prstGeom prst="line">
            <a:avLst/>
          </a:prstGeom>
          <a:noFill/>
          <a:ln w="9525">
            <a:solidFill>
              <a:schemeClr val="tx1"/>
            </a:solidFill>
            <a:round/>
            <a:headEnd/>
            <a:tailEnd/>
          </a:ln>
          <a:effectLst/>
        </p:spPr>
        <p:txBody>
          <a:bodyPr/>
          <a:lstStyle/>
          <a:p>
            <a:endParaRPr lang="es-ES"/>
          </a:p>
        </p:txBody>
      </p:sp>
      <p:sp>
        <p:nvSpPr>
          <p:cNvPr id="12295" name="Line 7"/>
          <p:cNvSpPr>
            <a:spLocks noChangeShapeType="1"/>
          </p:cNvSpPr>
          <p:nvPr/>
        </p:nvSpPr>
        <p:spPr bwMode="auto">
          <a:xfrm>
            <a:off x="684213" y="2420938"/>
            <a:ext cx="0" cy="431800"/>
          </a:xfrm>
          <a:prstGeom prst="line">
            <a:avLst/>
          </a:prstGeom>
          <a:noFill/>
          <a:ln w="9525">
            <a:solidFill>
              <a:schemeClr val="tx1"/>
            </a:solidFill>
            <a:round/>
            <a:headEnd/>
            <a:tailEnd type="triangle" w="med" len="med"/>
          </a:ln>
          <a:effectLst/>
        </p:spPr>
        <p:txBody>
          <a:bodyPr/>
          <a:lstStyle/>
          <a:p>
            <a:endParaRPr lang="es-ES"/>
          </a:p>
        </p:txBody>
      </p:sp>
      <p:sp>
        <p:nvSpPr>
          <p:cNvPr id="12296" name="Rectangle 8"/>
          <p:cNvSpPr>
            <a:spLocks noChangeArrowheads="1"/>
          </p:cNvSpPr>
          <p:nvPr/>
        </p:nvSpPr>
        <p:spPr bwMode="auto">
          <a:xfrm>
            <a:off x="179388" y="2852738"/>
            <a:ext cx="1117600" cy="576262"/>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Importación</a:t>
            </a:r>
          </a:p>
          <a:p>
            <a:pPr algn="ctr"/>
            <a:r>
              <a:rPr lang="es-CO" sz="1500"/>
              <a:t> de energía</a:t>
            </a:r>
            <a:endParaRPr lang="es-ES" sz="1500"/>
          </a:p>
        </p:txBody>
      </p:sp>
      <p:sp>
        <p:nvSpPr>
          <p:cNvPr id="12297" name="Line 9"/>
          <p:cNvSpPr>
            <a:spLocks noChangeShapeType="1"/>
          </p:cNvSpPr>
          <p:nvPr/>
        </p:nvSpPr>
        <p:spPr bwMode="auto">
          <a:xfrm>
            <a:off x="1476375" y="2420938"/>
            <a:ext cx="0" cy="1512887"/>
          </a:xfrm>
          <a:prstGeom prst="line">
            <a:avLst/>
          </a:prstGeom>
          <a:noFill/>
          <a:ln w="9525">
            <a:solidFill>
              <a:schemeClr val="tx1"/>
            </a:solidFill>
            <a:round/>
            <a:headEnd/>
            <a:tailEnd type="triangle" w="med" len="med"/>
          </a:ln>
          <a:effectLst/>
        </p:spPr>
        <p:txBody>
          <a:bodyPr/>
          <a:lstStyle/>
          <a:p>
            <a:endParaRPr lang="es-ES"/>
          </a:p>
        </p:txBody>
      </p:sp>
      <p:sp>
        <p:nvSpPr>
          <p:cNvPr id="12298" name="Rectangle 10"/>
          <p:cNvSpPr>
            <a:spLocks noChangeArrowheads="1"/>
          </p:cNvSpPr>
          <p:nvPr/>
        </p:nvSpPr>
        <p:spPr bwMode="auto">
          <a:xfrm>
            <a:off x="611188" y="3933825"/>
            <a:ext cx="1800225" cy="863600"/>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Procesamiento</a:t>
            </a:r>
          </a:p>
          <a:p>
            <a:pPr algn="ctr"/>
            <a:r>
              <a:rPr lang="es-CO" sz="1500"/>
              <a:t> de la energía </a:t>
            </a:r>
          </a:p>
          <a:p>
            <a:pPr algn="ctr"/>
            <a:r>
              <a:rPr lang="es-CO" sz="1500"/>
              <a:t>que disponen</a:t>
            </a:r>
          </a:p>
          <a:p>
            <a:pPr algn="ctr"/>
            <a:r>
              <a:rPr lang="es-CO" sz="1500"/>
              <a:t> las organizaciones</a:t>
            </a:r>
            <a:endParaRPr lang="es-ES" sz="1500"/>
          </a:p>
        </p:txBody>
      </p:sp>
      <p:sp>
        <p:nvSpPr>
          <p:cNvPr id="12300" name="Line 12"/>
          <p:cNvSpPr>
            <a:spLocks noChangeShapeType="1"/>
          </p:cNvSpPr>
          <p:nvPr/>
        </p:nvSpPr>
        <p:spPr bwMode="auto">
          <a:xfrm>
            <a:off x="2484438" y="2420938"/>
            <a:ext cx="0" cy="2808287"/>
          </a:xfrm>
          <a:prstGeom prst="line">
            <a:avLst/>
          </a:prstGeom>
          <a:noFill/>
          <a:ln w="9525">
            <a:solidFill>
              <a:schemeClr val="tx1"/>
            </a:solidFill>
            <a:round/>
            <a:headEnd/>
            <a:tailEnd type="triangle" w="med" len="med"/>
          </a:ln>
          <a:effectLst/>
        </p:spPr>
        <p:txBody>
          <a:bodyPr/>
          <a:lstStyle/>
          <a:p>
            <a:endParaRPr lang="es-ES"/>
          </a:p>
        </p:txBody>
      </p:sp>
      <p:sp>
        <p:nvSpPr>
          <p:cNvPr id="12301" name="Rectangle 13"/>
          <p:cNvSpPr>
            <a:spLocks noChangeArrowheads="1"/>
          </p:cNvSpPr>
          <p:nvPr/>
        </p:nvSpPr>
        <p:spPr bwMode="auto">
          <a:xfrm>
            <a:off x="1763713" y="5229225"/>
            <a:ext cx="1728787" cy="720725"/>
          </a:xfrm>
          <a:prstGeom prst="rect">
            <a:avLst/>
          </a:prstGeom>
          <a:solidFill>
            <a:schemeClr val="accent1"/>
          </a:solidFill>
          <a:ln w="9525">
            <a:solidFill>
              <a:schemeClr val="tx1"/>
            </a:solidFill>
            <a:miter lim="800000"/>
            <a:headEnd/>
            <a:tailEnd/>
          </a:ln>
          <a:effectLst/>
        </p:spPr>
        <p:txBody>
          <a:bodyPr wrap="none" anchor="ctr"/>
          <a:lstStyle/>
          <a:p>
            <a:pPr algn="ctr"/>
            <a:r>
              <a:rPr lang="es-CO" sz="1400"/>
              <a:t>Aporte o “exportación”</a:t>
            </a:r>
          </a:p>
          <a:p>
            <a:pPr algn="ctr"/>
            <a:r>
              <a:rPr lang="es-CO" sz="1400"/>
              <a:t> de un producto</a:t>
            </a:r>
          </a:p>
          <a:p>
            <a:pPr algn="ctr"/>
            <a:r>
              <a:rPr lang="es-CO" sz="1400"/>
              <a:t> o resultado</a:t>
            </a:r>
            <a:endParaRPr lang="es-ES" sz="1400"/>
          </a:p>
        </p:txBody>
      </p:sp>
      <p:sp>
        <p:nvSpPr>
          <p:cNvPr id="12304" name="Line 16"/>
          <p:cNvSpPr>
            <a:spLocks noChangeShapeType="1"/>
          </p:cNvSpPr>
          <p:nvPr/>
        </p:nvSpPr>
        <p:spPr bwMode="auto">
          <a:xfrm>
            <a:off x="2916238" y="2420938"/>
            <a:ext cx="0" cy="647700"/>
          </a:xfrm>
          <a:prstGeom prst="line">
            <a:avLst/>
          </a:prstGeom>
          <a:noFill/>
          <a:ln w="9525">
            <a:solidFill>
              <a:schemeClr val="tx1"/>
            </a:solidFill>
            <a:round/>
            <a:headEnd/>
            <a:tailEnd type="triangle" w="med" len="med"/>
          </a:ln>
          <a:effectLst/>
        </p:spPr>
        <p:txBody>
          <a:bodyPr/>
          <a:lstStyle/>
          <a:p>
            <a:endParaRPr lang="es-ES"/>
          </a:p>
        </p:txBody>
      </p:sp>
      <p:sp>
        <p:nvSpPr>
          <p:cNvPr id="12305" name="Rectangle 17"/>
          <p:cNvSpPr>
            <a:spLocks noChangeArrowheads="1"/>
          </p:cNvSpPr>
          <p:nvPr/>
        </p:nvSpPr>
        <p:spPr bwMode="auto">
          <a:xfrm>
            <a:off x="2627313" y="3068638"/>
            <a:ext cx="936625" cy="1439862"/>
          </a:xfrm>
          <a:prstGeom prst="rect">
            <a:avLst/>
          </a:prstGeom>
          <a:solidFill>
            <a:schemeClr val="accent1"/>
          </a:solidFill>
          <a:ln w="9525">
            <a:solidFill>
              <a:schemeClr val="tx1"/>
            </a:solidFill>
            <a:miter lim="800000"/>
            <a:headEnd/>
            <a:tailEnd/>
          </a:ln>
          <a:effectLst/>
        </p:spPr>
        <p:txBody>
          <a:bodyPr wrap="none" anchor="ctr"/>
          <a:lstStyle/>
          <a:p>
            <a:pPr algn="ctr"/>
            <a:r>
              <a:rPr lang="es-CO" sz="1400"/>
              <a:t>Intercambio</a:t>
            </a:r>
          </a:p>
          <a:p>
            <a:pPr algn="ctr"/>
            <a:r>
              <a:rPr lang="es-CO" sz="1400"/>
              <a:t>De energía</a:t>
            </a:r>
          </a:p>
          <a:p>
            <a:pPr algn="ctr"/>
            <a:r>
              <a:rPr lang="es-CO" sz="1400"/>
              <a:t>Entre el </a:t>
            </a:r>
          </a:p>
          <a:p>
            <a:pPr algn="ctr"/>
            <a:r>
              <a:rPr lang="es-CO" sz="1400"/>
              <a:t>Sistema</a:t>
            </a:r>
          </a:p>
          <a:p>
            <a:pPr algn="ctr"/>
            <a:r>
              <a:rPr lang="es-CO" sz="1400"/>
              <a:t> y </a:t>
            </a:r>
          </a:p>
          <a:p>
            <a:pPr algn="ctr"/>
            <a:r>
              <a:rPr lang="es-CO" sz="1400"/>
              <a:t>su entorno</a:t>
            </a:r>
            <a:endParaRPr lang="es-ES" sz="1400"/>
          </a:p>
        </p:txBody>
      </p:sp>
      <p:sp>
        <p:nvSpPr>
          <p:cNvPr id="12306" name="Line 18"/>
          <p:cNvSpPr>
            <a:spLocks noChangeShapeType="1"/>
          </p:cNvSpPr>
          <p:nvPr/>
        </p:nvSpPr>
        <p:spPr bwMode="auto">
          <a:xfrm>
            <a:off x="4140200" y="2420938"/>
            <a:ext cx="0" cy="2087562"/>
          </a:xfrm>
          <a:prstGeom prst="line">
            <a:avLst/>
          </a:prstGeom>
          <a:noFill/>
          <a:ln w="9525">
            <a:solidFill>
              <a:schemeClr val="tx1"/>
            </a:solidFill>
            <a:round/>
            <a:headEnd/>
            <a:tailEnd type="triangle" w="med" len="med"/>
          </a:ln>
          <a:effectLst/>
        </p:spPr>
        <p:txBody>
          <a:bodyPr/>
          <a:lstStyle/>
          <a:p>
            <a:endParaRPr lang="es-ES"/>
          </a:p>
        </p:txBody>
      </p:sp>
      <p:sp>
        <p:nvSpPr>
          <p:cNvPr id="12307" name="Rectangle 19"/>
          <p:cNvSpPr>
            <a:spLocks noChangeArrowheads="1"/>
          </p:cNvSpPr>
          <p:nvPr/>
        </p:nvSpPr>
        <p:spPr bwMode="auto">
          <a:xfrm>
            <a:off x="3635375" y="4508500"/>
            <a:ext cx="865188" cy="576263"/>
          </a:xfrm>
          <a:prstGeom prst="rect">
            <a:avLst/>
          </a:prstGeom>
          <a:solidFill>
            <a:schemeClr val="accent1"/>
          </a:solidFill>
          <a:ln w="9525">
            <a:solidFill>
              <a:schemeClr val="tx1"/>
            </a:solidFill>
            <a:miter lim="800000"/>
            <a:headEnd/>
            <a:tailEnd/>
          </a:ln>
          <a:effectLst/>
        </p:spPr>
        <p:txBody>
          <a:bodyPr wrap="none" anchor="ctr"/>
          <a:lstStyle/>
          <a:p>
            <a:pPr algn="ctr"/>
            <a:r>
              <a:rPr lang="es-CO" sz="1400"/>
              <a:t>Entropía </a:t>
            </a:r>
          </a:p>
          <a:p>
            <a:pPr algn="ctr"/>
            <a:r>
              <a:rPr lang="es-CO" sz="1400"/>
              <a:t>negativa</a:t>
            </a:r>
            <a:endParaRPr lang="es-ES" sz="1400"/>
          </a:p>
        </p:txBody>
      </p:sp>
      <p:sp>
        <p:nvSpPr>
          <p:cNvPr id="12308" name="Line 20"/>
          <p:cNvSpPr>
            <a:spLocks noChangeShapeType="1"/>
          </p:cNvSpPr>
          <p:nvPr/>
        </p:nvSpPr>
        <p:spPr bwMode="auto">
          <a:xfrm>
            <a:off x="4859338" y="2420938"/>
            <a:ext cx="0" cy="936625"/>
          </a:xfrm>
          <a:prstGeom prst="line">
            <a:avLst/>
          </a:prstGeom>
          <a:noFill/>
          <a:ln w="9525">
            <a:solidFill>
              <a:schemeClr val="tx1"/>
            </a:solidFill>
            <a:round/>
            <a:headEnd/>
            <a:tailEnd type="triangle" w="med" len="med"/>
          </a:ln>
          <a:effectLst/>
        </p:spPr>
        <p:txBody>
          <a:bodyPr/>
          <a:lstStyle/>
          <a:p>
            <a:endParaRPr lang="es-ES"/>
          </a:p>
        </p:txBody>
      </p:sp>
      <p:sp>
        <p:nvSpPr>
          <p:cNvPr id="12309" name="Rectangle 21"/>
          <p:cNvSpPr>
            <a:spLocks noChangeArrowheads="1"/>
          </p:cNvSpPr>
          <p:nvPr/>
        </p:nvSpPr>
        <p:spPr bwMode="auto">
          <a:xfrm>
            <a:off x="4284663" y="3357563"/>
            <a:ext cx="1152525" cy="719137"/>
          </a:xfrm>
          <a:prstGeom prst="rect">
            <a:avLst/>
          </a:prstGeom>
          <a:solidFill>
            <a:schemeClr val="accent1"/>
          </a:solidFill>
          <a:ln w="9525">
            <a:solidFill>
              <a:schemeClr val="tx1"/>
            </a:solidFill>
            <a:miter lim="800000"/>
            <a:headEnd/>
            <a:tailEnd/>
          </a:ln>
          <a:effectLst/>
        </p:spPr>
        <p:txBody>
          <a:bodyPr wrap="none" anchor="ctr"/>
          <a:lstStyle/>
          <a:p>
            <a:pPr algn="ctr"/>
            <a:endParaRPr lang="es-CO" sz="1800"/>
          </a:p>
          <a:p>
            <a:pPr algn="ctr"/>
            <a:r>
              <a:rPr lang="es-CO" sz="1400"/>
              <a:t>Insumo </a:t>
            </a:r>
          </a:p>
          <a:p>
            <a:pPr algn="ctr"/>
            <a:r>
              <a:rPr lang="es-CO" sz="1400"/>
              <a:t>De</a:t>
            </a:r>
          </a:p>
          <a:p>
            <a:pPr algn="ctr"/>
            <a:r>
              <a:rPr lang="es-CO" sz="1400"/>
              <a:t> información</a:t>
            </a:r>
          </a:p>
          <a:p>
            <a:pPr algn="ctr"/>
            <a:endParaRPr lang="es-ES" sz="1800"/>
          </a:p>
        </p:txBody>
      </p:sp>
      <p:sp>
        <p:nvSpPr>
          <p:cNvPr id="12310" name="Line 22"/>
          <p:cNvSpPr>
            <a:spLocks noChangeShapeType="1"/>
          </p:cNvSpPr>
          <p:nvPr/>
        </p:nvSpPr>
        <p:spPr bwMode="auto">
          <a:xfrm>
            <a:off x="5580063" y="2420938"/>
            <a:ext cx="0" cy="2160587"/>
          </a:xfrm>
          <a:prstGeom prst="line">
            <a:avLst/>
          </a:prstGeom>
          <a:noFill/>
          <a:ln w="9525">
            <a:solidFill>
              <a:schemeClr val="tx1"/>
            </a:solidFill>
            <a:round/>
            <a:headEnd/>
            <a:tailEnd type="triangle" w="med" len="med"/>
          </a:ln>
          <a:effectLst/>
        </p:spPr>
        <p:txBody>
          <a:bodyPr/>
          <a:lstStyle/>
          <a:p>
            <a:endParaRPr lang="es-ES"/>
          </a:p>
        </p:txBody>
      </p:sp>
      <p:sp>
        <p:nvSpPr>
          <p:cNvPr id="12311" name="Rectangle 23"/>
          <p:cNvSpPr>
            <a:spLocks noChangeArrowheads="1"/>
          </p:cNvSpPr>
          <p:nvPr/>
        </p:nvSpPr>
        <p:spPr bwMode="auto">
          <a:xfrm>
            <a:off x="4716463" y="4581525"/>
            <a:ext cx="1727200" cy="720725"/>
          </a:xfrm>
          <a:prstGeom prst="rect">
            <a:avLst/>
          </a:prstGeom>
          <a:solidFill>
            <a:schemeClr val="accent1"/>
          </a:solidFill>
          <a:ln w="9525">
            <a:solidFill>
              <a:schemeClr val="tx1"/>
            </a:solidFill>
            <a:miter lim="800000"/>
            <a:headEnd/>
            <a:tailEnd/>
          </a:ln>
          <a:effectLst/>
        </p:spPr>
        <p:txBody>
          <a:bodyPr wrap="none" anchor="ctr"/>
          <a:lstStyle/>
          <a:p>
            <a:pPr algn="ctr"/>
            <a:r>
              <a:rPr lang="es-CO" sz="1400"/>
              <a:t>Estado estable</a:t>
            </a:r>
          </a:p>
          <a:p>
            <a:pPr algn="ctr"/>
            <a:r>
              <a:rPr lang="es-CO" sz="1400"/>
              <a:t> y homeostasis</a:t>
            </a:r>
          </a:p>
          <a:p>
            <a:pPr algn="ctr"/>
            <a:r>
              <a:rPr lang="es-CO" sz="1400"/>
              <a:t> dinámica</a:t>
            </a:r>
            <a:endParaRPr lang="es-ES" sz="1400"/>
          </a:p>
        </p:txBody>
      </p:sp>
      <p:sp>
        <p:nvSpPr>
          <p:cNvPr id="12312" name="Line 24"/>
          <p:cNvSpPr>
            <a:spLocks noChangeShapeType="1"/>
          </p:cNvSpPr>
          <p:nvPr/>
        </p:nvSpPr>
        <p:spPr bwMode="auto">
          <a:xfrm>
            <a:off x="6300788" y="2420938"/>
            <a:ext cx="0" cy="720725"/>
          </a:xfrm>
          <a:prstGeom prst="line">
            <a:avLst/>
          </a:prstGeom>
          <a:noFill/>
          <a:ln w="9525">
            <a:solidFill>
              <a:schemeClr val="tx1"/>
            </a:solidFill>
            <a:round/>
            <a:headEnd/>
            <a:tailEnd type="triangle" w="med" len="med"/>
          </a:ln>
          <a:effectLst/>
        </p:spPr>
        <p:txBody>
          <a:bodyPr/>
          <a:lstStyle/>
          <a:p>
            <a:endParaRPr lang="es-ES"/>
          </a:p>
        </p:txBody>
      </p:sp>
      <p:sp>
        <p:nvSpPr>
          <p:cNvPr id="12313" name="Rectangle 25"/>
          <p:cNvSpPr>
            <a:spLocks noChangeArrowheads="1"/>
          </p:cNvSpPr>
          <p:nvPr/>
        </p:nvSpPr>
        <p:spPr bwMode="auto">
          <a:xfrm>
            <a:off x="5795963" y="3141663"/>
            <a:ext cx="1223962" cy="287337"/>
          </a:xfrm>
          <a:prstGeom prst="rect">
            <a:avLst/>
          </a:prstGeom>
          <a:solidFill>
            <a:schemeClr val="accent1"/>
          </a:solidFill>
          <a:ln w="9525">
            <a:solidFill>
              <a:schemeClr val="tx1"/>
            </a:solidFill>
            <a:miter lim="800000"/>
            <a:headEnd/>
            <a:tailEnd/>
          </a:ln>
          <a:effectLst/>
        </p:spPr>
        <p:txBody>
          <a:bodyPr wrap="none" anchor="ctr"/>
          <a:lstStyle/>
          <a:p>
            <a:pPr algn="ctr"/>
            <a:r>
              <a:rPr lang="es-CO" sz="1400"/>
              <a:t>diferenciación</a:t>
            </a:r>
            <a:endParaRPr lang="es-ES" sz="1400"/>
          </a:p>
        </p:txBody>
      </p:sp>
      <p:sp>
        <p:nvSpPr>
          <p:cNvPr id="12314" name="Line 26"/>
          <p:cNvSpPr>
            <a:spLocks noChangeShapeType="1"/>
          </p:cNvSpPr>
          <p:nvPr/>
        </p:nvSpPr>
        <p:spPr bwMode="auto">
          <a:xfrm>
            <a:off x="7164388" y="2420938"/>
            <a:ext cx="0" cy="1368425"/>
          </a:xfrm>
          <a:prstGeom prst="line">
            <a:avLst/>
          </a:prstGeom>
          <a:noFill/>
          <a:ln w="9525">
            <a:solidFill>
              <a:schemeClr val="tx1"/>
            </a:solidFill>
            <a:round/>
            <a:headEnd/>
            <a:tailEnd type="triangle" w="med" len="med"/>
          </a:ln>
          <a:effectLst/>
        </p:spPr>
        <p:txBody>
          <a:bodyPr/>
          <a:lstStyle/>
          <a:p>
            <a:endParaRPr lang="es-ES"/>
          </a:p>
        </p:txBody>
      </p:sp>
      <p:sp>
        <p:nvSpPr>
          <p:cNvPr id="12315" name="Rectangle 27"/>
          <p:cNvSpPr>
            <a:spLocks noChangeArrowheads="1"/>
          </p:cNvSpPr>
          <p:nvPr/>
        </p:nvSpPr>
        <p:spPr bwMode="auto">
          <a:xfrm>
            <a:off x="6156325" y="3860800"/>
            <a:ext cx="1584325" cy="576263"/>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Equifinalidad</a:t>
            </a:r>
          </a:p>
          <a:p>
            <a:pPr algn="ctr"/>
            <a:r>
              <a:rPr lang="es-CO" sz="1500"/>
              <a:t> y tarea principal</a:t>
            </a:r>
            <a:endParaRPr lang="es-ES" sz="1500"/>
          </a:p>
        </p:txBody>
      </p:sp>
      <p:sp>
        <p:nvSpPr>
          <p:cNvPr id="12316" name="Line 28"/>
          <p:cNvSpPr>
            <a:spLocks noChangeShapeType="1"/>
          </p:cNvSpPr>
          <p:nvPr/>
        </p:nvSpPr>
        <p:spPr bwMode="auto">
          <a:xfrm>
            <a:off x="8243888" y="2420938"/>
            <a:ext cx="0" cy="2376487"/>
          </a:xfrm>
          <a:prstGeom prst="line">
            <a:avLst/>
          </a:prstGeom>
          <a:noFill/>
          <a:ln w="9525">
            <a:solidFill>
              <a:schemeClr val="tx1"/>
            </a:solidFill>
            <a:round/>
            <a:headEnd/>
            <a:tailEnd type="triangle" w="med" len="med"/>
          </a:ln>
          <a:effectLst/>
        </p:spPr>
        <p:txBody>
          <a:bodyPr/>
          <a:lstStyle/>
          <a:p>
            <a:endParaRPr lang="es-ES"/>
          </a:p>
        </p:txBody>
      </p:sp>
      <p:sp>
        <p:nvSpPr>
          <p:cNvPr id="12317" name="Rectangle 29"/>
          <p:cNvSpPr>
            <a:spLocks noChangeArrowheads="1"/>
          </p:cNvSpPr>
          <p:nvPr/>
        </p:nvSpPr>
        <p:spPr bwMode="auto">
          <a:xfrm>
            <a:off x="7019925" y="4797425"/>
            <a:ext cx="1944688" cy="431800"/>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El todo y la sinergia</a:t>
            </a:r>
            <a:endParaRPr lang="es-ES" sz="15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s-CO" sz="2800"/>
              <a:t>Sistemas cerrados</a:t>
            </a:r>
            <a:endParaRPr lang="es-ES" sz="2800"/>
          </a:p>
        </p:txBody>
      </p:sp>
      <p:sp>
        <p:nvSpPr>
          <p:cNvPr id="13318" name="Rectangle 6"/>
          <p:cNvSpPr>
            <a:spLocks noChangeArrowheads="1"/>
          </p:cNvSpPr>
          <p:nvPr/>
        </p:nvSpPr>
        <p:spPr bwMode="auto">
          <a:xfrm>
            <a:off x="2843213" y="1412875"/>
            <a:ext cx="3529012" cy="431800"/>
          </a:xfrm>
          <a:prstGeom prst="rect">
            <a:avLst/>
          </a:prstGeom>
          <a:solidFill>
            <a:schemeClr val="accent1"/>
          </a:solidFill>
          <a:ln w="9525">
            <a:solidFill>
              <a:schemeClr val="tx1"/>
            </a:solidFill>
            <a:miter lim="800000"/>
            <a:headEnd/>
            <a:tailEnd/>
          </a:ln>
          <a:effectLst/>
        </p:spPr>
        <p:txBody>
          <a:bodyPr wrap="none" anchor="ctr"/>
          <a:lstStyle/>
          <a:p>
            <a:pPr algn="ctr"/>
            <a:r>
              <a:rPr lang="es-CO" sz="1800"/>
              <a:t>Genera tres errores</a:t>
            </a:r>
            <a:endParaRPr lang="es-ES" sz="1800"/>
          </a:p>
        </p:txBody>
      </p:sp>
      <p:sp>
        <p:nvSpPr>
          <p:cNvPr id="13325" name="Rectangle 13"/>
          <p:cNvSpPr>
            <a:spLocks noChangeArrowheads="1"/>
          </p:cNvSpPr>
          <p:nvPr/>
        </p:nvSpPr>
        <p:spPr bwMode="auto">
          <a:xfrm>
            <a:off x="250825" y="2781300"/>
            <a:ext cx="2665413" cy="1655763"/>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No se reconoce</a:t>
            </a:r>
          </a:p>
          <a:p>
            <a:pPr algn="ctr"/>
            <a:r>
              <a:rPr lang="es-CO" sz="1500"/>
              <a:t> la equinifinalidad: insistencia</a:t>
            </a:r>
          </a:p>
          <a:p>
            <a:pPr algn="ctr"/>
            <a:r>
              <a:rPr lang="es-CO" sz="1500"/>
              <a:t> en “ métodos correctos”</a:t>
            </a:r>
          </a:p>
          <a:p>
            <a:pPr algn="ctr"/>
            <a:r>
              <a:rPr lang="es-CO" sz="1500"/>
              <a:t>Para llegar a un objetivo</a:t>
            </a:r>
            <a:endParaRPr lang="es-ES" sz="1500"/>
          </a:p>
        </p:txBody>
      </p:sp>
      <p:sp>
        <p:nvSpPr>
          <p:cNvPr id="13326" name="Rectangle 14"/>
          <p:cNvSpPr>
            <a:spLocks noChangeArrowheads="1"/>
          </p:cNvSpPr>
          <p:nvPr/>
        </p:nvSpPr>
        <p:spPr bwMode="auto">
          <a:xfrm>
            <a:off x="3203575" y="2781300"/>
            <a:ext cx="2519363" cy="1655763"/>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Las irregularidades en</a:t>
            </a:r>
          </a:p>
          <a:p>
            <a:pPr algn="ctr"/>
            <a:r>
              <a:rPr lang="es-CO" sz="1500"/>
              <a:t> el funcionamiento </a:t>
            </a:r>
          </a:p>
          <a:p>
            <a:pPr algn="ctr"/>
            <a:r>
              <a:rPr lang="es-CO" sz="1500"/>
              <a:t>de los sistemas</a:t>
            </a:r>
          </a:p>
          <a:p>
            <a:pPr algn="ctr"/>
            <a:r>
              <a:rPr lang="es-CO" sz="1500"/>
              <a:t>Originadas por el entorno</a:t>
            </a:r>
            <a:endParaRPr lang="es-ES" sz="1500"/>
          </a:p>
        </p:txBody>
      </p:sp>
      <p:sp>
        <p:nvSpPr>
          <p:cNvPr id="13327" name="Rectangle 15"/>
          <p:cNvSpPr>
            <a:spLocks noChangeArrowheads="1"/>
          </p:cNvSpPr>
          <p:nvPr/>
        </p:nvSpPr>
        <p:spPr bwMode="auto">
          <a:xfrm>
            <a:off x="6084888" y="2781300"/>
            <a:ext cx="2374900" cy="1655763"/>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Impide el desarrollo</a:t>
            </a:r>
          </a:p>
          <a:p>
            <a:pPr algn="ctr"/>
            <a:r>
              <a:rPr lang="es-CO" sz="1500"/>
              <a:t> de la función </a:t>
            </a:r>
          </a:p>
          <a:p>
            <a:pPr algn="ctr"/>
            <a:r>
              <a:rPr lang="es-CO" sz="1500"/>
              <a:t>retroalmentadora</a:t>
            </a:r>
            <a:endParaRPr lang="es-ES" sz="15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s-CO" sz="3200"/>
              <a:t>SUBSISTEMAS ORGANIZACIONALES</a:t>
            </a:r>
            <a:endParaRPr lang="es-ES" sz="3200"/>
          </a:p>
        </p:txBody>
      </p:sp>
      <p:sp>
        <p:nvSpPr>
          <p:cNvPr id="14339" name="Rectangle 3"/>
          <p:cNvSpPr>
            <a:spLocks noGrp="1" noChangeArrowheads="1"/>
          </p:cNvSpPr>
          <p:nvPr>
            <p:ph type="body" idx="1"/>
          </p:nvPr>
        </p:nvSpPr>
        <p:spPr/>
        <p:txBody>
          <a:bodyPr/>
          <a:lstStyle/>
          <a:p>
            <a:pPr algn="ctr">
              <a:buFontTx/>
              <a:buNone/>
            </a:pPr>
            <a:r>
              <a:rPr lang="es-CO" sz="2400"/>
              <a:t>TECNICOS O DE PRODUCCION</a:t>
            </a:r>
            <a:endParaRPr lang="es-ES" sz="2400"/>
          </a:p>
        </p:txBody>
      </p:sp>
      <p:sp>
        <p:nvSpPr>
          <p:cNvPr id="14342" name="Line 6"/>
          <p:cNvSpPr>
            <a:spLocks noChangeShapeType="1"/>
          </p:cNvSpPr>
          <p:nvPr/>
        </p:nvSpPr>
        <p:spPr bwMode="auto">
          <a:xfrm>
            <a:off x="4356100" y="2133600"/>
            <a:ext cx="0" cy="358775"/>
          </a:xfrm>
          <a:prstGeom prst="line">
            <a:avLst/>
          </a:prstGeom>
          <a:noFill/>
          <a:ln w="9525">
            <a:solidFill>
              <a:schemeClr val="tx1"/>
            </a:solidFill>
            <a:round/>
            <a:headEnd/>
            <a:tailEnd/>
          </a:ln>
          <a:effectLst/>
        </p:spPr>
        <p:txBody>
          <a:bodyPr/>
          <a:lstStyle/>
          <a:p>
            <a:endParaRPr lang="es-ES"/>
          </a:p>
        </p:txBody>
      </p:sp>
      <p:sp>
        <p:nvSpPr>
          <p:cNvPr id="14343" name="Line 7"/>
          <p:cNvSpPr>
            <a:spLocks noChangeShapeType="1"/>
          </p:cNvSpPr>
          <p:nvPr/>
        </p:nvSpPr>
        <p:spPr bwMode="auto">
          <a:xfrm>
            <a:off x="900113" y="2492375"/>
            <a:ext cx="7127875" cy="0"/>
          </a:xfrm>
          <a:prstGeom prst="line">
            <a:avLst/>
          </a:prstGeom>
          <a:noFill/>
          <a:ln w="9525">
            <a:solidFill>
              <a:schemeClr val="tx1"/>
            </a:solidFill>
            <a:round/>
            <a:headEnd/>
            <a:tailEnd/>
          </a:ln>
          <a:effectLst/>
        </p:spPr>
        <p:txBody>
          <a:bodyPr/>
          <a:lstStyle/>
          <a:p>
            <a:endParaRPr lang="es-ES"/>
          </a:p>
        </p:txBody>
      </p:sp>
      <p:sp>
        <p:nvSpPr>
          <p:cNvPr id="14344" name="Line 8"/>
          <p:cNvSpPr>
            <a:spLocks noChangeShapeType="1"/>
          </p:cNvSpPr>
          <p:nvPr/>
        </p:nvSpPr>
        <p:spPr bwMode="auto">
          <a:xfrm>
            <a:off x="900113" y="2492375"/>
            <a:ext cx="0" cy="649288"/>
          </a:xfrm>
          <a:prstGeom prst="line">
            <a:avLst/>
          </a:prstGeom>
          <a:noFill/>
          <a:ln w="9525">
            <a:solidFill>
              <a:schemeClr val="tx1"/>
            </a:solidFill>
            <a:round/>
            <a:headEnd/>
            <a:tailEnd type="triangle" w="med" len="med"/>
          </a:ln>
          <a:effectLst/>
        </p:spPr>
        <p:txBody>
          <a:bodyPr/>
          <a:lstStyle/>
          <a:p>
            <a:endParaRPr lang="es-ES"/>
          </a:p>
        </p:txBody>
      </p:sp>
      <p:sp>
        <p:nvSpPr>
          <p:cNvPr id="14346" name="Rectangle 10"/>
          <p:cNvSpPr>
            <a:spLocks noChangeArrowheads="1"/>
          </p:cNvSpPr>
          <p:nvPr/>
        </p:nvSpPr>
        <p:spPr bwMode="auto">
          <a:xfrm>
            <a:off x="179388" y="3068638"/>
            <a:ext cx="2087562" cy="792162"/>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DEFINICION</a:t>
            </a:r>
          </a:p>
          <a:p>
            <a:pPr algn="ctr"/>
            <a:r>
              <a:rPr lang="es-CO" sz="1500"/>
              <a:t>Transforma y procesan</a:t>
            </a:r>
          </a:p>
          <a:p>
            <a:pPr algn="ctr"/>
            <a:r>
              <a:rPr lang="es-CO" sz="1500"/>
              <a:t>energía</a:t>
            </a:r>
            <a:endParaRPr lang="es-ES" sz="1500"/>
          </a:p>
        </p:txBody>
      </p:sp>
      <p:sp>
        <p:nvSpPr>
          <p:cNvPr id="14347" name="Line 11"/>
          <p:cNvSpPr>
            <a:spLocks noChangeShapeType="1"/>
          </p:cNvSpPr>
          <p:nvPr/>
        </p:nvSpPr>
        <p:spPr bwMode="auto">
          <a:xfrm>
            <a:off x="2771775" y="2492375"/>
            <a:ext cx="0" cy="1728788"/>
          </a:xfrm>
          <a:prstGeom prst="line">
            <a:avLst/>
          </a:prstGeom>
          <a:noFill/>
          <a:ln w="9525">
            <a:solidFill>
              <a:schemeClr val="tx1"/>
            </a:solidFill>
            <a:round/>
            <a:headEnd/>
            <a:tailEnd type="triangle" w="med" len="med"/>
          </a:ln>
          <a:effectLst/>
        </p:spPr>
        <p:txBody>
          <a:bodyPr/>
          <a:lstStyle/>
          <a:p>
            <a:endParaRPr lang="es-ES"/>
          </a:p>
        </p:txBody>
      </p:sp>
      <p:sp>
        <p:nvSpPr>
          <p:cNvPr id="14348" name="Rectangle 12"/>
          <p:cNvSpPr>
            <a:spLocks noChangeArrowheads="1"/>
          </p:cNvSpPr>
          <p:nvPr/>
        </p:nvSpPr>
        <p:spPr bwMode="auto">
          <a:xfrm>
            <a:off x="1331913" y="4221163"/>
            <a:ext cx="2663825" cy="792162"/>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Función</a:t>
            </a:r>
          </a:p>
          <a:p>
            <a:pPr algn="ctr"/>
            <a:r>
              <a:rPr lang="es-CO" sz="1500"/>
              <a:t>Satisfacer los requerimientos</a:t>
            </a:r>
          </a:p>
          <a:p>
            <a:pPr algn="ctr"/>
            <a:r>
              <a:rPr lang="es-CO" sz="1500"/>
              <a:t>De la tarea central (producir)</a:t>
            </a:r>
            <a:endParaRPr lang="es-ES" sz="1500"/>
          </a:p>
        </p:txBody>
      </p:sp>
      <p:sp>
        <p:nvSpPr>
          <p:cNvPr id="14349" name="Line 13"/>
          <p:cNvSpPr>
            <a:spLocks noChangeShapeType="1"/>
          </p:cNvSpPr>
          <p:nvPr/>
        </p:nvSpPr>
        <p:spPr bwMode="auto">
          <a:xfrm>
            <a:off x="4643438" y="2492375"/>
            <a:ext cx="0" cy="576263"/>
          </a:xfrm>
          <a:prstGeom prst="line">
            <a:avLst/>
          </a:prstGeom>
          <a:noFill/>
          <a:ln w="9525">
            <a:solidFill>
              <a:schemeClr val="tx1"/>
            </a:solidFill>
            <a:round/>
            <a:headEnd/>
            <a:tailEnd type="triangle" w="med" len="med"/>
          </a:ln>
          <a:effectLst/>
        </p:spPr>
        <p:txBody>
          <a:bodyPr/>
          <a:lstStyle/>
          <a:p>
            <a:endParaRPr lang="es-ES"/>
          </a:p>
        </p:txBody>
      </p:sp>
      <p:sp>
        <p:nvSpPr>
          <p:cNvPr id="14350" name="Rectangle 14"/>
          <p:cNvSpPr>
            <a:spLocks noChangeArrowheads="1"/>
          </p:cNvSpPr>
          <p:nvPr/>
        </p:nvSpPr>
        <p:spPr bwMode="auto">
          <a:xfrm>
            <a:off x="3708400" y="2997200"/>
            <a:ext cx="2016125" cy="1008063"/>
          </a:xfrm>
          <a:prstGeom prst="rect">
            <a:avLst/>
          </a:prstGeom>
          <a:solidFill>
            <a:schemeClr val="accent1"/>
          </a:solidFill>
          <a:ln w="9525">
            <a:solidFill>
              <a:schemeClr val="tx1"/>
            </a:solidFill>
            <a:miter lim="800000"/>
            <a:headEnd/>
            <a:tailEnd/>
          </a:ln>
          <a:effectLst/>
        </p:spPr>
        <p:txBody>
          <a:bodyPr wrap="none" anchor="ctr"/>
          <a:lstStyle/>
          <a:p>
            <a:pPr algn="ctr"/>
            <a:r>
              <a:rPr lang="es-CO"/>
              <a:t>Enfoque</a:t>
            </a:r>
          </a:p>
          <a:p>
            <a:pPr algn="ctr"/>
            <a:r>
              <a:rPr lang="es-CO"/>
              <a:t>Mira al interior de la</a:t>
            </a:r>
          </a:p>
          <a:p>
            <a:pPr algn="ctr"/>
            <a:r>
              <a:rPr lang="es-CO"/>
              <a:t>organización</a:t>
            </a:r>
            <a:endParaRPr lang="es-ES"/>
          </a:p>
        </p:txBody>
      </p:sp>
      <p:sp>
        <p:nvSpPr>
          <p:cNvPr id="14352" name="Line 16"/>
          <p:cNvSpPr>
            <a:spLocks noChangeShapeType="1"/>
          </p:cNvSpPr>
          <p:nvPr/>
        </p:nvSpPr>
        <p:spPr bwMode="auto">
          <a:xfrm>
            <a:off x="8027988" y="2492375"/>
            <a:ext cx="0" cy="1728788"/>
          </a:xfrm>
          <a:prstGeom prst="line">
            <a:avLst/>
          </a:prstGeom>
          <a:noFill/>
          <a:ln w="9525">
            <a:solidFill>
              <a:schemeClr val="tx1"/>
            </a:solidFill>
            <a:round/>
            <a:headEnd/>
            <a:tailEnd type="triangle" w="med" len="med"/>
          </a:ln>
          <a:effectLst/>
        </p:spPr>
        <p:txBody>
          <a:bodyPr/>
          <a:lstStyle/>
          <a:p>
            <a:endParaRPr lang="es-ES"/>
          </a:p>
        </p:txBody>
      </p:sp>
      <p:sp>
        <p:nvSpPr>
          <p:cNvPr id="14353" name="Rectangle 17"/>
          <p:cNvSpPr>
            <a:spLocks noChangeArrowheads="1"/>
          </p:cNvSpPr>
          <p:nvPr/>
        </p:nvSpPr>
        <p:spPr bwMode="auto">
          <a:xfrm>
            <a:off x="5364163" y="4221163"/>
            <a:ext cx="2879725" cy="1152525"/>
          </a:xfrm>
          <a:prstGeom prst="rect">
            <a:avLst/>
          </a:prstGeom>
          <a:solidFill>
            <a:schemeClr val="accent1"/>
          </a:solidFill>
          <a:ln w="9525">
            <a:solidFill>
              <a:schemeClr val="tx1"/>
            </a:solidFill>
            <a:miter lim="800000"/>
            <a:headEnd/>
            <a:tailEnd/>
          </a:ln>
          <a:effectLst/>
        </p:spPr>
        <p:txBody>
          <a:bodyPr wrap="none" anchor="ctr"/>
          <a:lstStyle/>
          <a:p>
            <a:pPr algn="ctr"/>
            <a:r>
              <a:rPr lang="es-CO"/>
              <a:t>Mecanismo:</a:t>
            </a:r>
          </a:p>
          <a:p>
            <a:pPr algn="ctr"/>
            <a:r>
              <a:rPr lang="es-CO"/>
              <a:t>*División del trabajo</a:t>
            </a:r>
          </a:p>
          <a:p>
            <a:pPr algn="ctr"/>
            <a:r>
              <a:rPr lang="es-CO"/>
              <a:t>*Especificaciones y </a:t>
            </a:r>
          </a:p>
          <a:p>
            <a:pPr algn="ctr"/>
            <a:r>
              <a:rPr lang="es-CO"/>
              <a:t>Estándares del trabajo</a:t>
            </a:r>
            <a:endParaRPr lang="es-E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s-CO" sz="3200"/>
              <a:t/>
            </a:r>
            <a:br>
              <a:rPr lang="es-CO" sz="3200"/>
            </a:br>
            <a:r>
              <a:rPr lang="es-CO" sz="3200"/>
              <a:t/>
            </a:r>
            <a:br>
              <a:rPr lang="es-CO" sz="3200"/>
            </a:br>
            <a:r>
              <a:rPr lang="es-CO" sz="3200"/>
              <a:t>SUBSISTEMAS DE MANTENIMIENTO</a:t>
            </a:r>
            <a:endParaRPr lang="es-ES" sz="3200"/>
          </a:p>
        </p:txBody>
      </p:sp>
      <p:sp>
        <p:nvSpPr>
          <p:cNvPr id="15364" name="Line 4"/>
          <p:cNvSpPr>
            <a:spLocks noChangeShapeType="1"/>
          </p:cNvSpPr>
          <p:nvPr/>
        </p:nvSpPr>
        <p:spPr bwMode="auto">
          <a:xfrm>
            <a:off x="4643438" y="1557338"/>
            <a:ext cx="0" cy="360362"/>
          </a:xfrm>
          <a:prstGeom prst="line">
            <a:avLst/>
          </a:prstGeom>
          <a:noFill/>
          <a:ln w="9525">
            <a:solidFill>
              <a:schemeClr val="tx1"/>
            </a:solidFill>
            <a:round/>
            <a:headEnd/>
            <a:tailEnd/>
          </a:ln>
          <a:effectLst/>
        </p:spPr>
        <p:txBody>
          <a:bodyPr/>
          <a:lstStyle/>
          <a:p>
            <a:endParaRPr lang="es-ES"/>
          </a:p>
        </p:txBody>
      </p:sp>
      <p:sp>
        <p:nvSpPr>
          <p:cNvPr id="15365" name="Line 5"/>
          <p:cNvSpPr>
            <a:spLocks noChangeShapeType="1"/>
          </p:cNvSpPr>
          <p:nvPr/>
        </p:nvSpPr>
        <p:spPr bwMode="auto">
          <a:xfrm>
            <a:off x="900113" y="1916113"/>
            <a:ext cx="7488237" cy="0"/>
          </a:xfrm>
          <a:prstGeom prst="line">
            <a:avLst/>
          </a:prstGeom>
          <a:noFill/>
          <a:ln w="9525">
            <a:solidFill>
              <a:schemeClr val="tx1"/>
            </a:solidFill>
            <a:round/>
            <a:headEnd/>
            <a:tailEnd/>
          </a:ln>
          <a:effectLst/>
        </p:spPr>
        <p:txBody>
          <a:bodyPr/>
          <a:lstStyle/>
          <a:p>
            <a:endParaRPr lang="es-ES"/>
          </a:p>
        </p:txBody>
      </p:sp>
      <p:sp>
        <p:nvSpPr>
          <p:cNvPr id="15366" name="Line 6"/>
          <p:cNvSpPr>
            <a:spLocks noChangeShapeType="1"/>
          </p:cNvSpPr>
          <p:nvPr/>
        </p:nvSpPr>
        <p:spPr bwMode="auto">
          <a:xfrm>
            <a:off x="900113" y="1916113"/>
            <a:ext cx="0" cy="503237"/>
          </a:xfrm>
          <a:prstGeom prst="line">
            <a:avLst/>
          </a:prstGeom>
          <a:noFill/>
          <a:ln w="9525">
            <a:solidFill>
              <a:schemeClr val="tx1"/>
            </a:solidFill>
            <a:round/>
            <a:headEnd/>
            <a:tailEnd type="triangle" w="med" len="med"/>
          </a:ln>
          <a:effectLst/>
        </p:spPr>
        <p:txBody>
          <a:bodyPr/>
          <a:lstStyle/>
          <a:p>
            <a:endParaRPr lang="es-ES"/>
          </a:p>
        </p:txBody>
      </p:sp>
      <p:sp>
        <p:nvSpPr>
          <p:cNvPr id="15367" name="Rectangle 7"/>
          <p:cNvSpPr>
            <a:spLocks noChangeArrowheads="1"/>
          </p:cNvSpPr>
          <p:nvPr/>
        </p:nvSpPr>
        <p:spPr bwMode="auto">
          <a:xfrm>
            <a:off x="179388" y="2492375"/>
            <a:ext cx="2017712" cy="936625"/>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Descripción:</a:t>
            </a:r>
          </a:p>
          <a:p>
            <a:pPr algn="ctr"/>
            <a:r>
              <a:rPr lang="es-CO" sz="1500"/>
              <a:t>Aseguran la presencia</a:t>
            </a:r>
          </a:p>
          <a:p>
            <a:pPr algn="ctr"/>
            <a:r>
              <a:rPr lang="es-CO" sz="1500"/>
              <a:t> para la ejecución</a:t>
            </a:r>
          </a:p>
          <a:p>
            <a:pPr algn="ctr"/>
            <a:r>
              <a:rPr lang="es-CO" sz="1500"/>
              <a:t> organizacional</a:t>
            </a:r>
            <a:endParaRPr lang="es-ES" sz="1500"/>
          </a:p>
        </p:txBody>
      </p:sp>
      <p:sp>
        <p:nvSpPr>
          <p:cNvPr id="15368" name="Line 8"/>
          <p:cNvSpPr>
            <a:spLocks noChangeShapeType="1"/>
          </p:cNvSpPr>
          <p:nvPr/>
        </p:nvSpPr>
        <p:spPr bwMode="auto">
          <a:xfrm>
            <a:off x="2700338" y="1916113"/>
            <a:ext cx="0" cy="1944687"/>
          </a:xfrm>
          <a:prstGeom prst="line">
            <a:avLst/>
          </a:prstGeom>
          <a:noFill/>
          <a:ln w="9525">
            <a:solidFill>
              <a:schemeClr val="tx1"/>
            </a:solidFill>
            <a:round/>
            <a:headEnd/>
            <a:tailEnd type="triangle" w="med" len="med"/>
          </a:ln>
          <a:effectLst/>
        </p:spPr>
        <p:txBody>
          <a:bodyPr/>
          <a:lstStyle/>
          <a:p>
            <a:endParaRPr lang="es-ES"/>
          </a:p>
        </p:txBody>
      </p:sp>
      <p:sp>
        <p:nvSpPr>
          <p:cNvPr id="15369" name="Rectangle 9"/>
          <p:cNvSpPr>
            <a:spLocks noChangeArrowheads="1"/>
          </p:cNvSpPr>
          <p:nvPr/>
        </p:nvSpPr>
        <p:spPr bwMode="auto">
          <a:xfrm>
            <a:off x="1476375" y="3860800"/>
            <a:ext cx="2735263" cy="792163"/>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función:</a:t>
            </a:r>
          </a:p>
          <a:p>
            <a:pPr algn="ctr"/>
            <a:r>
              <a:rPr lang="es-CO" sz="1500"/>
              <a:t>Mantener la estabilidad y </a:t>
            </a:r>
          </a:p>
          <a:p>
            <a:pPr algn="ctr"/>
            <a:r>
              <a:rPr lang="es-CO" sz="1500"/>
              <a:t>Capacidad de producción</a:t>
            </a:r>
            <a:endParaRPr lang="es-ES" sz="1500"/>
          </a:p>
        </p:txBody>
      </p:sp>
      <p:sp>
        <p:nvSpPr>
          <p:cNvPr id="15370" name="Line 10"/>
          <p:cNvSpPr>
            <a:spLocks noChangeShapeType="1"/>
          </p:cNvSpPr>
          <p:nvPr/>
        </p:nvSpPr>
        <p:spPr bwMode="auto">
          <a:xfrm>
            <a:off x="4932363" y="1916113"/>
            <a:ext cx="0" cy="649287"/>
          </a:xfrm>
          <a:prstGeom prst="line">
            <a:avLst/>
          </a:prstGeom>
          <a:noFill/>
          <a:ln w="9525">
            <a:solidFill>
              <a:schemeClr val="tx1"/>
            </a:solidFill>
            <a:round/>
            <a:headEnd/>
            <a:tailEnd type="triangle" w="med" len="med"/>
          </a:ln>
          <a:effectLst/>
        </p:spPr>
        <p:txBody>
          <a:bodyPr/>
          <a:lstStyle/>
          <a:p>
            <a:endParaRPr lang="es-ES"/>
          </a:p>
        </p:txBody>
      </p:sp>
      <p:sp>
        <p:nvSpPr>
          <p:cNvPr id="15371" name="Rectangle 11"/>
          <p:cNvSpPr>
            <a:spLocks noChangeArrowheads="1"/>
          </p:cNvSpPr>
          <p:nvPr/>
        </p:nvSpPr>
        <p:spPr bwMode="auto">
          <a:xfrm>
            <a:off x="3851275" y="2565400"/>
            <a:ext cx="2376488" cy="935038"/>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Enfoque:</a:t>
            </a:r>
          </a:p>
          <a:p>
            <a:pPr algn="ctr"/>
            <a:r>
              <a:rPr lang="es-CO" sz="1500"/>
              <a:t>Mira al interior de la</a:t>
            </a:r>
          </a:p>
          <a:p>
            <a:pPr algn="ctr"/>
            <a:r>
              <a:rPr lang="es-CO" sz="1500"/>
              <a:t>Organización y hacia </a:t>
            </a:r>
          </a:p>
          <a:p>
            <a:pPr algn="ctr"/>
            <a:r>
              <a:rPr lang="es-CO" sz="1500"/>
              <a:t>Si misma</a:t>
            </a:r>
            <a:endParaRPr lang="es-ES" sz="1500"/>
          </a:p>
        </p:txBody>
      </p:sp>
      <p:sp>
        <p:nvSpPr>
          <p:cNvPr id="15372" name="Line 12"/>
          <p:cNvSpPr>
            <a:spLocks noChangeShapeType="1"/>
          </p:cNvSpPr>
          <p:nvPr/>
        </p:nvSpPr>
        <p:spPr bwMode="auto">
          <a:xfrm>
            <a:off x="8388350" y="1916113"/>
            <a:ext cx="0" cy="2017712"/>
          </a:xfrm>
          <a:prstGeom prst="line">
            <a:avLst/>
          </a:prstGeom>
          <a:noFill/>
          <a:ln w="9525">
            <a:solidFill>
              <a:schemeClr val="tx1"/>
            </a:solidFill>
            <a:round/>
            <a:headEnd/>
            <a:tailEnd type="triangle" w="med" len="med"/>
          </a:ln>
          <a:effectLst/>
        </p:spPr>
        <p:txBody>
          <a:bodyPr/>
          <a:lstStyle/>
          <a:p>
            <a:endParaRPr lang="es-ES"/>
          </a:p>
        </p:txBody>
      </p:sp>
      <p:sp>
        <p:nvSpPr>
          <p:cNvPr id="15373" name="Rectangle 13"/>
          <p:cNvSpPr>
            <a:spLocks noChangeArrowheads="1"/>
          </p:cNvSpPr>
          <p:nvPr/>
        </p:nvSpPr>
        <p:spPr bwMode="auto">
          <a:xfrm>
            <a:off x="6084888" y="3933825"/>
            <a:ext cx="2808287" cy="1295400"/>
          </a:xfrm>
          <a:prstGeom prst="rect">
            <a:avLst/>
          </a:prstGeom>
          <a:solidFill>
            <a:schemeClr val="accent1"/>
          </a:solidFill>
          <a:ln w="9525">
            <a:solidFill>
              <a:schemeClr val="tx1"/>
            </a:solidFill>
            <a:miter lim="800000"/>
            <a:headEnd/>
            <a:tailEnd/>
          </a:ln>
          <a:effectLst/>
        </p:spPr>
        <p:txBody>
          <a:bodyPr wrap="none" anchor="ctr"/>
          <a:lstStyle/>
          <a:p>
            <a:pPr algn="ctr"/>
            <a:endParaRPr lang="es-CO" sz="1500"/>
          </a:p>
          <a:p>
            <a:pPr algn="ctr"/>
            <a:r>
              <a:rPr lang="es-CO" sz="1500"/>
              <a:t>Mecanismos:</a:t>
            </a:r>
          </a:p>
          <a:p>
            <a:pPr algn="ctr"/>
            <a:r>
              <a:rPr lang="es-CO" sz="1500"/>
              <a:t>*Selección de personal</a:t>
            </a:r>
          </a:p>
          <a:p>
            <a:pPr algn="ctr"/>
            <a:r>
              <a:rPr lang="es-CO" sz="1500"/>
              <a:t>*Socialización e indoctrinacion</a:t>
            </a:r>
          </a:p>
          <a:p>
            <a:pPr algn="ctr"/>
            <a:r>
              <a:rPr lang="es-CO" sz="1500"/>
              <a:t>*Recompensas e incentivos</a:t>
            </a:r>
          </a:p>
          <a:p>
            <a:pPr algn="ctr"/>
            <a:r>
              <a:rPr lang="es-CO" sz="1500"/>
              <a:t> y sanciones</a:t>
            </a:r>
          </a:p>
          <a:p>
            <a:pPr algn="ctr"/>
            <a:endParaRPr lang="es-ES" sz="15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8" y="836613"/>
            <a:ext cx="8229600" cy="927100"/>
          </a:xfrm>
        </p:spPr>
        <p:txBody>
          <a:bodyPr/>
          <a:lstStyle/>
          <a:p>
            <a:r>
              <a:rPr lang="es-CO" sz="2800"/>
              <a:t/>
            </a:r>
            <a:br>
              <a:rPr lang="es-CO" sz="2800"/>
            </a:br>
            <a:r>
              <a:rPr lang="es-CO" sz="2800"/>
              <a:t>SUBSISTEMAS DE APOYO</a:t>
            </a:r>
            <a:endParaRPr lang="es-ES" sz="2800"/>
          </a:p>
        </p:txBody>
      </p:sp>
      <p:sp>
        <p:nvSpPr>
          <p:cNvPr id="16388" name="Line 4"/>
          <p:cNvSpPr>
            <a:spLocks noChangeShapeType="1"/>
          </p:cNvSpPr>
          <p:nvPr/>
        </p:nvSpPr>
        <p:spPr bwMode="auto">
          <a:xfrm>
            <a:off x="4500563" y="1700213"/>
            <a:ext cx="0" cy="215900"/>
          </a:xfrm>
          <a:prstGeom prst="line">
            <a:avLst/>
          </a:prstGeom>
          <a:noFill/>
          <a:ln w="9525">
            <a:solidFill>
              <a:schemeClr val="tx1"/>
            </a:solidFill>
            <a:round/>
            <a:headEnd/>
            <a:tailEnd/>
          </a:ln>
          <a:effectLst/>
        </p:spPr>
        <p:txBody>
          <a:bodyPr/>
          <a:lstStyle/>
          <a:p>
            <a:endParaRPr lang="es-ES"/>
          </a:p>
        </p:txBody>
      </p:sp>
      <p:sp>
        <p:nvSpPr>
          <p:cNvPr id="16389" name="Line 5"/>
          <p:cNvSpPr>
            <a:spLocks noChangeShapeType="1"/>
          </p:cNvSpPr>
          <p:nvPr/>
        </p:nvSpPr>
        <p:spPr bwMode="auto">
          <a:xfrm>
            <a:off x="755650" y="1916113"/>
            <a:ext cx="7488238" cy="0"/>
          </a:xfrm>
          <a:prstGeom prst="line">
            <a:avLst/>
          </a:prstGeom>
          <a:noFill/>
          <a:ln w="9525">
            <a:solidFill>
              <a:schemeClr val="tx1"/>
            </a:solidFill>
            <a:round/>
            <a:headEnd/>
            <a:tailEnd/>
          </a:ln>
          <a:effectLst/>
        </p:spPr>
        <p:txBody>
          <a:bodyPr/>
          <a:lstStyle/>
          <a:p>
            <a:endParaRPr lang="es-ES"/>
          </a:p>
        </p:txBody>
      </p:sp>
      <p:sp>
        <p:nvSpPr>
          <p:cNvPr id="16390" name="Line 6"/>
          <p:cNvSpPr>
            <a:spLocks noChangeShapeType="1"/>
          </p:cNvSpPr>
          <p:nvPr/>
        </p:nvSpPr>
        <p:spPr bwMode="auto">
          <a:xfrm>
            <a:off x="755650" y="1916113"/>
            <a:ext cx="0" cy="576262"/>
          </a:xfrm>
          <a:prstGeom prst="line">
            <a:avLst/>
          </a:prstGeom>
          <a:noFill/>
          <a:ln w="9525">
            <a:solidFill>
              <a:schemeClr val="tx1"/>
            </a:solidFill>
            <a:round/>
            <a:headEnd/>
            <a:tailEnd type="triangle" w="med" len="med"/>
          </a:ln>
          <a:effectLst/>
        </p:spPr>
        <p:txBody>
          <a:bodyPr/>
          <a:lstStyle/>
          <a:p>
            <a:endParaRPr lang="es-ES"/>
          </a:p>
        </p:txBody>
      </p:sp>
      <p:sp>
        <p:nvSpPr>
          <p:cNvPr id="16391" name="Rectangle 7"/>
          <p:cNvSpPr>
            <a:spLocks noChangeArrowheads="1"/>
          </p:cNvSpPr>
          <p:nvPr/>
        </p:nvSpPr>
        <p:spPr bwMode="auto">
          <a:xfrm>
            <a:off x="250825" y="2492375"/>
            <a:ext cx="1873250" cy="2952750"/>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Descripción:</a:t>
            </a:r>
          </a:p>
          <a:p>
            <a:pPr algn="ctr"/>
            <a:r>
              <a:rPr lang="es-CO" sz="1500"/>
              <a:t>Proporciona una </a:t>
            </a:r>
          </a:p>
          <a:p>
            <a:pPr algn="ctr"/>
            <a:r>
              <a:rPr lang="es-CO" sz="1500"/>
              <a:t>fuente de insumos</a:t>
            </a:r>
          </a:p>
          <a:p>
            <a:pPr algn="ctr"/>
            <a:r>
              <a:rPr lang="es-CO" sz="1500"/>
              <a:t>   de producción y</a:t>
            </a:r>
          </a:p>
          <a:p>
            <a:pPr algn="ctr"/>
            <a:r>
              <a:rPr lang="es-CO" sz="1500"/>
              <a:t>llevan al sistema a </a:t>
            </a:r>
          </a:p>
          <a:p>
            <a:pPr algn="ctr"/>
            <a:r>
              <a:rPr lang="es-CO" sz="1500"/>
              <a:t>entregar productos</a:t>
            </a:r>
          </a:p>
          <a:p>
            <a:pPr algn="ctr"/>
            <a:r>
              <a:rPr lang="es-CO" sz="1500"/>
              <a:t>al entorno y </a:t>
            </a:r>
          </a:p>
          <a:p>
            <a:pPr algn="ctr"/>
            <a:r>
              <a:rPr lang="es-CO" sz="1500"/>
              <a:t>desarrollan un </a:t>
            </a:r>
          </a:p>
          <a:p>
            <a:pPr algn="ctr"/>
            <a:r>
              <a:rPr lang="es-CO" sz="1500"/>
              <a:t>ambiente favorable</a:t>
            </a:r>
          </a:p>
          <a:p>
            <a:pPr algn="ctr"/>
            <a:r>
              <a:rPr lang="es-CO" sz="1500"/>
              <a:t>con otros sistemas</a:t>
            </a:r>
          </a:p>
          <a:p>
            <a:pPr algn="ctr"/>
            <a:endParaRPr lang="es-ES" sz="1500"/>
          </a:p>
        </p:txBody>
      </p:sp>
      <p:sp>
        <p:nvSpPr>
          <p:cNvPr id="16392" name="Line 8"/>
          <p:cNvSpPr>
            <a:spLocks noChangeShapeType="1"/>
          </p:cNvSpPr>
          <p:nvPr/>
        </p:nvSpPr>
        <p:spPr bwMode="auto">
          <a:xfrm>
            <a:off x="3203575" y="1916113"/>
            <a:ext cx="0" cy="504825"/>
          </a:xfrm>
          <a:prstGeom prst="line">
            <a:avLst/>
          </a:prstGeom>
          <a:noFill/>
          <a:ln w="9525">
            <a:solidFill>
              <a:schemeClr val="tx1"/>
            </a:solidFill>
            <a:round/>
            <a:headEnd/>
            <a:tailEnd type="triangle" w="med" len="med"/>
          </a:ln>
          <a:effectLst/>
        </p:spPr>
        <p:txBody>
          <a:bodyPr/>
          <a:lstStyle/>
          <a:p>
            <a:endParaRPr lang="es-ES"/>
          </a:p>
        </p:txBody>
      </p:sp>
      <p:sp>
        <p:nvSpPr>
          <p:cNvPr id="16393" name="Rectangle 9"/>
          <p:cNvSpPr>
            <a:spLocks noChangeArrowheads="1"/>
          </p:cNvSpPr>
          <p:nvPr/>
        </p:nvSpPr>
        <p:spPr bwMode="auto">
          <a:xfrm>
            <a:off x="2484438" y="2492375"/>
            <a:ext cx="1800225" cy="2952750"/>
          </a:xfrm>
          <a:prstGeom prst="rect">
            <a:avLst/>
          </a:prstGeom>
          <a:solidFill>
            <a:schemeClr val="accent1"/>
          </a:solidFill>
          <a:ln w="9525">
            <a:solidFill>
              <a:schemeClr val="tx1"/>
            </a:solidFill>
            <a:miter lim="800000"/>
            <a:headEnd/>
            <a:tailEnd/>
          </a:ln>
          <a:effectLst/>
        </p:spPr>
        <p:txBody>
          <a:bodyPr wrap="none" anchor="ctr"/>
          <a:lstStyle/>
          <a:p>
            <a:pPr algn="ctr"/>
            <a:r>
              <a:rPr lang="es-CO"/>
              <a:t>Función:</a:t>
            </a:r>
          </a:p>
          <a:p>
            <a:pPr algn="ctr"/>
            <a:r>
              <a:rPr lang="es-CO"/>
              <a:t>De abastecimiento</a:t>
            </a:r>
          </a:p>
          <a:p>
            <a:pPr algn="ctr"/>
            <a:r>
              <a:rPr lang="es-CO"/>
              <a:t> y ventas:</a:t>
            </a:r>
          </a:p>
          <a:p>
            <a:pPr algn="ctr"/>
            <a:r>
              <a:rPr lang="es-CO"/>
              <a:t>*Mantener</a:t>
            </a:r>
          </a:p>
          <a:p>
            <a:pPr algn="ctr"/>
            <a:r>
              <a:rPr lang="es-CO"/>
              <a:t> intercambios </a:t>
            </a:r>
          </a:p>
          <a:p>
            <a:pPr algn="ctr"/>
            <a:endParaRPr lang="es-CO"/>
          </a:p>
          <a:p>
            <a:pPr algn="ctr"/>
            <a:r>
              <a:rPr lang="es-CO"/>
              <a:t>*Obtener apoyo</a:t>
            </a:r>
          </a:p>
          <a:p>
            <a:pPr algn="ctr"/>
            <a:r>
              <a:rPr lang="es-CO"/>
              <a:t> y legitimación</a:t>
            </a:r>
            <a:endParaRPr lang="es-ES"/>
          </a:p>
        </p:txBody>
      </p:sp>
      <p:sp>
        <p:nvSpPr>
          <p:cNvPr id="16394" name="Line 10"/>
          <p:cNvSpPr>
            <a:spLocks noChangeShapeType="1"/>
          </p:cNvSpPr>
          <p:nvPr/>
        </p:nvSpPr>
        <p:spPr bwMode="auto">
          <a:xfrm>
            <a:off x="4932363" y="1916113"/>
            <a:ext cx="0" cy="504825"/>
          </a:xfrm>
          <a:prstGeom prst="line">
            <a:avLst/>
          </a:prstGeom>
          <a:noFill/>
          <a:ln w="9525">
            <a:solidFill>
              <a:schemeClr val="tx1"/>
            </a:solidFill>
            <a:round/>
            <a:headEnd/>
            <a:tailEnd type="triangle" w="med" len="med"/>
          </a:ln>
          <a:effectLst/>
        </p:spPr>
        <p:txBody>
          <a:bodyPr/>
          <a:lstStyle/>
          <a:p>
            <a:endParaRPr lang="es-ES"/>
          </a:p>
        </p:txBody>
      </p:sp>
      <p:sp>
        <p:nvSpPr>
          <p:cNvPr id="16395" name="Rectangle 11"/>
          <p:cNvSpPr>
            <a:spLocks noChangeArrowheads="1"/>
          </p:cNvSpPr>
          <p:nvPr/>
        </p:nvSpPr>
        <p:spPr bwMode="auto">
          <a:xfrm>
            <a:off x="4643438" y="2492375"/>
            <a:ext cx="1800225" cy="865188"/>
          </a:xfrm>
          <a:prstGeom prst="rect">
            <a:avLst/>
          </a:prstGeom>
          <a:solidFill>
            <a:schemeClr val="accent1"/>
          </a:solidFill>
          <a:ln w="9525">
            <a:solidFill>
              <a:schemeClr val="tx1"/>
            </a:solidFill>
            <a:miter lim="800000"/>
            <a:headEnd/>
            <a:tailEnd/>
          </a:ln>
          <a:effectLst/>
        </p:spPr>
        <p:txBody>
          <a:bodyPr wrap="none" anchor="ctr"/>
          <a:lstStyle/>
          <a:p>
            <a:pPr algn="ctr"/>
            <a:r>
              <a:rPr lang="es-CO"/>
              <a:t>Enfoque:</a:t>
            </a:r>
          </a:p>
          <a:p>
            <a:pPr algn="ctr"/>
            <a:r>
              <a:rPr lang="es-CO"/>
              <a:t> mira al interior</a:t>
            </a:r>
          </a:p>
          <a:p>
            <a:pPr algn="ctr"/>
            <a:r>
              <a:rPr lang="es-CO"/>
              <a:t>de la organización</a:t>
            </a:r>
            <a:endParaRPr lang="es-ES"/>
          </a:p>
        </p:txBody>
      </p:sp>
      <p:sp>
        <p:nvSpPr>
          <p:cNvPr id="16396" name="Line 12"/>
          <p:cNvSpPr>
            <a:spLocks noChangeShapeType="1"/>
          </p:cNvSpPr>
          <p:nvPr/>
        </p:nvSpPr>
        <p:spPr bwMode="auto">
          <a:xfrm>
            <a:off x="8243888" y="1916113"/>
            <a:ext cx="0" cy="1657350"/>
          </a:xfrm>
          <a:prstGeom prst="line">
            <a:avLst/>
          </a:prstGeom>
          <a:noFill/>
          <a:ln w="9525">
            <a:solidFill>
              <a:schemeClr val="tx1"/>
            </a:solidFill>
            <a:round/>
            <a:headEnd/>
            <a:tailEnd type="triangle" w="med" len="med"/>
          </a:ln>
          <a:effectLst/>
        </p:spPr>
        <p:txBody>
          <a:bodyPr/>
          <a:lstStyle/>
          <a:p>
            <a:endParaRPr lang="es-ES"/>
          </a:p>
        </p:txBody>
      </p:sp>
      <p:sp>
        <p:nvSpPr>
          <p:cNvPr id="16397" name="Rectangle 13"/>
          <p:cNvSpPr>
            <a:spLocks noChangeArrowheads="1"/>
          </p:cNvSpPr>
          <p:nvPr/>
        </p:nvSpPr>
        <p:spPr bwMode="auto">
          <a:xfrm>
            <a:off x="6300788" y="3644900"/>
            <a:ext cx="2592387" cy="1152525"/>
          </a:xfrm>
          <a:prstGeom prst="rect">
            <a:avLst/>
          </a:prstGeom>
          <a:solidFill>
            <a:schemeClr val="accent1"/>
          </a:solidFill>
          <a:ln w="9525">
            <a:solidFill>
              <a:schemeClr val="tx1"/>
            </a:solidFill>
            <a:miter lim="800000"/>
            <a:headEnd/>
            <a:tailEnd/>
          </a:ln>
          <a:effectLst/>
        </p:spPr>
        <p:txBody>
          <a:bodyPr wrap="none" anchor="ctr"/>
          <a:lstStyle/>
          <a:p>
            <a:pPr algn="ctr"/>
            <a:r>
              <a:rPr lang="es-CO"/>
              <a:t>Mecanismos:</a:t>
            </a:r>
          </a:p>
          <a:p>
            <a:pPr algn="ctr"/>
            <a:r>
              <a:rPr lang="es-CO"/>
              <a:t>Permiten adquirir control</a:t>
            </a:r>
          </a:p>
          <a:p>
            <a:pPr algn="ctr"/>
            <a:r>
              <a:rPr lang="es-CO"/>
              <a:t> sobre las fuentes</a:t>
            </a:r>
          </a:p>
          <a:p>
            <a:pPr algn="ctr"/>
            <a:r>
              <a:rPr lang="es-CO"/>
              <a:t> de abastecimiento</a:t>
            </a:r>
            <a:endParaRPr lang="es-E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s-CO" sz="3200"/>
              <a:t>SUBSISTEMAS DE ADAPTACION</a:t>
            </a:r>
            <a:endParaRPr lang="es-ES" sz="3200"/>
          </a:p>
        </p:txBody>
      </p:sp>
      <p:sp>
        <p:nvSpPr>
          <p:cNvPr id="17412" name="Line 4"/>
          <p:cNvSpPr>
            <a:spLocks noChangeShapeType="1"/>
          </p:cNvSpPr>
          <p:nvPr/>
        </p:nvSpPr>
        <p:spPr bwMode="auto">
          <a:xfrm>
            <a:off x="4140200" y="1125538"/>
            <a:ext cx="0" cy="431800"/>
          </a:xfrm>
          <a:prstGeom prst="line">
            <a:avLst/>
          </a:prstGeom>
          <a:noFill/>
          <a:ln w="9525">
            <a:solidFill>
              <a:schemeClr val="tx1"/>
            </a:solidFill>
            <a:round/>
            <a:headEnd/>
            <a:tailEnd/>
          </a:ln>
          <a:effectLst/>
        </p:spPr>
        <p:txBody>
          <a:bodyPr/>
          <a:lstStyle/>
          <a:p>
            <a:endParaRPr lang="es-ES"/>
          </a:p>
        </p:txBody>
      </p:sp>
      <p:sp>
        <p:nvSpPr>
          <p:cNvPr id="17413" name="Line 5"/>
          <p:cNvSpPr>
            <a:spLocks noChangeShapeType="1"/>
          </p:cNvSpPr>
          <p:nvPr/>
        </p:nvSpPr>
        <p:spPr bwMode="auto">
          <a:xfrm>
            <a:off x="755650" y="1557338"/>
            <a:ext cx="7416800" cy="0"/>
          </a:xfrm>
          <a:prstGeom prst="line">
            <a:avLst/>
          </a:prstGeom>
          <a:noFill/>
          <a:ln w="9525">
            <a:solidFill>
              <a:schemeClr val="tx1"/>
            </a:solidFill>
            <a:round/>
            <a:headEnd/>
            <a:tailEnd/>
          </a:ln>
          <a:effectLst/>
        </p:spPr>
        <p:txBody>
          <a:bodyPr/>
          <a:lstStyle/>
          <a:p>
            <a:endParaRPr lang="es-ES"/>
          </a:p>
        </p:txBody>
      </p:sp>
      <p:sp>
        <p:nvSpPr>
          <p:cNvPr id="17414" name="Line 6"/>
          <p:cNvSpPr>
            <a:spLocks noChangeShapeType="1"/>
          </p:cNvSpPr>
          <p:nvPr/>
        </p:nvSpPr>
        <p:spPr bwMode="auto">
          <a:xfrm>
            <a:off x="755650" y="1557338"/>
            <a:ext cx="0" cy="792162"/>
          </a:xfrm>
          <a:prstGeom prst="line">
            <a:avLst/>
          </a:prstGeom>
          <a:noFill/>
          <a:ln w="9525">
            <a:solidFill>
              <a:schemeClr val="tx1"/>
            </a:solidFill>
            <a:round/>
            <a:headEnd/>
            <a:tailEnd type="triangle" w="med" len="med"/>
          </a:ln>
          <a:effectLst/>
        </p:spPr>
        <p:txBody>
          <a:bodyPr/>
          <a:lstStyle/>
          <a:p>
            <a:endParaRPr lang="es-ES"/>
          </a:p>
        </p:txBody>
      </p:sp>
      <p:sp>
        <p:nvSpPr>
          <p:cNvPr id="17415" name="Rectangle 7"/>
          <p:cNvSpPr>
            <a:spLocks noChangeArrowheads="1"/>
          </p:cNvSpPr>
          <p:nvPr/>
        </p:nvSpPr>
        <p:spPr bwMode="auto">
          <a:xfrm>
            <a:off x="250825" y="2349500"/>
            <a:ext cx="2089150" cy="1079500"/>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Descripción:</a:t>
            </a:r>
          </a:p>
          <a:p>
            <a:pPr algn="ctr"/>
            <a:r>
              <a:rPr lang="es-CO" sz="1500"/>
              <a:t>Genera respuestas</a:t>
            </a:r>
          </a:p>
          <a:p>
            <a:pPr algn="ctr"/>
            <a:r>
              <a:rPr lang="es-CO" sz="1500"/>
              <a:t> a condiciones</a:t>
            </a:r>
          </a:p>
          <a:p>
            <a:pPr algn="ctr"/>
            <a:r>
              <a:rPr lang="es-CO" sz="1500"/>
              <a:t> externas combatientes</a:t>
            </a:r>
            <a:endParaRPr lang="es-ES" sz="1500"/>
          </a:p>
        </p:txBody>
      </p:sp>
      <p:sp>
        <p:nvSpPr>
          <p:cNvPr id="17416" name="Line 8"/>
          <p:cNvSpPr>
            <a:spLocks noChangeShapeType="1"/>
          </p:cNvSpPr>
          <p:nvPr/>
        </p:nvSpPr>
        <p:spPr bwMode="auto">
          <a:xfrm>
            <a:off x="2627313" y="1557338"/>
            <a:ext cx="0" cy="2592387"/>
          </a:xfrm>
          <a:prstGeom prst="line">
            <a:avLst/>
          </a:prstGeom>
          <a:noFill/>
          <a:ln w="9525">
            <a:solidFill>
              <a:schemeClr val="tx1"/>
            </a:solidFill>
            <a:round/>
            <a:headEnd/>
            <a:tailEnd type="triangle" w="med" len="med"/>
          </a:ln>
          <a:effectLst/>
        </p:spPr>
        <p:txBody>
          <a:bodyPr/>
          <a:lstStyle/>
          <a:p>
            <a:endParaRPr lang="es-ES"/>
          </a:p>
        </p:txBody>
      </p:sp>
      <p:sp>
        <p:nvSpPr>
          <p:cNvPr id="17417" name="Rectangle 9"/>
          <p:cNvSpPr>
            <a:spLocks noChangeArrowheads="1"/>
          </p:cNvSpPr>
          <p:nvPr/>
        </p:nvSpPr>
        <p:spPr bwMode="auto">
          <a:xfrm>
            <a:off x="1116013" y="4149725"/>
            <a:ext cx="2808287" cy="935038"/>
          </a:xfrm>
          <a:prstGeom prst="rect">
            <a:avLst/>
          </a:prstGeom>
          <a:solidFill>
            <a:schemeClr val="accent1"/>
          </a:solidFill>
          <a:ln w="9525">
            <a:solidFill>
              <a:schemeClr val="tx1"/>
            </a:solidFill>
            <a:miter lim="800000"/>
            <a:headEnd/>
            <a:tailEnd/>
          </a:ln>
          <a:effectLst/>
        </p:spPr>
        <p:txBody>
          <a:bodyPr wrap="none" anchor="ctr"/>
          <a:lstStyle/>
          <a:p>
            <a:pPr algn="ctr"/>
            <a:endParaRPr lang="es-CO" sz="1500"/>
          </a:p>
          <a:p>
            <a:pPr algn="ctr"/>
            <a:r>
              <a:rPr lang="es-CO" sz="1500"/>
              <a:t>Función:</a:t>
            </a:r>
          </a:p>
          <a:p>
            <a:pPr algn="ctr"/>
            <a:r>
              <a:rPr lang="es-CO" sz="1500"/>
              <a:t>Dirigida a asegurar</a:t>
            </a:r>
          </a:p>
          <a:p>
            <a:pPr algn="ctr"/>
            <a:r>
              <a:rPr lang="es-CO" sz="1500"/>
              <a:t> la supervivencia de la</a:t>
            </a:r>
          </a:p>
          <a:p>
            <a:pPr algn="ctr"/>
            <a:r>
              <a:rPr lang="es-CO" sz="1500"/>
              <a:t> organización</a:t>
            </a:r>
          </a:p>
          <a:p>
            <a:pPr algn="ctr"/>
            <a:endParaRPr lang="es-ES" sz="1500"/>
          </a:p>
        </p:txBody>
      </p:sp>
      <p:sp>
        <p:nvSpPr>
          <p:cNvPr id="17418" name="Line 10"/>
          <p:cNvSpPr>
            <a:spLocks noChangeShapeType="1"/>
          </p:cNvSpPr>
          <p:nvPr/>
        </p:nvSpPr>
        <p:spPr bwMode="auto">
          <a:xfrm>
            <a:off x="4500563" y="1557338"/>
            <a:ext cx="0" cy="576262"/>
          </a:xfrm>
          <a:prstGeom prst="line">
            <a:avLst/>
          </a:prstGeom>
          <a:noFill/>
          <a:ln w="9525">
            <a:solidFill>
              <a:schemeClr val="tx1"/>
            </a:solidFill>
            <a:round/>
            <a:headEnd/>
            <a:tailEnd type="triangle" w="med" len="med"/>
          </a:ln>
          <a:effectLst/>
        </p:spPr>
        <p:txBody>
          <a:bodyPr/>
          <a:lstStyle/>
          <a:p>
            <a:endParaRPr lang="es-ES"/>
          </a:p>
        </p:txBody>
      </p:sp>
      <p:sp>
        <p:nvSpPr>
          <p:cNvPr id="17419" name="Rectangle 11"/>
          <p:cNvSpPr>
            <a:spLocks noChangeArrowheads="1"/>
          </p:cNvSpPr>
          <p:nvPr/>
        </p:nvSpPr>
        <p:spPr bwMode="auto">
          <a:xfrm>
            <a:off x="3419475" y="2205038"/>
            <a:ext cx="2376488" cy="719137"/>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Enfoque:</a:t>
            </a:r>
          </a:p>
          <a:p>
            <a:pPr algn="ctr"/>
            <a:r>
              <a:rPr lang="es-CO" sz="1500"/>
              <a:t>Mira hacia fuera </a:t>
            </a:r>
          </a:p>
          <a:p>
            <a:pPr algn="ctr"/>
            <a:r>
              <a:rPr lang="es-CO" sz="1500"/>
              <a:t>de la organización</a:t>
            </a:r>
            <a:endParaRPr lang="es-ES" sz="1500"/>
          </a:p>
        </p:txBody>
      </p:sp>
      <p:sp>
        <p:nvSpPr>
          <p:cNvPr id="17420" name="Line 12"/>
          <p:cNvSpPr>
            <a:spLocks noChangeShapeType="1"/>
          </p:cNvSpPr>
          <p:nvPr/>
        </p:nvSpPr>
        <p:spPr bwMode="auto">
          <a:xfrm>
            <a:off x="8172450" y="1557338"/>
            <a:ext cx="0" cy="1800225"/>
          </a:xfrm>
          <a:prstGeom prst="line">
            <a:avLst/>
          </a:prstGeom>
          <a:noFill/>
          <a:ln w="9525">
            <a:solidFill>
              <a:schemeClr val="tx1"/>
            </a:solidFill>
            <a:round/>
            <a:headEnd/>
            <a:tailEnd type="triangle" w="med" len="med"/>
          </a:ln>
          <a:effectLst/>
        </p:spPr>
        <p:txBody>
          <a:bodyPr/>
          <a:lstStyle/>
          <a:p>
            <a:endParaRPr lang="es-ES"/>
          </a:p>
        </p:txBody>
      </p:sp>
      <p:sp>
        <p:nvSpPr>
          <p:cNvPr id="17421" name="Rectangle 13"/>
          <p:cNvSpPr>
            <a:spLocks noChangeArrowheads="1"/>
          </p:cNvSpPr>
          <p:nvPr/>
        </p:nvSpPr>
        <p:spPr bwMode="auto">
          <a:xfrm>
            <a:off x="6084888" y="3429000"/>
            <a:ext cx="2735262" cy="1223963"/>
          </a:xfrm>
          <a:prstGeom prst="rect">
            <a:avLst/>
          </a:prstGeom>
          <a:solidFill>
            <a:schemeClr val="accent1"/>
          </a:solidFill>
          <a:ln w="9525">
            <a:solidFill>
              <a:schemeClr val="tx1"/>
            </a:solidFill>
            <a:miter lim="800000"/>
            <a:headEnd/>
            <a:tailEnd/>
          </a:ln>
          <a:effectLst/>
        </p:spPr>
        <p:txBody>
          <a:bodyPr wrap="none" anchor="ctr"/>
          <a:lstStyle/>
          <a:p>
            <a:pPr algn="ctr"/>
            <a:r>
              <a:rPr lang="es-CO" sz="1500"/>
              <a:t>Mecanismos:</a:t>
            </a:r>
          </a:p>
          <a:p>
            <a:pPr algn="ctr"/>
            <a:r>
              <a:rPr lang="es-CO" sz="1500"/>
              <a:t>Recomendaciones hechas</a:t>
            </a:r>
          </a:p>
          <a:p>
            <a:pPr algn="ctr"/>
            <a:r>
              <a:rPr lang="es-CO" sz="1500"/>
              <a:t> a la gerencia </a:t>
            </a:r>
          </a:p>
          <a:p>
            <a:pPr algn="ctr"/>
            <a:r>
              <a:rPr lang="es-CO" sz="1500"/>
              <a:t>resultado de</a:t>
            </a:r>
          </a:p>
          <a:p>
            <a:pPr algn="ctr"/>
            <a:r>
              <a:rPr lang="es-CO" sz="1500"/>
              <a:t> investigación y desarrollo</a:t>
            </a:r>
            <a:endParaRPr lang="es-ES" sz="15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s-CO" sz="3200"/>
              <a:t>SUBSISTEMAS GERENCIALES</a:t>
            </a:r>
            <a:endParaRPr lang="es-ES" sz="3200"/>
          </a:p>
        </p:txBody>
      </p:sp>
      <p:sp>
        <p:nvSpPr>
          <p:cNvPr id="18436" name="Line 4"/>
          <p:cNvSpPr>
            <a:spLocks noChangeShapeType="1"/>
          </p:cNvSpPr>
          <p:nvPr/>
        </p:nvSpPr>
        <p:spPr bwMode="auto">
          <a:xfrm>
            <a:off x="4572000" y="1052513"/>
            <a:ext cx="0" cy="504825"/>
          </a:xfrm>
          <a:prstGeom prst="line">
            <a:avLst/>
          </a:prstGeom>
          <a:noFill/>
          <a:ln w="9525">
            <a:solidFill>
              <a:schemeClr val="tx1"/>
            </a:solidFill>
            <a:round/>
            <a:headEnd/>
            <a:tailEnd/>
          </a:ln>
          <a:effectLst/>
        </p:spPr>
        <p:txBody>
          <a:bodyPr/>
          <a:lstStyle/>
          <a:p>
            <a:endParaRPr lang="es-ES"/>
          </a:p>
        </p:txBody>
      </p:sp>
      <p:sp>
        <p:nvSpPr>
          <p:cNvPr id="18437" name="Line 5"/>
          <p:cNvSpPr>
            <a:spLocks noChangeShapeType="1"/>
          </p:cNvSpPr>
          <p:nvPr/>
        </p:nvSpPr>
        <p:spPr bwMode="auto">
          <a:xfrm>
            <a:off x="611188" y="1557338"/>
            <a:ext cx="7848600" cy="0"/>
          </a:xfrm>
          <a:prstGeom prst="line">
            <a:avLst/>
          </a:prstGeom>
          <a:noFill/>
          <a:ln w="9525">
            <a:solidFill>
              <a:schemeClr val="tx1"/>
            </a:solidFill>
            <a:round/>
            <a:headEnd/>
            <a:tailEnd/>
          </a:ln>
          <a:effectLst/>
        </p:spPr>
        <p:txBody>
          <a:bodyPr/>
          <a:lstStyle/>
          <a:p>
            <a:endParaRPr lang="es-ES"/>
          </a:p>
        </p:txBody>
      </p:sp>
      <p:sp>
        <p:nvSpPr>
          <p:cNvPr id="18438" name="Line 6"/>
          <p:cNvSpPr>
            <a:spLocks noChangeShapeType="1"/>
          </p:cNvSpPr>
          <p:nvPr/>
        </p:nvSpPr>
        <p:spPr bwMode="auto">
          <a:xfrm>
            <a:off x="611188" y="1557338"/>
            <a:ext cx="0" cy="863600"/>
          </a:xfrm>
          <a:prstGeom prst="line">
            <a:avLst/>
          </a:prstGeom>
          <a:noFill/>
          <a:ln w="9525">
            <a:solidFill>
              <a:schemeClr val="tx1"/>
            </a:solidFill>
            <a:round/>
            <a:headEnd/>
            <a:tailEnd type="triangle" w="med" len="med"/>
          </a:ln>
          <a:effectLst/>
        </p:spPr>
        <p:txBody>
          <a:bodyPr/>
          <a:lstStyle/>
          <a:p>
            <a:endParaRPr lang="es-ES"/>
          </a:p>
        </p:txBody>
      </p:sp>
      <p:sp>
        <p:nvSpPr>
          <p:cNvPr id="18439" name="Rectangle 7"/>
          <p:cNvSpPr>
            <a:spLocks noChangeArrowheads="1"/>
          </p:cNvSpPr>
          <p:nvPr/>
        </p:nvSpPr>
        <p:spPr bwMode="auto">
          <a:xfrm>
            <a:off x="179388" y="2420938"/>
            <a:ext cx="2376487" cy="1439862"/>
          </a:xfrm>
          <a:prstGeom prst="rect">
            <a:avLst/>
          </a:prstGeom>
          <a:solidFill>
            <a:schemeClr val="accent1"/>
          </a:solidFill>
          <a:ln w="9525">
            <a:solidFill>
              <a:schemeClr val="tx1"/>
            </a:solidFill>
            <a:miter lim="800000"/>
            <a:headEnd/>
            <a:tailEnd/>
          </a:ln>
          <a:effectLst/>
        </p:spPr>
        <p:txBody>
          <a:bodyPr wrap="none" anchor="ctr"/>
          <a:lstStyle/>
          <a:p>
            <a:pPr algn="ctr"/>
            <a:endParaRPr lang="es-CO" sz="1800"/>
          </a:p>
          <a:p>
            <a:pPr algn="ctr"/>
            <a:r>
              <a:rPr lang="es-CO"/>
              <a:t>Descripción:</a:t>
            </a:r>
          </a:p>
          <a:p>
            <a:pPr algn="ctr"/>
            <a:r>
              <a:rPr lang="es-CO"/>
              <a:t>Busca dirigir, distribuir</a:t>
            </a:r>
          </a:p>
          <a:p>
            <a:pPr algn="ctr"/>
            <a:r>
              <a:rPr lang="es-CO"/>
              <a:t> y controlar diferentes</a:t>
            </a:r>
          </a:p>
          <a:p>
            <a:pPr algn="ctr"/>
            <a:r>
              <a:rPr lang="es-CO"/>
              <a:t> subsistemas</a:t>
            </a:r>
          </a:p>
          <a:p>
            <a:pPr algn="ctr"/>
            <a:endParaRPr lang="es-CO"/>
          </a:p>
          <a:p>
            <a:pPr algn="ctr"/>
            <a:endParaRPr lang="es-ES"/>
          </a:p>
        </p:txBody>
      </p:sp>
      <p:sp>
        <p:nvSpPr>
          <p:cNvPr id="18440" name="Line 8"/>
          <p:cNvSpPr>
            <a:spLocks noChangeShapeType="1"/>
          </p:cNvSpPr>
          <p:nvPr/>
        </p:nvSpPr>
        <p:spPr bwMode="auto">
          <a:xfrm>
            <a:off x="2987675" y="1557338"/>
            <a:ext cx="0" cy="2519362"/>
          </a:xfrm>
          <a:prstGeom prst="line">
            <a:avLst/>
          </a:prstGeom>
          <a:noFill/>
          <a:ln w="9525">
            <a:solidFill>
              <a:schemeClr val="tx1"/>
            </a:solidFill>
            <a:round/>
            <a:headEnd/>
            <a:tailEnd type="triangle" w="med" len="med"/>
          </a:ln>
          <a:effectLst/>
        </p:spPr>
        <p:txBody>
          <a:bodyPr/>
          <a:lstStyle/>
          <a:p>
            <a:endParaRPr lang="es-ES"/>
          </a:p>
        </p:txBody>
      </p:sp>
      <p:sp>
        <p:nvSpPr>
          <p:cNvPr id="18441" name="Rectangle 9"/>
          <p:cNvSpPr>
            <a:spLocks noChangeArrowheads="1"/>
          </p:cNvSpPr>
          <p:nvPr/>
        </p:nvSpPr>
        <p:spPr bwMode="auto">
          <a:xfrm>
            <a:off x="1547813" y="4149725"/>
            <a:ext cx="3311525" cy="1655763"/>
          </a:xfrm>
          <a:prstGeom prst="rect">
            <a:avLst/>
          </a:prstGeom>
          <a:solidFill>
            <a:schemeClr val="accent1"/>
          </a:solidFill>
          <a:ln w="9525">
            <a:solidFill>
              <a:schemeClr val="tx1"/>
            </a:solidFill>
            <a:miter lim="800000"/>
            <a:headEnd/>
            <a:tailEnd/>
          </a:ln>
          <a:effectLst/>
        </p:spPr>
        <p:txBody>
          <a:bodyPr wrap="none" anchor="ctr"/>
          <a:lstStyle/>
          <a:p>
            <a:pPr algn="ctr"/>
            <a:endParaRPr lang="es-CO"/>
          </a:p>
          <a:p>
            <a:pPr algn="ctr"/>
            <a:r>
              <a:rPr lang="es-CO"/>
              <a:t>Función:</a:t>
            </a:r>
          </a:p>
          <a:p>
            <a:pPr algn="ctr"/>
            <a:r>
              <a:rPr lang="es-CO"/>
              <a:t>Resolver conflictos, coordinar</a:t>
            </a:r>
          </a:p>
          <a:p>
            <a:pPr algn="ctr"/>
            <a:r>
              <a:rPr lang="es-CO"/>
              <a:t> y dirigir </a:t>
            </a:r>
          </a:p>
          <a:p>
            <a:pPr algn="ctr"/>
            <a:r>
              <a:rPr lang="es-CO"/>
              <a:t>requerimientos, subsistemas </a:t>
            </a:r>
          </a:p>
          <a:p>
            <a:pPr algn="ctr"/>
            <a:r>
              <a:rPr lang="es-CO"/>
              <a:t>para las necesidades</a:t>
            </a:r>
          </a:p>
          <a:p>
            <a:pPr algn="ctr"/>
            <a:r>
              <a:rPr lang="es-CO"/>
              <a:t> organizacionales</a:t>
            </a:r>
          </a:p>
          <a:p>
            <a:pPr algn="ctr"/>
            <a:endParaRPr lang="es-ES"/>
          </a:p>
        </p:txBody>
      </p:sp>
      <p:sp>
        <p:nvSpPr>
          <p:cNvPr id="18442" name="Line 10"/>
          <p:cNvSpPr>
            <a:spLocks noChangeShapeType="1"/>
          </p:cNvSpPr>
          <p:nvPr/>
        </p:nvSpPr>
        <p:spPr bwMode="auto">
          <a:xfrm>
            <a:off x="4859338" y="1557338"/>
            <a:ext cx="0" cy="719137"/>
          </a:xfrm>
          <a:prstGeom prst="line">
            <a:avLst/>
          </a:prstGeom>
          <a:noFill/>
          <a:ln w="9525">
            <a:solidFill>
              <a:schemeClr val="tx1"/>
            </a:solidFill>
            <a:round/>
            <a:headEnd/>
            <a:tailEnd type="triangle" w="med" len="med"/>
          </a:ln>
          <a:effectLst/>
        </p:spPr>
        <p:txBody>
          <a:bodyPr/>
          <a:lstStyle/>
          <a:p>
            <a:endParaRPr lang="es-ES"/>
          </a:p>
        </p:txBody>
      </p:sp>
      <p:sp>
        <p:nvSpPr>
          <p:cNvPr id="18443" name="Rectangle 11"/>
          <p:cNvSpPr>
            <a:spLocks noChangeArrowheads="1"/>
          </p:cNvSpPr>
          <p:nvPr/>
        </p:nvSpPr>
        <p:spPr bwMode="auto">
          <a:xfrm>
            <a:off x="3779838" y="2349500"/>
            <a:ext cx="2808287" cy="1150938"/>
          </a:xfrm>
          <a:prstGeom prst="rect">
            <a:avLst/>
          </a:prstGeom>
          <a:solidFill>
            <a:schemeClr val="accent1"/>
          </a:solidFill>
          <a:ln w="9525">
            <a:solidFill>
              <a:schemeClr val="tx1"/>
            </a:solidFill>
            <a:miter lim="800000"/>
            <a:headEnd/>
            <a:tailEnd/>
          </a:ln>
          <a:effectLst/>
        </p:spPr>
        <p:txBody>
          <a:bodyPr wrap="none" anchor="ctr"/>
          <a:lstStyle/>
          <a:p>
            <a:pPr algn="ctr"/>
            <a:r>
              <a:rPr lang="es-CO"/>
              <a:t>Enfoque:</a:t>
            </a:r>
          </a:p>
          <a:p>
            <a:pPr algn="ctr"/>
            <a:r>
              <a:rPr lang="es-CO"/>
              <a:t>Mira al interior y exterior </a:t>
            </a:r>
          </a:p>
          <a:p>
            <a:pPr algn="ctr"/>
            <a:r>
              <a:rPr lang="es-CO"/>
              <a:t>de la organización</a:t>
            </a:r>
            <a:endParaRPr lang="es-ES"/>
          </a:p>
        </p:txBody>
      </p:sp>
      <p:sp>
        <p:nvSpPr>
          <p:cNvPr id="18444" name="Line 12"/>
          <p:cNvSpPr>
            <a:spLocks noChangeShapeType="1"/>
          </p:cNvSpPr>
          <p:nvPr/>
        </p:nvSpPr>
        <p:spPr bwMode="auto">
          <a:xfrm>
            <a:off x="8459788" y="1557338"/>
            <a:ext cx="0" cy="2232025"/>
          </a:xfrm>
          <a:prstGeom prst="line">
            <a:avLst/>
          </a:prstGeom>
          <a:noFill/>
          <a:ln w="9525">
            <a:solidFill>
              <a:schemeClr val="tx1"/>
            </a:solidFill>
            <a:round/>
            <a:headEnd/>
            <a:tailEnd type="triangle" w="med" len="med"/>
          </a:ln>
          <a:effectLst/>
        </p:spPr>
        <p:txBody>
          <a:bodyPr/>
          <a:lstStyle/>
          <a:p>
            <a:endParaRPr lang="es-ES"/>
          </a:p>
        </p:txBody>
      </p:sp>
      <p:sp>
        <p:nvSpPr>
          <p:cNvPr id="18445" name="Rectangle 13"/>
          <p:cNvSpPr>
            <a:spLocks noChangeArrowheads="1"/>
          </p:cNvSpPr>
          <p:nvPr/>
        </p:nvSpPr>
        <p:spPr bwMode="auto">
          <a:xfrm>
            <a:off x="5940425" y="3789363"/>
            <a:ext cx="2952750" cy="2087562"/>
          </a:xfrm>
          <a:prstGeom prst="rect">
            <a:avLst/>
          </a:prstGeom>
          <a:solidFill>
            <a:schemeClr val="accent1"/>
          </a:solidFill>
          <a:ln w="9525">
            <a:solidFill>
              <a:schemeClr val="tx1"/>
            </a:solidFill>
            <a:miter lim="800000"/>
            <a:headEnd/>
            <a:tailEnd/>
          </a:ln>
          <a:effectLst/>
        </p:spPr>
        <p:txBody>
          <a:bodyPr wrap="none" anchor="ctr"/>
          <a:lstStyle/>
          <a:p>
            <a:pPr algn="ctr"/>
            <a:r>
              <a:rPr lang="es-CO"/>
              <a:t>Mecanismos:</a:t>
            </a:r>
          </a:p>
          <a:p>
            <a:pPr algn="ctr"/>
            <a:r>
              <a:rPr lang="es-CO"/>
              <a:t>*uso de sanciones de autoridad</a:t>
            </a:r>
          </a:p>
          <a:p>
            <a:pPr algn="ctr"/>
            <a:r>
              <a:rPr lang="es-CO"/>
              <a:t>*arbitraje</a:t>
            </a:r>
          </a:p>
          <a:p>
            <a:pPr algn="ctr"/>
            <a:r>
              <a:rPr lang="es-CO"/>
              <a:t>*aumento de negocios</a:t>
            </a:r>
          </a:p>
          <a:p>
            <a:pPr algn="ctr"/>
            <a:r>
              <a:rPr lang="es-CO"/>
              <a:t>*control del ambiente</a:t>
            </a:r>
          </a:p>
          <a:p>
            <a:pPr algn="ctr"/>
            <a:r>
              <a:rPr lang="es-CO"/>
              <a:t>*reestructuración</a:t>
            </a:r>
            <a:endParaRPr lang="es-E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s-CO" sz="3200"/>
              <a:t>CRITICAS</a:t>
            </a:r>
            <a:endParaRPr lang="es-ES" sz="3200"/>
          </a:p>
        </p:txBody>
      </p:sp>
      <p:sp>
        <p:nvSpPr>
          <p:cNvPr id="29699" name="Rectangle 3"/>
          <p:cNvSpPr>
            <a:spLocks noGrp="1" noChangeArrowheads="1"/>
          </p:cNvSpPr>
          <p:nvPr>
            <p:ph type="body" idx="1"/>
          </p:nvPr>
        </p:nvSpPr>
        <p:spPr/>
        <p:txBody>
          <a:bodyPr/>
          <a:lstStyle/>
          <a:p>
            <a:pPr>
              <a:buFontTx/>
              <a:buNone/>
            </a:pPr>
            <a:r>
              <a:rPr lang="es-CO" sz="2000"/>
              <a:t>    Critica de la sociedad británica: Silverman se sintetiza en los siguientes puntos:</a:t>
            </a:r>
          </a:p>
          <a:p>
            <a:r>
              <a:rPr lang="es-CO" sz="1600"/>
              <a:t>El logro principal de la teoría sistemática es dirigir la atención a las interrelaciones entre la organización y su entorno</a:t>
            </a:r>
          </a:p>
          <a:p>
            <a:r>
              <a:rPr lang="es-CO" sz="1600"/>
              <a:t> el acierto de esta teoría radica en centrarse en las consecuencias no intencionales de la interacción social, las cuales están ocultas a los participantes en las mismas</a:t>
            </a:r>
          </a:p>
          <a:p>
            <a:r>
              <a:rPr lang="es-CO" sz="1600"/>
              <a:t>Gouldner: el énfasis en las consecuencias no intencionales han minimizado la importancia del “comportamiento racional” en las organizaciones. </a:t>
            </a:r>
          </a:p>
          <a:p>
            <a:r>
              <a:rPr lang="es-CO" sz="1600"/>
              <a:t>La teoría sistemática se preocupa principalmente por las causas y las consecuencias del equilibrio social y no por el cambio y el conflicto. </a:t>
            </a:r>
          </a:p>
          <a:p>
            <a:r>
              <a:rPr lang="es-CO" sz="1600"/>
              <a:t>Al centrarse en el comportamiento de las organizaciones (no de los individuos) se corre el riesgo de “cosificar” el sistema que los teóricos funcionalistas construyen.</a:t>
            </a:r>
          </a:p>
          <a:p>
            <a:r>
              <a:rPr lang="es-CO" sz="1600"/>
              <a:t>La definición de las fronteras del sistema es particularmente difícil y constituye un problema que no ha sido resuelto.</a:t>
            </a:r>
          </a:p>
          <a:p>
            <a:endParaRPr lang="es-E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type="body" idx="1"/>
          </p:nvPr>
        </p:nvSpPr>
        <p:spPr>
          <a:xfrm>
            <a:off x="468313" y="549275"/>
            <a:ext cx="8229600" cy="5975350"/>
          </a:xfrm>
        </p:spPr>
        <p:txBody>
          <a:bodyPr/>
          <a:lstStyle/>
          <a:p>
            <a:pPr>
              <a:buFontTx/>
              <a:buNone/>
            </a:pPr>
            <a:r>
              <a:rPr lang="es-CO" sz="2400"/>
              <a:t>   </a:t>
            </a:r>
          </a:p>
          <a:p>
            <a:pPr>
              <a:buFontTx/>
              <a:buNone/>
            </a:pPr>
            <a:r>
              <a:rPr lang="es-CO" sz="2400"/>
              <a:t>    Critica desde la perspectiva althusseriana:</a:t>
            </a:r>
          </a:p>
          <a:p>
            <a:pPr algn="just">
              <a:buFontTx/>
              <a:buNone/>
            </a:pPr>
            <a:r>
              <a:rPr lang="es-CO" sz="2400"/>
              <a:t>   </a:t>
            </a:r>
          </a:p>
          <a:p>
            <a:pPr algn="just">
              <a:buFontTx/>
              <a:buNone/>
            </a:pPr>
            <a:r>
              <a:rPr lang="es-CO" sz="2400"/>
              <a:t>    </a:t>
            </a:r>
            <a:r>
              <a:rPr lang="es-CO" sz="2000"/>
              <a:t>Cruz señala que el enfoque sistémico “se limita a describir desde la entradas hasta las salidas, el proceso total de la organización, pero sin entrar en un análisis del mismo.</a:t>
            </a:r>
          </a:p>
          <a:p>
            <a:pPr algn="just">
              <a:buFontTx/>
              <a:buNone/>
            </a:pPr>
            <a:r>
              <a:rPr lang="es-CO" sz="2000"/>
              <a:t>     La descripción de las partes humanas o materiales, de la organización, no es suficientemente rigurosa como para permitir conocer su naturaleza.</a:t>
            </a:r>
          </a:p>
          <a:p>
            <a:pPr algn="just">
              <a:buFontTx/>
              <a:buNone/>
            </a:pPr>
            <a:r>
              <a:rPr lang="es-CO" sz="2000"/>
              <a:t>     Llamar partes a los elementos constitutivos del proceso productivo económico que ocurre en las organizaciones (propietarios del capital, administradores, consumidores, etc.)</a:t>
            </a:r>
          </a:p>
          <a:p>
            <a:pPr algn="just">
              <a:buFontTx/>
              <a:buNone/>
            </a:pPr>
            <a:endParaRPr lang="es-CO" sz="2000"/>
          </a:p>
          <a:p>
            <a:pPr algn="just">
              <a:buFontTx/>
              <a:buNone/>
            </a:pPr>
            <a:endParaRPr lang="es-E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s-CO" sz="3200"/>
              <a:t/>
            </a:r>
            <a:br>
              <a:rPr lang="es-CO" sz="3200"/>
            </a:br>
            <a:r>
              <a:rPr lang="es-CO" sz="3200"/>
              <a:t>Enfoque sistémico de las organizaciones en Colombia.</a:t>
            </a:r>
            <a:endParaRPr lang="es-ES" sz="3200"/>
          </a:p>
        </p:txBody>
      </p:sp>
      <p:sp>
        <p:nvSpPr>
          <p:cNvPr id="31747" name="Rectangle 3"/>
          <p:cNvSpPr>
            <a:spLocks noGrp="1" noChangeArrowheads="1"/>
          </p:cNvSpPr>
          <p:nvPr>
            <p:ph type="body" idx="1"/>
          </p:nvPr>
        </p:nvSpPr>
        <p:spPr>
          <a:xfrm>
            <a:off x="468313" y="1844675"/>
            <a:ext cx="8229600" cy="4525963"/>
          </a:xfrm>
        </p:spPr>
        <p:txBody>
          <a:bodyPr/>
          <a:lstStyle/>
          <a:p>
            <a:pPr>
              <a:buFontTx/>
              <a:buNone/>
            </a:pPr>
            <a:r>
              <a:rPr lang="es-CO" sz="1800"/>
              <a:t>    </a:t>
            </a:r>
          </a:p>
          <a:p>
            <a:pPr>
              <a:buFontTx/>
              <a:buNone/>
            </a:pPr>
            <a:r>
              <a:rPr lang="es-CO" sz="1800"/>
              <a:t>     Que unas misma instituciones educativas de educación superior fueron agentes de la difusión de diversas teorías estudiadas, durante los mismos años: </a:t>
            </a:r>
          </a:p>
          <a:p>
            <a:r>
              <a:rPr lang="es-CO" sz="1800"/>
              <a:t>1966: Por primera vez se ofrecieron cursos de programación lineal y de otras técnicas de investigación operacional en ingeniería industrial</a:t>
            </a:r>
          </a:p>
          <a:p>
            <a:r>
              <a:rPr lang="es-CO" sz="1800"/>
              <a:t>1968-1969: Se ofrecieron cursos sobre programación dinámica, se estableció en la universidad nacional un programa de magíster dentro de la facultad de ingeniera con énfasis en investigación operacional y computación; y se creo la carrera de ingeniera de sistemas y computación.</a:t>
            </a:r>
          </a:p>
          <a:p>
            <a:r>
              <a:rPr lang="es-CO" sz="1800"/>
              <a:t>1973: Se creo un área de docencia e investigación en “sistemas públicos” en el departamento de ingeniería industrial.</a:t>
            </a:r>
            <a:endParaRPr lang="es-E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457200" y="908050"/>
            <a:ext cx="8229600" cy="5218113"/>
          </a:xfrm>
        </p:spPr>
        <p:txBody>
          <a:bodyPr/>
          <a:lstStyle/>
          <a:p>
            <a:pPr>
              <a:buFontTx/>
              <a:buNone/>
            </a:pPr>
            <a:r>
              <a:rPr lang="es-CO"/>
              <a:t>   </a:t>
            </a:r>
          </a:p>
          <a:p>
            <a:pPr>
              <a:buFontTx/>
              <a:buNone/>
            </a:pPr>
            <a:r>
              <a:rPr lang="es-CO" b="1"/>
              <a:t>   Pero fuera de las universidades ¿Qué difusión tuvo la teoría sistemática organizacional en Colombia?</a:t>
            </a:r>
          </a:p>
          <a:p>
            <a:pPr>
              <a:buFontTx/>
              <a:buNone/>
            </a:pPr>
            <a:r>
              <a:rPr lang="es-CO" sz="2800"/>
              <a:t>   </a:t>
            </a:r>
          </a:p>
          <a:p>
            <a:pPr>
              <a:buFontTx/>
              <a:buNone/>
            </a:pPr>
            <a:r>
              <a:rPr lang="es-CO" sz="2800"/>
              <a:t>   El caso mas notable es el del sistema nacional de salud, el cual esta inspirado directamente en la teoría sistémica y a orientado la planeación y ejecución de los programas de salud en el país.</a:t>
            </a:r>
            <a:endParaRPr lang="es-ES" sz="2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s-CO" sz="4000"/>
              <a:t>Teoría general de la administración su evolución</a:t>
            </a:r>
            <a:endParaRPr lang="es-ES" sz="4000"/>
          </a:p>
        </p:txBody>
      </p:sp>
      <p:sp>
        <p:nvSpPr>
          <p:cNvPr id="9219" name="Rectangle 3"/>
          <p:cNvSpPr>
            <a:spLocks noGrp="1" noChangeArrowheads="1"/>
          </p:cNvSpPr>
          <p:nvPr>
            <p:ph type="body" idx="1"/>
          </p:nvPr>
        </p:nvSpPr>
        <p:spPr/>
        <p:txBody>
          <a:bodyPr/>
          <a:lstStyle/>
          <a:p>
            <a:pPr>
              <a:buFontTx/>
              <a:buNone/>
            </a:pPr>
            <a:r>
              <a:rPr lang="es-CO"/>
              <a:t>  </a:t>
            </a:r>
          </a:p>
          <a:p>
            <a:pPr>
              <a:buFontTx/>
              <a:buNone/>
            </a:pPr>
            <a:r>
              <a:rPr lang="es-CO"/>
              <a:t>   </a:t>
            </a:r>
            <a:r>
              <a:rPr lang="es-CO" sz="2800"/>
              <a:t>En el enfoque clásico fue influenciado por tres principios intelectuales: el Reduccionismo, el pensamiento analítico y el mecanicismo.</a:t>
            </a:r>
          </a:p>
          <a:p>
            <a:pPr>
              <a:buFontTx/>
              <a:buNone/>
            </a:pPr>
            <a:r>
              <a:rPr lang="es-CO" sz="2800"/>
              <a:t>   que mas adelante fueron sustituidos por los principios opuestos del expansionismo, del pensamiento sintético y de la teología.</a:t>
            </a:r>
            <a:endParaRPr lang="es-ES" sz="28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457200" y="1484313"/>
            <a:ext cx="8229600" cy="3673475"/>
          </a:xfrm>
        </p:spPr>
        <p:txBody>
          <a:bodyPr/>
          <a:lstStyle/>
          <a:p>
            <a:pPr>
              <a:buFontTx/>
              <a:buNone/>
            </a:pPr>
            <a:r>
              <a:rPr lang="es-CO"/>
              <a:t>   En la administración los sistemas son tomados a través de modelos que facilitan los procedimientos y métodos para la practica administrativa para lograr así una mejor modificación analíticamente a la vez que transformaciones y mejoramientos</a:t>
            </a:r>
            <a:endParaRPr lang="es-E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s-CO" sz="3200"/>
              <a:t>Funcionamiento de los sistemas administrativos</a:t>
            </a:r>
            <a:endParaRPr lang="es-ES" sz="3200"/>
          </a:p>
        </p:txBody>
      </p:sp>
      <p:sp>
        <p:nvSpPr>
          <p:cNvPr id="19459" name="Rectangle 3"/>
          <p:cNvSpPr>
            <a:spLocks noGrp="1" noChangeArrowheads="1"/>
          </p:cNvSpPr>
          <p:nvPr>
            <p:ph type="body" idx="1"/>
          </p:nvPr>
        </p:nvSpPr>
        <p:spPr/>
        <p:txBody>
          <a:bodyPr/>
          <a:lstStyle/>
          <a:p>
            <a:pPr>
              <a:buFontTx/>
              <a:buNone/>
            </a:pPr>
            <a:r>
              <a:rPr lang="es-CO"/>
              <a:t>  </a:t>
            </a:r>
          </a:p>
          <a:p>
            <a:pPr>
              <a:buFontTx/>
              <a:buNone/>
            </a:pPr>
            <a:r>
              <a:rPr lang="es-CO"/>
              <a:t> </a:t>
            </a:r>
          </a:p>
          <a:p>
            <a:pPr>
              <a:buFontTx/>
              <a:buNone/>
            </a:pPr>
            <a:r>
              <a:rPr lang="es-CO"/>
              <a:t>  </a:t>
            </a:r>
            <a:r>
              <a:rPr lang="es-CO" sz="2400"/>
              <a:t>Demanda      Proceso        Producto         Satisfacción</a:t>
            </a:r>
          </a:p>
          <a:p>
            <a:pPr>
              <a:buFontTx/>
              <a:buNone/>
            </a:pPr>
            <a:r>
              <a:rPr lang="es-CO" sz="2400"/>
              <a:t>    </a:t>
            </a:r>
            <a:r>
              <a:rPr lang="es-CO" sz="2000"/>
              <a:t>(entradas)        (dinámica)           (bienes)                 (salidas</a:t>
            </a:r>
            <a:r>
              <a:rPr lang="es-CO" sz="2400"/>
              <a:t>)</a:t>
            </a:r>
          </a:p>
          <a:p>
            <a:pPr>
              <a:buFontTx/>
              <a:buNone/>
            </a:pPr>
            <a:endParaRPr lang="es-CO" sz="2400"/>
          </a:p>
          <a:p>
            <a:pPr>
              <a:buFontTx/>
              <a:buNone/>
            </a:pPr>
            <a:endParaRPr lang="es-CO" sz="2400"/>
          </a:p>
          <a:p>
            <a:pPr>
              <a:buFontTx/>
              <a:buNone/>
            </a:pPr>
            <a:r>
              <a:rPr lang="es-CO" sz="2400"/>
              <a:t> </a:t>
            </a:r>
          </a:p>
          <a:p>
            <a:pPr>
              <a:buFontTx/>
              <a:buNone/>
            </a:pPr>
            <a:r>
              <a:rPr lang="es-CO" sz="2400"/>
              <a:t>                                         DEMANDAS</a:t>
            </a:r>
            <a:endParaRPr lang="es-ES" sz="2400"/>
          </a:p>
        </p:txBody>
      </p:sp>
      <p:sp>
        <p:nvSpPr>
          <p:cNvPr id="19460" name="Line 4"/>
          <p:cNvSpPr>
            <a:spLocks noChangeShapeType="1"/>
          </p:cNvSpPr>
          <p:nvPr/>
        </p:nvSpPr>
        <p:spPr bwMode="auto">
          <a:xfrm flipV="1">
            <a:off x="395288" y="2133600"/>
            <a:ext cx="0" cy="3527425"/>
          </a:xfrm>
          <a:prstGeom prst="line">
            <a:avLst/>
          </a:prstGeom>
          <a:noFill/>
          <a:ln w="9525">
            <a:solidFill>
              <a:schemeClr val="tx1"/>
            </a:solidFill>
            <a:round/>
            <a:headEnd/>
            <a:tailEnd/>
          </a:ln>
          <a:effectLst/>
        </p:spPr>
        <p:txBody>
          <a:bodyPr/>
          <a:lstStyle/>
          <a:p>
            <a:endParaRPr lang="es-ES"/>
          </a:p>
        </p:txBody>
      </p:sp>
      <p:sp>
        <p:nvSpPr>
          <p:cNvPr id="19461" name="Line 5"/>
          <p:cNvSpPr>
            <a:spLocks noChangeShapeType="1"/>
          </p:cNvSpPr>
          <p:nvPr/>
        </p:nvSpPr>
        <p:spPr bwMode="auto">
          <a:xfrm flipH="1">
            <a:off x="684213" y="5876925"/>
            <a:ext cx="7343775" cy="0"/>
          </a:xfrm>
          <a:prstGeom prst="line">
            <a:avLst/>
          </a:prstGeom>
          <a:noFill/>
          <a:ln w="9525">
            <a:solidFill>
              <a:schemeClr val="tx1"/>
            </a:solidFill>
            <a:round/>
            <a:headEnd/>
            <a:tailEnd type="triangle" w="med" len="med"/>
          </a:ln>
          <a:effectLst/>
        </p:spPr>
        <p:txBody>
          <a:bodyPr/>
          <a:lstStyle/>
          <a:p>
            <a:endParaRPr lang="es-ES"/>
          </a:p>
        </p:txBody>
      </p:sp>
      <p:sp>
        <p:nvSpPr>
          <p:cNvPr id="19463" name="Line 7"/>
          <p:cNvSpPr>
            <a:spLocks noChangeShapeType="1"/>
          </p:cNvSpPr>
          <p:nvPr/>
        </p:nvSpPr>
        <p:spPr bwMode="auto">
          <a:xfrm>
            <a:off x="395288" y="2133600"/>
            <a:ext cx="1655762" cy="0"/>
          </a:xfrm>
          <a:prstGeom prst="line">
            <a:avLst/>
          </a:prstGeom>
          <a:noFill/>
          <a:ln w="9525">
            <a:solidFill>
              <a:schemeClr val="tx1"/>
            </a:solidFill>
            <a:round/>
            <a:headEnd/>
            <a:tailEnd type="triangle" w="med" len="med"/>
          </a:ln>
          <a:effectLst/>
        </p:spPr>
        <p:txBody>
          <a:bodyPr/>
          <a:lstStyle/>
          <a:p>
            <a:endParaRPr lang="es-ES"/>
          </a:p>
        </p:txBody>
      </p:sp>
      <p:sp>
        <p:nvSpPr>
          <p:cNvPr id="19464" name="Line 8"/>
          <p:cNvSpPr>
            <a:spLocks noChangeShapeType="1"/>
          </p:cNvSpPr>
          <p:nvPr/>
        </p:nvSpPr>
        <p:spPr bwMode="auto">
          <a:xfrm>
            <a:off x="2700338" y="2133600"/>
            <a:ext cx="5759450" cy="0"/>
          </a:xfrm>
          <a:prstGeom prst="line">
            <a:avLst/>
          </a:prstGeom>
          <a:noFill/>
          <a:ln w="9525">
            <a:solidFill>
              <a:schemeClr val="tx1"/>
            </a:solidFill>
            <a:round/>
            <a:headEnd/>
            <a:tailEnd type="triangle" w="med" len="med"/>
          </a:ln>
          <a:effectLst/>
        </p:spPr>
        <p:txBody>
          <a:bodyPr/>
          <a:lstStyle/>
          <a:p>
            <a:endParaRPr lang="es-ES"/>
          </a:p>
        </p:txBody>
      </p:sp>
      <p:sp>
        <p:nvSpPr>
          <p:cNvPr id="19465" name="Line 9"/>
          <p:cNvSpPr>
            <a:spLocks noChangeShapeType="1"/>
          </p:cNvSpPr>
          <p:nvPr/>
        </p:nvSpPr>
        <p:spPr bwMode="auto">
          <a:xfrm>
            <a:off x="8101013" y="1844675"/>
            <a:ext cx="0" cy="3889375"/>
          </a:xfrm>
          <a:prstGeom prst="line">
            <a:avLst/>
          </a:prstGeom>
          <a:noFill/>
          <a:ln w="9525">
            <a:solidFill>
              <a:schemeClr val="tx1"/>
            </a:solidFill>
            <a:round/>
            <a:headEnd/>
            <a:tailEnd type="triangle" w="med" len="med"/>
          </a:ln>
          <a:effectLst/>
        </p:spPr>
        <p:txBody>
          <a:bodyPr/>
          <a:lstStyle/>
          <a:p>
            <a:endParaRPr lang="es-E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s-CO" sz="3200"/>
              <a:t>TECNOLOGIA Y ADMINISTRACION</a:t>
            </a:r>
            <a:endParaRPr lang="es-ES" sz="3200"/>
          </a:p>
        </p:txBody>
      </p:sp>
      <p:sp>
        <p:nvSpPr>
          <p:cNvPr id="20483" name="Rectangle 3"/>
          <p:cNvSpPr>
            <a:spLocks noGrp="1" noChangeArrowheads="1"/>
          </p:cNvSpPr>
          <p:nvPr>
            <p:ph type="body" idx="1"/>
          </p:nvPr>
        </p:nvSpPr>
        <p:spPr/>
        <p:txBody>
          <a:bodyPr/>
          <a:lstStyle/>
          <a:p>
            <a:pPr algn="just"/>
            <a:r>
              <a:rPr lang="es-CO" sz="2400"/>
              <a:t>La tecnología siempre influyo con la fuerza en el funcionamiento de las organizaciones a partir de la revolución industrial. Ese fue el resultado de la aplicación de la tecnología de la fuerza motriz del vapor en la producción y que sustituyo inmediatamente el esfuerzo humano, permitiendo el surgimiento de las fabricas e industrias. A finales del siglo XVIII la invención de la maquina de escribir fue el primer paso para la aceleración del proceso productivo en las oficinas.</a:t>
            </a:r>
            <a:endParaRPr lang="es-ES" sz="24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s-CO" sz="3200"/>
              <a:t>Definición de la cibernética</a:t>
            </a:r>
            <a:endParaRPr lang="es-ES" sz="3200"/>
          </a:p>
        </p:txBody>
      </p:sp>
      <p:sp>
        <p:nvSpPr>
          <p:cNvPr id="22531" name="Rectangle 3"/>
          <p:cNvSpPr>
            <a:spLocks noGrp="1" noChangeArrowheads="1"/>
          </p:cNvSpPr>
          <p:nvPr>
            <p:ph type="body" idx="1"/>
          </p:nvPr>
        </p:nvSpPr>
        <p:spPr>
          <a:xfrm>
            <a:off x="457200" y="1782763"/>
            <a:ext cx="8229600" cy="4525962"/>
          </a:xfrm>
        </p:spPr>
        <p:txBody>
          <a:bodyPr/>
          <a:lstStyle/>
          <a:p>
            <a:pPr algn="just"/>
            <a:r>
              <a:rPr lang="es-CO" sz="2400"/>
              <a:t>Es la ciencia de la comunicación y el control sea en el animal, hombre o maquina; la comunicación hace que los sistemas se integren y sean coherentes y el control regula su conducta. La cibernética comprende los procesos y sistemas de transformación de la información y su que concretización en procesos físicos, fisiológicos,  psicológicos, etc. En verdad, la cibernética es una ciencia interdisciplinaria que ofrece sistemas de organización y de procesamiento de información y controles  que auxilian a las otras ciencias</a:t>
            </a:r>
            <a:endParaRPr lang="es-ES" sz="24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68313" y="0"/>
            <a:ext cx="8229600" cy="1557338"/>
          </a:xfrm>
        </p:spPr>
        <p:txBody>
          <a:bodyPr/>
          <a:lstStyle/>
          <a:p>
            <a:r>
              <a:rPr lang="es-CO" sz="3200"/>
              <a:t>LA CIBERNETICA</a:t>
            </a:r>
            <a:endParaRPr lang="es-ES" sz="3200"/>
          </a:p>
        </p:txBody>
      </p:sp>
      <p:sp>
        <p:nvSpPr>
          <p:cNvPr id="21507" name="Rectangle 3"/>
          <p:cNvSpPr>
            <a:spLocks noGrp="1" noChangeArrowheads="1"/>
          </p:cNvSpPr>
          <p:nvPr>
            <p:ph type="body" idx="1"/>
          </p:nvPr>
        </p:nvSpPr>
        <p:spPr/>
        <p:txBody>
          <a:bodyPr/>
          <a:lstStyle/>
          <a:p>
            <a:pPr algn="just"/>
            <a:r>
              <a:rPr lang="es-CO" sz="2400"/>
              <a:t>Surgió como una ciencia interdisciplinaria para relacionar todas las ciencias, llenar los espacios vacíos no investigados por ninguna de ellas y permitir que cada ciencia utilizara los conocimientos relacionados con las otras, su origen esta relacionado con los siguientes hechos: el movimiento iniciado por Norbert Wiener, los primeros estudios sobre el calculo de variaciones, los estudios sobre la información y la comunicación, los estudios con computadores, la segunda guerra mundial. </a:t>
            </a:r>
          </a:p>
          <a:p>
            <a:pPr algn="just">
              <a:buFontTx/>
              <a:buNone/>
            </a:pPr>
            <a:r>
              <a:rPr lang="es-CO" sz="2400"/>
              <a:t>    </a:t>
            </a:r>
            <a:endParaRPr lang="es-ES" sz="240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s-CO" sz="3600"/>
              <a:t>Sus campos de estudio</a:t>
            </a:r>
            <a:endParaRPr lang="es-ES" sz="3600"/>
          </a:p>
        </p:txBody>
      </p:sp>
      <p:sp>
        <p:nvSpPr>
          <p:cNvPr id="32771" name="Rectangle 3"/>
          <p:cNvSpPr>
            <a:spLocks noGrp="1" noChangeArrowheads="1"/>
          </p:cNvSpPr>
          <p:nvPr>
            <p:ph type="body" idx="1"/>
          </p:nvPr>
        </p:nvSpPr>
        <p:spPr/>
        <p:txBody>
          <a:bodyPr/>
          <a:lstStyle/>
          <a:p>
            <a:pPr algn="just"/>
            <a:endParaRPr lang="es-CO" sz="2000"/>
          </a:p>
          <a:p>
            <a:pPr algn="just"/>
            <a:endParaRPr lang="es-CO" sz="2000"/>
          </a:p>
          <a:p>
            <a:pPr algn="just"/>
            <a:r>
              <a:rPr lang="es-CO" sz="2400"/>
              <a:t>Se centra en los sistemas “es un conjunto de elementos dinámicamente relacionados entre si, formando una actividad para alcanzar un objetivo, operando sobre entradas (información, energía o material) y proveyendo salidas (información, energía o material). Los elementos, las relaciones entre ellos y los objetivos constituyen los aspectos fundamentales de un sistema. </a:t>
            </a:r>
            <a:endParaRPr lang="es-ES"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l"/>
            <a:r>
              <a:rPr lang="es-CO" sz="3000"/>
              <a:t>Representación de los sistemas: Los modelos</a:t>
            </a:r>
            <a:endParaRPr lang="es-ES" sz="3000"/>
          </a:p>
        </p:txBody>
      </p:sp>
      <p:sp>
        <p:nvSpPr>
          <p:cNvPr id="35843" name="Rectangle 3"/>
          <p:cNvSpPr>
            <a:spLocks noGrp="1" noChangeArrowheads="1"/>
          </p:cNvSpPr>
          <p:nvPr>
            <p:ph type="body" idx="1"/>
          </p:nvPr>
        </p:nvSpPr>
        <p:spPr/>
        <p:txBody>
          <a:bodyPr/>
          <a:lstStyle/>
          <a:p>
            <a:pPr marL="609600" indent="-609600" algn="just">
              <a:buFontTx/>
              <a:buNone/>
            </a:pPr>
            <a:r>
              <a:rPr lang="es-CO" sz="2000"/>
              <a:t>        </a:t>
            </a:r>
            <a:r>
              <a:rPr lang="es-CO" sz="1900"/>
              <a:t>La cibernética busca la representación de sistemas originales por medio de otros sistemas comparables, que se denominan modelos. Los modelos, sean físicos o matemáticos, son fundamentales para la comprensión del funcionamiento de los sistemas. Modelo es la representación simplificada de alguna parte de la realidad. La utilización de modelos se basa en tres razones básicas:</a:t>
            </a:r>
          </a:p>
          <a:p>
            <a:pPr marL="609600" indent="-609600" algn="just">
              <a:buFontTx/>
              <a:buAutoNum type="arabicPeriod"/>
            </a:pPr>
            <a:r>
              <a:rPr lang="es-CO" sz="1900"/>
              <a:t>La manipulación de entidades reales es socialmente inaceptable o legalmente prohibida </a:t>
            </a:r>
          </a:p>
          <a:p>
            <a:pPr marL="609600" indent="-609600" algn="just">
              <a:buFontTx/>
              <a:buAutoNum type="arabicPeriod"/>
            </a:pPr>
            <a:r>
              <a:rPr lang="es-CO" sz="1900"/>
              <a:t>La incertidumbre con la cual la administración crece rápidamente y aumenta de forma desproporcionada las consecuencias de los errores</a:t>
            </a:r>
          </a:p>
          <a:p>
            <a:pPr marL="609600" indent="-609600" algn="just">
              <a:buFontTx/>
              <a:buAutoNum type="arabicPeriod"/>
            </a:pPr>
            <a:r>
              <a:rPr lang="es-CO" sz="1900"/>
              <a:t>La capacidad de construir modelos representativos de la realidad aumento enormemente.</a:t>
            </a:r>
          </a:p>
          <a:p>
            <a:pPr marL="609600" indent="-609600" algn="just">
              <a:buFontTx/>
              <a:buAutoNum type="arabicPeriod"/>
            </a:pPr>
            <a:endParaRPr lang="es-CO" sz="1900"/>
          </a:p>
          <a:p>
            <a:pPr marL="609600" indent="-609600" algn="just"/>
            <a:endParaRPr lang="es-ES" sz="19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s-CO" sz="3200"/>
              <a:t>Conceptos principales de sistemas</a:t>
            </a:r>
            <a:endParaRPr lang="es-ES" sz="3200"/>
          </a:p>
        </p:txBody>
      </p:sp>
      <p:sp>
        <p:nvSpPr>
          <p:cNvPr id="36867" name="Rectangle 3"/>
          <p:cNvSpPr>
            <a:spLocks noGrp="1" noChangeArrowheads="1"/>
          </p:cNvSpPr>
          <p:nvPr>
            <p:ph type="body" idx="1"/>
          </p:nvPr>
        </p:nvSpPr>
        <p:spPr/>
        <p:txBody>
          <a:bodyPr/>
          <a:lstStyle/>
          <a:p>
            <a:r>
              <a:rPr lang="es-CO" sz="2000"/>
              <a:t>Los principales conceptos relacionados con sistemas son: entrada, salida, retroalimentación, caja negra, homeostasis e información.</a:t>
            </a:r>
          </a:p>
          <a:p>
            <a:r>
              <a:rPr lang="es-CO" sz="2000"/>
              <a:t>Concepto de entrada: el sistema recibe entrada o insumos para poder operar. La entrada de un sistema es todo lo que el sistema importa o recibe de su mundo  externo, puede constituirse de información, energía y materiales.</a:t>
            </a:r>
          </a:p>
          <a:p>
            <a:r>
              <a:rPr lang="es-CO" sz="2000"/>
              <a:t>Concepto de salida: es el resultado final de la operación de un sistema, exportando el resultado de sus operaciones para el ambiente. En el caso de la organizaciones producen bienes o servicios.</a:t>
            </a:r>
          </a:p>
          <a:p>
            <a:r>
              <a:rPr lang="es-CO" sz="2000"/>
              <a:t>Concepto de la caja negra: se refiere a un sistema cuyo interior no puede ser revelado cuyos elementos se desconocen y solo puede ser conocidos através de manipulaciones externas.</a:t>
            </a:r>
            <a:endParaRPr lang="es-ES"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457200" y="333375"/>
            <a:ext cx="8229600" cy="5792788"/>
          </a:xfrm>
        </p:spPr>
        <p:txBody>
          <a:bodyPr/>
          <a:lstStyle/>
          <a:p>
            <a:endParaRPr lang="es-CO" sz="2200"/>
          </a:p>
          <a:p>
            <a:endParaRPr lang="es-CO" sz="2200"/>
          </a:p>
          <a:p>
            <a:endParaRPr lang="es-CO" sz="2200"/>
          </a:p>
          <a:p>
            <a:r>
              <a:rPr lang="es-CO" sz="2200"/>
              <a:t>Concepto de retroalimentación: es un mecanismo donde una parte de la energía de salida regresa a la entrada. Es un subsistema de comunicación de retorno proporcionado por la salida de el sistema a su entrada para alterarla de alguna forma funcionando como comparación  con el funcionamiento.</a:t>
            </a:r>
          </a:p>
          <a:p>
            <a:r>
              <a:rPr lang="es-CO" sz="2200"/>
              <a:t>Concepto de información: se encuentra relacionado a la novedad y utilidad pues la información es el conocimiento disponible para el uso inmediato y que permite orientar la acción.</a:t>
            </a:r>
            <a:endParaRPr lang="es-ES" sz="2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s-CO" sz="3600"/>
              <a:t>Homeostasis</a:t>
            </a:r>
            <a:endParaRPr lang="es-ES" sz="3600"/>
          </a:p>
        </p:txBody>
      </p:sp>
      <p:sp>
        <p:nvSpPr>
          <p:cNvPr id="23555" name="Rectangle 3"/>
          <p:cNvSpPr>
            <a:spLocks noGrp="1" noChangeArrowheads="1"/>
          </p:cNvSpPr>
          <p:nvPr>
            <p:ph type="body" idx="1"/>
          </p:nvPr>
        </p:nvSpPr>
        <p:spPr/>
        <p:txBody>
          <a:bodyPr/>
          <a:lstStyle/>
          <a:p>
            <a:r>
              <a:rPr lang="es-CO" sz="2400"/>
              <a:t>Es la capacidad de mantener ciertas variables dentro de los limites, inclusive cuando los estímulos del medio externo fuerzan esas variables a asumir valores que rebasan los limites de la normalidad</a:t>
            </a:r>
          </a:p>
          <a:p>
            <a:r>
              <a:rPr lang="es-CO" sz="2400"/>
              <a:t>Se obtiene por dispositivos de diapositivas de retroalimentación.</a:t>
            </a:r>
          </a:p>
          <a:p>
            <a:r>
              <a:rPr lang="es-CO" sz="2400"/>
              <a:t>En general la homeostasis es el equilibrio dinámico entre las partes del sistema para lograr equilibrios internos frente a los cambios externo.</a:t>
            </a:r>
          </a:p>
          <a:p>
            <a:endParaRPr lang="es-ES" sz="240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s-CO" sz="3200"/>
              <a:t>Teoría de información</a:t>
            </a:r>
            <a:endParaRPr lang="es-ES" sz="3200"/>
          </a:p>
        </p:txBody>
      </p:sp>
      <p:sp>
        <p:nvSpPr>
          <p:cNvPr id="38915" name="Rectangle 3"/>
          <p:cNvSpPr>
            <a:spLocks noGrp="1" noChangeArrowheads="1"/>
          </p:cNvSpPr>
          <p:nvPr>
            <p:ph type="body" idx="1"/>
          </p:nvPr>
        </p:nvSpPr>
        <p:spPr/>
        <p:txBody>
          <a:bodyPr/>
          <a:lstStyle/>
          <a:p>
            <a:pPr algn="just"/>
            <a:r>
              <a:rPr lang="es-CO" sz="2000"/>
              <a:t>Surgió con las investigaciones de Claude E. Shannon para la Bell Telephone Company, en el campo de la telegrafía y telefonía, en 1949. formulando una teoría general de la información, desarrollando un método para medir y calcular la cantidad de información con base en resultados de la física estadística. La preocupación de Shannon era una estimación cuantitativa de información, su teoría sobre comunicaciones difería de las anteriores en dos aspectos por introducción, nociones de estadística y por ser su teoría macroscópica y no microscópica, pues visualizaba los aspectos amplios y generales de los dispositivos de comunicaciones . El sistema de comunicación tratado por la teoría de informaciones consiste en seis componentes: fuente, trasmisor, canal, receptor, destino y ruido.</a:t>
            </a:r>
            <a:endParaRPr lang="es-E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s-CO" sz="3200"/>
              <a:t/>
            </a:r>
            <a:br>
              <a:rPr lang="es-CO" sz="3200"/>
            </a:br>
            <a:r>
              <a:rPr lang="es-CO" sz="3200"/>
              <a:t>LA NUEVA ECONOMIA</a:t>
            </a:r>
            <a:endParaRPr lang="es-ES" sz="3200"/>
          </a:p>
        </p:txBody>
      </p:sp>
      <p:sp>
        <p:nvSpPr>
          <p:cNvPr id="24579" name="Rectangle 3"/>
          <p:cNvSpPr>
            <a:spLocks noGrp="1" noChangeArrowheads="1"/>
          </p:cNvSpPr>
          <p:nvPr>
            <p:ph type="body" idx="1"/>
          </p:nvPr>
        </p:nvSpPr>
        <p:spPr/>
        <p:txBody>
          <a:bodyPr/>
          <a:lstStyle/>
          <a:p>
            <a:endParaRPr lang="es-CO" sz="2400"/>
          </a:p>
          <a:p>
            <a:endParaRPr lang="es-CO" sz="2400"/>
          </a:p>
          <a:p>
            <a:r>
              <a:rPr lang="es-CO" sz="2400"/>
              <a:t>El E-Business son los negocios virtuales, que proporciona condiciones para una enorme malla interconectada de sistemas (portales de intermediación de negocios, sitios para asegurar el pago de bienes y servicios) lo que significa que cada organización independientemente de su tamaño o área necesita hardware y software .</a:t>
            </a:r>
          </a:p>
          <a:p>
            <a:endParaRPr lang="es-ES" sz="2400"/>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555</TotalTime>
  <Words>2060</Words>
  <Application>Microsoft Office PowerPoint</Application>
  <PresentationFormat>Presentación en pantalla (4:3)</PresentationFormat>
  <Paragraphs>263</Paragraphs>
  <Slides>31</Slides>
  <Notes>0</Notes>
  <HiddenSlides>0</HiddenSlides>
  <MMClips>0</MMClips>
  <ScaleCrop>false</ScaleCrop>
  <HeadingPairs>
    <vt:vector size="4" baseType="variant">
      <vt:variant>
        <vt:lpstr>Tema</vt:lpstr>
      </vt:variant>
      <vt:variant>
        <vt:i4>1</vt:i4>
      </vt:variant>
      <vt:variant>
        <vt:lpstr>Títulos de diapositiva</vt:lpstr>
      </vt:variant>
      <vt:variant>
        <vt:i4>31</vt:i4>
      </vt:variant>
    </vt:vector>
  </HeadingPairs>
  <TitlesOfParts>
    <vt:vector size="32" baseType="lpstr">
      <vt:lpstr>Diseño predeterminado</vt:lpstr>
      <vt:lpstr>ORGANIZACIÓN SISTEMICA </vt:lpstr>
      <vt:lpstr>Introducción </vt:lpstr>
      <vt:lpstr>Pioneros y evolución</vt:lpstr>
      <vt:lpstr>Etapas de la investigación operacional</vt:lpstr>
      <vt:lpstr>Teoría general de los sistemas</vt:lpstr>
      <vt:lpstr>Características de un sistema</vt:lpstr>
      <vt:lpstr>Clasificación del TGS</vt:lpstr>
      <vt:lpstr>Teoría sistemática de las organizaciones</vt:lpstr>
      <vt:lpstr>Sistemas cerrados</vt:lpstr>
      <vt:lpstr>SUBSISTEMAS ORGANIZACIONALES</vt:lpstr>
      <vt:lpstr>  SUBSISTEMAS DE MANTENIMIENTO</vt:lpstr>
      <vt:lpstr> SUBSISTEMAS DE APOYO</vt:lpstr>
      <vt:lpstr>SUBSISTEMAS DE ADAPTACION</vt:lpstr>
      <vt:lpstr>SUBSISTEMAS GERENCIALES</vt:lpstr>
      <vt:lpstr>CRITICAS</vt:lpstr>
      <vt:lpstr>Diapositiva 16</vt:lpstr>
      <vt:lpstr> Enfoque sistémico de las organizaciones en Colombia.</vt:lpstr>
      <vt:lpstr>Diapositiva 18</vt:lpstr>
      <vt:lpstr>Teoría general de la administración su evolución</vt:lpstr>
      <vt:lpstr>Diapositiva 20</vt:lpstr>
      <vt:lpstr>Funcionamiento de los sistemas administrativos</vt:lpstr>
      <vt:lpstr>TECNOLOGIA Y ADMINISTRACION</vt:lpstr>
      <vt:lpstr>Definición de la cibernética</vt:lpstr>
      <vt:lpstr>LA CIBERNETICA</vt:lpstr>
      <vt:lpstr>Sus campos de estudio</vt:lpstr>
      <vt:lpstr>Representación de los sistemas: Los modelos</vt:lpstr>
      <vt:lpstr>Conceptos principales de sistemas</vt:lpstr>
      <vt:lpstr>Diapositiva 28</vt:lpstr>
      <vt:lpstr>Homeostasis</vt:lpstr>
      <vt:lpstr>Teoría de información</vt:lpstr>
      <vt:lpstr> LA NUEVA ECONOMIA</vt:lpstr>
    </vt:vector>
  </TitlesOfParts>
  <Company>The houze!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ORGANIZACIÓN SISTEMICA</dc:title>
  <dc:creator>cindy</dc:creator>
  <cp:lastModifiedBy>jorge lopez</cp:lastModifiedBy>
  <cp:revision>12</cp:revision>
  <dcterms:created xsi:type="dcterms:W3CDTF">2009-03-25T17:11:10Z</dcterms:created>
  <dcterms:modified xsi:type="dcterms:W3CDTF">2011-04-11T22:21:44Z</dcterms:modified>
</cp:coreProperties>
</file>