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53"/>
  </p:notesMasterIdLst>
  <p:handoutMasterIdLst>
    <p:handoutMasterId r:id="rId54"/>
  </p:handoutMasterIdLst>
  <p:sldIdLst>
    <p:sldId id="256" r:id="rId2"/>
    <p:sldId id="265" r:id="rId3"/>
    <p:sldId id="257" r:id="rId4"/>
    <p:sldId id="258" r:id="rId5"/>
    <p:sldId id="259" r:id="rId6"/>
    <p:sldId id="260" r:id="rId7"/>
    <p:sldId id="272" r:id="rId8"/>
    <p:sldId id="261" r:id="rId9"/>
    <p:sldId id="266" r:id="rId10"/>
    <p:sldId id="267" r:id="rId11"/>
    <p:sldId id="268" r:id="rId12"/>
    <p:sldId id="283" r:id="rId13"/>
    <p:sldId id="271" r:id="rId14"/>
    <p:sldId id="284" r:id="rId15"/>
    <p:sldId id="273" r:id="rId16"/>
    <p:sldId id="282" r:id="rId17"/>
    <p:sldId id="274" r:id="rId18"/>
    <p:sldId id="285" r:id="rId19"/>
    <p:sldId id="286" r:id="rId20"/>
    <p:sldId id="287" r:id="rId21"/>
    <p:sldId id="288" r:id="rId22"/>
    <p:sldId id="289" r:id="rId23"/>
    <p:sldId id="306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303" r:id="rId32"/>
    <p:sldId id="309" r:id="rId33"/>
    <p:sldId id="308" r:id="rId34"/>
    <p:sldId id="302" r:id="rId35"/>
    <p:sldId id="304" r:id="rId36"/>
    <p:sldId id="307" r:id="rId37"/>
    <p:sldId id="298" r:id="rId38"/>
    <p:sldId id="301" r:id="rId39"/>
    <p:sldId id="299" r:id="rId40"/>
    <p:sldId id="300" r:id="rId41"/>
    <p:sldId id="262" r:id="rId42"/>
    <p:sldId id="263" r:id="rId43"/>
    <p:sldId id="290" r:id="rId44"/>
    <p:sldId id="264" r:id="rId45"/>
    <p:sldId id="291" r:id="rId46"/>
    <p:sldId id="310" r:id="rId47"/>
    <p:sldId id="311" r:id="rId48"/>
    <p:sldId id="292" r:id="rId49"/>
    <p:sldId id="293" r:id="rId50"/>
    <p:sldId id="294" r:id="rId51"/>
    <p:sldId id="296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3399"/>
    <a:srgbClr val="336699"/>
    <a:srgbClr val="008080"/>
    <a:srgbClr val="009999"/>
    <a:srgbClr val="FF99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84" d="100"/>
          <a:sy n="84" d="100"/>
        </p:scale>
        <p:origin x="-95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B0EFF597-8BFE-4A8E-8FA9-61C37597CC3B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86C62FC5-CE4C-42E3-8CAA-84C155A6141E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4C74D0-152E-42C9-9E78-ADB99BB55E9E}" type="slidenum">
              <a:rPr lang="es-ES" smtClean="0">
                <a:latin typeface="Times New Roman" pitchFamily="18" charset="0"/>
              </a:rPr>
              <a:pPr/>
              <a:t>1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163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9CB3E0-EA8B-4E9D-A2F7-F2CE38C0F649}" type="slidenum">
              <a:rPr lang="es-ES" smtClean="0">
                <a:latin typeface="Times New Roman" pitchFamily="18" charset="0"/>
              </a:rPr>
              <a:pPr/>
              <a:t>3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27689-9CE5-45C6-B2E0-87F13E2CFF80}" type="slidenum">
              <a:rPr lang="es-ES" smtClean="0">
                <a:latin typeface="Times New Roman" pitchFamily="18" charset="0"/>
              </a:rPr>
              <a:pPr/>
              <a:t>4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150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746BA-0CE0-4A4F-BC1B-AB912D868301}" type="slidenum">
              <a:rPr lang="es-ES" smtClean="0">
                <a:latin typeface="Times New Roman" pitchFamily="18" charset="0"/>
              </a:rPr>
              <a:pPr/>
              <a:t>5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3554" name="Rectangle 512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512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CF4720-3821-4048-A0DD-D8BD486536BE}" type="slidenum">
              <a:rPr lang="es-ES" smtClean="0">
                <a:latin typeface="Times New Roman" pitchFamily="18" charset="0"/>
              </a:rPr>
              <a:pPr/>
              <a:t>6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7DAB4-92F0-41D3-8944-2DBECD1BB25B}" type="slidenum">
              <a:rPr lang="es-ES" smtClean="0">
                <a:latin typeface="Times New Roman" pitchFamily="18" charset="0"/>
              </a:rPr>
              <a:pPr/>
              <a:t>8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F73495-4EDC-4D2C-B620-9B9AA46B1F59}" type="slidenum">
              <a:rPr lang="es-ES" smtClean="0">
                <a:latin typeface="Times New Roman" pitchFamily="18" charset="0"/>
              </a:rPr>
              <a:pPr/>
              <a:t>41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A3ED4A-365B-4C32-95B3-366205B953FC}" type="slidenum">
              <a:rPr lang="es-ES" smtClean="0">
                <a:latin typeface="Times New Roman" pitchFamily="18" charset="0"/>
              </a:rPr>
              <a:pPr/>
              <a:t>42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9F18E2-B59D-406B-B57C-29CB31EAAC46}" type="slidenum">
              <a:rPr lang="es-ES" smtClean="0">
                <a:latin typeface="Times New Roman" pitchFamily="18" charset="0"/>
              </a:rPr>
              <a:pPr/>
              <a:t>44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</p:grpSp>
      <p:sp>
        <p:nvSpPr>
          <p:cNvPr id="348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81DEF-E45C-4F79-AC7E-1EF2DE27A390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3EFAD-A34F-49E9-8EEC-1F95D21909E4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9DEC8-0E48-4078-851B-18B1F197E899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6075D-9444-4A32-8857-764C8C390FFF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FD01E-BADF-454A-B6F2-FA29814DC495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CED15-2A82-49ED-8FAA-EEB785A7DEC2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DEC42-E726-417B-BE46-B11EB2279AC4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18EDF-0709-49A4-BB15-CD0F7C127775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4639F-4DDF-4530-BF43-0C15CF7500B2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15B6D-D523-4252-BDEF-B61F8A0EB315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C42B6-4C54-4CD8-A75F-AC82004854C6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1718-2435-4EA5-B93D-FCA76B7F25CA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370B1-FDD4-4EAA-B4CD-B8849091A6AA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522C2-C215-40AD-8A5A-ECB7C770C2ED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11816-168B-492F-A611-FBC51035F330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9FD772-FD3C-49FF-B726-B36D41CEC1DA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F1D3A-1ADE-45CC-B2CF-7E9C57394A30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AC03B-016F-4BA9-91E7-C273AE49AFC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1518A-B3E5-4D84-9E4A-F8D6C0BAA007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426F6-2712-40F7-9835-BC968250DCB4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7D16F-99AE-416B-B45D-159D8BD6751D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977883-7D5A-4C79-A7EA-78DC5C722332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379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  <p:sp>
          <p:nvSpPr>
            <p:cNvPr id="33796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</p:grpSp>
      <p:sp>
        <p:nvSpPr>
          <p:cNvPr id="337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011FD0AA-10C4-4603-BE02-69B04FF3C1D3}" type="datetime1">
              <a:rPr lang="es-ES"/>
              <a:pPr>
                <a:defRPr/>
              </a:pPr>
              <a:t>06/08/2009</a:t>
            </a:fld>
            <a:endParaRPr lang="es-ES" dirty="0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A4E7593C-4338-4A9D-8255-E655ACC10DD6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sz="3600" dirty="0"/>
              <a:t>FUNDAMENTOS DE PENSAMIENTO ADMINISTRATIVO</a:t>
            </a:r>
            <a:endParaRPr lang="es-ES" sz="3600" dirty="0"/>
          </a:p>
        </p:txBody>
      </p:sp>
      <p:sp>
        <p:nvSpPr>
          <p:cNvPr id="15362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85938" y="2643188"/>
            <a:ext cx="6400800" cy="1752600"/>
          </a:xfrm>
        </p:spPr>
        <p:txBody>
          <a:bodyPr/>
          <a:lstStyle/>
          <a:p>
            <a:pPr eaLnBrk="1" hangingPunct="1"/>
            <a:r>
              <a:rPr lang="es-ES_tradnl" dirty="0" smtClean="0">
                <a:latin typeface="Arial Black" pitchFamily="34" charset="0"/>
              </a:rPr>
              <a:t>TEORIAS Y CONCEPTOS SOBRE ADMINISTRACION</a:t>
            </a:r>
            <a:endParaRPr lang="es-ES" dirty="0" smtClean="0">
              <a:latin typeface="Arial Black" pitchFamily="34" charset="0"/>
            </a:endParaRPr>
          </a:p>
        </p:txBody>
      </p:sp>
      <p:sp>
        <p:nvSpPr>
          <p:cNvPr id="15363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6AE746-D15E-4773-B1CC-C5E7BE7A1057}" type="slidenum">
              <a:rPr lang="es-ES" smtClean="0">
                <a:latin typeface="Times New Roman" pitchFamily="18" charset="0"/>
              </a:rPr>
              <a:pPr/>
              <a:t>1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64293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dirty="0"/>
              <a:t>Origen de la Administración</a:t>
            </a:r>
            <a:endParaRPr lang="es-E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s-ES_tradnl" dirty="0" smtClean="0"/>
              <a:t>Nace de la necesidad humana de cumplir metas, haciendo un uso racional y concienzudo de los recursos disponibles.</a:t>
            </a:r>
          </a:p>
          <a:p>
            <a:pPr eaLnBrk="1" hangingPunct="1"/>
            <a:endParaRPr lang="es-ES_tradnl" dirty="0" smtClean="0"/>
          </a:p>
          <a:p>
            <a:pPr algn="just" eaLnBrk="1" hangingPunct="1"/>
            <a:r>
              <a:rPr lang="es-ES_tradnl" dirty="0" smtClean="0"/>
              <a:t>Se puede afirmar entonces que desde siempre el ser humano a procurado este fin.</a:t>
            </a:r>
            <a:endParaRPr lang="es-ES" dirty="0" smtClean="0"/>
          </a:p>
        </p:txBody>
      </p:sp>
      <p:sp>
        <p:nvSpPr>
          <p:cNvPr id="1741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0ED744-574D-449B-A35E-3A20E27CF9B7}" type="slidenum">
              <a:rPr lang="es-ES" smtClean="0">
                <a:latin typeface="Times New Roman" pitchFamily="18" charset="0"/>
              </a:rPr>
              <a:pPr/>
              <a:t>2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Época primitiva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s-ES_tradnl" dirty="0"/>
              <a:t>Cuando el hombre empezó a trabajar en  grupo surgió la administración como una asociación</a:t>
            </a:r>
            <a:r>
              <a:rPr lang="es-ES_tradnl" sz="2800" dirty="0"/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ES_tradnl" sz="2800" dirty="0"/>
              <a:t>                                           		     				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Periodo   Agrícola</a:t>
            </a:r>
          </a:p>
          <a:p>
            <a:pPr eaLnBrk="1" hangingPunct="1">
              <a:lnSpc>
                <a:spcPct val="90000"/>
              </a:lnSpc>
              <a:defRPr/>
            </a:pPr>
            <a:endParaRPr lang="es-ES_tradnl" sz="4000" dirty="0">
              <a:solidFill>
                <a:schemeClr val="bg2"/>
              </a:solidFill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ES_tradnl" sz="4000" dirty="0"/>
              <a:t>La organización social de tipo patriarcal se acentuó.</a:t>
            </a:r>
            <a:endParaRPr lang="es-ES" sz="4000" dirty="0"/>
          </a:p>
        </p:txBody>
      </p:sp>
      <p:sp>
        <p:nvSpPr>
          <p:cNvPr id="1843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8C1538-C2A2-4315-98D2-8CEFBD3465CD}" type="slidenum">
              <a:rPr lang="es-ES" smtClean="0">
                <a:latin typeface="Times New Roman" pitchFamily="18" charset="0"/>
              </a:rPr>
              <a:pPr/>
              <a:t>3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Antigüedad grecolatina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s-ES_tradnl" dirty="0"/>
              <a:t>Esta forma de organización fue en gran parte la caída del imperio romano.</a:t>
            </a:r>
          </a:p>
          <a:p>
            <a:pPr eaLnBrk="1" hangingPunct="1">
              <a:lnSpc>
                <a:spcPct val="90000"/>
              </a:lnSpc>
              <a:defRPr/>
            </a:pPr>
            <a:endParaRPr lang="es-ES_tradnl" sz="2800" dirty="0"/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r>
              <a:rPr lang="es-ES_tradnl" sz="4000" dirty="0"/>
              <a:t>	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Época feudal</a:t>
            </a:r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endParaRPr lang="es-ES_tradnl" sz="4400" dirty="0">
              <a:solidFill>
                <a:schemeClr val="bg2"/>
              </a:solidFill>
            </a:endParaRPr>
          </a:p>
          <a:p>
            <a:pPr lvl="4" algn="r" eaLnBrk="1" hangingPunct="1">
              <a:lnSpc>
                <a:spcPct val="90000"/>
              </a:lnSpc>
              <a:buFontTx/>
              <a:buNone/>
              <a:defRPr/>
            </a:pPr>
            <a:r>
              <a:rPr lang="es-ES_tradnl" sz="3200" dirty="0"/>
              <a:t>La administración estaba sujeta al criterio del señor  feudal</a:t>
            </a:r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endParaRPr lang="es-ES" sz="3200" dirty="0"/>
          </a:p>
        </p:txBody>
      </p:sp>
      <p:sp>
        <p:nvSpPr>
          <p:cNvPr id="2048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849EC3-1FB7-4B31-859C-8B3FDB1644B3}" type="slidenum">
              <a:rPr lang="es-ES" smtClean="0">
                <a:latin typeface="Times New Roman" pitchFamily="18" charset="0"/>
              </a:rPr>
              <a:pPr/>
              <a:t>4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Revolución industrial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s-ES_tradnl" dirty="0"/>
              <a:t>Surge la especialización y la producción en serie.</a:t>
            </a:r>
          </a:p>
          <a:p>
            <a:pPr eaLnBrk="1" hangingPunct="1">
              <a:defRPr/>
            </a:pPr>
            <a:r>
              <a:rPr lang="es-ES_tradnl" sz="4400" dirty="0">
                <a:latin typeface="+mj-lt"/>
              </a:rPr>
              <a:t>                      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Siglo XX</a:t>
            </a:r>
          </a:p>
          <a:p>
            <a:pPr algn="just" eaLnBrk="1" hangingPunct="1">
              <a:defRPr/>
            </a:pPr>
            <a:r>
              <a:rPr lang="es-ES_tradnl" sz="3600" dirty="0"/>
              <a:t>La administración se torna indispensable en el manejo de cualquier empresa</a:t>
            </a:r>
          </a:p>
          <a:p>
            <a:pPr eaLnBrk="1" hangingPunct="1">
              <a:defRPr/>
            </a:pPr>
            <a:endParaRPr lang="es-ES" sz="3600" dirty="0"/>
          </a:p>
        </p:txBody>
      </p:sp>
      <p:sp>
        <p:nvSpPr>
          <p:cNvPr id="2253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9F0BCE-F346-49B8-88A6-C4D1A8AA6886}" type="slidenum">
              <a:rPr lang="es-ES" smtClean="0">
                <a:latin typeface="Times New Roman" pitchFamily="18" charset="0"/>
              </a:rPr>
              <a:pPr/>
              <a:t>5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ADMINISTRACIÓN</a:t>
            </a:r>
            <a:endParaRPr lang="es-ES" dirty="0"/>
          </a:p>
        </p:txBody>
      </p:sp>
      <p:sp>
        <p:nvSpPr>
          <p:cNvPr id="24578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s-ES_tradnl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Es el proceso de trabajar en grupo con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gente y recursos para alcanzar las metas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de la organización.</a:t>
            </a:r>
          </a:p>
          <a:p>
            <a:pPr eaLnBrk="1" hangingPunct="1">
              <a:buFont typeface="Wingdings" pitchFamily="2" charset="2"/>
              <a:buNone/>
            </a:pPr>
            <a:endParaRPr lang="es-ES_tradnl" dirty="0" smtClean="0"/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2457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A8203D-7053-493E-8665-C15C9FEC4C8C}" type="slidenum">
              <a:rPr lang="es-ES" smtClean="0">
                <a:latin typeface="Times New Roman" pitchFamily="18" charset="0"/>
              </a:rPr>
              <a:pPr/>
              <a:t>6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sz="3600" dirty="0" smtClean="0"/>
              <a:t>IMPORTANCIA DE LA ADMINISTRACIÓN</a:t>
            </a:r>
            <a:endParaRPr lang="es-ES" sz="3600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s-MX" dirty="0" smtClean="0"/>
              <a:t>La Administración es importante porque se aplica en cualquier tipo de organización con deseos de aumentar su productividad y lograr el éxito.</a:t>
            </a:r>
            <a:endParaRPr lang="es-ES" dirty="0" smtClean="0"/>
          </a:p>
          <a:p>
            <a:pPr algn="just" eaLnBrk="1" hangingPunct="1"/>
            <a:r>
              <a:rPr lang="es-MX" dirty="0" smtClean="0"/>
              <a:t>Ayuda a obtener mejor personal, equipo, materiales, dinero y relaciones humanas.</a:t>
            </a:r>
            <a:endParaRPr lang="es-ES" dirty="0" smtClean="0"/>
          </a:p>
          <a:p>
            <a:pPr algn="ctr"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2662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845C63-524D-479B-B041-3DB952F0313E}" type="slidenum">
              <a:rPr lang="es-ES" smtClean="0">
                <a:latin typeface="Times New Roman" pitchFamily="18" charset="0"/>
              </a:rPr>
              <a:pPr/>
              <a:t>7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Conceptos de autores</a:t>
            </a:r>
            <a:br>
              <a:rPr lang="es-ES_tradnl" dirty="0"/>
            </a:br>
            <a:r>
              <a:rPr lang="es-ES_tradnl" dirty="0"/>
              <a:t>Contemporáneos</a:t>
            </a:r>
            <a:endParaRPr lang="es-ES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idx="1"/>
          </p:nvPr>
        </p:nvSpPr>
        <p:spPr>
          <a:xfrm>
            <a:off x="571500" y="1928813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George Terry : </a:t>
            </a:r>
            <a:endParaRPr lang="es-ES_tradnl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administración consiste en </a:t>
            </a:r>
            <a:r>
              <a:rPr lang="es-ES_tradnl" dirty="0" smtClean="0"/>
              <a:t>La planeación,  organización</a:t>
            </a:r>
            <a:r>
              <a:rPr lang="es-ES_tradnl" dirty="0"/>
              <a:t>, dirección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/>
              <a:t>ejecución y control del trabajo.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Carlos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Dávila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 </a:t>
            </a:r>
            <a:r>
              <a:rPr lang="es-ES_tradnl" dirty="0"/>
              <a:t>Manejo de los recursos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/>
              <a:t>a través  del proceso administrativo.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" dirty="0"/>
          </a:p>
        </p:txBody>
      </p:sp>
      <p:sp>
        <p:nvSpPr>
          <p:cNvPr id="2765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E0C3C98-3B00-4072-93CD-E83AAC6B0934}" type="slidenum">
              <a:rPr lang="es-ES" smtClean="0">
                <a:latin typeface="Times New Roman" pitchFamily="18" charset="0"/>
              </a:rPr>
              <a:pPr/>
              <a:t>8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Conceptos de autores</a:t>
            </a:r>
            <a:br>
              <a:rPr lang="es-ES_tradnl" dirty="0" smtClean="0"/>
            </a:br>
            <a:r>
              <a:rPr lang="es-ES_tradnl" dirty="0" smtClean="0"/>
              <a:t>Contemporáneos</a:t>
            </a:r>
            <a:endParaRPr lang="es-E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Harold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Koontz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 </a:t>
            </a:r>
            <a:r>
              <a:rPr lang="es-ES_tradnl" dirty="0"/>
              <a:t>La dirección de un </a:t>
            </a:r>
            <a:r>
              <a:rPr lang="es-ES_tradnl" dirty="0" smtClean="0"/>
              <a:t>Organismo </a:t>
            </a:r>
            <a:r>
              <a:rPr lang="es-ES_tradnl" dirty="0"/>
              <a:t>social y su efectividad en </a:t>
            </a:r>
            <a:r>
              <a:rPr lang="es-ES_tradnl" dirty="0" smtClean="0"/>
              <a:t>alcanzar Objetivos</a:t>
            </a:r>
            <a:r>
              <a:rPr lang="es-ES_tradnl" dirty="0"/>
              <a:t>, fundada en la habilidad </a:t>
            </a:r>
            <a:r>
              <a:rPr lang="es-ES_tradnl" dirty="0" smtClean="0"/>
              <a:t>de </a:t>
            </a:r>
            <a:r>
              <a:rPr lang="es-ES_tradnl" dirty="0"/>
              <a:t>conducir a sus integrantes.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Elton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Mayo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mejoría en la </a:t>
            </a:r>
            <a:r>
              <a:rPr lang="es-ES_tradnl" dirty="0" smtClean="0"/>
              <a:t>productividad Se </a:t>
            </a:r>
            <a:r>
              <a:rPr lang="es-ES_tradnl" dirty="0"/>
              <a:t>debe a factores sociales. </a:t>
            </a:r>
            <a:endParaRPr lang="es-ES" dirty="0"/>
          </a:p>
        </p:txBody>
      </p:sp>
      <p:sp>
        <p:nvSpPr>
          <p:cNvPr id="2969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172BBB-3CFB-499C-B5B6-17F4CC0F65A5}" type="slidenum">
              <a:rPr lang="es-ES" smtClean="0">
                <a:latin typeface="Times New Roman" pitchFamily="18" charset="0"/>
              </a:rPr>
              <a:pPr/>
              <a:t>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Conceptos de autores</a:t>
            </a:r>
            <a:br>
              <a:rPr lang="es-ES_tradnl" dirty="0" smtClean="0"/>
            </a:br>
            <a:r>
              <a:rPr lang="es-ES_tradnl" dirty="0" smtClean="0"/>
              <a:t>Contemporáneos</a:t>
            </a:r>
            <a:endParaRPr lang="es-E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Henry 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Fayol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Considerado </a:t>
            </a:r>
            <a:r>
              <a:rPr lang="es-ES_tradnl" dirty="0"/>
              <a:t>el padre de la </a:t>
            </a:r>
            <a:r>
              <a:rPr lang="es-ES_tradnl" dirty="0" smtClean="0"/>
              <a:t>Administración </a:t>
            </a:r>
            <a:r>
              <a:rPr lang="es-ES_tradnl" dirty="0"/>
              <a:t>moderna, se baso en </a:t>
            </a:r>
            <a:r>
              <a:rPr lang="es-ES_tradnl" dirty="0" smtClean="0"/>
              <a:t>organizar, Mandar</a:t>
            </a:r>
            <a:r>
              <a:rPr lang="es-ES_tradnl" dirty="0"/>
              <a:t>, coordinar y controlar.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err="1" smtClean="0">
                <a:solidFill>
                  <a:schemeClr val="accent1">
                    <a:lumMod val="75000"/>
                  </a:schemeClr>
                </a:solidFill>
              </a:rPr>
              <a:t>Idalberto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Chaveneto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endParaRPr lang="es-ES_tradnl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administración </a:t>
            </a:r>
            <a:r>
              <a:rPr lang="es-ES_tradnl" dirty="0" smtClean="0"/>
              <a:t>se basa </a:t>
            </a:r>
            <a:r>
              <a:rPr lang="es-ES_tradnl" dirty="0"/>
              <a:t>en el esfuerzo cooperativo del </a:t>
            </a:r>
            <a:r>
              <a:rPr lang="es-ES_tradnl" dirty="0" smtClean="0"/>
              <a:t>hombre </a:t>
            </a:r>
            <a:r>
              <a:rPr lang="es-ES_tradnl" dirty="0"/>
              <a:t>por medio de las organizaciones.</a:t>
            </a:r>
            <a:endParaRPr lang="es-ES" dirty="0"/>
          </a:p>
        </p:txBody>
      </p:sp>
      <p:sp>
        <p:nvSpPr>
          <p:cNvPr id="3072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ABAE6F-58EF-443B-8FD9-272319755423}" type="slidenum">
              <a:rPr lang="es-ES" smtClean="0">
                <a:latin typeface="Times New Roman" pitchFamily="18" charset="0"/>
              </a:rPr>
              <a:pPr/>
              <a:t>10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s-ES_tradnl" sz="4000" dirty="0" smtClean="0">
                <a:latin typeface="Arial" charset="0"/>
              </a:rPr>
              <a:t>Conceptos de autores</a:t>
            </a:r>
            <a:br>
              <a:rPr lang="es-ES_tradnl" sz="4000" dirty="0" smtClean="0">
                <a:latin typeface="Arial" charset="0"/>
              </a:rPr>
            </a:br>
            <a:r>
              <a:rPr lang="es-ES_tradnl" sz="4000" dirty="0" smtClean="0">
                <a:latin typeface="Arial" charset="0"/>
              </a:rPr>
              <a:t>Contemporáneos</a:t>
            </a:r>
            <a:br>
              <a:rPr lang="es-ES_tradnl" sz="4000" dirty="0" smtClean="0">
                <a:latin typeface="Arial" charset="0"/>
              </a:rPr>
            </a:br>
            <a:endParaRPr lang="es-ES" sz="4000" dirty="0">
              <a:latin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643063"/>
            <a:ext cx="7772400" cy="41148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Frederick Taylor</a:t>
            </a:r>
            <a:endParaRPr lang="es-ES_tradnl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 eaLnBrk="1" hangingPunct="1">
              <a:buFontTx/>
              <a:buNone/>
              <a:defRPr/>
            </a:pPr>
            <a:r>
              <a:rPr lang="es-MX" sz="2400" dirty="0" smtClean="0"/>
              <a:t>	</a:t>
            </a:r>
            <a:r>
              <a:rPr lang="es-MX" dirty="0" smtClean="0"/>
              <a:t>Se le llama "el padre de la administración científica”, dedicó la mayor parte de su vida a estudiar y encontrar la mejor manera de ejecutar el trabajo a través de los estudios de los tiempos y movimientos y de la forma más adecuada para remunerar a los trabajadores con el fin de incrementar la productividad</a:t>
            </a: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</p:txBody>
      </p:sp>
      <p:sp>
        <p:nvSpPr>
          <p:cNvPr id="3174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A635AC-29CC-46A1-9567-A3369CC9D3A1}" type="slidenum">
              <a:rPr lang="es-ES" smtClean="0">
                <a:latin typeface="Times New Roman" pitchFamily="18" charset="0"/>
              </a:rPr>
              <a:pPr/>
              <a:t>11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s-ES_tradnl" dirty="0" smtClean="0">
                <a:latin typeface="Arial" charset="0"/>
              </a:rPr>
              <a:t>Conceptos de autores</a:t>
            </a:r>
            <a:br>
              <a:rPr lang="es-ES_tradnl" dirty="0" smtClean="0">
                <a:latin typeface="Arial" charset="0"/>
              </a:rPr>
            </a:br>
            <a:r>
              <a:rPr lang="es-ES_tradnl" dirty="0" smtClean="0">
                <a:latin typeface="Arial" charset="0"/>
              </a:rPr>
              <a:t>Contemporáneos</a:t>
            </a:r>
            <a:endParaRPr lang="es-ES" dirty="0">
              <a:latin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s-MX" sz="2800" dirty="0" err="1" smtClean="0">
                <a:solidFill>
                  <a:schemeClr val="accent1">
                    <a:lumMod val="75000"/>
                  </a:schemeClr>
                </a:solidFill>
              </a:rPr>
              <a:t>Luther</a:t>
            </a:r>
            <a:r>
              <a:rPr lang="es-MX" sz="28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MX" sz="2800" dirty="0" err="1" smtClean="0">
                <a:solidFill>
                  <a:schemeClr val="accent1">
                    <a:lumMod val="75000"/>
                  </a:schemeClr>
                </a:solidFill>
              </a:rPr>
              <a:t>Gulick</a:t>
            </a:r>
            <a:endParaRPr lang="es-MX" sz="28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MX" sz="2800" dirty="0" smtClean="0"/>
              <a:t>	Para este pensador la administración la define como un sistema por medio del cual las personas establecen relaciones, predicen resultados e influyen  en las consecuencias de cualquier situación en que se organicen para trabajar unidos en el logro de propósitos comunes</a:t>
            </a:r>
            <a:endParaRPr lang="es-ES" sz="28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MX" sz="2400" dirty="0" smtClean="0"/>
              <a:t>	</a:t>
            </a:r>
            <a:endParaRPr lang="es-ES_tradnl" sz="2400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</p:txBody>
      </p:sp>
      <p:sp>
        <p:nvSpPr>
          <p:cNvPr id="3277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FB40606-89A1-46D1-B2EC-161C75E73393}" type="slidenum">
              <a:rPr lang="es-ES" smtClean="0">
                <a:latin typeface="Times New Roman" pitchFamily="18" charset="0"/>
              </a:rPr>
              <a:pPr/>
              <a:t>12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Teorías del pensamiento</a:t>
            </a:r>
            <a:br>
              <a:rPr lang="es-ES_tradnl"/>
            </a:br>
            <a:r>
              <a:rPr lang="es-ES_tradnl"/>
              <a:t>Administrativo.</a:t>
            </a:r>
            <a:endParaRPr lang="es-ES"/>
          </a:p>
        </p:txBody>
      </p:sp>
      <p:sp>
        <p:nvSpPr>
          <p:cNvPr id="3481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s-ES_tradnl" smtClean="0"/>
              <a:t>1903 Admón. Científica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1909 Teoría de la 		    burocracia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1916 Teoría Clásica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1932 Teoría de las      relaciones humanas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1947 Teoría          estructuralista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1951 Teoría de los sistemas</a:t>
            </a:r>
          </a:p>
          <a:p>
            <a:pPr lvl="1" eaLnBrk="1" hangingPunct="1">
              <a:buFontTx/>
              <a:buNone/>
            </a:pPr>
            <a:endParaRPr lang="es-ES" smtClean="0"/>
          </a:p>
        </p:txBody>
      </p:sp>
      <p:sp>
        <p:nvSpPr>
          <p:cNvPr id="34819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1953 Enfoque Socio técnico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1954 Teoría Neoclásica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1957 Teoría conductual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1962 Desarrollo Organizacional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1972 Teoría de la contingencia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1990 Nuevos enfoques</a:t>
            </a:r>
            <a:endParaRPr lang="es-ES" smtClean="0"/>
          </a:p>
        </p:txBody>
      </p:sp>
      <p:sp>
        <p:nvSpPr>
          <p:cNvPr id="34820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0874BA-521F-4A5A-ADD8-80DDA58001DB}" type="slidenum">
              <a:rPr lang="es-ES" smtClean="0">
                <a:latin typeface="Times New Roman" pitchFamily="18" charset="0"/>
              </a:rPr>
              <a:pPr/>
              <a:t>13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Objetivo de la Administración</a:t>
            </a:r>
            <a:endParaRPr lang="es-E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lang="es-MX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“El objetivo debe tener significado y valor”</a:t>
            </a:r>
            <a:endParaRPr lang="es-ES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s-MX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MX" dirty="0" smtClean="0"/>
              <a:t>	Estos son de vital importancia para llegar a los resultados deseados, deben ser definidos con claridad para que los comprendan todos los miembros de la empresa y se logre llegar a la meta fijada</a:t>
            </a:r>
            <a:endParaRPr lang="es-ES" dirty="0"/>
          </a:p>
        </p:txBody>
      </p:sp>
      <p:sp>
        <p:nvSpPr>
          <p:cNvPr id="3584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04016C-97FB-4D1C-996E-A4D01B4D3899}" type="slidenum">
              <a:rPr lang="es-ES" smtClean="0">
                <a:latin typeface="Times New Roman" pitchFamily="18" charset="0"/>
              </a:rPr>
              <a:pPr/>
              <a:t>14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Características de la administración</a:t>
            </a:r>
            <a:endParaRPr lang="es-ES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Universalidad: </a:t>
            </a:r>
            <a:r>
              <a:rPr lang="es-MX" sz="2800" dirty="0" smtClean="0"/>
              <a:t>La administración se da en todos los organismos sociales (estado, ejército, empresa, iglesias, familia, etc.)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Flexibilidad: </a:t>
            </a:r>
            <a:r>
              <a:rPr lang="es-MX" sz="2800" dirty="0" smtClean="0"/>
              <a:t>La administración se adapta a las necesidades particulares de cada organización.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Intangible:</a:t>
            </a:r>
            <a:r>
              <a:rPr lang="es-MX" sz="2800" b="1" dirty="0" smtClean="0"/>
              <a:t> </a:t>
            </a:r>
            <a:r>
              <a:rPr lang="es-MX" sz="2800" dirty="0" smtClean="0"/>
              <a:t>Su presencia queda evidenciada por el resultado del esfuerzo de los integrantes de la organización</a:t>
            </a:r>
            <a:endParaRPr lang="es-ES" sz="2800" dirty="0"/>
          </a:p>
        </p:txBody>
      </p:sp>
      <p:sp>
        <p:nvSpPr>
          <p:cNvPr id="3686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FABFEA-E865-4DBC-8060-84D3A0013C82}" type="slidenum">
              <a:rPr lang="es-ES" smtClean="0">
                <a:latin typeface="Times New Roman" pitchFamily="18" charset="0"/>
              </a:rPr>
              <a:pPr/>
              <a:t>15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Características de la </a:t>
            </a:r>
            <a:r>
              <a:rPr lang="es-ES_tradnl" dirty="0" smtClean="0"/>
              <a:t>administración</a:t>
            </a:r>
            <a:endParaRPr lang="es-E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 administración no son personas</a:t>
            </a:r>
            <a:r>
              <a:rPr lang="es-MX" sz="2800" b="1" dirty="0" smtClean="0"/>
              <a:t>, </a:t>
            </a:r>
            <a:r>
              <a:rPr lang="es-MX" sz="28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es una actividad</a:t>
            </a:r>
            <a:r>
              <a:rPr lang="es-MX" sz="2800" dirty="0" smtClean="0"/>
              <a:t>; las personas que administran pueden ser designadas como Directores, Gerentes de áreas, Jefes, etc.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 logra mediante los esfuerzos</a:t>
            </a:r>
            <a:r>
              <a:rPr lang="es-MX" sz="2800" b="1" dirty="0" smtClean="0"/>
              <a:t>.  </a:t>
            </a:r>
            <a:r>
              <a:rPr lang="es-MX" sz="2800" dirty="0" smtClean="0"/>
              <a:t>Para participar en la administración se necesita dejar la costumbre de hacer las cosas por uno mismo y hace que las tareas se cumplan mediante esfuerzos de otros.</a:t>
            </a:r>
            <a:endParaRPr lang="es-ES" sz="2800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s-ES" sz="2800" dirty="0"/>
          </a:p>
        </p:txBody>
      </p:sp>
      <p:sp>
        <p:nvSpPr>
          <p:cNvPr id="3789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B3DF71-B3B3-492F-90CA-F67A9F2BAFAB}" type="slidenum">
              <a:rPr lang="es-ES" smtClean="0">
                <a:latin typeface="Times New Roman" pitchFamily="18" charset="0"/>
              </a:rPr>
              <a:pPr/>
              <a:t>16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Funciones de la Administración</a:t>
            </a:r>
            <a:endParaRPr lang="es-ES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Planeación</a:t>
            </a:r>
          </a:p>
          <a:p>
            <a:pPr eaLnBrk="1" hangingPunct="1"/>
            <a:r>
              <a:rPr lang="es-ES" smtClean="0"/>
              <a:t>Organización</a:t>
            </a:r>
          </a:p>
          <a:p>
            <a:pPr eaLnBrk="1" hangingPunct="1"/>
            <a:r>
              <a:rPr lang="es-ES" smtClean="0"/>
              <a:t>Integración Personal</a:t>
            </a:r>
          </a:p>
          <a:p>
            <a:pPr eaLnBrk="1" hangingPunct="1"/>
            <a:r>
              <a:rPr lang="es-ES" smtClean="0"/>
              <a:t>Dirección</a:t>
            </a:r>
          </a:p>
          <a:p>
            <a:pPr eaLnBrk="1" hangingPunct="1"/>
            <a:r>
              <a:rPr lang="es-ES" smtClean="0"/>
              <a:t>Control</a:t>
            </a:r>
          </a:p>
        </p:txBody>
      </p:sp>
      <p:sp>
        <p:nvSpPr>
          <p:cNvPr id="3891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D572D0-43F1-451B-85BD-D92D173C0FD4}" type="slidenum">
              <a:rPr lang="es-ES" smtClean="0">
                <a:latin typeface="Times New Roman" pitchFamily="18" charset="0"/>
              </a:rPr>
              <a:pPr/>
              <a:t>17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PLANEACION</a:t>
            </a:r>
            <a:endParaRPr lang="es-ES" dirty="0"/>
          </a:p>
        </p:txBody>
      </p:sp>
      <p:sp>
        <p:nvSpPr>
          <p:cNvPr id="39938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es-ES" smtClean="0"/>
          </a:p>
          <a:p>
            <a:pPr algn="just" eaLnBrk="1" hangingPunct="1"/>
            <a:r>
              <a:rPr lang="es-ES" smtClean="0">
                <a:cs typeface="Arial" charset="0"/>
              </a:rPr>
              <a:t>Es el proceso de definir METAS, OBJETIVOS y ESTRATEGIAS de una organización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cs typeface="Arial" charset="0"/>
              </a:rPr>
              <a:t>.</a:t>
            </a:r>
          </a:p>
        </p:txBody>
      </p:sp>
      <p:sp>
        <p:nvSpPr>
          <p:cNvPr id="39939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986AD3-53AC-4EB6-A5E9-04B92EBC4055}" type="slidenum">
              <a:rPr lang="es-ES" smtClean="0">
                <a:latin typeface="Times New Roman" pitchFamily="18" charset="0"/>
              </a:rPr>
              <a:pPr/>
              <a:t>18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ORGANIZACION</a:t>
            </a:r>
            <a:endParaRPr lang="es-ES" dirty="0"/>
          </a:p>
        </p:txBody>
      </p:sp>
      <p:sp>
        <p:nvSpPr>
          <p:cNvPr id="40962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Es la manera como se lleva a cabo los planes</a:t>
            </a:r>
          </a:p>
        </p:txBody>
      </p:sp>
      <p:sp>
        <p:nvSpPr>
          <p:cNvPr id="40963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9B9C11-047B-4EC2-B84F-EB1CF8145696}" type="slidenum">
              <a:rPr lang="es-ES" smtClean="0">
                <a:latin typeface="Times New Roman" pitchFamily="18" charset="0"/>
              </a:rPr>
              <a:pPr/>
              <a:t>19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INTEGRACION DEL RECURSO HUMANO</a:t>
            </a:r>
            <a:endParaRPr lang="es-ES" dirty="0"/>
          </a:p>
        </p:txBody>
      </p:sp>
      <p:sp>
        <p:nvSpPr>
          <p:cNvPr id="41986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Personal competente en la organización.</a:t>
            </a:r>
          </a:p>
        </p:txBody>
      </p:sp>
      <p:sp>
        <p:nvSpPr>
          <p:cNvPr id="41987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738349-6718-4885-A9A9-062BEF3E6B6D}" type="slidenum">
              <a:rPr lang="es-ES" smtClean="0">
                <a:latin typeface="Times New Roman" pitchFamily="18" charset="0"/>
              </a:rPr>
              <a:pPr/>
              <a:t>20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DIRECCION</a:t>
            </a:r>
            <a:endParaRPr lang="es-ES" dirty="0"/>
          </a:p>
        </p:txBody>
      </p:sp>
      <p:sp>
        <p:nvSpPr>
          <p:cNvPr id="43010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Motivación, liderazgo</a:t>
            </a:r>
          </a:p>
        </p:txBody>
      </p:sp>
      <p:sp>
        <p:nvSpPr>
          <p:cNvPr id="43011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DFD03D-CB2D-4AE1-942A-2EF7535348C4}" type="slidenum">
              <a:rPr lang="es-ES" smtClean="0">
                <a:latin typeface="Times New Roman" pitchFamily="18" charset="0"/>
              </a:rPr>
              <a:pPr/>
              <a:t>21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CONTROL</a:t>
            </a:r>
            <a:endParaRPr lang="es-ES" dirty="0"/>
          </a:p>
        </p:txBody>
      </p:sp>
      <p:sp>
        <p:nvSpPr>
          <p:cNvPr id="44034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Es el seguimiento de las actividades de acuerdo con lo planeado</a:t>
            </a:r>
          </a:p>
        </p:txBody>
      </p:sp>
      <p:sp>
        <p:nvSpPr>
          <p:cNvPr id="44035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1DB25E-54C6-42D2-A892-00819B2ED726}" type="slidenum">
              <a:rPr lang="es-ES" smtClean="0">
                <a:latin typeface="Times New Roman" pitchFamily="18" charset="0"/>
              </a:rPr>
              <a:pPr/>
              <a:t>22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Evolución del </a:t>
            </a:r>
            <a:r>
              <a:rPr lang="es-ES_tradnl" dirty="0" smtClean="0"/>
              <a:t>Pensamiento </a:t>
            </a:r>
            <a:r>
              <a:rPr lang="es-ES_tradnl" dirty="0"/>
              <a:t>Administrativo</a:t>
            </a:r>
            <a:br>
              <a:rPr lang="es-ES_tradnl" dirty="0"/>
            </a:br>
            <a:endParaRPr lang="es-ES" dirty="0"/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3379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D716AD-4E8B-43F2-9F5F-FE789416E839}" type="slidenum">
              <a:rPr lang="es-ES" smtClean="0">
                <a:latin typeface="Times New Roman" pitchFamily="18" charset="0"/>
              </a:rPr>
              <a:pPr/>
              <a:t>23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Administración Tradicional</a:t>
            </a:r>
            <a:endParaRPr lang="es-E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928813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algn="just" eaLnBrk="1" hangingPunct="1">
              <a:buFont typeface="Wingdings" pitchFamily="2" charset="2"/>
              <a:buNone/>
            </a:pPr>
            <a:r>
              <a:rPr lang="es-ES_tradnl" smtClean="0"/>
              <a:t>    Esta fundamentada en la disciplina obediencia y el orden al igual que en las diferentes creencias de la época y comportamientos del Individuo.</a:t>
            </a:r>
          </a:p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4505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50AA96-F7DB-42B8-B029-96C64E245568}" type="slidenum">
              <a:rPr lang="es-ES" smtClean="0">
                <a:latin typeface="Times New Roman" pitchFamily="18" charset="0"/>
              </a:rPr>
              <a:pPr/>
              <a:t>24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Administración Moderna</a:t>
            </a:r>
            <a:endParaRPr lang="es-E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928813"/>
            <a:ext cx="7986713" cy="43291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Nacen los administradores y las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 organizaciones.</a:t>
            </a:r>
          </a:p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Se fortalecen las teorías y se crean las nuevas.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4608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9FC066-5069-4EA0-BC8C-13FC5D11C9C5}" type="slidenum">
              <a:rPr lang="es-ES" smtClean="0">
                <a:latin typeface="Times New Roman" pitchFamily="18" charset="0"/>
              </a:rPr>
              <a:pPr/>
              <a:t>25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Perspectivas futuras</a:t>
            </a:r>
            <a:br>
              <a:rPr lang="es-ES_tradnl" dirty="0"/>
            </a:br>
            <a:r>
              <a:rPr lang="es-ES_tradnl" dirty="0"/>
              <a:t>en la administración</a:t>
            </a:r>
            <a:endParaRPr lang="es-E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Cada época desarrolla una forma organizacional propia, de acuerdo a sus propias características.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Las organizaciones actuales no serán apropiadas en el futuro, por  la presencia de fenómenos o factores que las afectan, tales como: </a:t>
            </a:r>
            <a:r>
              <a:rPr lang="es-ES_tradnl" dirty="0" smtClean="0"/>
              <a:t> </a:t>
            </a:r>
            <a:endParaRPr lang="es-ES_tradnl" dirty="0"/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cambios rápidos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 crecimiento o expansión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Las actividades</a:t>
            </a:r>
            <a:endParaRPr lang="es-E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10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AC3FDA-6FE9-4EE2-B69C-AA1CF4BAB92E}" type="slidenum">
              <a:rPr lang="es-ES" smtClean="0">
                <a:latin typeface="Times New Roman" pitchFamily="18" charset="0"/>
              </a:rPr>
              <a:pPr/>
              <a:t>26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E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*El crecimiento de las organizaciones.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competencia.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sofisticación de la tecnología.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*Tasas de inflación.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globalización de la economía e internacionalización de los negocios.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mayor visibilidad de las rganizaciones.</a:t>
            </a:r>
            <a:endParaRPr lang="es-ES" smtClean="0"/>
          </a:p>
        </p:txBody>
      </p:sp>
      <p:sp>
        <p:nvSpPr>
          <p:cNvPr id="4813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92514A-80E6-4450-9D98-AF09F70D0B4B}" type="slidenum">
              <a:rPr lang="es-ES" smtClean="0">
                <a:latin typeface="Times New Roman" pitchFamily="18" charset="0"/>
              </a:rPr>
              <a:pPr/>
              <a:t>27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Transformaciones o mega tendencias de la</a:t>
            </a:r>
            <a:br>
              <a:rPr lang="es-ES_tradnl" dirty="0"/>
            </a:br>
            <a:r>
              <a:rPr lang="es-ES_tradnl" dirty="0" smtClean="0"/>
              <a:t>sociedad</a:t>
            </a:r>
            <a:endParaRPr lang="es-ES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2881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_tradnl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sociedad industrial ala sociedad de la información.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tecnología simple a la sofisticada.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economía nacional a la mundial.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-Del corto al largo plazo.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democracia representativa a la participativa.</a:t>
            </a:r>
            <a:endParaRPr lang="es-ES" dirty="0" smtClean="0"/>
          </a:p>
        </p:txBody>
      </p:sp>
      <p:sp>
        <p:nvSpPr>
          <p:cNvPr id="4915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4C5E26-9DD7-4394-8FA2-4CB89BA38F14}" type="slidenum">
              <a:rPr lang="es-ES" smtClean="0">
                <a:latin typeface="Times New Roman" pitchFamily="18" charset="0"/>
              </a:rPr>
              <a:pPr/>
              <a:t>28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Transformaciones o mega tendencias de la administración</a:t>
            </a:r>
            <a:endParaRPr lang="es-ES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57438"/>
            <a:ext cx="7772400" cy="3738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las jerarquías a la comunicación lateral intensiva.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opción dual a la múltiple.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centralización a la descentralización.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ayuda institucional a la autoayuda.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5017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402FCB-34C3-4BF7-AE13-0BA522F55561}" type="slidenum">
              <a:rPr lang="es-ES" smtClean="0">
                <a:latin typeface="Times New Roman" pitchFamily="18" charset="0"/>
              </a:rPr>
              <a:pPr/>
              <a:t>29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ORGANIZACIÓN VS. ADMINISTRACIÓN</a:t>
            </a:r>
            <a:endParaRPr lang="es-ES" dirty="0"/>
          </a:p>
        </p:txBody>
      </p:sp>
      <p:sp>
        <p:nvSpPr>
          <p:cNvPr id="5120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BD75F3-6368-4405-9974-8192A937B6D4}" type="slidenum">
              <a:rPr lang="es-ES" smtClean="0">
                <a:latin typeface="Times New Roman" pitchFamily="18" charset="0"/>
              </a:rPr>
              <a:pPr/>
              <a:t>30</a:t>
            </a:fld>
            <a:endParaRPr lang="es-ES" smtClean="0">
              <a:latin typeface="Times New Roman" pitchFamily="18" charset="0"/>
            </a:endParaRPr>
          </a:p>
        </p:txBody>
      </p:sp>
      <p:sp>
        <p:nvSpPr>
          <p:cNvPr id="51203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GRUPOS </a:t>
            </a:r>
            <a:r>
              <a:rPr lang="es-ES" dirty="0" smtClean="0"/>
              <a:t>DE PERSONAS QUE TRABAJAN JUNTAS PARA LOGRAR </a:t>
            </a:r>
            <a:r>
              <a:rPr lang="es-ES" dirty="0" smtClean="0"/>
              <a:t> </a:t>
            </a:r>
            <a:r>
              <a:rPr lang="es-ES" dirty="0" smtClean="0"/>
              <a:t>OBJETIVOS Y </a:t>
            </a:r>
            <a:r>
              <a:rPr lang="es-ES" dirty="0" smtClean="0"/>
              <a:t>METAS COMUNES.</a:t>
            </a:r>
            <a:endParaRPr lang="es-ES" dirty="0" smtClean="0"/>
          </a:p>
          <a:p>
            <a:pPr eaLnBrk="1" hangingPunct="1"/>
            <a:endParaRPr lang="es-ES" dirty="0" smtClean="0"/>
          </a:p>
          <a:p>
            <a:pPr eaLnBrk="1" hangingPunct="1"/>
            <a:r>
              <a:rPr lang="es-ES" dirty="0" smtClean="0"/>
              <a:t>SEGÚN SU FIN LA ORGANIZACIÓN SE CLASIFICA Y TIENE DIFERENTE NIVELES.</a:t>
            </a:r>
          </a:p>
          <a:p>
            <a:pPr algn="just" eaLnBrk="1" hangingPunct="1"/>
            <a:endParaRPr lang="es-E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CLASES DE ORGANIZACIONES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31</a:t>
            </a:fld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PRODUCTIVIDAD, EFECTIVIDAD Y EFICIENCIA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PRODUCTIVIDAD:</a:t>
            </a:r>
            <a:r>
              <a:rPr lang="es-ES" dirty="0" smtClean="0"/>
              <a:t> Excedente logrado  a </a:t>
            </a:r>
            <a:r>
              <a:rPr lang="es-ES" dirty="0" err="1" smtClean="0"/>
              <a:t>traves</a:t>
            </a:r>
            <a:r>
              <a:rPr lang="es-ES" dirty="0" smtClean="0"/>
              <a:t> de una salida o venta dentro de un periodo, considerando la calidad</a:t>
            </a:r>
          </a:p>
          <a:p>
            <a:r>
              <a:rPr lang="es-ES" dirty="0" smtClean="0">
                <a:solidFill>
                  <a:schemeClr val="accent1"/>
                </a:solidFill>
              </a:rPr>
              <a:t>EFECTIVIDAD:</a:t>
            </a:r>
            <a:r>
              <a:rPr lang="es-ES" dirty="0" smtClean="0"/>
              <a:t> Logro de objetivos.</a:t>
            </a:r>
          </a:p>
          <a:p>
            <a:r>
              <a:rPr lang="es-ES" dirty="0" smtClean="0">
                <a:solidFill>
                  <a:schemeClr val="accent1"/>
                </a:solidFill>
              </a:rPr>
              <a:t>EFICIENCIA: </a:t>
            </a:r>
            <a:r>
              <a:rPr lang="es-ES" dirty="0" smtClean="0"/>
              <a:t> Alcanzar el fin con el </a:t>
            </a:r>
            <a:r>
              <a:rPr lang="es-ES" dirty="0" err="1" smtClean="0"/>
              <a:t>minimo</a:t>
            </a:r>
            <a:r>
              <a:rPr lang="es-ES" dirty="0" smtClean="0"/>
              <a:t> de los recursos</a:t>
            </a:r>
            <a:endParaRPr lang="es-ES" dirty="0" smtClean="0">
              <a:solidFill>
                <a:schemeClr val="accent1"/>
              </a:solidFill>
            </a:endParaRPr>
          </a:p>
          <a:p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32</a:t>
            </a:fld>
            <a:endParaRPr lang="es-E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ADMINISTRADOR VS ADMINISTRACION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33</a:t>
            </a:fld>
            <a:endParaRPr lang="es-E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QUE ES UNA EMPRESA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34</a:t>
            </a:fld>
            <a:endParaRPr lang="es-E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TIPOLOGIA DE LAS EMPRESAS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smtClean="0"/>
              <a:t>Por su origen, sus objetivos, el destino de sus recursos y de sus utilidades, la pertenencia, tipo de aportes, recursos y participación de sus miembros, su régimen jurídico, por su tamaño, ámbito territorial de su actividad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35</a:t>
            </a:fld>
            <a:endParaRPr lang="es-E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DIFERENCIAS ENTRE ORGANIZACIÓN Y EMPRESA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36</a:t>
            </a:fld>
            <a:endParaRPr lang="es-E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RELACION DE LA ADMINISTRACION CON OTRAS CIENCIAS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37</a:t>
            </a:fld>
            <a:endParaRPr lang="es-E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DEL COMPORTAMIENTO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SOCIOLOGIA</a:t>
            </a:r>
          </a:p>
          <a:p>
            <a:pPr>
              <a:buNone/>
            </a:pPr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s-ES" dirty="0" smtClean="0"/>
              <a:t>Trata el fenómeno social dentro de una organización.</a:t>
            </a:r>
          </a:p>
          <a:p>
            <a:pPr>
              <a:buNone/>
            </a:pP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PSICOLOGIA</a:t>
            </a:r>
          </a:p>
          <a:p>
            <a:pPr>
              <a:buNone/>
            </a:pPr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s-ES" dirty="0" smtClean="0"/>
              <a:t>Ayuda a comprender el comportamiento humano en el trabajo.</a:t>
            </a: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38</a:t>
            </a:fld>
            <a:endParaRPr lang="es-E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CUANTITATIVAS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TEORIA CONTABLE Y FINANCIERA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MATEMATICAS Y ESTDISTICAS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39</a:t>
            </a:fld>
            <a:endParaRPr lang="es-E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SOCIALES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ECONOMIA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DERECHO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HISTORIA Y FILOSOFIA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40</a:t>
            </a:fld>
            <a:endParaRPr lang="es-E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La vida real</a:t>
            </a:r>
          </a:p>
        </p:txBody>
      </p:sp>
      <p:sp>
        <p:nvSpPr>
          <p:cNvPr id="5222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Dar ejemplos o contar anécdotas de la vida real</a:t>
            </a:r>
          </a:p>
          <a:p>
            <a:pPr eaLnBrk="1" hangingPunct="1"/>
            <a:r>
              <a:rPr lang="es-ES" dirty="0" smtClean="0"/>
              <a:t>Mostrar interés por la situación de la audiencia, si resulta apropiado</a:t>
            </a:r>
          </a:p>
        </p:txBody>
      </p:sp>
      <p:sp>
        <p:nvSpPr>
          <p:cNvPr id="5222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698E1E-EF8B-4D11-83DD-64DDEEC9AC36}" type="slidenum">
              <a:rPr lang="es-ES" smtClean="0">
                <a:latin typeface="Times New Roman" pitchFamily="18" charset="0"/>
              </a:rPr>
              <a:pPr/>
              <a:t>41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Qué significa esto</a:t>
            </a:r>
          </a:p>
        </p:txBody>
      </p:sp>
      <p:sp>
        <p:nvSpPr>
          <p:cNvPr id="54274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Agregar una declaración de su opinión acerca del tema</a:t>
            </a:r>
          </a:p>
          <a:p>
            <a:pPr eaLnBrk="1" hangingPunct="1"/>
            <a:r>
              <a:rPr lang="es-ES" dirty="0" smtClean="0"/>
              <a:t>Resumir los puntos principales que desee que la audiencia recuerde</a:t>
            </a:r>
          </a:p>
        </p:txBody>
      </p:sp>
      <p:sp>
        <p:nvSpPr>
          <p:cNvPr id="5427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0AB0E5-6F43-4E25-8AA5-D8A3A3C5549A}" type="slidenum">
              <a:rPr lang="es-ES" smtClean="0">
                <a:latin typeface="Times New Roman" pitchFamily="18" charset="0"/>
              </a:rPr>
              <a:pPr/>
              <a:t>42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>
                <a:effectLst/>
              </a:rPr>
              <a:t>LA ADMINISTRACIÓN: </a:t>
            </a:r>
            <a:r>
              <a:rPr lang="es-AR" dirty="0" smtClean="0">
                <a:effectLst/>
              </a:rPr>
              <a:t>CIENCIA,TECNICA </a:t>
            </a:r>
            <a:r>
              <a:rPr lang="es-AR" dirty="0" smtClean="0">
                <a:effectLst/>
              </a:rPr>
              <a:t>O ARTE?</a:t>
            </a:r>
            <a:endParaRPr lang="es-ES" dirty="0" smtClean="0">
              <a:effectLst/>
            </a:endParaRP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Pasos siguientes </a:t>
            </a:r>
          </a:p>
        </p:txBody>
      </p:sp>
      <p:sp>
        <p:nvSpPr>
          <p:cNvPr id="5734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Resumir cualquier acción que deban realizar los participantes</a:t>
            </a:r>
          </a:p>
          <a:p>
            <a:pPr eaLnBrk="1" hangingPunct="1"/>
            <a:r>
              <a:rPr lang="es-ES" dirty="0" smtClean="0"/>
              <a:t>Resumir los elementos de acción que se deben llevar a cabo</a:t>
            </a:r>
          </a:p>
        </p:txBody>
      </p:sp>
      <p:sp>
        <p:nvSpPr>
          <p:cNvPr id="5734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55F59-88D4-4F96-B89C-B7F0B265609F}" type="slidenum">
              <a:rPr lang="es-ES" smtClean="0">
                <a:latin typeface="Times New Roman" pitchFamily="18" charset="0"/>
              </a:rPr>
              <a:pPr/>
              <a:t>44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CONCEPTO DE </a:t>
            </a:r>
            <a:r>
              <a:rPr lang="es-AR" sz="4000" dirty="0" smtClean="0">
                <a:effectLst/>
              </a:rPr>
              <a:t>CIENCIA</a:t>
            </a:r>
            <a:endParaRPr lang="es-ES" sz="4000" dirty="0" smtClean="0">
              <a:effectLst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Proceso racional que mediante pasos sistematizados y graduales busca predecir el comportamiento de un objeto para la construcción de leyes que nos permitan comprender tal comportamiento</a:t>
            </a:r>
            <a:r>
              <a:rPr lang="es-AR" dirty="0" smtClean="0"/>
              <a:t>.</a:t>
            </a:r>
          </a:p>
          <a:p>
            <a:pPr algn="just"/>
            <a:r>
              <a:rPr lang="es-AR" dirty="0" smtClean="0"/>
              <a:t>Es el conjunto de conocimientos sistematizados sobre un objeto</a:t>
            </a:r>
          </a:p>
          <a:p>
            <a:pPr algn="just"/>
            <a:r>
              <a:rPr lang="es-AR" dirty="0" smtClean="0"/>
              <a:t>Existen tres niveles de conocimiento:</a:t>
            </a:r>
            <a:endParaRPr lang="es-ES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Conocimiento popular</a:t>
            </a:r>
          </a:p>
          <a:p>
            <a:r>
              <a:rPr lang="es-CO" dirty="0" smtClean="0"/>
              <a:t>Conocimiento de divulgación</a:t>
            </a:r>
          </a:p>
          <a:p>
            <a:r>
              <a:rPr lang="es-CO" dirty="0" smtClean="0"/>
              <a:t>Conocimiento Científico</a:t>
            </a:r>
          </a:p>
          <a:p>
            <a:r>
              <a:rPr lang="es-CO" dirty="0" smtClean="0"/>
              <a:t>El Método Científico</a:t>
            </a:r>
          </a:p>
          <a:p>
            <a:r>
              <a:rPr lang="es-CO" dirty="0" smtClean="0"/>
              <a:t>Pasos o etapas del método científico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46</a:t>
            </a:fld>
            <a:endParaRPr lang="es-E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El concepto de Técnica</a:t>
            </a:r>
          </a:p>
          <a:p>
            <a:endParaRPr lang="es-CO" dirty="0" smtClean="0"/>
          </a:p>
          <a:p>
            <a:r>
              <a:rPr lang="es-CO" dirty="0" smtClean="0"/>
              <a:t>El concepto de Arte</a:t>
            </a:r>
          </a:p>
          <a:p>
            <a:r>
              <a:rPr lang="es-CO" dirty="0" smtClean="0"/>
              <a:t>El fenómeno administrativo considerado como objeto de estudio científico</a:t>
            </a:r>
          </a:p>
          <a:p>
            <a:r>
              <a:rPr lang="es-CO" dirty="0" smtClean="0"/>
              <a:t>Existe un método de investigación en la Administración?</a:t>
            </a:r>
          </a:p>
          <a:p>
            <a:r>
              <a:rPr lang="es-CO" dirty="0" smtClean="0"/>
              <a:t>La Administración como Ciencia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47</a:t>
            </a:fld>
            <a:endParaRPr lang="es-E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ADMINISTRACION COMO TECNICA</a:t>
            </a:r>
            <a:endParaRPr lang="es-ES" sz="4000" dirty="0" smtClean="0">
              <a:effectLst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Conjunto de instrumentos reglas, procedimientos y conocimientos, cuyo objeto es la aplicación utilitaria.</a:t>
            </a:r>
            <a:endParaRPr lang="es-ES" dirty="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ADMINISTRACION COMO ARTE</a:t>
            </a:r>
            <a:endParaRPr lang="es-ES" sz="4000" dirty="0" smtClean="0">
              <a:effectLst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Conjunto de preceptos y reglas necesarias para hacer bien una </a:t>
            </a:r>
            <a:r>
              <a:rPr lang="es-AR" dirty="0" smtClean="0"/>
              <a:t>cosa</a:t>
            </a:r>
          </a:p>
          <a:p>
            <a:endParaRPr lang="es-AR" dirty="0" smtClean="0"/>
          </a:p>
          <a:p>
            <a:r>
              <a:rPr lang="es-AR" dirty="0" smtClean="0"/>
              <a:t>Profundi</a:t>
            </a:r>
            <a:r>
              <a:rPr lang="es-AR" dirty="0" smtClean="0"/>
              <a:t>zar en el documento de Claudia </a:t>
            </a:r>
            <a:r>
              <a:rPr lang="es-AR" smtClean="0"/>
              <a:t>Liliana Padrón.</a:t>
            </a:r>
            <a:endParaRPr lang="es-ES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LA ADMINISTRACION CON OTRAS CIENCIAS</a:t>
            </a:r>
            <a:endParaRPr lang="es-ES" sz="4000" dirty="0" smtClean="0">
              <a:effectLst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s-AR" dirty="0" smtClean="0"/>
              <a:t>La administración  ha logrado su status de ciencia gracias a los aportes de tantas otras disciplinas que le han entregado instrumentos para poder precisar su objeto de estudio y método</a:t>
            </a:r>
            <a:endParaRPr lang="es-ES" dirty="0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endParaRPr lang="es-ES" dirty="0" smtClean="0">
              <a:effectLst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Moral: La moral dicta reglas supremas a las que deberá someterse la actividad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uelo sin motor">
  <a:themeElements>
    <a:clrScheme name="Vuelo sin motor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Vuelo sin motor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uelo sin motor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uelo sin motor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uelo sin motor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uelo sin motor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1246</Words>
  <Application>Microsoft Office PowerPoint</Application>
  <PresentationFormat>Presentación en pantalla (4:3)</PresentationFormat>
  <Paragraphs>261</Paragraphs>
  <Slides>51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2" baseType="lpstr">
      <vt:lpstr>Vuelo sin motor</vt:lpstr>
      <vt:lpstr>FUNDAMENTOS DE PENSAMIENTO ADMINISTRATIVO</vt:lpstr>
      <vt:lpstr>Origen de la Administración</vt:lpstr>
      <vt:lpstr>Época primitiva</vt:lpstr>
      <vt:lpstr>Antigüedad grecolatina</vt:lpstr>
      <vt:lpstr>Revolución industrial</vt:lpstr>
      <vt:lpstr>ADMINISTRACIÓN</vt:lpstr>
      <vt:lpstr>IMPORTANCIA DE LA ADMINISTRACIÓN</vt:lpstr>
      <vt:lpstr>Conceptos de autores Contemporáneos</vt:lpstr>
      <vt:lpstr>Conceptos de autores Contemporáneos</vt:lpstr>
      <vt:lpstr>Conceptos de autores Contemporáneos</vt:lpstr>
      <vt:lpstr>Conceptos de autores Contemporáneos </vt:lpstr>
      <vt:lpstr>Conceptos de autores Contemporáneos</vt:lpstr>
      <vt:lpstr>Teorías del pensamiento Administrativo.</vt:lpstr>
      <vt:lpstr>Objetivo de la Administración</vt:lpstr>
      <vt:lpstr>Características de la administración</vt:lpstr>
      <vt:lpstr>Características de la administración</vt:lpstr>
      <vt:lpstr>Funciones de la Administración</vt:lpstr>
      <vt:lpstr>PLANEACION</vt:lpstr>
      <vt:lpstr>ORGANIZACION</vt:lpstr>
      <vt:lpstr>INTEGRACION DEL RECURSO HUMANO</vt:lpstr>
      <vt:lpstr>DIRECCION</vt:lpstr>
      <vt:lpstr>CONTROL</vt:lpstr>
      <vt:lpstr>Evolución del Pensamiento Administrativo </vt:lpstr>
      <vt:lpstr>Administración Tradicional</vt:lpstr>
      <vt:lpstr>Administración Moderna</vt:lpstr>
      <vt:lpstr>Perspectivas futuras en la administración</vt:lpstr>
      <vt:lpstr>Diapositiva 27</vt:lpstr>
      <vt:lpstr>Transformaciones o mega tendencias de la sociedad</vt:lpstr>
      <vt:lpstr>Transformaciones o mega tendencias de la administración</vt:lpstr>
      <vt:lpstr>ORGANIZACIÓN VS. ADMINISTRACIÓN</vt:lpstr>
      <vt:lpstr>CLASES DE ORGANIZACIONES</vt:lpstr>
      <vt:lpstr>PRODUCTIVIDAD, EFECTIVIDAD Y EFICIENCIA</vt:lpstr>
      <vt:lpstr>ADMINISTRADOR VS ADMINISTRACION</vt:lpstr>
      <vt:lpstr>QUE ES UNA EMPRESA</vt:lpstr>
      <vt:lpstr>TIPOLOGIA DE LAS EMPRESAS</vt:lpstr>
      <vt:lpstr>DIFERENCIAS ENTRE ORGANIZACIÓN Y EMPRESA</vt:lpstr>
      <vt:lpstr>RELACION DE LA ADMINISTRACION CON OTRAS CIENCIAS</vt:lpstr>
      <vt:lpstr>CIENCIAS DEL COMPORTAMIENTO</vt:lpstr>
      <vt:lpstr>CIENCIAS CUANTITATIVAS</vt:lpstr>
      <vt:lpstr>CIENCIAS SOCIALES</vt:lpstr>
      <vt:lpstr>La vida real</vt:lpstr>
      <vt:lpstr>Qué significa esto</vt:lpstr>
      <vt:lpstr>LA ADMINISTRACIÓN: CIENCIA,TECNICA O ARTE?</vt:lpstr>
      <vt:lpstr>Pasos siguientes </vt:lpstr>
      <vt:lpstr>CONCEPTO DE CIENCIA</vt:lpstr>
      <vt:lpstr>Diapositiva 46</vt:lpstr>
      <vt:lpstr>Diapositiva 47</vt:lpstr>
      <vt:lpstr>ADMINISTRACION COMO TECNICA</vt:lpstr>
      <vt:lpstr>ADMINISTRACION COMO ARTE</vt:lpstr>
      <vt:lpstr>LA ADMINISTRACION CON OTRAS CIENCIAS</vt:lpstr>
      <vt:lpstr>Diapositiva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PENSAMIENTO ADMINISTRATIVO</dc:title>
  <dc:creator>Jorge Hernán López Martínez</dc:creator>
  <cp:lastModifiedBy>jorge lopez</cp:lastModifiedBy>
  <cp:revision>30</cp:revision>
  <dcterms:modified xsi:type="dcterms:W3CDTF">2009-08-06T16:07:20Z</dcterms:modified>
</cp:coreProperties>
</file>