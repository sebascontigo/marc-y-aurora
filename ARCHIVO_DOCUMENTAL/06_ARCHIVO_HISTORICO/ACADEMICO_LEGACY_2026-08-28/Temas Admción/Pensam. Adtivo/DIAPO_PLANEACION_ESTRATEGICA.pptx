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0"/>
  </p:notesMasterIdLst>
  <p:sldIdLst>
    <p:sldId id="277" r:id="rId2"/>
    <p:sldId id="272" r:id="rId3"/>
    <p:sldId id="271" r:id="rId4"/>
    <p:sldId id="269" r:id="rId5"/>
    <p:sldId id="275" r:id="rId6"/>
    <p:sldId id="266" r:id="rId7"/>
    <p:sldId id="298" r:id="rId8"/>
    <p:sldId id="256" r:id="rId9"/>
    <p:sldId id="258" r:id="rId10"/>
    <p:sldId id="259" r:id="rId11"/>
    <p:sldId id="260" r:id="rId12"/>
    <p:sldId id="299" r:id="rId13"/>
    <p:sldId id="278" r:id="rId14"/>
    <p:sldId id="279" r:id="rId15"/>
    <p:sldId id="280" r:id="rId16"/>
    <p:sldId id="374" r:id="rId17"/>
    <p:sldId id="377" r:id="rId18"/>
    <p:sldId id="281" r:id="rId19"/>
    <p:sldId id="282" r:id="rId20"/>
    <p:sldId id="300" r:id="rId21"/>
    <p:sldId id="283" r:id="rId22"/>
    <p:sldId id="301" r:id="rId23"/>
    <p:sldId id="284" r:id="rId24"/>
    <p:sldId id="285" r:id="rId25"/>
    <p:sldId id="286" r:id="rId26"/>
    <p:sldId id="375" r:id="rId27"/>
    <p:sldId id="378" r:id="rId28"/>
    <p:sldId id="379" r:id="rId29"/>
    <p:sldId id="380" r:id="rId30"/>
    <p:sldId id="376" r:id="rId31"/>
    <p:sldId id="288" r:id="rId32"/>
    <p:sldId id="289" r:id="rId33"/>
    <p:sldId id="291" r:id="rId34"/>
    <p:sldId id="261" r:id="rId35"/>
    <p:sldId id="262" r:id="rId36"/>
    <p:sldId id="315" r:id="rId37"/>
    <p:sldId id="263" r:id="rId38"/>
    <p:sldId id="264" r:id="rId39"/>
    <p:sldId id="290" r:id="rId40"/>
    <p:sldId id="292" r:id="rId41"/>
    <p:sldId id="293" r:id="rId42"/>
    <p:sldId id="294" r:id="rId43"/>
    <p:sldId id="302" r:id="rId44"/>
    <p:sldId id="303" r:id="rId45"/>
    <p:sldId id="304" r:id="rId46"/>
    <p:sldId id="307" r:id="rId47"/>
    <p:sldId id="309" r:id="rId48"/>
    <p:sldId id="310" r:id="rId49"/>
    <p:sldId id="311" r:id="rId50"/>
    <p:sldId id="312" r:id="rId51"/>
    <p:sldId id="313" r:id="rId52"/>
    <p:sldId id="314" r:id="rId53"/>
    <p:sldId id="316" r:id="rId54"/>
    <p:sldId id="317" r:id="rId55"/>
    <p:sldId id="318" r:id="rId56"/>
    <p:sldId id="319" r:id="rId57"/>
    <p:sldId id="320" r:id="rId58"/>
    <p:sldId id="321" r:id="rId59"/>
    <p:sldId id="323" r:id="rId60"/>
    <p:sldId id="324" r:id="rId61"/>
    <p:sldId id="325" r:id="rId62"/>
    <p:sldId id="326" r:id="rId63"/>
    <p:sldId id="327" r:id="rId64"/>
    <p:sldId id="329" r:id="rId65"/>
    <p:sldId id="341" r:id="rId66"/>
    <p:sldId id="342" r:id="rId67"/>
    <p:sldId id="343" r:id="rId68"/>
    <p:sldId id="345" r:id="rId69"/>
    <p:sldId id="346" r:id="rId70"/>
    <p:sldId id="347" r:id="rId71"/>
    <p:sldId id="349" r:id="rId72"/>
    <p:sldId id="350" r:id="rId73"/>
    <p:sldId id="351" r:id="rId74"/>
    <p:sldId id="352" r:id="rId75"/>
    <p:sldId id="353" r:id="rId76"/>
    <p:sldId id="354" r:id="rId77"/>
    <p:sldId id="355" r:id="rId78"/>
    <p:sldId id="356" r:id="rId79"/>
    <p:sldId id="357" r:id="rId80"/>
    <p:sldId id="358" r:id="rId81"/>
    <p:sldId id="359" r:id="rId82"/>
    <p:sldId id="360" r:id="rId83"/>
    <p:sldId id="361" r:id="rId84"/>
    <p:sldId id="362" r:id="rId85"/>
    <p:sldId id="381" r:id="rId86"/>
    <p:sldId id="382" r:id="rId87"/>
    <p:sldId id="383" r:id="rId88"/>
    <p:sldId id="363" r:id="rId89"/>
    <p:sldId id="364" r:id="rId90"/>
    <p:sldId id="365" r:id="rId91"/>
    <p:sldId id="366" r:id="rId92"/>
    <p:sldId id="367" r:id="rId93"/>
    <p:sldId id="371" r:id="rId94"/>
    <p:sldId id="372" r:id="rId95"/>
    <p:sldId id="373" r:id="rId96"/>
    <p:sldId id="384" r:id="rId97"/>
    <p:sldId id="385" r:id="rId98"/>
    <p:sldId id="386" r:id="rId99"/>
    <p:sldId id="387" r:id="rId100"/>
    <p:sldId id="388" r:id="rId101"/>
    <p:sldId id="389" r:id="rId102"/>
    <p:sldId id="390" r:id="rId103"/>
    <p:sldId id="391" r:id="rId104"/>
    <p:sldId id="392" r:id="rId105"/>
    <p:sldId id="393" r:id="rId106"/>
    <p:sldId id="394" r:id="rId107"/>
    <p:sldId id="395" r:id="rId108"/>
    <p:sldId id="396" r:id="rId10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610B"/>
  </p:clrMru>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1188" y="-16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69A361E-896E-4266-9779-B40D2F928F43}" type="datetimeFigureOut">
              <a:rPr lang="es-AR"/>
              <a:pPr>
                <a:defRPr/>
              </a:pPr>
              <a:t>12/05/2010</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AR" noProof="0" smtClean="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endParaRPr lang="es-AR" noProof="0" smtClean="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2F20883-C3FC-4445-9B1C-F5AB2DCE8B80}" type="slidenum">
              <a:rPr lang="es-AR"/>
              <a:pPr>
                <a:defRPr/>
              </a:pPr>
              <a:t>‹Nº›</a:t>
            </a:fld>
            <a:endParaRPr lang="es-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lvl1pPr>
              <a:defRPr/>
            </a:lvl1pPr>
          </a:lstStyle>
          <a:p>
            <a:pPr>
              <a:defRPr/>
            </a:pPr>
            <a:fld id="{39CA25B1-62A1-4CA7-8E1B-406ADE5AAAAD}" type="datetimeFigureOut">
              <a:rPr lang="en-US"/>
              <a:pPr>
                <a:defRPr/>
              </a:pPr>
              <a:t>5/12/2010</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62007BE1-83B6-4063-AAC5-2B3D9B531C5A}" type="slidenum">
              <a:rPr lang="es-CO"/>
              <a:pPr>
                <a:defRPr/>
              </a:pPr>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lvl1pPr>
              <a:defRPr/>
            </a:lvl1pPr>
          </a:lstStyle>
          <a:p>
            <a:pPr>
              <a:defRPr/>
            </a:pPr>
            <a:fld id="{9CE7DB27-B317-487C-9171-8EBD7588D897}" type="datetimeFigureOut">
              <a:rPr lang="en-US"/>
              <a:pPr>
                <a:defRPr/>
              </a:pPr>
              <a:t>5/12/2010</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1523357D-33F1-4458-B6D2-53E7A3E7FD18}" type="slidenum">
              <a:rPr lang="es-CO"/>
              <a:pPr>
                <a:defRPr/>
              </a:pPr>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132E1780-8BB4-4EFE-A112-0B97D2995FC8}" type="datetimeFigureOut">
              <a:rPr lang="en-US"/>
              <a:pPr>
                <a:defRPr/>
              </a:pPr>
              <a:t>5/12/2010</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B28CE541-2105-4FB8-992C-79AF56A49A49}" type="slidenum">
              <a:rPr lang="es-CO"/>
              <a:pPr>
                <a:defRPr/>
              </a:pPr>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3 Marcador de fecha"/>
          <p:cNvSpPr>
            <a:spLocks noGrp="1"/>
          </p:cNvSpPr>
          <p:nvPr>
            <p:ph type="dt" sz="half" idx="10"/>
          </p:nvPr>
        </p:nvSpPr>
        <p:spPr/>
        <p:txBody>
          <a:bodyPr/>
          <a:lstStyle>
            <a:lvl1pPr>
              <a:defRPr/>
            </a:lvl1pPr>
          </a:lstStyle>
          <a:p>
            <a:pPr>
              <a:defRPr/>
            </a:pPr>
            <a:fld id="{F79B7624-7E49-4AE2-8275-4A5F89C8DBF8}" type="datetimeFigureOut">
              <a:rPr lang="en-US"/>
              <a:pPr>
                <a:defRPr/>
              </a:pPr>
              <a:t>5/12/2010</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81C2CBBD-9ED9-4B50-9F3F-996978F13F9E}" type="slidenum">
              <a:rPr lang="es-CO"/>
              <a:pPr>
                <a:defRPr/>
              </a:pPr>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3 Marcador de fecha"/>
          <p:cNvSpPr>
            <a:spLocks noGrp="1"/>
          </p:cNvSpPr>
          <p:nvPr>
            <p:ph type="dt" sz="half" idx="10"/>
          </p:nvPr>
        </p:nvSpPr>
        <p:spPr/>
        <p:txBody>
          <a:bodyPr/>
          <a:lstStyle>
            <a:lvl1pPr>
              <a:defRPr/>
            </a:lvl1pPr>
          </a:lstStyle>
          <a:p>
            <a:pPr>
              <a:defRPr/>
            </a:pPr>
            <a:fld id="{7584509A-ABDE-4381-AF28-4C8A9D091FD3}" type="datetimeFigureOut">
              <a:rPr lang="en-US"/>
              <a:pPr>
                <a:defRPr/>
              </a:pPr>
              <a:t>5/12/2010</a:t>
            </a:fld>
            <a:endParaRPr lang="es-CO"/>
          </a:p>
        </p:txBody>
      </p:sp>
      <p:sp>
        <p:nvSpPr>
          <p:cNvPr id="8" name="4 Marcador de pie de página"/>
          <p:cNvSpPr>
            <a:spLocks noGrp="1"/>
          </p:cNvSpPr>
          <p:nvPr>
            <p:ph type="ftr" sz="quarter" idx="11"/>
          </p:nvPr>
        </p:nvSpPr>
        <p:spPr/>
        <p:txBody>
          <a:bodyPr/>
          <a:lstStyle>
            <a:lvl1pPr>
              <a:defRPr/>
            </a:lvl1pPr>
          </a:lstStyle>
          <a:p>
            <a:pPr>
              <a:defRPr/>
            </a:pPr>
            <a:endParaRPr lang="es-CO"/>
          </a:p>
        </p:txBody>
      </p:sp>
      <p:sp>
        <p:nvSpPr>
          <p:cNvPr id="9" name="5 Marcador de número de diapositiva"/>
          <p:cNvSpPr>
            <a:spLocks noGrp="1"/>
          </p:cNvSpPr>
          <p:nvPr>
            <p:ph type="sldNum" sz="quarter" idx="12"/>
          </p:nvPr>
        </p:nvSpPr>
        <p:spPr/>
        <p:txBody>
          <a:bodyPr/>
          <a:lstStyle>
            <a:lvl1pPr>
              <a:defRPr/>
            </a:lvl1pPr>
          </a:lstStyle>
          <a:p>
            <a:pPr>
              <a:defRPr/>
            </a:pPr>
            <a:fld id="{8E8BDDD9-8166-41CB-ADD2-1A354242F324}" type="slidenum">
              <a:rPr lang="es-CO"/>
              <a:pPr>
                <a:defRPr/>
              </a:pPr>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3 Marcador de fecha"/>
          <p:cNvSpPr>
            <a:spLocks noGrp="1"/>
          </p:cNvSpPr>
          <p:nvPr>
            <p:ph type="dt" sz="half" idx="10"/>
          </p:nvPr>
        </p:nvSpPr>
        <p:spPr/>
        <p:txBody>
          <a:bodyPr/>
          <a:lstStyle>
            <a:lvl1pPr>
              <a:defRPr/>
            </a:lvl1pPr>
          </a:lstStyle>
          <a:p>
            <a:pPr>
              <a:defRPr/>
            </a:pPr>
            <a:fld id="{8BDD79C3-7173-4EF7-817C-D4265C2B4BCF}" type="datetimeFigureOut">
              <a:rPr lang="en-US"/>
              <a:pPr>
                <a:defRPr/>
              </a:pPr>
              <a:t>5/12/2010</a:t>
            </a:fld>
            <a:endParaRPr lang="es-CO"/>
          </a:p>
        </p:txBody>
      </p:sp>
      <p:sp>
        <p:nvSpPr>
          <p:cNvPr id="4" name="4 Marcador de pie de página"/>
          <p:cNvSpPr>
            <a:spLocks noGrp="1"/>
          </p:cNvSpPr>
          <p:nvPr>
            <p:ph type="ftr" sz="quarter" idx="11"/>
          </p:nvPr>
        </p:nvSpPr>
        <p:spPr/>
        <p:txBody>
          <a:bodyPr/>
          <a:lstStyle>
            <a:lvl1pPr>
              <a:defRPr/>
            </a:lvl1pPr>
          </a:lstStyle>
          <a:p>
            <a:pPr>
              <a:defRPr/>
            </a:pPr>
            <a:endParaRPr lang="es-CO"/>
          </a:p>
        </p:txBody>
      </p:sp>
      <p:sp>
        <p:nvSpPr>
          <p:cNvPr id="5" name="5 Marcador de número de diapositiva"/>
          <p:cNvSpPr>
            <a:spLocks noGrp="1"/>
          </p:cNvSpPr>
          <p:nvPr>
            <p:ph type="sldNum" sz="quarter" idx="12"/>
          </p:nvPr>
        </p:nvSpPr>
        <p:spPr/>
        <p:txBody>
          <a:bodyPr/>
          <a:lstStyle>
            <a:lvl1pPr>
              <a:defRPr/>
            </a:lvl1pPr>
          </a:lstStyle>
          <a:p>
            <a:pPr>
              <a:defRPr/>
            </a:pPr>
            <a:fld id="{D3F40CAE-4890-4DF8-85A1-ECB0ACCAE20E}" type="slidenum">
              <a:rPr lang="es-CO"/>
              <a:pPr>
                <a:defRPr/>
              </a:pPr>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763AE27A-6F30-4825-9A2B-AB2DB5C011AF}" type="datetimeFigureOut">
              <a:rPr lang="en-US"/>
              <a:pPr>
                <a:defRPr/>
              </a:pPr>
              <a:t>5/12/2010</a:t>
            </a:fld>
            <a:endParaRPr lang="es-CO"/>
          </a:p>
        </p:txBody>
      </p:sp>
      <p:sp>
        <p:nvSpPr>
          <p:cNvPr id="3" name="4 Marcador de pie de página"/>
          <p:cNvSpPr>
            <a:spLocks noGrp="1"/>
          </p:cNvSpPr>
          <p:nvPr>
            <p:ph type="ftr" sz="quarter" idx="11"/>
          </p:nvPr>
        </p:nvSpPr>
        <p:spPr/>
        <p:txBody>
          <a:bodyPr/>
          <a:lstStyle>
            <a:lvl1pPr>
              <a:defRPr/>
            </a:lvl1pPr>
          </a:lstStyle>
          <a:p>
            <a:pPr>
              <a:defRPr/>
            </a:pPr>
            <a:endParaRPr lang="es-CO"/>
          </a:p>
        </p:txBody>
      </p:sp>
      <p:sp>
        <p:nvSpPr>
          <p:cNvPr id="4" name="5 Marcador de número de diapositiva"/>
          <p:cNvSpPr>
            <a:spLocks noGrp="1"/>
          </p:cNvSpPr>
          <p:nvPr>
            <p:ph type="sldNum" sz="quarter" idx="12"/>
          </p:nvPr>
        </p:nvSpPr>
        <p:spPr/>
        <p:txBody>
          <a:bodyPr/>
          <a:lstStyle>
            <a:lvl1pPr>
              <a:defRPr/>
            </a:lvl1pPr>
          </a:lstStyle>
          <a:p>
            <a:pPr>
              <a:defRPr/>
            </a:pPr>
            <a:fld id="{6CE3EBF2-7BCC-4078-87AB-A3A8CBEF390A}" type="slidenum">
              <a:rPr lang="es-CO"/>
              <a:pPr>
                <a:defRPr/>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284CDDFE-6ED5-4A23-8060-972867EFBCFC}" type="datetimeFigureOut">
              <a:rPr lang="en-US"/>
              <a:pPr>
                <a:defRPr/>
              </a:pPr>
              <a:t>5/12/2010</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85EB984C-4CC7-4EB9-89D4-270513D6A0D1}" type="slidenum">
              <a:rPr lang="es-CO"/>
              <a:pPr>
                <a:defRPr/>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1A522C27-335E-4B77-9B20-7F2960FE0308}" type="datetimeFigureOut">
              <a:rPr lang="en-US"/>
              <a:pPr>
                <a:defRPr/>
              </a:pPr>
              <a:t>5/12/2010</a:t>
            </a:fld>
            <a:endParaRPr lang="es-CO"/>
          </a:p>
        </p:txBody>
      </p:sp>
      <p:sp>
        <p:nvSpPr>
          <p:cNvPr id="6" name="4 Marcador de pie de página"/>
          <p:cNvSpPr>
            <a:spLocks noGrp="1"/>
          </p:cNvSpPr>
          <p:nvPr>
            <p:ph type="ftr" sz="quarter" idx="11"/>
          </p:nvPr>
        </p:nvSpPr>
        <p:spPr/>
        <p:txBody>
          <a:bodyPr/>
          <a:lstStyle>
            <a:lvl1pPr>
              <a:defRPr/>
            </a:lvl1pPr>
          </a:lstStyle>
          <a:p>
            <a:pPr>
              <a:defRPr/>
            </a:pPr>
            <a:endParaRPr lang="es-CO"/>
          </a:p>
        </p:txBody>
      </p:sp>
      <p:sp>
        <p:nvSpPr>
          <p:cNvPr id="7" name="5 Marcador de número de diapositiva"/>
          <p:cNvSpPr>
            <a:spLocks noGrp="1"/>
          </p:cNvSpPr>
          <p:nvPr>
            <p:ph type="sldNum" sz="quarter" idx="12"/>
          </p:nvPr>
        </p:nvSpPr>
        <p:spPr/>
        <p:txBody>
          <a:bodyPr/>
          <a:lstStyle>
            <a:lvl1pPr>
              <a:defRPr/>
            </a:lvl1pPr>
          </a:lstStyle>
          <a:p>
            <a:pPr>
              <a:defRPr/>
            </a:pPr>
            <a:fld id="{F1945EAB-3BA2-4511-A9D6-505E32C54F6E}" type="slidenum">
              <a:rPr lang="es-CO"/>
              <a:pPr>
                <a:defRPr/>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lvl1pPr>
              <a:defRPr/>
            </a:lvl1pPr>
          </a:lstStyle>
          <a:p>
            <a:pPr>
              <a:defRPr/>
            </a:pPr>
            <a:fld id="{FE427E72-D448-45BB-9732-7646E5CBCC09}" type="datetimeFigureOut">
              <a:rPr lang="en-US"/>
              <a:pPr>
                <a:defRPr/>
              </a:pPr>
              <a:t>5/12/2010</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4A63377A-AA35-451E-9B55-51C2F2E41F3F}" type="slidenum">
              <a:rPr lang="es-CO"/>
              <a:pPr>
                <a:defRPr/>
              </a:pPr>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lvl1pPr>
              <a:defRPr/>
            </a:lvl1pPr>
          </a:lstStyle>
          <a:p>
            <a:pPr>
              <a:defRPr/>
            </a:pPr>
            <a:fld id="{BE9C8CAE-684E-483A-AAF3-AE2014A89DEF}" type="datetimeFigureOut">
              <a:rPr lang="en-US"/>
              <a:pPr>
                <a:defRPr/>
              </a:pPr>
              <a:t>5/12/2010</a:t>
            </a:fld>
            <a:endParaRPr lang="es-CO"/>
          </a:p>
        </p:txBody>
      </p:sp>
      <p:sp>
        <p:nvSpPr>
          <p:cNvPr id="5" name="4 Marcador de pie de página"/>
          <p:cNvSpPr>
            <a:spLocks noGrp="1"/>
          </p:cNvSpPr>
          <p:nvPr>
            <p:ph type="ftr" sz="quarter" idx="11"/>
          </p:nvPr>
        </p:nvSpPr>
        <p:spPr/>
        <p:txBody>
          <a:bodyPr/>
          <a:lstStyle>
            <a:lvl1pPr>
              <a:defRPr/>
            </a:lvl1pPr>
          </a:lstStyle>
          <a:p>
            <a:pPr>
              <a:defRPr/>
            </a:pPr>
            <a:endParaRPr lang="es-CO"/>
          </a:p>
        </p:txBody>
      </p:sp>
      <p:sp>
        <p:nvSpPr>
          <p:cNvPr id="6" name="5 Marcador de número de diapositiva"/>
          <p:cNvSpPr>
            <a:spLocks noGrp="1"/>
          </p:cNvSpPr>
          <p:nvPr>
            <p:ph type="sldNum" sz="quarter" idx="12"/>
          </p:nvPr>
        </p:nvSpPr>
        <p:spPr/>
        <p:txBody>
          <a:bodyPr/>
          <a:lstStyle>
            <a:lvl1pPr>
              <a:defRPr/>
            </a:lvl1pPr>
          </a:lstStyle>
          <a:p>
            <a:pPr>
              <a:defRPr/>
            </a:pPr>
            <a:fld id="{2CF70455-BC08-4C1F-BDBF-1295659F2CF1}" type="slidenum">
              <a:rPr lang="es-CO"/>
              <a:pPr>
                <a:defRPr/>
              </a:pPr>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endParaRPr lang="es-AR" smtClean="0"/>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smtClean="0"/>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C0FE6C7C-D37D-44A1-975C-59E84D1ECE45}" type="datetimeFigureOut">
              <a:rPr lang="en-US"/>
              <a:pPr>
                <a:defRPr/>
              </a:pPr>
              <a:t>5/12/2010</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8E1F25-938C-404A-9D38-9A16917D20E2}" type="slidenum">
              <a:rPr lang="es-CO"/>
              <a:pPr>
                <a:defRPr/>
              </a:pPr>
              <a:t>‹Nº›</a:t>
            </a:fld>
            <a:endParaRPr lang="es-CO"/>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14282" y="1214422"/>
            <a:ext cx="8929718" cy="2739211"/>
          </a:xfrm>
          <a:prstGeom prst="rect">
            <a:avLst/>
          </a:prstGeom>
          <a:noFill/>
        </p:spPr>
        <p:txBody>
          <a:bodyPr>
            <a:spAutoFit/>
            <a:scene3d>
              <a:camera prst="orthographicFront"/>
              <a:lightRig rig="threePt" dir="t"/>
            </a:scene3d>
            <a:sp3d extrusionH="57150">
              <a:bevelT w="38100" h="38100" prst="angle"/>
            </a:sp3d>
          </a:bodyPr>
          <a:lstStyle/>
          <a:p>
            <a:pPr algn="ctr">
              <a:defRPr/>
            </a:pPr>
            <a:r>
              <a:rPr lang="es-AR" sz="8600" b="1" dirty="0">
                <a:solidFill>
                  <a:schemeClr val="tx2">
                    <a:lumMod val="75000"/>
                  </a:schemeClr>
                </a:solidFill>
                <a:effectLst>
                  <a:glow rad="101600">
                    <a:schemeClr val="tx2">
                      <a:lumMod val="60000"/>
                      <a:lumOff val="40000"/>
                      <a:alpha val="40000"/>
                    </a:schemeClr>
                  </a:glow>
                  <a:outerShdw blurRad="38100" dist="38100" dir="2700000" algn="tl">
                    <a:srgbClr val="000000">
                      <a:alpha val="43137"/>
                    </a:srgbClr>
                  </a:outerShdw>
                </a:effectLst>
                <a:latin typeface="Berlin Sans FB" pitchFamily="34" charset="0"/>
              </a:rPr>
              <a:t>PLANEACIÓN ESTRATÉGICA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3" name="2 CuadroTexto"/>
          <p:cNvSpPr txBox="1"/>
          <p:nvPr/>
        </p:nvSpPr>
        <p:spPr>
          <a:xfrm>
            <a:off x="0" y="357166"/>
            <a:ext cx="9144000" cy="461665"/>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chemeClr val="tx2">
                      <a:lumMod val="75000"/>
                      <a:alpha val="40000"/>
                    </a:schemeClr>
                  </a:glow>
                  <a:outerShdw blurRad="25400" algn="tl" rotWithShape="0">
                    <a:srgbClr val="000000">
                      <a:alpha val="43000"/>
                    </a:srgbClr>
                  </a:outerShdw>
                </a:effectLst>
                <a:latin typeface="Berlin Sans FB" pitchFamily="34" charset="0"/>
              </a:rPr>
              <a:t>PLANEACIÓN ESTRATÉGICA</a:t>
            </a:r>
          </a:p>
        </p:txBody>
      </p:sp>
      <p:sp>
        <p:nvSpPr>
          <p:cNvPr id="4" name="3 CuadroTexto"/>
          <p:cNvSpPr txBox="1"/>
          <p:nvPr/>
        </p:nvSpPr>
        <p:spPr>
          <a:xfrm>
            <a:off x="1000100" y="2071678"/>
            <a:ext cx="7072362" cy="3139321"/>
          </a:xfrm>
          <a:prstGeom prst="rect">
            <a:avLst/>
          </a:prstGeom>
          <a:noFill/>
        </p:spPr>
        <p:txBody>
          <a:bodyPr>
            <a:spAutoFit/>
            <a:scene3d>
              <a:camera prst="orthographicFront"/>
              <a:lightRig rig="threePt" dir="t"/>
            </a:scene3d>
            <a:sp3d extrusionH="57150">
              <a:bevelT w="38100" h="38100"/>
            </a:sp3d>
          </a:bodyPr>
          <a:lstStyle/>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Es el proceso mediante el cual quienes toman decisiones en una organización obtienen, procesan y analizan información con el fin de evaluar la situación presente de la empresa, así como el nivel de competitividad, con el propósito de decidir el direccionamiento futuro. </a:t>
            </a:r>
          </a:p>
          <a:p>
            <a:pPr>
              <a:defRPr/>
            </a:pPr>
            <a:endParaRPr lang="es-AR" dirty="0">
              <a:solidFill>
                <a:srgbClr val="1B610B"/>
              </a:solidFill>
              <a:latin typeface="Berlin Sans FB" pitchFamily="34" charset="0"/>
            </a:endParaRPr>
          </a:p>
          <a:p>
            <a:pPr>
              <a:defRPr/>
            </a:pPr>
            <a:endParaRPr lang="es-AR" dirty="0">
              <a:solidFill>
                <a:srgbClr val="1B610B"/>
              </a:solidFill>
              <a:latin typeface="Berlin Sans FB"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642910" y="1214422"/>
            <a:ext cx="7786742" cy="5432256"/>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PREGUNTAS A LAS QUE RESPONDE: </a:t>
            </a:r>
          </a:p>
          <a:p>
            <a:pPr algn="just">
              <a:buFont typeface="Arial" pitchFamily="34" charset="0"/>
              <a:buChar char="•"/>
              <a:defRPr/>
            </a:pPr>
            <a:endParaRPr lang="es-AR" sz="2700" dirty="0">
              <a:solidFill>
                <a:schemeClr val="tx2">
                  <a:lumMod val="75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just">
              <a:buFont typeface="Arial" pitchFamily="34" charset="0"/>
              <a:buChar char="•"/>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¿Cuál es el negocio?</a:t>
            </a:r>
          </a:p>
          <a:p>
            <a:pPr algn="just">
              <a:defRPr/>
            </a:pPr>
            <a:endParaRPr lang="es-AR" sz="2700" dirty="0">
              <a:solidFill>
                <a:schemeClr val="tx2">
                  <a:lumMod val="75000"/>
                </a:schemeClr>
              </a:solidFill>
              <a:effectLst>
                <a:outerShdw blurRad="38100" dist="38100" dir="2700000" algn="tl">
                  <a:srgbClr val="000000">
                    <a:alpha val="43137"/>
                  </a:srgbClr>
                </a:outerShdw>
              </a:effectLst>
              <a:latin typeface="Berlin Sans FB" pitchFamily="34" charset="0"/>
            </a:endParaRPr>
          </a:p>
          <a:p>
            <a:pPr algn="just">
              <a:buFont typeface="Arial" pitchFamily="34" charset="0"/>
              <a:buChar char="•"/>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 ¿Cuáles son las características del entorno y la competencia?</a:t>
            </a:r>
          </a:p>
          <a:p>
            <a:pPr algn="just">
              <a:defRPr/>
            </a:pPr>
            <a:endParaRPr lang="es-AR" sz="2700" dirty="0">
              <a:solidFill>
                <a:schemeClr val="tx2">
                  <a:lumMod val="75000"/>
                </a:schemeClr>
              </a:solidFill>
              <a:effectLst>
                <a:outerShdw blurRad="38100" dist="38100" dir="2700000" algn="tl">
                  <a:srgbClr val="000000">
                    <a:alpha val="43137"/>
                  </a:srgbClr>
                </a:outerShdw>
              </a:effectLst>
              <a:latin typeface="Berlin Sans FB" pitchFamily="34" charset="0"/>
            </a:endParaRPr>
          </a:p>
          <a:p>
            <a:pPr algn="just">
              <a:buFont typeface="Arial" pitchFamily="34" charset="0"/>
              <a:buChar char="•"/>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 ¿Dónde esta la competencia?</a:t>
            </a:r>
          </a:p>
          <a:p>
            <a:pPr algn="just">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 </a:t>
            </a:r>
          </a:p>
          <a:p>
            <a:pPr algn="just">
              <a:buFont typeface="Arial" pitchFamily="34" charset="0"/>
              <a:buChar char="•"/>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 ¿ A donde se quiere llegar?</a:t>
            </a:r>
          </a:p>
          <a:p>
            <a:pPr algn="just">
              <a:defRPr/>
            </a:pPr>
            <a:endParaRPr lang="es-AR" sz="2700" dirty="0">
              <a:solidFill>
                <a:schemeClr val="tx2">
                  <a:lumMod val="75000"/>
                </a:schemeClr>
              </a:solidFill>
              <a:effectLst>
                <a:outerShdw blurRad="38100" dist="38100" dir="2700000" algn="tl">
                  <a:srgbClr val="000000">
                    <a:alpha val="43137"/>
                  </a:srgbClr>
                </a:outerShdw>
              </a:effectLst>
              <a:latin typeface="Berlin Sans FB" pitchFamily="34" charset="0"/>
            </a:endParaRPr>
          </a:p>
          <a:p>
            <a:pPr algn="just">
              <a:buFont typeface="Arial" pitchFamily="34" charset="0"/>
              <a:buChar char="•"/>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 ¿Cómo llegar?</a:t>
            </a:r>
          </a:p>
          <a:p>
            <a:pPr>
              <a:buFont typeface="Arial" pitchFamily="34" charset="0"/>
              <a:buChar char="•"/>
              <a:defRPr/>
            </a:pPr>
            <a:endParaRPr lang="es-AR" dirty="0">
              <a:effectLst>
                <a:glow rad="101600">
                  <a:srgbClr val="002060">
                    <a:alpha val="60000"/>
                  </a:srgbClr>
                </a:glow>
              </a:effectLst>
            </a:endParaRPr>
          </a:p>
        </p:txBody>
      </p:sp>
      <p:sp>
        <p:nvSpPr>
          <p:cNvPr id="3" name="2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chemeClr val="tx2">
                      <a:lumMod val="75000"/>
                      <a:alpha val="40000"/>
                    </a:schemeClr>
                  </a:glow>
                  <a:outerShdw blurRad="25400" algn="tl" rotWithShape="0">
                    <a:srgbClr val="000000">
                      <a:alpha val="43000"/>
                    </a:srgbClr>
                  </a:outerShdw>
                </a:effectLst>
                <a:latin typeface="Berlin Sans FB" pitchFamily="34" charset="0"/>
              </a:rPr>
              <a:t>PLANEACIÓN ESTRATÉGICA</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2 Marcador de contenido"/>
          <p:cNvSpPr>
            <a:spLocks noGrp="1"/>
          </p:cNvSpPr>
          <p:nvPr>
            <p:ph idx="1"/>
          </p:nvPr>
        </p:nvSpPr>
        <p:spPr>
          <a:xfrm>
            <a:off x="428625" y="3286125"/>
            <a:ext cx="8229600" cy="2143125"/>
          </a:xfrm>
        </p:spPr>
        <p:txBody>
          <a:bodyPr/>
          <a:lstStyle/>
          <a:p>
            <a:pPr algn="just" eaLnBrk="1" hangingPunct="1">
              <a:buFont typeface="Arial" charset="0"/>
              <a:buNone/>
              <a:defRPr/>
            </a:pPr>
            <a:r>
              <a:rPr lang="es-AR" sz="2700" b="1" dirty="0" smtClean="0">
                <a:solidFill>
                  <a:srgbClr val="002060"/>
                </a:solidFill>
                <a:effectLst>
                  <a:outerShdw blurRad="38100" dist="38100" dir="2700000" algn="tl">
                    <a:srgbClr val="000000">
                      <a:alpha val="43137"/>
                    </a:srgbClr>
                  </a:outerShdw>
                </a:effectLst>
              </a:rPr>
              <a:t>•</a:t>
            </a:r>
            <a:r>
              <a:rPr lang="es-AR" sz="2700" dirty="0" smtClean="0">
                <a:solidFill>
                  <a:srgbClr val="002060"/>
                </a:solidFill>
                <a:effectLst>
                  <a:outerShdw blurRad="38100" dist="38100" dir="2700000" algn="tl">
                    <a:srgbClr val="000000">
                      <a:alpha val="43137"/>
                    </a:srgbClr>
                  </a:outerShdw>
                </a:effectLst>
              </a:rPr>
              <a:t> </a:t>
            </a:r>
            <a:r>
              <a:rPr lang="es-AR" sz="2700" dirty="0" smtClean="0">
                <a:solidFill>
                  <a:srgbClr val="002060"/>
                </a:solidFill>
                <a:effectLst>
                  <a:outerShdw blurRad="38100" dist="38100" dir="2700000" algn="tl">
                    <a:srgbClr val="000000">
                      <a:alpha val="43137"/>
                    </a:srgbClr>
                  </a:outerShdw>
                </a:effectLst>
                <a:latin typeface="Berlin Sans FB" pitchFamily="34" charset="0"/>
              </a:rPr>
              <a:t>Proyectada a largo plazo.</a:t>
            </a:r>
          </a:p>
          <a:p>
            <a:pPr algn="just" eaLnBrk="1" hangingPunct="1">
              <a:buFont typeface="Arial" charset="0"/>
              <a:buNone/>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 Cobija la empresa como totalidad. </a:t>
            </a:r>
          </a:p>
          <a:p>
            <a:pPr algn="just" eaLnBrk="1" hangingPunct="1">
              <a:buFont typeface="Arial" charset="0"/>
              <a:buNone/>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 Está definida por la  cúpula de la organización</a:t>
            </a:r>
            <a:r>
              <a:rPr lang="es-AR" sz="2400" dirty="0" smtClean="0">
                <a:solidFill>
                  <a:srgbClr val="002060"/>
                </a:solidFill>
                <a:effectLst>
                  <a:outerShdw blurRad="38100" dist="38100" dir="2700000" algn="tl">
                    <a:srgbClr val="000000">
                      <a:alpha val="43137"/>
                    </a:srgbClr>
                  </a:outerShdw>
                </a:effectLst>
                <a:latin typeface="Berlin Sans FB" pitchFamily="34" charset="0"/>
              </a:rPr>
              <a:t>.</a:t>
            </a:r>
          </a:p>
        </p:txBody>
      </p:sp>
      <p:sp>
        <p:nvSpPr>
          <p:cNvPr id="5" name="4 CuadroTexto"/>
          <p:cNvSpPr txBox="1"/>
          <p:nvPr/>
        </p:nvSpPr>
        <p:spPr>
          <a:xfrm>
            <a:off x="571472" y="1643050"/>
            <a:ext cx="7715304" cy="1077218"/>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CARACTERISTICAS DE LA PLANEACION ESTRATÉGICA</a:t>
            </a:r>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6" name="5 CuadroTexto"/>
          <p:cNvSpPr txBox="1"/>
          <p:nvPr/>
        </p:nvSpPr>
        <p:spPr>
          <a:xfrm>
            <a:off x="0" y="357166"/>
            <a:ext cx="9144000" cy="461665"/>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chemeClr val="tx2">
                      <a:lumMod val="75000"/>
                      <a:alpha val="40000"/>
                    </a:schemeClr>
                  </a:glow>
                  <a:outerShdw blurRad="25400" algn="tl" rotWithShape="0">
                    <a:srgbClr val="000000">
                      <a:alpha val="43000"/>
                    </a:srgbClr>
                  </a:outerShdw>
                </a:effectLst>
                <a:latin typeface="Berlin Sans FB" pitchFamily="34" charset="0"/>
              </a:rPr>
              <a:t>PLANEACIÓN ESTRATÉGICA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428596" y="1785926"/>
            <a:ext cx="7000924" cy="461665"/>
          </a:xfrm>
          <a:prstGeom prst="rect">
            <a:avLst/>
          </a:prstGeom>
          <a:noFill/>
        </p:spPr>
        <p:txBody>
          <a:bodyPr>
            <a:spAutoFit/>
            <a:scene3d>
              <a:camera prst="orthographicFront"/>
              <a:lightRig rig="threePt" dir="t"/>
            </a:scene3d>
            <a:sp3d extrusionH="57150">
              <a:bevelT w="38100" h="38100"/>
            </a:sp3d>
          </a:bodyPr>
          <a:lstStyle/>
          <a:p>
            <a:pPr>
              <a:defRPr/>
            </a:pPr>
            <a:r>
              <a:rPr lang="es-AR" sz="2400" b="1" dirty="0">
                <a:solidFill>
                  <a:schemeClr val="accent3">
                    <a:lumMod val="60000"/>
                    <a:lumOff val="40000"/>
                  </a:schemeClr>
                </a:solidFill>
                <a:effectLst>
                  <a:glow rad="101600">
                    <a:srgbClr val="1B610B">
                      <a:alpha val="60000"/>
                    </a:srgbClr>
                  </a:glow>
                  <a:outerShdw blurRad="38100" dist="38100" dir="2700000" algn="tl">
                    <a:srgbClr val="000000">
                      <a:alpha val="43137"/>
                    </a:srgbClr>
                  </a:outerShdw>
                </a:effectLst>
                <a:latin typeface="Berlin Sans FB" pitchFamily="34" charset="0"/>
              </a:rPr>
              <a:t>     </a:t>
            </a:r>
          </a:p>
        </p:txBody>
      </p:sp>
      <p:sp>
        <p:nvSpPr>
          <p:cNvPr id="5" name="4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7" name="6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6" name="5 CuadroTexto"/>
          <p:cNvSpPr txBox="1"/>
          <p:nvPr/>
        </p:nvSpPr>
        <p:spPr>
          <a:xfrm>
            <a:off x="928688" y="1571625"/>
            <a:ext cx="7858125" cy="3385542"/>
          </a:xfrm>
          <a:prstGeom prst="rect">
            <a:avLst/>
          </a:prstGeom>
          <a:noFill/>
        </p:spPr>
        <p:txBody>
          <a:bodyPr>
            <a:spAutoFit/>
            <a:scene3d>
              <a:camera prst="orthographicFront"/>
              <a:lightRig rig="threePt" dir="t"/>
            </a:scene3d>
            <a:sp3d extrusionH="57150">
              <a:bevelT w="38100" h="38100"/>
            </a:sp3d>
          </a:bodyPr>
          <a:lstStyle/>
          <a:p>
            <a:pPr marL="342900" indent="-342900">
              <a:buFontTx/>
              <a:buAutoNum type="arabicPeriod"/>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LOS ESTRATEGAS</a:t>
            </a:r>
          </a:p>
          <a:p>
            <a:pPr marL="342900" indent="-342900">
              <a:defRPr/>
            </a:pPr>
            <a:endParaRPr lang="es-AR" sz="3200" b="1" dirty="0">
              <a:solidFill>
                <a:schemeClr val="tx2">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marL="342900" indent="-342900" algn="just">
              <a:defRPr/>
            </a:pPr>
            <a:r>
              <a:rPr lang="es-AR" sz="2500" dirty="0">
                <a:solidFill>
                  <a:srgbClr val="002060"/>
                </a:solidFill>
                <a:effectLst>
                  <a:outerShdw blurRad="38100" dist="38100" dir="2700000" algn="tl">
                    <a:srgbClr val="000000">
                      <a:alpha val="43137"/>
                    </a:srgbClr>
                  </a:outerShdw>
                </a:effectLst>
                <a:latin typeface="Berlin Sans FB" pitchFamily="34" charset="0"/>
              </a:rPr>
              <a:t>      Todas las personas o funcionarios de la empresa que tienen capacidad de tomar decisiones relacionadas con el desempeño presente o futuro de la organización.</a:t>
            </a:r>
          </a:p>
          <a:p>
            <a:pPr marL="342900" indent="-342900">
              <a:defRPr/>
            </a:pPr>
            <a:endParaRPr lang="es-AR" sz="25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lgn="just">
              <a:defRPr/>
            </a:pPr>
            <a:r>
              <a:rPr lang="es-AR" sz="2500" dirty="0">
                <a:solidFill>
                  <a:srgbClr val="002060"/>
                </a:solidFill>
                <a:effectLst>
                  <a:outerShdw blurRad="38100" dist="38100" dir="2700000" algn="tl">
                    <a:srgbClr val="000000">
                      <a:alpha val="43137"/>
                    </a:srgbClr>
                  </a:outerShdw>
                </a:effectLst>
                <a:latin typeface="Berlin Sans FB" pitchFamily="34" charset="0"/>
              </a:rPr>
              <a:t>      Se deben sentir comprometidos con  los valores, la visión, la misión y los objetivos de la organización.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357166"/>
            <a:ext cx="9144000" cy="461665"/>
          </a:xfrm>
          <a:prstGeom prst="rect">
            <a:avLst/>
          </a:prstGeom>
          <a:noFill/>
        </p:spPr>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accent3">
                      <a:satMod val="175000"/>
                      <a:alpha val="40000"/>
                    </a:schemeClr>
                  </a:glow>
                  <a:outerShdw blurRad="38100" dist="38100" dir="2700000" algn="tl">
                    <a:srgbClr val="000000">
                      <a:alpha val="43137"/>
                    </a:srgbClr>
                  </a:outerShdw>
                </a:effectLst>
                <a:latin typeface="Berlin Sans FB" pitchFamily="34" charset="0"/>
              </a:rPr>
              <a:t>COMONENTES DE LA  PLANEACIÓN ESTRATÉGICA</a:t>
            </a:r>
          </a:p>
        </p:txBody>
      </p:sp>
      <p:sp>
        <p:nvSpPr>
          <p:cNvPr id="7" name="6 CuadroTexto"/>
          <p:cNvSpPr txBox="1"/>
          <p:nvPr/>
        </p:nvSpPr>
        <p:spPr>
          <a:xfrm>
            <a:off x="500034" y="1500188"/>
            <a:ext cx="8429654" cy="4678204"/>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1.1 CARACTERISTICAS DE LOS ESTRATEGAS</a:t>
            </a:r>
          </a:p>
          <a:p>
            <a:pPr>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defRPr/>
            </a:pPr>
            <a:endParaRPr lang="es-AR" dirty="0"/>
          </a:p>
          <a:p>
            <a:pPr>
              <a:buFont typeface="Arial" pitchFamily="34"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Inteligencia y formación general por encima de el promedio</a:t>
            </a:r>
          </a:p>
          <a:p>
            <a:pPr>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Arial" pitchFamily="34"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Capacidad analítica</a:t>
            </a:r>
          </a:p>
          <a:p>
            <a:pPr>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Arial" pitchFamily="34"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Excelente comunicador</a:t>
            </a:r>
          </a:p>
          <a:p>
            <a:pPr>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Arial" pitchFamily="34"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Comprometido</a:t>
            </a:r>
          </a:p>
        </p:txBody>
      </p:sp>
      <p:sp>
        <p:nvSpPr>
          <p:cNvPr id="6" name="5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8" name="7 CuadroTexto"/>
          <p:cNvSpPr txBox="1"/>
          <p:nvPr/>
        </p:nvSpPr>
        <p:spPr>
          <a:xfrm>
            <a:off x="0" y="357144"/>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625" y="2500313"/>
            <a:ext cx="8401050" cy="3257550"/>
          </a:xfrm>
        </p:spPr>
        <p:txBody>
          <a:bodyPr/>
          <a:lstStyle/>
          <a:p>
            <a:pPr algn="ctr">
              <a:buFont typeface="Arial" charset="0"/>
              <a:buNone/>
              <a:defRPr/>
            </a:pPr>
            <a:endParaRPr lang="es-AR" dirty="0" smtClean="0">
              <a:latin typeface="Berlin Sans FB" pitchFamily="34" charset="0"/>
            </a:endParaRPr>
          </a:p>
          <a:p>
            <a:pPr>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Líder</a:t>
            </a:r>
          </a:p>
          <a:p>
            <a:pPr>
              <a:buFont typeface="Arial" pitchFamily="34" charset="0"/>
              <a:buChar char="•"/>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 Buenas relaciones interpersonales</a:t>
            </a:r>
          </a:p>
          <a:p>
            <a:pPr algn="just">
              <a:buFont typeface="Arial" pitchFamily="34" charset="0"/>
              <a:buChar char="•"/>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 Respetuoso de el ser humano</a:t>
            </a:r>
          </a:p>
          <a:p>
            <a:pPr>
              <a:buFont typeface="Arial" pitchFamily="34" charset="0"/>
              <a:buChar char="•"/>
              <a:defRPr/>
            </a:pPr>
            <a:r>
              <a:rPr lang="es-AR" sz="2700" dirty="0" smtClean="0">
                <a:solidFill>
                  <a:srgbClr val="002060"/>
                </a:solidFill>
                <a:effectLst>
                  <a:outerShdw blurRad="38100" dist="38100" dir="2700000" algn="tl">
                    <a:srgbClr val="000000">
                      <a:alpha val="43137"/>
                    </a:srgbClr>
                  </a:outerShdw>
                </a:effectLst>
                <a:latin typeface="Berlin Sans FB" pitchFamily="34" charset="0"/>
              </a:rPr>
              <a:t> Debe conocer muy bien su trabajo</a:t>
            </a:r>
          </a:p>
          <a:p>
            <a:pPr algn="ctr">
              <a:defRPr/>
            </a:pPr>
            <a:endParaRPr lang="es-CO" dirty="0"/>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6" name="5 CuadroTexto"/>
          <p:cNvSpPr txBox="1"/>
          <p:nvPr/>
        </p:nvSpPr>
        <p:spPr>
          <a:xfrm>
            <a:off x="214282" y="1500174"/>
            <a:ext cx="8715436" cy="1077218"/>
          </a:xfrm>
          <a:prstGeom prst="rect">
            <a:avLst/>
          </a:prstGeom>
          <a:noFill/>
        </p:spPr>
        <p:txBody>
          <a:bodyPr>
            <a:spAutoFit/>
            <a:scene3d>
              <a:camera prst="orthographicFront"/>
              <a:lightRig rig="threePt" dir="t"/>
            </a:scene3d>
            <a:sp3d extrusionH="57150">
              <a:bevelT w="38100" h="38100"/>
            </a:sp3d>
          </a:bodyPr>
          <a:lstStyle/>
          <a:p>
            <a:pPr algn="ctr">
              <a:defRPr/>
            </a:pPr>
            <a:r>
              <a:rPr lang="es-AR" sz="3200" dirty="0">
                <a:latin typeface="Berlin Sans FB" pitchFamily="34" charset="0"/>
              </a:rPr>
              <a:t> </a:t>
            </a: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1.1 CARACTERISTICAS DE LOS ESTRATEGAS</a:t>
            </a:r>
          </a:p>
          <a:p>
            <a:pPr algn="ctr">
              <a:defRPr/>
            </a:pPr>
            <a:endParaRPr lang="es-AR"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5 CuadroTexto"/>
          <p:cNvSpPr txBox="1">
            <a:spLocks noChangeArrowheads="1"/>
          </p:cNvSpPr>
          <p:nvPr/>
        </p:nvSpPr>
        <p:spPr bwMode="auto">
          <a:xfrm>
            <a:off x="428596" y="2071678"/>
            <a:ext cx="7858155" cy="1831271"/>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marL="342900" indent="-342900">
              <a:defRPr/>
            </a:pPr>
            <a:r>
              <a:rPr lang="es-AR" sz="3200" b="1" dirty="0">
                <a:solidFill>
                  <a:schemeClr val="accent1">
                    <a:lumMod val="60000"/>
                    <a:lumOff val="40000"/>
                  </a:schemeClr>
                </a:solidFill>
                <a:effectLst>
                  <a:glow rad="101600">
                    <a:schemeClr val="accent1">
                      <a:lumMod val="75000"/>
                      <a:alpha val="60000"/>
                    </a:schemeClr>
                  </a:glow>
                  <a:outerShdw blurRad="38100" dist="38100" dir="2700000" algn="tl">
                    <a:srgbClr val="000000">
                      <a:alpha val="43137"/>
                    </a:srgbClr>
                  </a:outerShdw>
                </a:effectLst>
                <a:latin typeface="Berlin Sans FB" pitchFamily="34" charset="0"/>
              </a:rPr>
              <a:t>2. DIRECCIONAMIENTO ESTRATEGICO</a:t>
            </a:r>
          </a:p>
          <a:p>
            <a:pPr marL="342900" indent="-342900">
              <a:defRPr/>
            </a:pPr>
            <a:r>
              <a:rPr lang="es-AR" b="1" dirty="0">
                <a:effectLst>
                  <a:outerShdw blurRad="38100" dist="38100" dir="2700000" algn="tl">
                    <a:srgbClr val="000000">
                      <a:alpha val="43137"/>
                    </a:srgbClr>
                  </a:outerShdw>
                </a:effectLst>
              </a:rPr>
              <a:t>     </a:t>
            </a:r>
          </a:p>
          <a:p>
            <a:pPr marL="342900" indent="-342900">
              <a:defRPr/>
            </a:pPr>
            <a:endParaRPr lang="es-AR" b="1" dirty="0">
              <a:solidFill>
                <a:srgbClr val="002060"/>
              </a:solidFill>
              <a:effectLst>
                <a:outerShdw blurRad="38100" dist="38100" dir="2700000" algn="tl">
                  <a:srgbClr val="000000">
                    <a:alpha val="43137"/>
                  </a:srgbClr>
                </a:outerShdw>
              </a:effectLst>
            </a:endParaRPr>
          </a:p>
          <a:p>
            <a:pPr marL="342900" indent="-342900">
              <a:defRPr/>
            </a:pPr>
            <a:r>
              <a:rPr lang="es-AR" b="1" dirty="0">
                <a:solidFill>
                  <a:srgbClr val="002060"/>
                </a:solidFill>
                <a:effectLst>
                  <a:outerShdw blurRad="38100" dist="38100" dir="2700000" algn="tl">
                    <a:srgbClr val="000000">
                      <a:alpha val="43137"/>
                    </a:srgbClr>
                  </a:outerShdw>
                </a:effectLst>
              </a:rPr>
              <a:t>   </a:t>
            </a:r>
            <a:r>
              <a:rPr lang="es-AR" sz="2700" b="1" dirty="0">
                <a:solidFill>
                  <a:srgbClr val="002060"/>
                </a:solidFill>
                <a:effectLst>
                  <a:outerShdw blurRad="38100" dist="38100" dir="2700000" algn="tl">
                    <a:srgbClr val="000000">
                      <a:alpha val="43137"/>
                    </a:srgbClr>
                  </a:outerShdw>
                </a:effectLst>
              </a:rPr>
              <a:t>Tener claro hacia donde va la empresa</a:t>
            </a:r>
          </a:p>
          <a:p>
            <a:pPr marL="342900" indent="-342900">
              <a:defRPr/>
            </a:pPr>
            <a:r>
              <a:rPr lang="es-AR" b="1" dirty="0">
                <a:effectLst>
                  <a:outerShdw blurRad="38100" dist="38100" dir="2700000" algn="tl">
                    <a:srgbClr val="000000">
                      <a:alpha val="43137"/>
                    </a:srgbClr>
                  </a:outerShdw>
                </a:effectLst>
              </a:rPr>
              <a:t>   </a:t>
            </a:r>
          </a:p>
        </p:txBody>
      </p:sp>
      <p:sp>
        <p:nvSpPr>
          <p:cNvPr id="6" name="5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7" name="6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6 CuadroTexto"/>
          <p:cNvSpPr txBox="1">
            <a:spLocks noChangeArrowheads="1"/>
          </p:cNvSpPr>
          <p:nvPr/>
        </p:nvSpPr>
        <p:spPr bwMode="auto">
          <a:xfrm>
            <a:off x="285720" y="1643063"/>
            <a:ext cx="8286808" cy="3908762"/>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chemeClr val="tx2">
                      <a:lumMod val="75000"/>
                      <a:alpha val="60000"/>
                    </a:schemeClr>
                  </a:glow>
                  <a:outerShdw blurRad="38100" dist="38100" dir="2700000" algn="tl">
                    <a:srgbClr val="000000">
                      <a:alpha val="43137"/>
                    </a:srgbClr>
                  </a:outerShdw>
                </a:effectLst>
                <a:latin typeface="Berlin Sans FB" pitchFamily="34" charset="0"/>
              </a:rPr>
              <a:t>2.1PRINCIPIOS CORPORATIVOS</a:t>
            </a:r>
          </a:p>
          <a:p>
            <a:pPr>
              <a:defRPr/>
            </a:pPr>
            <a:endParaRPr lang="es-AR" sz="2700" dirty="0">
              <a:effectLst>
                <a:outerShdw blurRad="38100" dist="38100" dir="2700000" algn="tl">
                  <a:srgbClr val="000000">
                    <a:alpha val="43137"/>
                  </a:srgbClr>
                </a:outerShdw>
              </a:effectLst>
              <a:latin typeface="Berlin Sans FB" pitchFamily="34" charset="0"/>
            </a:endParaRPr>
          </a:p>
          <a:p>
            <a:pPr algn="just">
              <a:defRPr/>
            </a:pPr>
            <a:r>
              <a:rPr lang="es-AR" sz="2700" dirty="0">
                <a:effectLst>
                  <a:outerShdw blurRad="38100" dist="38100" dir="2700000" algn="tl">
                    <a:srgbClr val="000000">
                      <a:alpha val="43137"/>
                    </a:srgbClr>
                  </a:outerShdw>
                </a:effectLst>
                <a:latin typeface="Berlin Sans FB" pitchFamily="34" charset="0"/>
              </a:rPr>
              <a:t> </a:t>
            </a:r>
            <a:r>
              <a:rPr lang="es-AR" sz="2700" dirty="0">
                <a:solidFill>
                  <a:srgbClr val="002060"/>
                </a:solidFill>
                <a:effectLst>
                  <a:outerShdw blurRad="38100" dist="38100" dir="2700000" algn="tl">
                    <a:srgbClr val="000000">
                      <a:alpha val="43137"/>
                    </a:srgbClr>
                  </a:outerShdw>
                </a:effectLst>
                <a:latin typeface="Berlin Sans FB" pitchFamily="34" charset="0"/>
              </a:rPr>
              <a:t>Son los valores, creencias, normas que definen aspectos importantes para la organización y que deben ser compartidos por todos.</a:t>
            </a:r>
          </a:p>
          <a:p>
            <a:pPr>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Los directivos deben conseguir que los principios, los valores y las creencias sean compartidos por todos los miembros de la organización.</a:t>
            </a:r>
          </a:p>
        </p:txBody>
      </p:sp>
      <p:sp>
        <p:nvSpPr>
          <p:cNvPr id="6" name="5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7" name="6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5 CuadroTexto"/>
          <p:cNvSpPr txBox="1">
            <a:spLocks noChangeArrowheads="1"/>
          </p:cNvSpPr>
          <p:nvPr/>
        </p:nvSpPr>
        <p:spPr bwMode="auto">
          <a:xfrm>
            <a:off x="357158" y="2285992"/>
            <a:ext cx="8501122" cy="2939266"/>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2.2 LA MISIÓN</a:t>
            </a:r>
          </a:p>
          <a:p>
            <a:pPr>
              <a:defRPr/>
            </a:pPr>
            <a:r>
              <a:rPr lang="es-AR" dirty="0">
                <a:solidFill>
                  <a:schemeClr val="accent1">
                    <a:lumMod val="60000"/>
                    <a:lumOff val="40000"/>
                  </a:schemeClr>
                </a:solidFill>
              </a:rPr>
              <a:t>      </a:t>
            </a:r>
          </a:p>
          <a:p>
            <a:pPr algn="just">
              <a:defRPr/>
            </a:pPr>
            <a:r>
              <a:rPr lang="es-AR" sz="2700" dirty="0">
                <a:solidFill>
                  <a:schemeClr val="tx2">
                    <a:lumMod val="75000"/>
                  </a:schemeClr>
                </a:solidFill>
                <a:latin typeface="Berlin Sans FB" pitchFamily="34" charset="0"/>
              </a:rPr>
              <a:t>Es la guía de la planeación, unificadora de propósitos, punto de partida. Expresa la razón de ser de la empresa.</a:t>
            </a:r>
          </a:p>
          <a:p>
            <a:pPr>
              <a:defRPr/>
            </a:pPr>
            <a:r>
              <a:rPr lang="es-AR" sz="2700" dirty="0">
                <a:solidFill>
                  <a:schemeClr val="tx2">
                    <a:lumMod val="75000"/>
                  </a:schemeClr>
                </a:solidFill>
                <a:latin typeface="Berlin Sans FB" pitchFamily="34" charset="0"/>
              </a:rPr>
              <a:t>       </a:t>
            </a:r>
          </a:p>
          <a:p>
            <a:pPr algn="just">
              <a:defRPr/>
            </a:pPr>
            <a:r>
              <a:rPr lang="es-AR" sz="2700" dirty="0">
                <a:solidFill>
                  <a:schemeClr val="tx2">
                    <a:lumMod val="75000"/>
                  </a:schemeClr>
                </a:solidFill>
                <a:latin typeface="Berlin Sans FB" pitchFamily="34" charset="0"/>
              </a:rPr>
              <a:t> Debe conocerse por todos los miembros de la organización y    estos deben ser consecuentes con ella </a:t>
            </a:r>
          </a:p>
        </p:txBody>
      </p:sp>
      <p:sp>
        <p:nvSpPr>
          <p:cNvPr id="6" name="5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7" name="6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5 CuadroTexto"/>
          <p:cNvSpPr txBox="1">
            <a:spLocks noChangeArrowheads="1"/>
          </p:cNvSpPr>
          <p:nvPr/>
        </p:nvSpPr>
        <p:spPr bwMode="auto">
          <a:xfrm>
            <a:off x="1000100" y="1643050"/>
            <a:ext cx="8143900" cy="4124206"/>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chemeClr val="tx2">
                      <a:lumMod val="75000"/>
                      <a:alpha val="60000"/>
                    </a:schemeClr>
                  </a:glow>
                  <a:outerShdw blurRad="38100" dist="38100" dir="2700000" algn="tl">
                    <a:srgbClr val="000000">
                      <a:alpha val="43137"/>
                    </a:srgbClr>
                  </a:outerShdw>
                </a:effectLst>
                <a:latin typeface="Berlin Sans FB" pitchFamily="34" charset="0"/>
              </a:rPr>
              <a:t>2.2.1 PREGUNTAS A LAS QUE RESPONDE</a:t>
            </a:r>
          </a:p>
          <a:p>
            <a:pPr>
              <a:defRPr/>
            </a:pPr>
            <a:endParaRPr lang="es-AR" sz="3200" b="1" dirty="0">
              <a:solidFill>
                <a:schemeClr val="accent1">
                  <a:lumMod val="60000"/>
                  <a:lumOff val="40000"/>
                </a:schemeClr>
              </a:solidFill>
              <a:effectLst>
                <a:glow rad="101600">
                  <a:schemeClr val="tx2">
                    <a:lumMod val="75000"/>
                    <a:alpha val="60000"/>
                  </a:schemeClr>
                </a:glow>
                <a:outerShdw blurRad="38100" dist="38100" dir="2700000" algn="tl">
                  <a:srgbClr val="000000">
                    <a:alpha val="43137"/>
                  </a:srgbClr>
                </a:outerShdw>
              </a:effectLst>
              <a:latin typeface="Berlin Sans FB" pitchFamily="34" charset="0"/>
            </a:endParaRPr>
          </a:p>
          <a:p>
            <a:pPr>
              <a:buFont typeface="Wingdings" pitchFamily="2" charset="2"/>
              <a:buChar char="v"/>
              <a:defRPr/>
            </a:pPr>
            <a:endParaRPr lang="es-AR" b="1" dirty="0">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sz="2700" dirty="0">
                <a:solidFill>
                  <a:srgbClr val="002060"/>
                </a:solidFill>
                <a:effectLst>
                  <a:outerShdw blurRad="38100" dist="38100" dir="2700000" algn="tl">
                    <a:srgbClr val="000000">
                      <a:alpha val="43137"/>
                    </a:srgbClr>
                  </a:outerShdw>
                </a:effectLst>
                <a:latin typeface="Berlin Sans FB" pitchFamily="34" charset="0"/>
              </a:rPr>
              <a:t> ¿ Para que existe la organización?</a:t>
            </a:r>
          </a:p>
          <a:p>
            <a:pPr>
              <a:buFont typeface="Wingdings" pitchFamily="2" charset="2"/>
              <a:buChar char="v"/>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sz="2700" dirty="0">
                <a:solidFill>
                  <a:srgbClr val="002060"/>
                </a:solidFill>
                <a:effectLst>
                  <a:outerShdw blurRad="38100" dist="38100" dir="2700000" algn="tl">
                    <a:srgbClr val="000000">
                      <a:alpha val="43137"/>
                    </a:srgbClr>
                  </a:outerShdw>
                </a:effectLst>
                <a:latin typeface="Berlin Sans FB" pitchFamily="34" charset="0"/>
              </a:rPr>
              <a:t> ¿Cuál su negocio?</a:t>
            </a:r>
          </a:p>
          <a:p>
            <a:pPr>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sz="2700" dirty="0">
                <a:solidFill>
                  <a:srgbClr val="002060"/>
                </a:solidFill>
                <a:effectLst>
                  <a:outerShdw blurRad="38100" dist="38100" dir="2700000" algn="tl">
                    <a:srgbClr val="000000">
                      <a:alpha val="43137"/>
                    </a:srgbClr>
                  </a:outerShdw>
                </a:effectLst>
                <a:latin typeface="Berlin Sans FB" pitchFamily="34" charset="0"/>
              </a:rPr>
              <a:t> ¿ Cuales son sus objetivos?</a:t>
            </a:r>
          </a:p>
          <a:p>
            <a:pPr>
              <a:buFont typeface="Wingdings" pitchFamily="2" charset="2"/>
              <a:buChar char="v"/>
              <a:defRPr/>
            </a:pPr>
            <a:endParaRPr lang="es-AR" sz="2700" dirty="0">
              <a:latin typeface="Berlin Sans FB" pitchFamily="34" charset="0"/>
            </a:endParaRPr>
          </a:p>
          <a:p>
            <a:pPr>
              <a:defRPr/>
            </a:pPr>
            <a:endParaRPr lang="es-AR" b="1" dirty="0">
              <a:effectLst>
                <a:outerShdw blurRad="38100" dist="38100" dir="2700000" algn="tl">
                  <a:srgbClr val="000000">
                    <a:alpha val="43137"/>
                  </a:srgbClr>
                </a:outerShdw>
              </a:effectLst>
              <a:latin typeface="Berlin Sans FB" pitchFamily="34" charset="0"/>
            </a:endParaRPr>
          </a:p>
        </p:txBody>
      </p:sp>
      <p:sp>
        <p:nvSpPr>
          <p:cNvPr id="6" name="5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63" y="2286000"/>
            <a:ext cx="8229600" cy="4125913"/>
          </a:xfrm>
        </p:spPr>
        <p:txBody>
          <a:bodyPr/>
          <a:lstStyle/>
          <a:p>
            <a:pPr>
              <a:buFont typeface="Arial" charset="0"/>
              <a:buNone/>
              <a:defRPr/>
            </a:pPr>
            <a:endParaRPr lang="es-AR" dirty="0" smtClean="0">
              <a:latin typeface="Berlin Sans FB" pitchFamily="34" charset="0"/>
            </a:endParaRPr>
          </a:p>
          <a:p>
            <a:pPr>
              <a:buFont typeface="Wingdings" pitchFamily="2" charset="2"/>
              <a:buChar char="v"/>
              <a:defRPr/>
            </a:pPr>
            <a:r>
              <a:rPr lang="es-AR" dirty="0" smtClean="0">
                <a:solidFill>
                  <a:srgbClr val="002060"/>
                </a:solidFill>
                <a:effectLst>
                  <a:outerShdw blurRad="38100" dist="38100" dir="2700000" algn="tl">
                    <a:srgbClr val="000000">
                      <a:alpha val="43137"/>
                    </a:srgbClr>
                  </a:outerShdw>
                </a:effectLst>
                <a:latin typeface="Berlin Sans FB" pitchFamily="34" charset="0"/>
              </a:rPr>
              <a:t>¿Cuáles son sus clientes?</a:t>
            </a:r>
          </a:p>
          <a:p>
            <a:pPr>
              <a:buFont typeface="Arial" charset="0"/>
              <a:buNone/>
              <a:defRPr/>
            </a:pPr>
            <a:endParaRPr lang="es-AR" dirty="0" smtClean="0">
              <a:solidFill>
                <a:srgbClr val="002060"/>
              </a:solidFill>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dirty="0" smtClean="0">
                <a:solidFill>
                  <a:srgbClr val="002060"/>
                </a:solidFill>
                <a:effectLst>
                  <a:outerShdw blurRad="38100" dist="38100" dir="2700000" algn="tl">
                    <a:srgbClr val="000000">
                      <a:alpha val="43137"/>
                    </a:srgbClr>
                  </a:outerShdw>
                </a:effectLst>
                <a:latin typeface="Berlin Sans FB" pitchFamily="34" charset="0"/>
              </a:rPr>
              <a:t> ¿Cuáles son sus prioridades?</a:t>
            </a:r>
          </a:p>
          <a:p>
            <a:pPr>
              <a:defRPr/>
            </a:pPr>
            <a:endParaRPr lang="es-AR" dirty="0" smtClean="0">
              <a:solidFill>
                <a:srgbClr val="002060"/>
              </a:solidFill>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dirty="0" smtClean="0">
                <a:solidFill>
                  <a:srgbClr val="002060"/>
                </a:solidFill>
                <a:effectLst>
                  <a:outerShdw blurRad="38100" dist="38100" dir="2700000" algn="tl">
                    <a:srgbClr val="000000">
                      <a:alpha val="43137"/>
                    </a:srgbClr>
                  </a:outerShdw>
                </a:effectLst>
                <a:latin typeface="Berlin Sans FB" pitchFamily="34" charset="0"/>
              </a:rPr>
              <a:t> ¿Cuál es su responsabilidad social? </a:t>
            </a:r>
          </a:p>
          <a:p>
            <a:pPr>
              <a:buFont typeface="Arial" charset="0"/>
              <a:buNone/>
              <a:defRPr/>
            </a:pPr>
            <a:endParaRPr lang="es-CO" dirty="0"/>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CuadroTexto"/>
          <p:cNvSpPr txBox="1"/>
          <p:nvPr/>
        </p:nvSpPr>
        <p:spPr>
          <a:xfrm>
            <a:off x="357158" y="1357298"/>
            <a:ext cx="7715304" cy="1569660"/>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chemeClr val="tx2">
                      <a:lumMod val="75000"/>
                      <a:alpha val="60000"/>
                    </a:schemeClr>
                  </a:glow>
                  <a:outerShdw blurRad="38100" dist="38100" dir="2700000" algn="tl">
                    <a:srgbClr val="000000">
                      <a:alpha val="43137"/>
                    </a:srgbClr>
                  </a:outerShdw>
                </a:effectLst>
                <a:latin typeface="Berlin Sans FB" pitchFamily="34" charset="0"/>
              </a:rPr>
              <a:t>2.2.1 PREGUNTAS A LAS QUE RESPONDE</a:t>
            </a:r>
          </a:p>
          <a:p>
            <a:pPr>
              <a:defRPr/>
            </a:pPr>
            <a:endParaRPr lang="es-AR" sz="3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14349" y="1500188"/>
            <a:ext cx="7858180" cy="4401205"/>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2.2.2 QUE NOS PERMITE LA DEFINICION DE LA MISION?</a:t>
            </a:r>
          </a:p>
          <a:p>
            <a:pPr>
              <a:defRPr/>
            </a:pPr>
            <a:endParaRPr lang="es-AR" dirty="0"/>
          </a:p>
          <a:p>
            <a:pPr marL="342900" indent="-342900">
              <a:buFont typeface="+mj-lt"/>
              <a:buAutoNum type="arabicPeriod"/>
              <a:defRPr/>
            </a:pPr>
            <a:endParaRPr lang="es-AR" sz="2700" dirty="0">
              <a:latin typeface="Berlin Sans FB" pitchFamily="34" charset="0"/>
            </a:endParaRPr>
          </a:p>
          <a:p>
            <a:pPr marL="342900" indent="-342900" algn="just">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Asegurar consistencia y claridad de propósitos en toda las organización</a:t>
            </a:r>
          </a:p>
          <a:p>
            <a:pPr marL="342900" indent="-342900">
              <a:buFont typeface="+mj-lt"/>
              <a:buAutoNum type="arabicPeriod"/>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lgn="just">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Definir un punto de referencia central para las decisiones de planeación y desarrollo de las mismas.</a:t>
            </a:r>
          </a:p>
          <a:p>
            <a:pPr marL="342900" indent="-342900">
              <a:buFont typeface="+mj-lt"/>
              <a:buAutoNum type="arabicPeriod"/>
              <a:defRPr/>
            </a:pPr>
            <a:endParaRPr lang="es-AR" dirty="0"/>
          </a:p>
          <a:p>
            <a:pPr marL="342900" indent="-342900">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14313" y="2714625"/>
            <a:ext cx="8572500" cy="3554413"/>
          </a:xfrm>
          <a:prstGeom prst="rect">
            <a:avLst/>
          </a:prstGeom>
          <a:noFill/>
        </p:spPr>
        <p:txBody>
          <a:bodyPr>
            <a:spAutoFit/>
          </a:bodyPr>
          <a:lstStyle/>
          <a:p>
            <a:pPr algn="just">
              <a:defRPr/>
            </a:pPr>
            <a:endParaRPr lang="es-AR" dirty="0"/>
          </a:p>
          <a:p>
            <a:pPr marL="342900" indent="-342900"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3.  Lograr el compromiso de los miembros internos de la organización hacia una definición clara y explicita del negocio.</a:t>
            </a:r>
          </a:p>
          <a:p>
            <a:pPr marL="342900" indent="-342900" algn="just">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lgn="just">
              <a:buFontTx/>
              <a:buAutoNum type="arabicPeriod" startAt="4"/>
              <a:defRPr/>
            </a:pPr>
            <a:r>
              <a:rPr lang="es-AR" sz="2700" dirty="0">
                <a:solidFill>
                  <a:srgbClr val="002060"/>
                </a:solidFill>
                <a:effectLst>
                  <a:outerShdw blurRad="38100" dist="38100" dir="2700000" algn="tl">
                    <a:srgbClr val="000000">
                      <a:alpha val="43137"/>
                    </a:srgbClr>
                  </a:outerShdw>
                </a:effectLst>
                <a:latin typeface="Berlin Sans FB" pitchFamily="34" charset="0"/>
              </a:rPr>
              <a:t>Obtener el reconocimiento y la lealtad de los clientes, proveedores, etc. a partir de un conocimiento de la definición del negocio, sus objetivos y sus metas.</a:t>
            </a:r>
          </a:p>
          <a:p>
            <a:pPr marL="342900" indent="-342900">
              <a:defRPr/>
            </a:pPr>
            <a:r>
              <a:rPr lang="es-AR" dirty="0"/>
              <a:t> </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4" name="3 CuadroTexto"/>
          <p:cNvSpPr txBox="1"/>
          <p:nvPr/>
        </p:nvSpPr>
        <p:spPr>
          <a:xfrm>
            <a:off x="357158" y="1142984"/>
            <a:ext cx="8358246" cy="1354217"/>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2.2.2 QUE NOS PERMITE LA DEFINICION DE LA MISION</a:t>
            </a:r>
            <a:r>
              <a:rPr lang="es-AR"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a:t>
            </a:r>
          </a:p>
          <a:p>
            <a:pPr algn="ctr">
              <a:defRPr/>
            </a:pPr>
            <a:endParaRPr lang="es-A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2 CuadroTexto"/>
          <p:cNvSpPr txBox="1">
            <a:spLocks noChangeArrowheads="1"/>
          </p:cNvSpPr>
          <p:nvPr/>
        </p:nvSpPr>
        <p:spPr bwMode="auto">
          <a:xfrm>
            <a:off x="500063" y="1714500"/>
            <a:ext cx="8215312" cy="3714750"/>
          </a:xfrm>
          <a:prstGeom prst="rect">
            <a:avLst/>
          </a:prstGeom>
          <a:noFill/>
          <a:ln w="9525">
            <a:noFill/>
            <a:miter lim="800000"/>
            <a:headEnd/>
            <a:tailEnd/>
          </a:ln>
        </p:spPr>
        <p:txBody>
          <a:bodyPr>
            <a:spAutoFit/>
          </a:bodyPr>
          <a:lstStyle/>
          <a:p>
            <a:pPr>
              <a:defRPr/>
            </a:pPr>
            <a:r>
              <a:rPr lang="es-AR" sz="2300" dirty="0">
                <a:solidFill>
                  <a:srgbClr val="002060"/>
                </a:solidFill>
                <a:latin typeface="Berlin Sans FB" pitchFamily="34" charset="0"/>
              </a:rPr>
              <a:t>Ejemplo de misión</a:t>
            </a:r>
          </a:p>
          <a:p>
            <a:pPr>
              <a:defRPr/>
            </a:pPr>
            <a:endParaRPr lang="es-AR" dirty="0">
              <a:latin typeface="Berlin Sans FB" pitchFamily="34" charset="0"/>
            </a:endParaRPr>
          </a:p>
          <a:p>
            <a:pPr algn="just">
              <a:defRPr/>
            </a:pPr>
            <a:r>
              <a:rPr lang="es-AR" sz="3000" dirty="0">
                <a:solidFill>
                  <a:srgbClr val="002060"/>
                </a:solidFill>
                <a:effectLst>
                  <a:outerShdw blurRad="38100" dist="38100" dir="2700000" algn="tl">
                    <a:srgbClr val="000000">
                      <a:alpha val="43137"/>
                    </a:srgbClr>
                  </a:outerShdw>
                </a:effectLst>
                <a:latin typeface="Berlin Sans FB" pitchFamily="34" charset="0"/>
              </a:rPr>
              <a:t>Banco Popular Global</a:t>
            </a:r>
          </a:p>
          <a:p>
            <a:pPr algn="just">
              <a:defRPr/>
            </a:pPr>
            <a:endParaRPr lang="es-AR" sz="3000" dirty="0">
              <a:solidFill>
                <a:srgbClr val="002060"/>
              </a:solidFill>
              <a:effectLst>
                <a:outerShdw blurRad="38100" dist="38100" dir="2700000" algn="tl">
                  <a:srgbClr val="000000">
                    <a:alpha val="43137"/>
                  </a:srgbClr>
                </a:outerShdw>
              </a:effectLst>
              <a:latin typeface="Berlin Sans FB" pitchFamily="34" charset="0"/>
            </a:endParaRPr>
          </a:p>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Desarrollar y prestar servicios financieros integrados de excelente calidad (misión primaria) para satisfacer oportunamente las necesidades y expectativas de los diversos sectores económicos, a fin de lograr el fortalecimiento y liderazgo institucional, </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3" name="2 CuadroTexto"/>
          <p:cNvSpPr txBox="1"/>
          <p:nvPr/>
        </p:nvSpPr>
        <p:spPr>
          <a:xfrm>
            <a:off x="857250" y="2643188"/>
            <a:ext cx="7643813" cy="2446337"/>
          </a:xfrm>
          <a:prstGeom prst="rect">
            <a:avLst/>
          </a:prstGeom>
          <a:noFill/>
        </p:spPr>
        <p:txBody>
          <a:bodyPr>
            <a:spAutoFit/>
          </a:bodyPr>
          <a:lstStyle/>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la integración y la coordinación con sus filiales, el compromiso, pertinencia y bienestar de los miembros de la organización así como una adecuada retribución para los accionistas y la sociedad en general (misión secundaria).</a:t>
            </a:r>
          </a:p>
          <a:p>
            <a:pPr>
              <a:defRPr/>
            </a:pPr>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000125" y="1357313"/>
            <a:ext cx="7643813" cy="3908425"/>
          </a:xfrm>
          <a:prstGeom prst="rect">
            <a:avLst/>
          </a:prstGeom>
          <a:noFill/>
        </p:spPr>
        <p:txBody>
          <a:bodyPr>
            <a:spAutoFit/>
          </a:bodyPr>
          <a:lstStyle/>
          <a:p>
            <a:pPr>
              <a:defRPr/>
            </a:pPr>
            <a:r>
              <a:rPr lang="es-AR" dirty="0">
                <a:solidFill>
                  <a:srgbClr val="002060"/>
                </a:solidFill>
                <a:latin typeface="Berlin Sans FB" pitchFamily="34" charset="0"/>
              </a:rPr>
              <a:t>Ejemplo de misión</a:t>
            </a:r>
          </a:p>
          <a:p>
            <a:pPr>
              <a:defRPr/>
            </a:pPr>
            <a:r>
              <a:rPr lang="es-AR" dirty="0"/>
              <a:t/>
            </a:r>
            <a:br>
              <a:rPr lang="es-AR" dirty="0"/>
            </a:br>
            <a:r>
              <a:rPr lang="es-AR" dirty="0"/>
              <a:t/>
            </a:r>
            <a:br>
              <a:rPr lang="es-AR" dirty="0"/>
            </a:b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Toyota: fabricar autos que en vez de contaminar, creen agua.</a:t>
            </a:r>
            <a:b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b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
            </a:r>
            <a:b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b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Disney: ser el lugar más feliz del mundo.</a:t>
            </a:r>
            <a:b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b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
            </a:r>
            <a:b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b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McDonald's: que cada empleado esté dedicado a provocar sonrisas.</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2 CuadroTexto"/>
          <p:cNvSpPr txBox="1">
            <a:spLocks noChangeArrowheads="1"/>
          </p:cNvSpPr>
          <p:nvPr/>
        </p:nvSpPr>
        <p:spPr bwMode="auto">
          <a:xfrm>
            <a:off x="428596" y="2071678"/>
            <a:ext cx="8358246" cy="3770263"/>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marL="342900" indent="-342900">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 LA VISION</a:t>
            </a:r>
          </a:p>
          <a:p>
            <a:pPr marL="342900" indent="-342900">
              <a:buFontTx/>
              <a:buAutoNum type="arabicPlain" startAt="3"/>
              <a:defRPr/>
            </a:pPr>
            <a:endParaRPr lang="es-AR" b="1" dirty="0">
              <a:effectLst>
                <a:outerShdw blurRad="38100" dist="38100" dir="2700000" algn="tl">
                  <a:srgbClr val="000000">
                    <a:alpha val="43137"/>
                  </a:srgbClr>
                </a:outerShdw>
              </a:effectLst>
              <a:latin typeface="Berlin Sans FB" pitchFamily="34" charset="0"/>
            </a:endParaRPr>
          </a:p>
          <a:p>
            <a:pPr marL="342900" indent="-342900" algn="just">
              <a:defRPr/>
            </a:pPr>
            <a:r>
              <a:rPr lang="es-AR" b="1" dirty="0">
                <a:solidFill>
                  <a:srgbClr val="002060"/>
                </a:solidFill>
                <a:effectLst>
                  <a:outerShdw blurRad="38100" dist="38100" dir="2700000" algn="tl">
                    <a:srgbClr val="000000">
                      <a:alpha val="43137"/>
                    </a:srgbClr>
                  </a:outerShdw>
                </a:effectLst>
                <a:latin typeface="Berlin Sans FB" pitchFamily="34" charset="0"/>
              </a:rPr>
              <a:t>      </a:t>
            </a:r>
            <a:r>
              <a:rPr lang="es-AR" sz="2700" dirty="0">
                <a:solidFill>
                  <a:srgbClr val="002060"/>
                </a:solidFill>
                <a:effectLst>
                  <a:outerShdw blurRad="38100" dist="38100" dir="2700000" algn="tl">
                    <a:srgbClr val="000000">
                      <a:alpha val="43137"/>
                    </a:srgbClr>
                  </a:outerShdw>
                </a:effectLst>
                <a:latin typeface="Berlin Sans FB" pitchFamily="34" charset="0"/>
              </a:rPr>
              <a:t>Es la declaración amplia y suficiente de donde se quiere que  este la empresa dentro de 3 o 5 años. </a:t>
            </a:r>
          </a:p>
          <a:p>
            <a:pPr marL="342900" indent="-342900">
              <a:defRPr/>
            </a:pPr>
            <a:r>
              <a:rPr lang="es-AR" sz="2700" dirty="0">
                <a:solidFill>
                  <a:srgbClr val="002060"/>
                </a:solidFill>
                <a:effectLst>
                  <a:outerShdw blurRad="38100" dist="38100" dir="2700000" algn="tl">
                    <a:srgbClr val="000000">
                      <a:alpha val="43137"/>
                    </a:srgbClr>
                  </a:outerShdw>
                </a:effectLst>
                <a:latin typeface="Berlin Sans FB" pitchFamily="34" charset="0"/>
              </a:rPr>
              <a:t>     </a:t>
            </a:r>
          </a:p>
          <a:p>
            <a:pPr marL="342900" indent="-342900"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    No debe escribirse en números, dese ser comprometedora y motivante, de manera que estimule y promueva la pertinencia de todos los miembros de la organización.</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71472" y="1857364"/>
            <a:ext cx="8286750" cy="4955203"/>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2.3.1 CARACTERISTICAS DE LA VISION:</a:t>
            </a:r>
          </a:p>
          <a:p>
            <a:pPr>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defRPr/>
            </a:pPr>
            <a:endParaRPr lang="es-AR" dirty="0">
              <a:latin typeface="Berlin Sans FB" pitchFamily="34" charset="0"/>
            </a:endParaRPr>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Es formulada para los lideres de la organización.</a:t>
            </a:r>
          </a:p>
          <a:p>
            <a:pPr marL="342900" indent="-342900">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lgn="just">
              <a:buFontTx/>
              <a:buAutoNum type="arabicPeriod" startAt="2"/>
              <a:defRPr/>
            </a:pPr>
            <a:r>
              <a:rPr lang="es-AR" sz="2700" dirty="0">
                <a:solidFill>
                  <a:srgbClr val="002060"/>
                </a:solidFill>
                <a:effectLst>
                  <a:outerShdw blurRad="38100" dist="38100" dir="2700000" algn="tl">
                    <a:srgbClr val="000000">
                      <a:alpha val="43137"/>
                    </a:srgbClr>
                  </a:outerShdw>
                </a:effectLst>
                <a:latin typeface="Berlin Sans FB" pitchFamily="34" charset="0"/>
              </a:rPr>
              <a:t>Dimensión de el tiempo: debe ser definida con claridad sobre el tiempo,  sobre el medio en el que se desarrolla la organización.</a:t>
            </a:r>
          </a:p>
          <a:p>
            <a:pPr marL="342900" indent="-342900">
              <a:defRPr/>
            </a:pPr>
            <a:endParaRPr lang="es-AR" sz="2700" dirty="0">
              <a:latin typeface="Berlin Sans FB" pitchFamily="34" charset="0"/>
            </a:endParaRPr>
          </a:p>
          <a:p>
            <a:pPr marL="514350" indent="-514350">
              <a:defRPr/>
            </a:pPr>
            <a:endParaRPr lang="es-AR" sz="2700" dirty="0">
              <a:latin typeface="Berlin Sans FB" pitchFamily="34" charset="0"/>
            </a:endParaRPr>
          </a:p>
          <a:p>
            <a:pPr marL="342900" indent="-342900">
              <a:defRPr/>
            </a:pPr>
            <a:endParaRPr lang="es-AR" sz="2700" dirty="0">
              <a:latin typeface="Berlin Sans FB" pitchFamily="34" charset="0"/>
            </a:endParaRPr>
          </a:p>
          <a:p>
            <a:pPr marL="342900" indent="-342900">
              <a:defRPr/>
            </a:pPr>
            <a:r>
              <a:rPr lang="es-AR" b="1" dirty="0">
                <a:effectLst>
                  <a:outerShdw blurRad="38100" dist="38100" dir="2700000" algn="tl">
                    <a:srgbClr val="000000">
                      <a:alpha val="43137"/>
                    </a:srgbClr>
                  </a:outerShdw>
                </a:effectLst>
              </a:rPr>
              <a:t>    </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57188" y="2714625"/>
            <a:ext cx="8215312" cy="3000375"/>
          </a:xfrm>
          <a:prstGeom prst="rect">
            <a:avLst/>
          </a:prstGeom>
          <a:noFill/>
        </p:spPr>
        <p:txBody>
          <a:bodyPr>
            <a:spAutoFit/>
          </a:bodyPr>
          <a:lstStyle/>
          <a:p>
            <a:pPr marL="514350" indent="-514350">
              <a:defRPr/>
            </a:pPr>
            <a:endParaRPr lang="es-AR" dirty="0">
              <a:latin typeface="Berlin Sans FB" pitchFamily="34" charset="0"/>
            </a:endParaRPr>
          </a:p>
          <a:p>
            <a:pPr marL="514350" indent="-514350">
              <a:buFontTx/>
              <a:buAutoNum type="arabicPeriod" startAt="3"/>
              <a:defRPr/>
            </a:pPr>
            <a:endParaRPr lang="es-AR" dirty="0">
              <a:latin typeface="Berlin Sans FB" pitchFamily="34" charset="0"/>
            </a:endParaRPr>
          </a:p>
          <a:p>
            <a:pPr marL="514350" indent="-514350" algn="just">
              <a:buFontTx/>
              <a:buAutoNum type="arabicPeriod" startAt="3"/>
              <a:defRPr/>
            </a:pPr>
            <a:r>
              <a:rPr lang="es-AR" sz="2700" dirty="0">
                <a:solidFill>
                  <a:srgbClr val="002060"/>
                </a:solidFill>
                <a:effectLst>
                  <a:outerShdw blurRad="38100" dist="38100" dir="2700000" algn="tl">
                    <a:srgbClr val="000000">
                      <a:alpha val="43137"/>
                    </a:srgbClr>
                  </a:outerShdw>
                </a:effectLst>
                <a:latin typeface="Berlin Sans FB" pitchFamily="34" charset="0"/>
              </a:rPr>
              <a:t>Integradora: para todos.</a:t>
            </a:r>
          </a:p>
          <a:p>
            <a:pPr marL="514350" indent="-514350">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514350" indent="-514350"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4.   Amplia y detallada: No se expresa en números. Debe expresar claramente los logros que se esperan alcanzar en el periodo escogido </a:t>
            </a:r>
          </a:p>
          <a:p>
            <a:pPr>
              <a:defRPr/>
            </a:pPr>
            <a:endParaRPr lang="es-CO"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4" name="3 CuadroTexto"/>
          <p:cNvSpPr txBox="1"/>
          <p:nvPr/>
        </p:nvSpPr>
        <p:spPr>
          <a:xfrm>
            <a:off x="500034" y="1643050"/>
            <a:ext cx="7643866" cy="861774"/>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2.3.1 CARACTERISTICAS DE LA VISION</a:t>
            </a:r>
            <a:r>
              <a:rPr lang="es-AR"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a:t>
            </a:r>
          </a:p>
          <a:p>
            <a:pPr>
              <a:defRPr/>
            </a:pPr>
            <a:endParaRPr lang="es-A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14375" y="2500313"/>
            <a:ext cx="7715250" cy="3416300"/>
          </a:xfrm>
          <a:prstGeom prst="rect">
            <a:avLst/>
          </a:prstGeom>
          <a:noFill/>
        </p:spPr>
        <p:txBody>
          <a:bodyPr>
            <a:spAutoFit/>
          </a:bodyPr>
          <a:lstStyle/>
          <a:p>
            <a:pPr>
              <a:defRPr/>
            </a:pPr>
            <a:endParaRPr lang="es-AR" dirty="0"/>
          </a:p>
          <a:p>
            <a:pPr>
              <a:defRPr/>
            </a:pPr>
            <a:endParaRPr lang="es-AR" dirty="0"/>
          </a:p>
          <a:p>
            <a:pPr marL="342900" indent="-342900">
              <a:buFontTx/>
              <a:buAutoNum type="arabicPeriod" startAt="5"/>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Positiva y alentadora: debe inspirar sentido de pertenencia</a:t>
            </a:r>
          </a:p>
          <a:p>
            <a:pPr marL="342900" indent="-342900">
              <a:buFontTx/>
              <a:buAutoNum type="arabicPeriod" startAt="5"/>
              <a:defRPr/>
            </a:pPr>
            <a:endParaRPr lang="es-AR" sz="2700" dirty="0">
              <a:solidFill>
                <a:schemeClr val="tx2">
                  <a:lumMod val="75000"/>
                </a:schemeClr>
              </a:solidFill>
              <a:effectLst>
                <a:outerShdw blurRad="38100" dist="38100" dir="2700000" algn="tl">
                  <a:srgbClr val="000000">
                    <a:alpha val="43137"/>
                  </a:srgbClr>
                </a:outerShdw>
              </a:effectLst>
              <a:latin typeface="Berlin Sans FB" pitchFamily="34" charset="0"/>
            </a:endParaRPr>
          </a:p>
          <a:p>
            <a:pPr marL="342900" indent="-342900">
              <a:buFontTx/>
              <a:buAutoNum type="arabicPeriod" startAt="5"/>
              <a:defRPr/>
            </a:pPr>
            <a:r>
              <a:rPr lang="es-AR" sz="2700" dirty="0">
                <a:solidFill>
                  <a:schemeClr val="tx2">
                    <a:lumMod val="75000"/>
                  </a:schemeClr>
                </a:solidFill>
                <a:effectLst>
                  <a:outerShdw blurRad="38100" dist="38100" dir="2700000" algn="tl">
                    <a:srgbClr val="000000">
                      <a:alpha val="43137"/>
                    </a:srgbClr>
                  </a:outerShdw>
                </a:effectLst>
                <a:latin typeface="Berlin Sans FB" pitchFamily="34" charset="0"/>
              </a:rPr>
              <a:t>Debe ser realista – posible: no puede ser un sueño inútil.</a:t>
            </a:r>
          </a:p>
          <a:p>
            <a:pPr marL="342900" indent="-342900">
              <a:buFontTx/>
              <a:buAutoNum type="arabicPeriod" startAt="5"/>
              <a:defRPr/>
            </a:pPr>
            <a:endParaRPr lang="es-AR" sz="2700" dirty="0">
              <a:latin typeface="Berlin Sans FB" pitchFamily="34" charset="0"/>
            </a:endParaRPr>
          </a:p>
          <a:p>
            <a:pPr marL="342900" indent="-342900">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4" name="3 CuadroTexto"/>
          <p:cNvSpPr txBox="1"/>
          <p:nvPr/>
        </p:nvSpPr>
        <p:spPr>
          <a:xfrm>
            <a:off x="928662" y="1428736"/>
            <a:ext cx="7715304" cy="861774"/>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2.3.1 CARACTERISTICAS DE LA VISION:</a:t>
            </a:r>
          </a:p>
          <a:p>
            <a:pPr>
              <a:defRPr/>
            </a:pPr>
            <a:endParaRPr lang="es-A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85813" y="2428875"/>
            <a:ext cx="7572375" cy="2586038"/>
          </a:xfrm>
          <a:prstGeom prst="rect">
            <a:avLst/>
          </a:prstGeom>
          <a:noFill/>
        </p:spPr>
        <p:txBody>
          <a:bodyPr>
            <a:spAutoFit/>
          </a:bodyPr>
          <a:lstStyle/>
          <a:p>
            <a:pPr marL="342900" indent="-342900">
              <a:defRPr/>
            </a:pPr>
            <a:endParaRPr lang="es-AR" dirty="0">
              <a:latin typeface="Berlin Sans FB" pitchFamily="34" charset="0"/>
            </a:endParaRPr>
          </a:p>
          <a:p>
            <a:pPr marL="342900" indent="-342900">
              <a:buFontTx/>
              <a:buAutoNum type="arabicPeriod" startAt="5"/>
              <a:defRPr/>
            </a:pPr>
            <a:endParaRPr lang="es-AR" dirty="0">
              <a:latin typeface="Berlin Sans FB" pitchFamily="34" charset="0"/>
            </a:endParaRPr>
          </a:p>
          <a:p>
            <a:pPr marL="342900" indent="-342900">
              <a:defRPr/>
            </a:pPr>
            <a:r>
              <a:rPr lang="es-AR" sz="2700" dirty="0">
                <a:solidFill>
                  <a:srgbClr val="002060"/>
                </a:solidFill>
                <a:effectLst>
                  <a:outerShdw blurRad="38100" dist="38100" dir="2700000" algn="tl">
                    <a:srgbClr val="000000">
                      <a:alpha val="43137"/>
                    </a:srgbClr>
                  </a:outerShdw>
                </a:effectLst>
                <a:latin typeface="Berlin Sans FB" pitchFamily="34" charset="0"/>
              </a:rPr>
              <a:t>7. Debe ser consistente: estos evita confusiones y obliga al desarrollo de políticas empresariales</a:t>
            </a:r>
          </a:p>
          <a:p>
            <a:pPr marL="342900" indent="-342900">
              <a:buFontTx/>
              <a:buAutoNum type="arabicPeriod" startAt="5"/>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defRPr/>
            </a:pPr>
            <a:r>
              <a:rPr lang="es-AR" sz="2700" dirty="0">
                <a:solidFill>
                  <a:srgbClr val="002060"/>
                </a:solidFill>
                <a:effectLst>
                  <a:outerShdw blurRad="38100" dist="38100" dir="2700000" algn="tl">
                    <a:srgbClr val="000000">
                      <a:alpha val="43137"/>
                    </a:srgbClr>
                  </a:outerShdw>
                </a:effectLst>
                <a:latin typeface="Berlin Sans FB" pitchFamily="34" charset="0"/>
              </a:rPr>
              <a:t>8. Debe ser difundida interna y externamente.</a:t>
            </a:r>
          </a:p>
          <a:p>
            <a:pPr>
              <a:defRPr/>
            </a:pPr>
            <a:endParaRPr lang="es-CO"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4" name="3 CuadroTexto"/>
          <p:cNvSpPr txBox="1"/>
          <p:nvPr/>
        </p:nvSpPr>
        <p:spPr>
          <a:xfrm>
            <a:off x="500034" y="1428736"/>
            <a:ext cx="7858180" cy="861774"/>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2.3.1 CARACTERISTICAS DE LA VISION:</a:t>
            </a:r>
          </a:p>
          <a:p>
            <a:pPr>
              <a:defRPr/>
            </a:pPr>
            <a:endParaRPr lang="es-A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14373" y="1142984"/>
            <a:ext cx="8429627" cy="5109091"/>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2.3.2 ¿QUE SE DEBE TENER EN CUENTA PARA FORMULAR LA VISIÓN?</a:t>
            </a:r>
          </a:p>
          <a:p>
            <a:pPr algn="ctr">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defRPr/>
            </a:pPr>
            <a:endParaRPr lang="es-AR" b="1" dirty="0">
              <a:effectLst>
                <a:outerShdw blurRad="38100" dist="38100" dir="2700000" algn="tl">
                  <a:srgbClr val="000000">
                    <a:alpha val="43137"/>
                  </a:srgbClr>
                </a:outerShdw>
              </a:effectLst>
            </a:endParaRPr>
          </a:p>
          <a:p>
            <a:pPr marL="342900" indent="-342900">
              <a:buFont typeface="+mj-lt"/>
              <a:buAutoNum type="arabicPeriod"/>
              <a:defRPr/>
            </a:pPr>
            <a:r>
              <a:rPr lang="es-AR" sz="2600" b="1" dirty="0">
                <a:solidFill>
                  <a:srgbClr val="002060"/>
                </a:solidFill>
                <a:effectLst>
                  <a:outerShdw blurRad="38100" dist="38100" dir="2700000" algn="tl">
                    <a:srgbClr val="000000">
                      <a:alpha val="43137"/>
                    </a:srgbClr>
                  </a:outerShdw>
                </a:effectLst>
              </a:rPr>
              <a:t> </a:t>
            </a:r>
            <a:r>
              <a:rPr lang="es-AR" sz="2400" b="1" dirty="0">
                <a:solidFill>
                  <a:srgbClr val="002060"/>
                </a:solidFill>
                <a:effectLst>
                  <a:outerShdw blurRad="38100" dist="38100" dir="2700000" algn="tl">
                    <a:srgbClr val="000000">
                      <a:alpha val="43137"/>
                    </a:srgbClr>
                  </a:outerShdw>
                </a:effectLst>
              </a:rPr>
              <a:t>Si todo tuviera éxito, ¿Cómo seria su empresa dentro de tres años?</a:t>
            </a:r>
          </a:p>
          <a:p>
            <a:pPr marL="342900" indent="-342900">
              <a:buFont typeface="+mj-lt"/>
              <a:buAutoNum type="arabicPeriod"/>
              <a:defRPr/>
            </a:pPr>
            <a:endParaRPr lang="es-AR" sz="2400" b="1" dirty="0">
              <a:solidFill>
                <a:srgbClr val="002060"/>
              </a:solidFill>
              <a:effectLst>
                <a:outerShdw blurRad="38100" dist="38100" dir="2700000" algn="tl">
                  <a:srgbClr val="000000">
                    <a:alpha val="43137"/>
                  </a:srgbClr>
                </a:outerShdw>
              </a:effectLst>
            </a:endParaRPr>
          </a:p>
          <a:p>
            <a:pPr marL="342900" indent="-342900">
              <a:buFont typeface="+mj-lt"/>
              <a:buAutoNum type="arabicPeriod"/>
              <a:defRPr/>
            </a:pPr>
            <a:r>
              <a:rPr lang="es-AR" sz="2400" b="1" dirty="0">
                <a:solidFill>
                  <a:srgbClr val="002060"/>
                </a:solidFill>
                <a:effectLst>
                  <a:outerShdw blurRad="38100" dist="38100" dir="2700000" algn="tl">
                    <a:srgbClr val="000000">
                      <a:alpha val="43137"/>
                    </a:srgbClr>
                  </a:outerShdw>
                </a:effectLst>
              </a:rPr>
              <a:t> ¿Qué logros de su área le gustaría recordar dentro  de 5 años?</a:t>
            </a:r>
          </a:p>
          <a:p>
            <a:pPr marL="342900" indent="-342900">
              <a:buFont typeface="+mj-lt"/>
              <a:buAutoNum type="arabicPeriod"/>
              <a:defRPr/>
            </a:pPr>
            <a:endParaRPr lang="es-AR" sz="2400" b="1" dirty="0">
              <a:solidFill>
                <a:srgbClr val="002060"/>
              </a:solidFill>
              <a:effectLst>
                <a:outerShdw blurRad="38100" dist="38100" dir="2700000" algn="tl">
                  <a:srgbClr val="000000">
                    <a:alpha val="43137"/>
                  </a:srgbClr>
                </a:outerShdw>
              </a:effectLst>
            </a:endParaRPr>
          </a:p>
          <a:p>
            <a:pPr marL="342900" indent="-342900">
              <a:buFont typeface="+mj-lt"/>
              <a:buAutoNum type="arabicPeriod"/>
              <a:defRPr/>
            </a:pPr>
            <a:r>
              <a:rPr lang="es-AR" sz="2400" b="1" dirty="0">
                <a:solidFill>
                  <a:srgbClr val="002060"/>
                </a:solidFill>
                <a:effectLst>
                  <a:outerShdw blurRad="38100" dist="38100" dir="2700000" algn="tl">
                    <a:srgbClr val="000000">
                      <a:alpha val="43137"/>
                    </a:srgbClr>
                  </a:outerShdw>
                </a:effectLst>
              </a:rPr>
              <a:t> ¿Qué innovaciones podrían hacerse a los productos o servicios que ofrece su empresa?</a:t>
            </a:r>
          </a:p>
          <a:p>
            <a:pPr marL="342900" indent="-342900">
              <a:buFont typeface="+mj-lt"/>
              <a:buAutoNum type="arabicPeriod"/>
              <a:defRPr/>
            </a:pPr>
            <a:endParaRPr lang="es-AR" b="1" dirty="0">
              <a:effectLst>
                <a:outerShdw blurRad="38100" dist="38100" dir="2700000" algn="tl">
                  <a:srgbClr val="000000">
                    <a:alpha val="43137"/>
                  </a:srgbClr>
                </a:outerShdw>
              </a:effectLst>
            </a:endParaRP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642938" y="2428875"/>
            <a:ext cx="8001000" cy="3832225"/>
          </a:xfrm>
          <a:prstGeom prst="rect">
            <a:avLst/>
          </a:prstGeom>
          <a:noFill/>
        </p:spPr>
        <p:txBody>
          <a:bodyPr>
            <a:spAutoFit/>
          </a:bodyPr>
          <a:lstStyle/>
          <a:p>
            <a:pPr marL="342900" indent="-342900">
              <a:defRPr/>
            </a:pPr>
            <a:endParaRPr lang="es-AR" dirty="0"/>
          </a:p>
          <a:p>
            <a:pPr marL="342900" indent="-342900">
              <a:buFont typeface="+mj-lt"/>
              <a:buAutoNum type="arabicPeriod"/>
              <a:defRPr/>
            </a:pPr>
            <a:endParaRPr lang="es-AR" dirty="0"/>
          </a:p>
          <a:p>
            <a:pPr marL="342900" indent="-342900">
              <a:defRPr/>
            </a:pPr>
            <a:r>
              <a:rPr lang="es-AR" sz="2700" dirty="0">
                <a:solidFill>
                  <a:srgbClr val="002060"/>
                </a:solidFill>
                <a:effectLst>
                  <a:outerShdw blurRad="38100" dist="38100" dir="2700000" algn="tl">
                    <a:srgbClr val="000000">
                      <a:alpha val="43137"/>
                    </a:srgbClr>
                  </a:outerShdw>
                </a:effectLst>
                <a:latin typeface="Berlin Sans FB" pitchFamily="34" charset="0"/>
              </a:rPr>
              <a:t>4.   ¿Qué avances tecnológicos podrían incorporarse?</a:t>
            </a:r>
          </a:p>
          <a:p>
            <a:pPr marL="342900" indent="-342900" algn="just">
              <a:buFont typeface="+mj-lt"/>
              <a:buAutoNum type="arabicPeriod"/>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buFontTx/>
              <a:buAutoNum type="arabicPeriod" startAt="5"/>
              <a:defRPr/>
            </a:pPr>
            <a:r>
              <a:rPr lang="es-AR" sz="2700" dirty="0">
                <a:solidFill>
                  <a:srgbClr val="002060"/>
                </a:solidFill>
                <a:effectLst>
                  <a:outerShdw blurRad="38100" dist="38100" dir="2700000" algn="tl">
                    <a:srgbClr val="000000">
                      <a:alpha val="43137"/>
                    </a:srgbClr>
                  </a:outerShdw>
                </a:effectLst>
                <a:latin typeface="Berlin Sans FB" pitchFamily="34" charset="0"/>
              </a:rPr>
              <a:t>Que otras necesidades y expectativas del cliente podrían satisfacer.</a:t>
            </a:r>
          </a:p>
          <a:p>
            <a:pPr marL="342900" indent="-342900">
              <a:buFontTx/>
              <a:buAutoNum type="arabicPeriod" startAt="5"/>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marL="342900" indent="-342900">
              <a:buFontTx/>
              <a:buAutoNum type="arabicPeriod" startAt="5"/>
              <a:defRPr/>
            </a:pPr>
            <a:r>
              <a:rPr lang="es-AR" sz="2700" dirty="0">
                <a:solidFill>
                  <a:srgbClr val="002060"/>
                </a:solidFill>
                <a:effectLst>
                  <a:outerShdw blurRad="38100" dist="38100" dir="2700000" algn="tl">
                    <a:srgbClr val="000000">
                      <a:alpha val="43137"/>
                    </a:srgbClr>
                  </a:outerShdw>
                </a:effectLst>
                <a:latin typeface="Berlin Sans FB" pitchFamily="34" charset="0"/>
              </a:rPr>
              <a:t>  Que talentos humanos especializados necesita su área dentro de 3 a 5 años?</a:t>
            </a:r>
          </a:p>
          <a:p>
            <a:pPr>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4" name="3 CuadroTexto"/>
          <p:cNvSpPr txBox="1"/>
          <p:nvPr/>
        </p:nvSpPr>
        <p:spPr>
          <a:xfrm>
            <a:off x="642910" y="1285860"/>
            <a:ext cx="8072494" cy="1354217"/>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2.3.2 ¿QUE SE DEBE TENER EN CUENTA PARA FORMULAR LA VISIÓN?</a:t>
            </a:r>
          </a:p>
          <a:p>
            <a:pPr algn="ctr">
              <a:defRPr/>
            </a:pPr>
            <a:endParaRPr lang="es-A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CuadroTexto"/>
          <p:cNvSpPr txBox="1">
            <a:spLocks noChangeArrowheads="1"/>
          </p:cNvSpPr>
          <p:nvPr/>
        </p:nvSpPr>
        <p:spPr bwMode="auto">
          <a:xfrm>
            <a:off x="285750" y="2000250"/>
            <a:ext cx="8572500" cy="3124200"/>
          </a:xfrm>
          <a:prstGeom prst="rect">
            <a:avLst/>
          </a:prstGeom>
          <a:noFill/>
          <a:ln w="9525">
            <a:noFill/>
            <a:miter lim="800000"/>
            <a:headEnd/>
            <a:tailEnd/>
          </a:ln>
        </p:spPr>
        <p:txBody>
          <a:bodyPr>
            <a:spAutoFit/>
          </a:bodyPr>
          <a:lstStyle/>
          <a:p>
            <a:pPr>
              <a:defRPr/>
            </a:pPr>
            <a:r>
              <a:rPr lang="es-AR" sz="2300" dirty="0">
                <a:solidFill>
                  <a:srgbClr val="002060"/>
                </a:solidFill>
                <a:effectLst>
                  <a:outerShdw blurRad="38100" dist="38100" dir="2700000" algn="tl">
                    <a:srgbClr val="000000">
                      <a:alpha val="43137"/>
                    </a:srgbClr>
                  </a:outerShdw>
                </a:effectLst>
                <a:latin typeface="Berlin Sans FB" pitchFamily="34" charset="0"/>
              </a:rPr>
              <a:t>Ejemplo de visión:</a:t>
            </a:r>
          </a:p>
          <a:p>
            <a:pPr>
              <a:defRPr/>
            </a:pPr>
            <a:endParaRPr lang="es-AR" dirty="0">
              <a:solidFill>
                <a:srgbClr val="002060"/>
              </a:solidFill>
              <a:effectLst>
                <a:outerShdw blurRad="38100" dist="38100" dir="2700000" algn="tl">
                  <a:srgbClr val="000000">
                    <a:alpha val="43137"/>
                  </a:srgbClr>
                </a:outerShdw>
              </a:effectLst>
              <a:latin typeface="Berlin Sans FB" pitchFamily="34" charset="0"/>
            </a:endParaRPr>
          </a:p>
          <a:p>
            <a:pPr algn="just">
              <a:defRPr/>
            </a:pPr>
            <a:r>
              <a:rPr lang="es-AR" sz="3000" dirty="0">
                <a:solidFill>
                  <a:srgbClr val="002060"/>
                </a:solidFill>
                <a:effectLst>
                  <a:outerShdw blurRad="38100" dist="38100" dir="2700000" algn="tl">
                    <a:srgbClr val="000000">
                      <a:alpha val="43137"/>
                    </a:srgbClr>
                  </a:outerShdw>
                </a:effectLst>
                <a:latin typeface="Berlin Sans FB" pitchFamily="34" charset="0"/>
              </a:rPr>
              <a:t>Edesa</a:t>
            </a:r>
          </a:p>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Empresa líder dentro de la industria de acabados de la construcción, por su  éxito con los clientes, innovación, tecnología y habilidad para competir exitosamente en los mercados internacionales.</a:t>
            </a:r>
          </a:p>
          <a:p>
            <a:pPr>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14375" y="2643188"/>
            <a:ext cx="7715250" cy="2032000"/>
          </a:xfrm>
          <a:prstGeom prst="rect">
            <a:avLst/>
          </a:prstGeom>
          <a:noFill/>
        </p:spPr>
        <p:txBody>
          <a:bodyPr>
            <a:spAutoFit/>
          </a:bodyPr>
          <a:lstStyle/>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Destacados, además, por su dedicación  a la formación, capacidad y desarrollo de sus empleados, respeto integral al medio ambiente y compromiso con el desarrollo de el país. </a:t>
            </a:r>
          </a:p>
          <a:p>
            <a:pPr>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57188" y="1857375"/>
            <a:ext cx="8143875" cy="3846513"/>
          </a:xfrm>
          <a:prstGeom prst="rect">
            <a:avLst/>
          </a:prstGeom>
        </p:spPr>
        <p:txBody>
          <a:bodyPr>
            <a:spAutoFit/>
          </a:bodyPr>
          <a:lstStyle/>
          <a:p>
            <a:pPr algn="just">
              <a:defRPr/>
            </a:pPr>
            <a:r>
              <a:rPr lang="es-AR" sz="2800" dirty="0">
                <a:solidFill>
                  <a:srgbClr val="002060"/>
                </a:solidFill>
                <a:effectLst>
                  <a:outerShdw blurRad="38100" dist="38100" dir="2700000" algn="tl">
                    <a:srgbClr val="000000">
                      <a:alpha val="43137"/>
                    </a:srgbClr>
                  </a:outerShdw>
                </a:effectLst>
                <a:latin typeface="Berlin Sans FB" pitchFamily="34" charset="0"/>
              </a:rPr>
              <a:t>Ejemplo de visión:</a:t>
            </a:r>
          </a:p>
          <a:p>
            <a:pPr algn="just">
              <a:defRPr/>
            </a:pPr>
            <a:endParaRPr lang="es-AR" sz="2700" b="1" dirty="0">
              <a:latin typeface="Berlin Sans FB Demi" pitchFamily="34" charset="0"/>
            </a:endParaRPr>
          </a:p>
          <a:p>
            <a:pPr algn="just">
              <a:defRPr/>
            </a:pPr>
            <a:r>
              <a:rPr lang="es-AR" sz="2700" b="1" dirty="0">
                <a:solidFill>
                  <a:schemeClr val="tx2">
                    <a:lumMod val="75000"/>
                  </a:schemeClr>
                </a:solidFill>
                <a:effectLst>
                  <a:outerShdw blurRad="38100" dist="38100" dir="2700000" algn="tl">
                    <a:srgbClr val="000000">
                      <a:alpha val="43137"/>
                    </a:srgbClr>
                  </a:outerShdw>
                </a:effectLst>
                <a:latin typeface="Berlin Sans FB Demi" pitchFamily="34" charset="0"/>
              </a:rPr>
              <a:t>General Motors</a:t>
            </a:r>
            <a:endPar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endParaRPr>
          </a:p>
          <a:p>
            <a:pPr algn="just">
              <a:defRPr/>
            </a:pP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“Ser el líder mundial en productos y servicios relacionados al transporte. Nosotros lograremos el entusiasmo de nuestros clientes a través de la mejora continua de nuestros productos, guiada por la integridad, el trabajo en equipo y la innovación de nuestra gente”.</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3" name="2 Rectángulo"/>
          <p:cNvSpPr/>
          <p:nvPr/>
        </p:nvSpPr>
        <p:spPr>
          <a:xfrm>
            <a:off x="214313" y="1643063"/>
            <a:ext cx="8572500" cy="3370262"/>
          </a:xfrm>
          <a:prstGeom prst="rect">
            <a:avLst/>
          </a:prstGeom>
        </p:spPr>
        <p:txBody>
          <a:bodyPr>
            <a:spAutoFit/>
          </a:bodyPr>
          <a:lstStyle/>
          <a:p>
            <a:pPr>
              <a:defRPr/>
            </a:pPr>
            <a:r>
              <a:rPr lang="es-AR" sz="2400" dirty="0">
                <a:solidFill>
                  <a:srgbClr val="002060"/>
                </a:solidFill>
                <a:effectLst>
                  <a:outerShdw blurRad="38100" dist="38100" dir="2700000" algn="tl">
                    <a:srgbClr val="000000">
                      <a:alpha val="43137"/>
                    </a:srgbClr>
                  </a:outerShdw>
                </a:effectLst>
                <a:latin typeface="Berlin Sans FB" pitchFamily="34" charset="0"/>
              </a:rPr>
              <a:t>Ejemplo de visión:</a:t>
            </a:r>
          </a:p>
          <a:p>
            <a:pPr>
              <a:defRPr/>
            </a:pPr>
            <a:endParaRPr lang="es-AR" sz="2700" b="1" dirty="0">
              <a:solidFill>
                <a:schemeClr val="tx2">
                  <a:lumMod val="75000"/>
                </a:schemeClr>
              </a:solidFill>
              <a:effectLst>
                <a:outerShdw blurRad="38100" dist="38100" dir="2700000" algn="tl">
                  <a:srgbClr val="000000">
                    <a:alpha val="43137"/>
                  </a:srgbClr>
                </a:outerShdw>
              </a:effectLst>
              <a:latin typeface="Berlin Sans FB Demi" pitchFamily="34" charset="0"/>
            </a:endParaRPr>
          </a:p>
          <a:p>
            <a:pPr>
              <a:defRPr/>
            </a:pPr>
            <a:r>
              <a:rPr lang="es-AR" sz="2700" b="1" dirty="0">
                <a:solidFill>
                  <a:schemeClr val="tx2">
                    <a:lumMod val="75000"/>
                  </a:schemeClr>
                </a:solidFill>
                <a:effectLst>
                  <a:outerShdw blurRad="38100" dist="38100" dir="2700000" algn="tl">
                    <a:srgbClr val="000000">
                      <a:alpha val="43137"/>
                    </a:srgbClr>
                  </a:outerShdw>
                </a:effectLst>
                <a:latin typeface="Berlin Sans FB Demi" pitchFamily="34" charset="0"/>
              </a:rPr>
              <a:t>McDonald’s</a:t>
            </a:r>
            <a:endPar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endParaRPr>
          </a:p>
          <a:p>
            <a:pPr algn="just">
              <a:defRPr/>
            </a:pP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 “Ser el mejor restaurante de comida rápida en el mundo. Ser el mejor significa proveer calidad excepcional, servicio, higiene y valor, de manera tal que hagamos que cada cliente en cada restaurante sonría”.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3" name="2 Rectángulo"/>
          <p:cNvSpPr/>
          <p:nvPr/>
        </p:nvSpPr>
        <p:spPr>
          <a:xfrm>
            <a:off x="285750" y="1714500"/>
            <a:ext cx="7643813" cy="1970088"/>
          </a:xfrm>
          <a:prstGeom prst="rect">
            <a:avLst/>
          </a:prstGeom>
        </p:spPr>
        <p:txBody>
          <a:bodyPr>
            <a:spAutoFit/>
          </a:bodyPr>
          <a:lstStyle/>
          <a:p>
            <a:pPr>
              <a:defRPr/>
            </a:pPr>
            <a:r>
              <a:rPr lang="es-AR" sz="2300" dirty="0">
                <a:solidFill>
                  <a:srgbClr val="002060"/>
                </a:solidFill>
                <a:effectLst>
                  <a:outerShdw blurRad="38100" dist="38100" dir="2700000" algn="tl">
                    <a:srgbClr val="000000">
                      <a:alpha val="43137"/>
                    </a:srgbClr>
                  </a:outerShdw>
                </a:effectLst>
                <a:latin typeface="Berlin Sans FB Demi" pitchFamily="34" charset="0"/>
              </a:rPr>
              <a:t>Ejemplo de visión:</a:t>
            </a:r>
          </a:p>
          <a:p>
            <a:pPr>
              <a:defRPr/>
            </a:pPr>
            <a:endParaRPr lang="es-AR" dirty="0">
              <a:solidFill>
                <a:srgbClr val="002060"/>
              </a:solidFill>
              <a:effectLst>
                <a:outerShdw blurRad="38100" dist="38100" dir="2700000" algn="tl">
                  <a:srgbClr val="000000">
                    <a:alpha val="43137"/>
                  </a:srgbClr>
                </a:outerShdw>
              </a:effectLst>
              <a:latin typeface="Berlin Sans FB Demi" pitchFamily="34" charset="0"/>
            </a:endParaRPr>
          </a:p>
          <a:p>
            <a:pPr algn="just">
              <a:defRPr/>
            </a:pPr>
            <a:r>
              <a:rPr lang="es-AR" sz="2700" b="1" dirty="0">
                <a:solidFill>
                  <a:schemeClr val="tx2">
                    <a:lumMod val="75000"/>
                  </a:schemeClr>
                </a:solidFill>
                <a:effectLst>
                  <a:outerShdw blurRad="38100" dist="38100" dir="2700000" algn="tl">
                    <a:srgbClr val="000000">
                      <a:alpha val="43137"/>
                    </a:srgbClr>
                  </a:outerShdw>
                </a:effectLst>
                <a:latin typeface="Berlin Sans FB Demi" pitchFamily="34" charset="0"/>
              </a:rPr>
              <a:t>Samsung</a:t>
            </a: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a:t>
            </a:r>
          </a:p>
          <a:p>
            <a:pPr algn="just">
              <a:defRPr/>
            </a:pP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 “Liderar la revolución de la convergencia digital”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1500188" y="1285875"/>
            <a:ext cx="6215062" cy="584200"/>
          </a:xfrm>
          <a:prstGeom prst="rect">
            <a:avLst/>
          </a:prstGeom>
        </p:spPr>
        <p:txBody>
          <a:bodyPr>
            <a:spAutoFit/>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 DIAGNOSTICO ESTRATÉGICO</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CuadroTexto"/>
          <p:cNvSpPr txBox="1"/>
          <p:nvPr/>
        </p:nvSpPr>
        <p:spPr>
          <a:xfrm>
            <a:off x="214313" y="3000375"/>
            <a:ext cx="8715375" cy="923925"/>
          </a:xfrm>
          <a:prstGeom prst="rect">
            <a:avLst/>
          </a:prstGeom>
          <a:noFill/>
        </p:spPr>
        <p:txBody>
          <a:bodyPr>
            <a:spAutoFit/>
          </a:bodyPr>
          <a:lstStyle/>
          <a:p>
            <a:pPr>
              <a:defRPr/>
            </a:pPr>
            <a:r>
              <a:rPr lang="es-AR" sz="2700" dirty="0">
                <a:solidFill>
                  <a:schemeClr val="tx2">
                    <a:lumMod val="75000"/>
                  </a:schemeClr>
                </a:solidFill>
                <a:effectLst>
                  <a:outerShdw blurRad="38100" dist="38100" dir="2700000" algn="tl">
                    <a:srgbClr val="000000">
                      <a:alpha val="43137"/>
                    </a:srgbClr>
                  </a:outerShdw>
                </a:effectLst>
                <a:latin typeface="Berlin Sans FB Demi" pitchFamily="34" charset="0"/>
              </a:rPr>
              <a:t>Para llevar a cabo este diagnostico hay que tener en cuenta el </a:t>
            </a:r>
            <a:r>
              <a:rPr lang="es-AR" sz="2700" b="1" dirty="0">
                <a:solidFill>
                  <a:schemeClr val="accent1">
                    <a:lumMod val="60000"/>
                    <a:lumOff val="40000"/>
                  </a:schemeClr>
                </a:solidFill>
                <a:effectLst>
                  <a:glow rad="101600">
                    <a:schemeClr val="accent1">
                      <a:lumMod val="75000"/>
                      <a:alpha val="60000"/>
                    </a:schemeClr>
                  </a:glow>
                  <a:outerShdw blurRad="38100" dist="38100" dir="2700000" algn="tl">
                    <a:srgbClr val="000000">
                      <a:alpha val="43137"/>
                    </a:srgbClr>
                  </a:outerShdw>
                </a:effectLst>
                <a:latin typeface="Berlin Sans FB" pitchFamily="34" charset="0"/>
              </a:rPr>
              <a:t>DIRECCIONAMIENTO ESTRATEGICO</a:t>
            </a:r>
            <a:endParaRPr lang="es-AR" sz="2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CuadroTexto"/>
          <p:cNvSpPr txBox="1">
            <a:spLocks noChangeArrowheads="1"/>
          </p:cNvSpPr>
          <p:nvPr/>
        </p:nvSpPr>
        <p:spPr bwMode="auto">
          <a:xfrm>
            <a:off x="500034" y="2214554"/>
            <a:ext cx="8286750" cy="2600712"/>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3.1 SE RESPONDE A ESTAS PREGUNTAS</a:t>
            </a:r>
          </a:p>
          <a:p>
            <a:pPr>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defRPr/>
            </a:pPr>
            <a:endParaRPr lang="es-AR" b="1" dirty="0">
              <a:solidFill>
                <a:srgbClr val="002060"/>
              </a:solidFill>
              <a:effectLst>
                <a:outerShdw blurRad="38100" dist="38100" dir="2700000" algn="tl">
                  <a:srgbClr val="000000">
                    <a:alpha val="43137"/>
                  </a:srgbClr>
                </a:outerShdw>
              </a:effectLst>
            </a:endParaRPr>
          </a:p>
          <a:p>
            <a:pPr>
              <a:buFont typeface="Wingdings" pitchFamily="2" charset="2"/>
              <a:buChar char="v"/>
              <a:defRPr/>
            </a:pPr>
            <a:r>
              <a:rPr lang="es-AR" sz="2700" dirty="0">
                <a:solidFill>
                  <a:srgbClr val="002060"/>
                </a:solidFill>
                <a:effectLst>
                  <a:outerShdw blurRad="38100" dist="38100" dir="2700000" algn="tl">
                    <a:srgbClr val="000000">
                      <a:alpha val="43137"/>
                    </a:srgbClr>
                  </a:outerShdw>
                </a:effectLst>
                <a:latin typeface="Berlin Sans FB" pitchFamily="34" charset="0"/>
              </a:rPr>
              <a:t>  ¿Dónde estábamos?</a:t>
            </a:r>
          </a:p>
          <a:p>
            <a:pPr>
              <a:buFont typeface="Wingdings" pitchFamily="2" charset="2"/>
              <a:buChar char="v"/>
              <a:defRPr/>
            </a:pPr>
            <a:endParaRPr lang="es-AR" sz="2700" dirty="0">
              <a:solidFill>
                <a:srgbClr val="002060"/>
              </a:solidFill>
              <a:effectLst>
                <a:outerShdw blurRad="38100" dist="38100" dir="2700000" algn="tl">
                  <a:srgbClr val="000000">
                    <a:alpha val="43137"/>
                  </a:srgbClr>
                </a:outerShdw>
              </a:effectLst>
              <a:latin typeface="Berlin Sans FB" pitchFamily="34" charset="0"/>
            </a:endParaRPr>
          </a:p>
          <a:p>
            <a:pPr>
              <a:buFont typeface="Wingdings" pitchFamily="2" charset="2"/>
              <a:buChar char="v"/>
              <a:defRPr/>
            </a:pPr>
            <a:r>
              <a:rPr lang="es-AR" sz="2700" dirty="0">
                <a:solidFill>
                  <a:srgbClr val="002060"/>
                </a:solidFill>
                <a:effectLst>
                  <a:outerShdw blurRad="38100" dist="38100" dir="2700000" algn="tl">
                    <a:srgbClr val="000000">
                      <a:alpha val="43137"/>
                    </a:srgbClr>
                  </a:outerShdw>
                </a:effectLst>
                <a:latin typeface="Berlin Sans FB" pitchFamily="34" charset="0"/>
              </a:rPr>
              <a:t> ¿ Donde estamos hoy?</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CuadroTexto"/>
          <p:cNvSpPr txBox="1">
            <a:spLocks noChangeArrowheads="1"/>
          </p:cNvSpPr>
          <p:nvPr/>
        </p:nvSpPr>
        <p:spPr bwMode="auto">
          <a:xfrm>
            <a:off x="214313" y="2571750"/>
            <a:ext cx="8929687" cy="2586038"/>
          </a:xfrm>
          <a:prstGeom prst="rect">
            <a:avLst/>
          </a:prstGeom>
          <a:noFill/>
          <a:ln w="9525">
            <a:noFill/>
            <a:miter lim="800000"/>
            <a:headEnd/>
            <a:tailEnd/>
          </a:ln>
        </p:spPr>
        <p:txBody>
          <a:bodyPr>
            <a:spAutoFit/>
          </a:bodyPr>
          <a:lstStyle/>
          <a:p>
            <a:pPr>
              <a:defRPr/>
            </a:pPr>
            <a:r>
              <a:rPr lang="es-AR" sz="2700" dirty="0">
                <a:solidFill>
                  <a:srgbClr val="002060"/>
                </a:solidFill>
                <a:effectLst>
                  <a:outerShdw blurRad="38100" dist="38100" dir="2700000" algn="tl">
                    <a:srgbClr val="000000">
                      <a:alpha val="43137"/>
                    </a:srgbClr>
                  </a:outerShdw>
                </a:effectLst>
                <a:latin typeface="Berlin Sans FB" pitchFamily="34" charset="0"/>
              </a:rPr>
              <a:t>Para dar respuesta a estas preguntas es necesario obtener y procesar información  sobre el entorno, con el fin de identificar allí oportunidades y amenazas así como las condiciones, fortalezas y debilidades internas de la organización. El análisis de oportunidades y amenazas, debe incluir el análisis Dofa</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642938" y="1071563"/>
            <a:ext cx="7715250" cy="4339650"/>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 METODOLOGIA PARA PARA REALIZAR EL DIAGNOSTICO ESTRATEGICO </a:t>
            </a:r>
          </a:p>
          <a:p>
            <a:pPr algn="ctr">
              <a:defRPr/>
            </a:pPr>
            <a:endParaRPr lang="es-AR" dirty="0"/>
          </a:p>
          <a:p>
            <a:pPr algn="ctr">
              <a:defRPr/>
            </a:pPr>
            <a:endParaRPr lang="es-AR" dirty="0"/>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Análisis Interno: Cada organización determina tanto el enfoque como la profundidad del diagnostico que requiere para revisar y actualizar su estrategia presente.</a:t>
            </a:r>
          </a:p>
          <a:p>
            <a:pPr marL="342900" indent="-342900">
              <a:defRPr/>
            </a:pPr>
            <a:endParaRPr lang="es-AR" dirty="0"/>
          </a:p>
          <a:p>
            <a:pPr marL="342900" indent="-342900">
              <a:defRPr/>
            </a:pPr>
            <a:endParaRPr lang="es-AR" dirty="0"/>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2 Marcador de contenido"/>
          <p:cNvSpPr>
            <a:spLocks noGrp="1"/>
          </p:cNvSpPr>
          <p:nvPr>
            <p:ph idx="1"/>
          </p:nvPr>
        </p:nvSpPr>
        <p:spPr>
          <a:xfrm>
            <a:off x="571500" y="2571750"/>
            <a:ext cx="8229600" cy="2500313"/>
          </a:xfrm>
        </p:spPr>
        <p:txBody>
          <a:bodyPr/>
          <a:lstStyle/>
          <a:p>
            <a:pPr algn="just" eaLnBrk="1" hangingPunct="1">
              <a:buFont typeface="Arial" charset="0"/>
              <a:buNone/>
              <a:defRPr/>
            </a:pPr>
            <a:r>
              <a:rPr lang="es-CO" dirty="0" smtClean="0">
                <a:solidFill>
                  <a:srgbClr val="002060"/>
                </a:solidFill>
                <a:effectLst>
                  <a:outerShdw blurRad="38100" dist="38100" dir="2700000" algn="tl">
                    <a:srgbClr val="000000">
                      <a:alpha val="43137"/>
                    </a:srgbClr>
                  </a:outerShdw>
                </a:effectLst>
                <a:latin typeface="Berlin Sans FB" pitchFamily="34" charset="0"/>
              </a:rPr>
              <a:t>    </a:t>
            </a:r>
            <a:r>
              <a:rPr lang="es-CO" sz="2500" dirty="0" smtClean="0">
                <a:solidFill>
                  <a:srgbClr val="002060"/>
                </a:solidFill>
                <a:effectLst>
                  <a:outerShdw blurRad="38100" dist="38100" dir="2700000" algn="tl">
                    <a:srgbClr val="000000">
                      <a:alpha val="43137"/>
                    </a:srgbClr>
                  </a:outerShdw>
                </a:effectLst>
                <a:latin typeface="Berlin Sans FB" pitchFamily="34" charset="0"/>
              </a:rPr>
              <a:t>Es una herramienta moderna para el análisis de la situación competitiva de la compañía o hasta de una nación, que facilita la comparación de Amenazas y Oportunidades externas con las Fortalezas y Debilidades internas de la organización</a:t>
            </a:r>
          </a:p>
          <a:p>
            <a:pPr eaLnBrk="1" hangingPunct="1">
              <a:buFont typeface="Arial" charset="0"/>
              <a:buNone/>
              <a:defRPr/>
            </a:pPr>
            <a:endParaRPr lang="es-CO" dirty="0" smtClean="0"/>
          </a:p>
          <a:p>
            <a:pPr eaLnBrk="1" hangingPunct="1">
              <a:buFont typeface="Arial" charset="0"/>
              <a:buNone/>
              <a:defRPr/>
            </a:pPr>
            <a:endParaRPr lang="es-CO" dirty="0" smtClean="0"/>
          </a:p>
        </p:txBody>
      </p:sp>
      <p:sp>
        <p:nvSpPr>
          <p:cNvPr id="6" name="5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7" name="6 CuadroTexto"/>
          <p:cNvSpPr txBox="1"/>
          <p:nvPr/>
        </p:nvSpPr>
        <p:spPr>
          <a:xfrm>
            <a:off x="1857356" y="1643050"/>
            <a:ext cx="5643602" cy="584775"/>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3.2.1 LA MATRIZ DOFA</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88" y="2714625"/>
            <a:ext cx="8229600" cy="2928938"/>
          </a:xfrm>
        </p:spPr>
        <p:txBody>
          <a:bodyPr rtlCol="0">
            <a:normAutofit/>
          </a:bodyPr>
          <a:lstStyle/>
          <a:p>
            <a:pPr marL="514350" indent="-514350" algn="just" eaLnBrk="1" fontAlgn="auto" hangingPunct="1">
              <a:spcAft>
                <a:spcPts val="0"/>
              </a:spcAft>
              <a:buFont typeface="+mj-lt"/>
              <a:buAutoNum type="arabicPeriod"/>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ESTRATEGIA DA: Buscar minimizar Debilidades y Amenazas. Se llama también la estrategia mini-mini.</a:t>
            </a:r>
          </a:p>
          <a:p>
            <a:pPr marL="514350" indent="-514350" algn="just" eaLnBrk="1" fontAlgn="auto" hangingPunct="1">
              <a:spcAft>
                <a:spcPts val="0"/>
              </a:spcAft>
              <a:buFont typeface="+mj-lt"/>
              <a:buAutoNum type="arabicPeriod"/>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ESTRATEGIA DO: Intenta minimizar las Debilidades y maximizar las Oportunidades.</a:t>
            </a:r>
          </a:p>
          <a:p>
            <a:pPr marL="514350" indent="-514350" eaLnBrk="1" fontAlgn="auto" hangingPunct="1">
              <a:spcAft>
                <a:spcPts val="0"/>
              </a:spcAft>
              <a:buFont typeface="+mj-lt"/>
              <a:buAutoNum type="arabicPeriod"/>
              <a:defRPr/>
            </a:pPr>
            <a:endParaRPr lang="es-CO" dirty="0" smtClean="0"/>
          </a:p>
          <a:p>
            <a:pPr marL="514350" indent="-514350" eaLnBrk="1" fontAlgn="auto" hangingPunct="1">
              <a:spcAft>
                <a:spcPts val="0"/>
              </a:spcAft>
              <a:buFont typeface="+mj-lt"/>
              <a:buAutoNum type="arabicPeriod"/>
              <a:defRPr/>
            </a:pPr>
            <a:endParaRPr lang="es-CO" dirty="0" smtClean="0"/>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rgbClr val="002060">
                      <a:alpha val="40000"/>
                    </a:srgbClr>
                  </a:glow>
                  <a:outerShdw blurRad="25400" algn="tl" rotWithShape="0">
                    <a:srgbClr val="000000">
                      <a:alpha val="43000"/>
                    </a:srgbClr>
                  </a:outerShdw>
                </a:effectLst>
                <a:latin typeface="Berlin Sans FB" pitchFamily="34" charset="0"/>
              </a:rPr>
              <a:t>MATRIZ DOFA</a:t>
            </a:r>
          </a:p>
        </p:txBody>
      </p:sp>
      <p:sp>
        <p:nvSpPr>
          <p:cNvPr id="6" name="5 CuadroTexto"/>
          <p:cNvSpPr txBox="1"/>
          <p:nvPr/>
        </p:nvSpPr>
        <p:spPr>
          <a:xfrm>
            <a:off x="928662" y="1285860"/>
            <a:ext cx="6286544" cy="584775"/>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3.2.1.1 ESTRETAGIAS</a:t>
            </a:r>
            <a:r>
              <a:rPr lang="es-AR" dirty="0">
                <a:effectLst>
                  <a:outerShdw blurRad="38100" dist="38100" dir="2700000" algn="tl">
                    <a:srgbClr val="000000">
                      <a:alpha val="43137"/>
                    </a:srgbClr>
                  </a:outerShdw>
                </a:effectLst>
                <a:latin typeface="Berlin Sans FB" pitchFamily="34" charset="0"/>
              </a:rPr>
              <a:t>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50" y="1714500"/>
            <a:ext cx="8229600" cy="4929188"/>
          </a:xfrm>
        </p:spPr>
        <p:txBody>
          <a:bodyPr/>
          <a:lstStyle/>
          <a:p>
            <a:pPr marL="514350" indent="-514350" algn="ctr" eaLnBrk="1" fontAlgn="auto" hangingPunct="1">
              <a:spcAft>
                <a:spcPts val="0"/>
              </a:spcAft>
              <a:buFont typeface="Arial" charset="0"/>
              <a:buNone/>
              <a:defRPr/>
            </a:pPr>
            <a:endParaRPr lang="es-CO" sz="2700" dirty="0" smtClean="0">
              <a:solidFill>
                <a:srgbClr val="002060"/>
              </a:solidFill>
              <a:effectLst>
                <a:outerShdw blurRad="38100" dist="38100" dir="2700000" algn="tl">
                  <a:srgbClr val="000000">
                    <a:alpha val="43137"/>
                  </a:srgbClr>
                </a:outerShdw>
              </a:effectLst>
              <a:latin typeface="Berlin Sans FB" pitchFamily="34" charset="0"/>
            </a:endParaRPr>
          </a:p>
          <a:p>
            <a:pPr marL="514350" indent="-514350" algn="just" eaLnBrk="1" fontAlgn="auto" hangingPunct="1">
              <a:spcAft>
                <a:spcPts val="0"/>
              </a:spcAft>
              <a:buFont typeface="Arial"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3. ESTRATEGIA FA: utiliza las Fortalezas de la organización para ocuparse de las Amenazas. La meta es maximizar las primeras minimizando las segundas.</a:t>
            </a:r>
          </a:p>
          <a:p>
            <a:pPr marL="514350" indent="-514350" algn="just" eaLnBrk="1" fontAlgn="auto" hangingPunct="1">
              <a:spcAft>
                <a:spcPts val="0"/>
              </a:spcAft>
              <a:buFont typeface="Arial"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4.  ESTRATEGIA FO: capitaliza las Fortalezas de una compañía para aprovechar las oportunidades.</a:t>
            </a:r>
          </a:p>
          <a:p>
            <a:pPr marL="514350" indent="-514350" eaLnBrk="1" fontAlgn="auto" hangingPunct="1">
              <a:spcAft>
                <a:spcPts val="0"/>
              </a:spcAft>
              <a:buFont typeface="Arial" pitchFamily="34" charset="0"/>
              <a:buNone/>
              <a:defRPr/>
            </a:pPr>
            <a:endParaRPr lang="es-CO" sz="2700" dirty="0" smtClean="0">
              <a:solidFill>
                <a:srgbClr val="002060"/>
              </a:solidFill>
              <a:effectLst>
                <a:outerShdw blurRad="38100" dist="38100" dir="2700000" algn="tl">
                  <a:srgbClr val="000000">
                    <a:alpha val="43137"/>
                  </a:srgbClr>
                </a:outerShdw>
              </a:effectLst>
              <a:latin typeface="Berlin Sans FB" pitchFamily="34" charset="0"/>
            </a:endParaRPr>
          </a:p>
          <a:p>
            <a:pPr marL="514350" indent="-514350" algn="just" eaLnBrk="1" fontAlgn="auto" hangingPunct="1">
              <a:spcAft>
                <a:spcPts val="0"/>
              </a:spcAft>
              <a:buFont typeface="Arial" pitchFamily="34"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La meta de las empresas es moverse de otras posiciones en la matriz a la posición FO. </a:t>
            </a:r>
          </a:p>
          <a:p>
            <a:pPr>
              <a:defRPr/>
            </a:pPr>
            <a:endParaRPr lang="es-AR" dirty="0"/>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rgbClr val="002060">
                      <a:alpha val="40000"/>
                    </a:srgbClr>
                  </a:glow>
                  <a:outerShdw blurRad="25400" algn="tl" rotWithShape="0">
                    <a:srgbClr val="000000">
                      <a:alpha val="43000"/>
                    </a:srgbClr>
                  </a:outerShdw>
                </a:effectLst>
                <a:latin typeface="Berlin Sans FB" pitchFamily="34" charset="0"/>
              </a:rPr>
              <a:t>MATRIZ DOFA</a:t>
            </a:r>
          </a:p>
        </p:txBody>
      </p:sp>
      <p:sp>
        <p:nvSpPr>
          <p:cNvPr id="6" name="5 CuadroTexto"/>
          <p:cNvSpPr txBox="1"/>
          <p:nvPr/>
        </p:nvSpPr>
        <p:spPr>
          <a:xfrm>
            <a:off x="1714480" y="1285860"/>
            <a:ext cx="6143668" cy="861774"/>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3.2.1.1 ESTRETAGIAS</a:t>
            </a:r>
          </a:p>
          <a:p>
            <a:pPr>
              <a:defRPr/>
            </a:pPr>
            <a:endParaRPr lang="es-A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2 Marcador de contenido"/>
          <p:cNvSpPr>
            <a:spLocks noGrp="1"/>
          </p:cNvSpPr>
          <p:nvPr>
            <p:ph idx="1"/>
          </p:nvPr>
        </p:nvSpPr>
        <p:spPr>
          <a:xfrm>
            <a:off x="428625" y="3500438"/>
            <a:ext cx="8229600" cy="2400300"/>
          </a:xfrm>
        </p:spPr>
        <p:txBody>
          <a:bodyPr/>
          <a:lstStyle/>
          <a:p>
            <a:pPr eaLnBrk="1" hangingPunct="1">
              <a:buFont typeface="Arial" charset="0"/>
              <a:buNone/>
              <a:defRPr/>
            </a:pPr>
            <a:r>
              <a:rPr lang="es-CO" dirty="0" smtClean="0">
                <a:solidFill>
                  <a:srgbClr val="002060"/>
                </a:solidFill>
                <a:effectLst>
                  <a:outerShdw blurRad="38100" dist="38100" dir="2700000" algn="tl">
                    <a:srgbClr val="000000">
                      <a:alpha val="43137"/>
                    </a:srgbClr>
                  </a:outerShdw>
                </a:effectLst>
              </a:rPr>
              <a:t>   </a:t>
            </a:r>
            <a:r>
              <a:rPr lang="es-CO" sz="2500" dirty="0" smtClean="0">
                <a:solidFill>
                  <a:srgbClr val="002060"/>
                </a:solidFill>
                <a:effectLst>
                  <a:outerShdw blurRad="38100" dist="38100" dir="2700000" algn="tl">
                    <a:srgbClr val="000000">
                      <a:alpha val="43137"/>
                    </a:srgbClr>
                  </a:outerShdw>
                </a:effectLst>
                <a:latin typeface="Berlin Sans FB" pitchFamily="34" charset="0"/>
              </a:rPr>
              <a:t>Los factores mostrados en la matriz DOFA son los de un momento en particular. Sin embargo los ambientes internos y externos son dinámicos, cambian con el tiempo.</a:t>
            </a:r>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rgbClr val="002060">
                      <a:alpha val="40000"/>
                    </a:srgbClr>
                  </a:glow>
                  <a:outerShdw blurRad="25400" algn="tl" rotWithShape="0">
                    <a:srgbClr val="000000">
                      <a:alpha val="43000"/>
                    </a:srgbClr>
                  </a:outerShdw>
                </a:effectLst>
                <a:latin typeface="Berlin Sans FB" pitchFamily="34" charset="0"/>
              </a:rPr>
              <a:t>MATRIZ DOFA</a:t>
            </a:r>
          </a:p>
        </p:txBody>
      </p:sp>
      <p:sp>
        <p:nvSpPr>
          <p:cNvPr id="6" name="5 CuadroTexto"/>
          <p:cNvSpPr txBox="1"/>
          <p:nvPr/>
        </p:nvSpPr>
        <p:spPr>
          <a:xfrm>
            <a:off x="642910" y="2357430"/>
            <a:ext cx="7072362" cy="584775"/>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3.2.1.2 DIMENSION DOFA</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2 Marcador de contenido"/>
          <p:cNvSpPr>
            <a:spLocks noGrp="1"/>
          </p:cNvSpPr>
          <p:nvPr>
            <p:ph idx="1"/>
          </p:nvPr>
        </p:nvSpPr>
        <p:spPr>
          <a:xfrm>
            <a:off x="571500" y="3000375"/>
            <a:ext cx="8229600" cy="2143125"/>
          </a:xfrm>
        </p:spPr>
        <p:txBody>
          <a:bodyPr/>
          <a:lstStyle/>
          <a:p>
            <a:pPr eaLnBrk="1" hangingPunct="1">
              <a:defRPr/>
            </a:pPr>
            <a:r>
              <a:rPr lang="es-CO" sz="2700" b="1" dirty="0" smtClean="0">
                <a:solidFill>
                  <a:srgbClr val="002060"/>
                </a:solidFill>
                <a:effectLst>
                  <a:outerShdw blurRad="38100" dist="38100" dir="2700000" algn="tl">
                    <a:srgbClr val="000000">
                      <a:alpha val="43137"/>
                    </a:srgbClr>
                  </a:outerShdw>
                </a:effectLst>
              </a:rPr>
              <a:t> </a:t>
            </a:r>
            <a:r>
              <a:rPr lang="es-CO" sz="2700" dirty="0" smtClean="0">
                <a:solidFill>
                  <a:srgbClr val="002060"/>
                </a:solidFill>
                <a:effectLst>
                  <a:outerShdw blurRad="38100" dist="38100" dir="2700000" algn="tl">
                    <a:srgbClr val="000000">
                      <a:alpha val="43137"/>
                    </a:srgbClr>
                  </a:outerShdw>
                </a:effectLst>
                <a:latin typeface="Berlin Sans FB" pitchFamily="34" charset="0"/>
              </a:rPr>
              <a:t>Adquisición </a:t>
            </a:r>
          </a:p>
          <a:p>
            <a:pPr eaLnBrk="1" hangingPunct="1">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Inversiones conjuntas</a:t>
            </a:r>
          </a:p>
          <a:p>
            <a:pPr eaLnBrk="1" hangingPunct="1">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Alianzas </a:t>
            </a:r>
          </a:p>
        </p:txBody>
      </p:sp>
      <p:sp>
        <p:nvSpPr>
          <p:cNvPr id="4" name="3 Rectángulo redondeado"/>
          <p:cNvSpPr/>
          <p:nvPr/>
        </p:nvSpPr>
        <p:spPr>
          <a:xfrm>
            <a:off x="0" y="285750"/>
            <a:ext cx="9144000" cy="5715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s-AR"/>
          </a:p>
        </p:txBody>
      </p:sp>
      <p:sp>
        <p:nvSpPr>
          <p:cNvPr id="5" name="4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soft" dir="t">
                <a:rot lat="0" lon="0" rev="10800000"/>
              </a:lightRig>
            </a:scene3d>
            <a:sp3d>
              <a:bevelT w="27940" h="12700"/>
              <a:contourClr>
                <a:srgbClr val="DDDDDD"/>
              </a:contourClr>
            </a:sp3d>
          </a:bodyPr>
          <a:lstStyle/>
          <a:p>
            <a:pPr algn="ctr">
              <a:defRPr/>
            </a:pPr>
            <a:r>
              <a:rPr lang="es-AR" sz="2400" b="1" spc="150" dirty="0">
                <a:ln w="11430"/>
                <a:solidFill>
                  <a:srgbClr val="F8F8F8"/>
                </a:solidFill>
                <a:effectLst>
                  <a:glow rad="139700">
                    <a:srgbClr val="002060">
                      <a:alpha val="40000"/>
                    </a:srgbClr>
                  </a:glow>
                  <a:outerShdw blurRad="25400" algn="tl" rotWithShape="0">
                    <a:srgbClr val="000000">
                      <a:alpha val="43000"/>
                    </a:srgbClr>
                  </a:outerShdw>
                </a:effectLst>
                <a:latin typeface="Berlin Sans FB" pitchFamily="34" charset="0"/>
              </a:rPr>
              <a:t>MATRIZ DOFA</a:t>
            </a:r>
          </a:p>
        </p:txBody>
      </p:sp>
      <p:sp>
        <p:nvSpPr>
          <p:cNvPr id="6" name="5 CuadroTexto"/>
          <p:cNvSpPr txBox="1"/>
          <p:nvPr/>
        </p:nvSpPr>
        <p:spPr>
          <a:xfrm>
            <a:off x="785786" y="1643050"/>
            <a:ext cx="7215238" cy="1077218"/>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3.2.1.3 APLICACIÓN DE LA MATRIZ DOFA</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1143000" y="4714875"/>
          <a:ext cx="2333625" cy="1112838"/>
        </p:xfrm>
        <a:graphic>
          <a:graphicData uri="http://schemas.openxmlformats.org/drawingml/2006/table">
            <a:tbl>
              <a:tblPr firstRow="1" bandRow="1">
                <a:tableStyleId>{5C22544A-7EE6-4342-B048-85BDC9FD1C3A}</a:tableStyleId>
              </a:tblPr>
              <a:tblGrid>
                <a:gridCol w="777873"/>
                <a:gridCol w="777873"/>
                <a:gridCol w="777873"/>
              </a:tblGrid>
              <a:tr h="370840">
                <a:tc>
                  <a:txBody>
                    <a:bodyPr/>
                    <a:lstStyle/>
                    <a:p>
                      <a:endParaRPr lang="es-AR" dirty="0"/>
                    </a:p>
                  </a:txBody>
                  <a:tcPr/>
                </a:tc>
                <a:tc>
                  <a:txBody>
                    <a:bodyPr/>
                    <a:lstStyle/>
                    <a:p>
                      <a:r>
                        <a:rPr lang="es-AR" dirty="0" smtClean="0"/>
                        <a:t>F</a:t>
                      </a:r>
                      <a:endParaRPr lang="es-AR" dirty="0"/>
                    </a:p>
                  </a:txBody>
                  <a:tcPr/>
                </a:tc>
                <a:tc>
                  <a:txBody>
                    <a:bodyPr/>
                    <a:lstStyle/>
                    <a:p>
                      <a:r>
                        <a:rPr lang="es-AR" dirty="0" smtClean="0"/>
                        <a:t>D</a:t>
                      </a:r>
                      <a:endParaRPr lang="es-AR" dirty="0"/>
                    </a:p>
                  </a:txBody>
                  <a:tcPr/>
                </a:tc>
              </a:tr>
              <a:tr h="370840">
                <a:tc>
                  <a:txBody>
                    <a:bodyPr/>
                    <a:lstStyle/>
                    <a:p>
                      <a:r>
                        <a:rPr lang="es-AR" dirty="0" smtClean="0"/>
                        <a:t>O</a:t>
                      </a:r>
                      <a:endParaRPr lang="es-AR" dirty="0"/>
                    </a:p>
                  </a:txBody>
                  <a:tcPr/>
                </a:tc>
                <a:tc>
                  <a:txBody>
                    <a:bodyPr/>
                    <a:lstStyle/>
                    <a:p>
                      <a:r>
                        <a:rPr lang="es-AR" dirty="0" err="1" smtClean="0"/>
                        <a:t>fo</a:t>
                      </a:r>
                      <a:endParaRPr lang="es-AR" dirty="0"/>
                    </a:p>
                  </a:txBody>
                  <a:tcPr/>
                </a:tc>
                <a:tc>
                  <a:txBody>
                    <a:bodyPr/>
                    <a:lstStyle/>
                    <a:p>
                      <a:r>
                        <a:rPr lang="es-AR" dirty="0" smtClean="0"/>
                        <a:t>do</a:t>
                      </a:r>
                      <a:endParaRPr lang="es-AR" dirty="0"/>
                    </a:p>
                  </a:txBody>
                  <a:tcPr/>
                </a:tc>
              </a:tr>
              <a:tr h="370840">
                <a:tc>
                  <a:txBody>
                    <a:bodyPr/>
                    <a:lstStyle/>
                    <a:p>
                      <a:r>
                        <a:rPr lang="es-AR" dirty="0" smtClean="0"/>
                        <a:t>A</a:t>
                      </a:r>
                      <a:endParaRPr lang="es-AR" dirty="0"/>
                    </a:p>
                  </a:txBody>
                  <a:tcPr/>
                </a:tc>
                <a:tc>
                  <a:txBody>
                    <a:bodyPr/>
                    <a:lstStyle/>
                    <a:p>
                      <a:r>
                        <a:rPr lang="es-AR" dirty="0" smtClean="0"/>
                        <a:t>fa</a:t>
                      </a:r>
                      <a:endParaRPr lang="es-AR" dirty="0"/>
                    </a:p>
                  </a:txBody>
                  <a:tcPr/>
                </a:tc>
                <a:tc>
                  <a:txBody>
                    <a:bodyPr/>
                    <a:lstStyle/>
                    <a:p>
                      <a:r>
                        <a:rPr lang="es-AR" dirty="0" smtClean="0"/>
                        <a:t>da</a:t>
                      </a:r>
                      <a:endParaRPr lang="es-AR" dirty="0"/>
                    </a:p>
                  </a:txBody>
                  <a:tcPr/>
                </a:tc>
              </a:tr>
            </a:tbl>
          </a:graphicData>
        </a:graphic>
      </p:graphicFrame>
      <p:graphicFrame>
        <p:nvGraphicFramePr>
          <p:cNvPr id="4" name="3 Tabla"/>
          <p:cNvGraphicFramePr>
            <a:graphicFrameLocks noGrp="1"/>
          </p:cNvGraphicFramePr>
          <p:nvPr/>
        </p:nvGraphicFramePr>
        <p:xfrm>
          <a:off x="4500563" y="1928813"/>
          <a:ext cx="2357437" cy="1112837"/>
        </p:xfrm>
        <a:graphic>
          <a:graphicData uri="http://schemas.openxmlformats.org/drawingml/2006/table">
            <a:tbl>
              <a:tblPr firstRow="1" bandRow="1">
                <a:tableStyleId>{5C22544A-7EE6-4342-B048-85BDC9FD1C3A}</a:tableStyleId>
              </a:tblPr>
              <a:tblGrid>
                <a:gridCol w="785818"/>
                <a:gridCol w="785818"/>
                <a:gridCol w="785818"/>
              </a:tblGrid>
              <a:tr h="370840">
                <a:tc>
                  <a:txBody>
                    <a:bodyPr/>
                    <a:lstStyle/>
                    <a:p>
                      <a:endParaRPr lang="es-AR" dirty="0"/>
                    </a:p>
                  </a:txBody>
                  <a:tcPr/>
                </a:tc>
                <a:tc>
                  <a:txBody>
                    <a:bodyPr/>
                    <a:lstStyle/>
                    <a:p>
                      <a:r>
                        <a:rPr lang="es-AR" dirty="0" smtClean="0"/>
                        <a:t>F</a:t>
                      </a:r>
                      <a:endParaRPr lang="es-AR" dirty="0"/>
                    </a:p>
                  </a:txBody>
                  <a:tcPr/>
                </a:tc>
                <a:tc>
                  <a:txBody>
                    <a:bodyPr/>
                    <a:lstStyle/>
                    <a:p>
                      <a:r>
                        <a:rPr lang="es-AR" dirty="0" smtClean="0"/>
                        <a:t>D</a:t>
                      </a:r>
                      <a:endParaRPr lang="es-AR" dirty="0"/>
                    </a:p>
                  </a:txBody>
                  <a:tcPr/>
                </a:tc>
              </a:tr>
              <a:tr h="370840">
                <a:tc>
                  <a:txBody>
                    <a:bodyPr/>
                    <a:lstStyle/>
                    <a:p>
                      <a:r>
                        <a:rPr lang="es-AR" dirty="0" smtClean="0"/>
                        <a:t>O</a:t>
                      </a:r>
                      <a:endParaRPr lang="es-AR" dirty="0"/>
                    </a:p>
                  </a:txBody>
                  <a:tcPr/>
                </a:tc>
                <a:tc>
                  <a:txBody>
                    <a:bodyPr/>
                    <a:lstStyle/>
                    <a:p>
                      <a:r>
                        <a:rPr lang="es-AR" dirty="0" err="1" smtClean="0"/>
                        <a:t>fo</a:t>
                      </a:r>
                      <a:endParaRPr lang="es-AR" dirty="0"/>
                    </a:p>
                  </a:txBody>
                  <a:tcPr/>
                </a:tc>
                <a:tc>
                  <a:txBody>
                    <a:bodyPr/>
                    <a:lstStyle/>
                    <a:p>
                      <a:r>
                        <a:rPr lang="es-AR" dirty="0" smtClean="0"/>
                        <a:t>do</a:t>
                      </a:r>
                      <a:endParaRPr lang="es-AR" dirty="0"/>
                    </a:p>
                  </a:txBody>
                  <a:tcPr/>
                </a:tc>
              </a:tr>
              <a:tr h="370840">
                <a:tc>
                  <a:txBody>
                    <a:bodyPr/>
                    <a:lstStyle/>
                    <a:p>
                      <a:r>
                        <a:rPr lang="es-AR" dirty="0" smtClean="0"/>
                        <a:t>A</a:t>
                      </a:r>
                      <a:endParaRPr lang="es-AR" dirty="0"/>
                    </a:p>
                  </a:txBody>
                  <a:tcPr/>
                </a:tc>
                <a:tc>
                  <a:txBody>
                    <a:bodyPr/>
                    <a:lstStyle/>
                    <a:p>
                      <a:r>
                        <a:rPr lang="es-AR" dirty="0" smtClean="0"/>
                        <a:t>fa</a:t>
                      </a:r>
                      <a:endParaRPr lang="es-AR" dirty="0"/>
                    </a:p>
                  </a:txBody>
                  <a:tcPr/>
                </a:tc>
                <a:tc>
                  <a:txBody>
                    <a:bodyPr/>
                    <a:lstStyle/>
                    <a:p>
                      <a:r>
                        <a:rPr lang="es-AR" dirty="0" smtClean="0"/>
                        <a:t>da</a:t>
                      </a:r>
                      <a:endParaRPr lang="es-AR" dirty="0"/>
                    </a:p>
                  </a:txBody>
                  <a:tcPr/>
                </a:tc>
              </a:tr>
            </a:tbl>
          </a:graphicData>
        </a:graphic>
      </p:graphicFrame>
      <p:graphicFrame>
        <p:nvGraphicFramePr>
          <p:cNvPr id="5" name="4 Tabla"/>
          <p:cNvGraphicFramePr>
            <a:graphicFrameLocks noGrp="1"/>
          </p:cNvGraphicFramePr>
          <p:nvPr/>
        </p:nvGraphicFramePr>
        <p:xfrm>
          <a:off x="2786063" y="3286125"/>
          <a:ext cx="2357437" cy="1112838"/>
        </p:xfrm>
        <a:graphic>
          <a:graphicData uri="http://schemas.openxmlformats.org/drawingml/2006/table">
            <a:tbl>
              <a:tblPr firstRow="1" bandRow="1">
                <a:tableStyleId>{5C22544A-7EE6-4342-B048-85BDC9FD1C3A}</a:tableStyleId>
              </a:tblPr>
              <a:tblGrid>
                <a:gridCol w="785818"/>
                <a:gridCol w="785818"/>
                <a:gridCol w="785818"/>
              </a:tblGrid>
              <a:tr h="370840">
                <a:tc>
                  <a:txBody>
                    <a:bodyPr/>
                    <a:lstStyle/>
                    <a:p>
                      <a:endParaRPr lang="es-AR" dirty="0"/>
                    </a:p>
                  </a:txBody>
                  <a:tcPr/>
                </a:tc>
                <a:tc>
                  <a:txBody>
                    <a:bodyPr/>
                    <a:lstStyle/>
                    <a:p>
                      <a:r>
                        <a:rPr lang="es-AR" dirty="0" smtClean="0"/>
                        <a:t>F</a:t>
                      </a:r>
                      <a:endParaRPr lang="es-AR" dirty="0"/>
                    </a:p>
                  </a:txBody>
                  <a:tcPr/>
                </a:tc>
                <a:tc>
                  <a:txBody>
                    <a:bodyPr/>
                    <a:lstStyle/>
                    <a:p>
                      <a:r>
                        <a:rPr lang="es-AR" dirty="0" smtClean="0"/>
                        <a:t>D</a:t>
                      </a:r>
                      <a:endParaRPr lang="es-AR" dirty="0"/>
                    </a:p>
                  </a:txBody>
                  <a:tcPr/>
                </a:tc>
              </a:tr>
              <a:tr h="370840">
                <a:tc>
                  <a:txBody>
                    <a:bodyPr/>
                    <a:lstStyle/>
                    <a:p>
                      <a:r>
                        <a:rPr lang="es-AR" dirty="0" smtClean="0"/>
                        <a:t>O</a:t>
                      </a:r>
                      <a:endParaRPr lang="es-AR" dirty="0"/>
                    </a:p>
                  </a:txBody>
                  <a:tcPr/>
                </a:tc>
                <a:tc>
                  <a:txBody>
                    <a:bodyPr/>
                    <a:lstStyle/>
                    <a:p>
                      <a:r>
                        <a:rPr lang="es-AR" dirty="0" err="1" smtClean="0"/>
                        <a:t>fo</a:t>
                      </a:r>
                      <a:endParaRPr lang="es-AR" dirty="0"/>
                    </a:p>
                  </a:txBody>
                  <a:tcPr/>
                </a:tc>
                <a:tc>
                  <a:txBody>
                    <a:bodyPr/>
                    <a:lstStyle/>
                    <a:p>
                      <a:r>
                        <a:rPr lang="es-AR" dirty="0" smtClean="0"/>
                        <a:t>do</a:t>
                      </a:r>
                      <a:endParaRPr lang="es-AR" dirty="0"/>
                    </a:p>
                  </a:txBody>
                  <a:tcPr/>
                </a:tc>
              </a:tr>
              <a:tr h="370840">
                <a:tc>
                  <a:txBody>
                    <a:bodyPr/>
                    <a:lstStyle/>
                    <a:p>
                      <a:r>
                        <a:rPr lang="es-AR" dirty="0" smtClean="0"/>
                        <a:t>A</a:t>
                      </a:r>
                      <a:endParaRPr lang="es-AR" dirty="0"/>
                    </a:p>
                  </a:txBody>
                  <a:tcPr/>
                </a:tc>
                <a:tc>
                  <a:txBody>
                    <a:bodyPr/>
                    <a:lstStyle/>
                    <a:p>
                      <a:r>
                        <a:rPr lang="es-AR" dirty="0" smtClean="0"/>
                        <a:t>fa</a:t>
                      </a:r>
                      <a:endParaRPr lang="es-AR" dirty="0"/>
                    </a:p>
                  </a:txBody>
                  <a:tcPr/>
                </a:tc>
                <a:tc>
                  <a:txBody>
                    <a:bodyPr/>
                    <a:lstStyle/>
                    <a:p>
                      <a:r>
                        <a:rPr lang="es-AR" dirty="0" smtClean="0"/>
                        <a:t>da</a:t>
                      </a:r>
                      <a:endParaRPr lang="es-AR" dirty="0"/>
                    </a:p>
                  </a:txBody>
                  <a:tcPr/>
                </a:tc>
              </a:tr>
            </a:tbl>
          </a:graphicData>
        </a:graphic>
      </p:graphicFrame>
      <p:graphicFrame>
        <p:nvGraphicFramePr>
          <p:cNvPr id="6" name="5 Tabla"/>
          <p:cNvGraphicFramePr>
            <a:graphicFrameLocks noGrp="1"/>
          </p:cNvGraphicFramePr>
          <p:nvPr/>
        </p:nvGraphicFramePr>
        <p:xfrm>
          <a:off x="6429375" y="571500"/>
          <a:ext cx="2357438" cy="1112838"/>
        </p:xfrm>
        <a:graphic>
          <a:graphicData uri="http://schemas.openxmlformats.org/drawingml/2006/table">
            <a:tbl>
              <a:tblPr firstRow="1" bandRow="1">
                <a:tableStyleId>{5C22544A-7EE6-4342-B048-85BDC9FD1C3A}</a:tableStyleId>
              </a:tblPr>
              <a:tblGrid>
                <a:gridCol w="785818"/>
                <a:gridCol w="785818"/>
                <a:gridCol w="785818"/>
              </a:tblGrid>
              <a:tr h="370840">
                <a:tc>
                  <a:txBody>
                    <a:bodyPr/>
                    <a:lstStyle/>
                    <a:p>
                      <a:endParaRPr lang="es-AR" dirty="0"/>
                    </a:p>
                  </a:txBody>
                  <a:tcPr/>
                </a:tc>
                <a:tc>
                  <a:txBody>
                    <a:bodyPr/>
                    <a:lstStyle/>
                    <a:p>
                      <a:r>
                        <a:rPr lang="es-AR" dirty="0" smtClean="0"/>
                        <a:t>F</a:t>
                      </a:r>
                      <a:endParaRPr lang="es-AR" dirty="0"/>
                    </a:p>
                  </a:txBody>
                  <a:tcPr/>
                </a:tc>
                <a:tc>
                  <a:txBody>
                    <a:bodyPr/>
                    <a:lstStyle/>
                    <a:p>
                      <a:r>
                        <a:rPr lang="es-AR" dirty="0" smtClean="0"/>
                        <a:t>D</a:t>
                      </a:r>
                      <a:endParaRPr lang="es-AR" dirty="0"/>
                    </a:p>
                  </a:txBody>
                  <a:tcPr/>
                </a:tc>
              </a:tr>
              <a:tr h="370840">
                <a:tc>
                  <a:txBody>
                    <a:bodyPr/>
                    <a:lstStyle/>
                    <a:p>
                      <a:r>
                        <a:rPr lang="es-AR" dirty="0" smtClean="0"/>
                        <a:t>O</a:t>
                      </a:r>
                      <a:endParaRPr lang="es-AR" dirty="0"/>
                    </a:p>
                  </a:txBody>
                  <a:tcPr/>
                </a:tc>
                <a:tc>
                  <a:txBody>
                    <a:bodyPr/>
                    <a:lstStyle/>
                    <a:p>
                      <a:r>
                        <a:rPr lang="es-AR" dirty="0" err="1" smtClean="0"/>
                        <a:t>fo</a:t>
                      </a:r>
                      <a:endParaRPr lang="es-AR" dirty="0"/>
                    </a:p>
                  </a:txBody>
                  <a:tcPr/>
                </a:tc>
                <a:tc>
                  <a:txBody>
                    <a:bodyPr/>
                    <a:lstStyle/>
                    <a:p>
                      <a:r>
                        <a:rPr lang="es-AR" dirty="0" smtClean="0"/>
                        <a:t>do</a:t>
                      </a:r>
                      <a:endParaRPr lang="es-AR" dirty="0"/>
                    </a:p>
                  </a:txBody>
                  <a:tcPr/>
                </a:tc>
              </a:tr>
              <a:tr h="370840">
                <a:tc>
                  <a:txBody>
                    <a:bodyPr/>
                    <a:lstStyle/>
                    <a:p>
                      <a:r>
                        <a:rPr lang="es-AR" dirty="0" smtClean="0"/>
                        <a:t>A</a:t>
                      </a:r>
                      <a:endParaRPr lang="es-AR" dirty="0"/>
                    </a:p>
                  </a:txBody>
                  <a:tcPr/>
                </a:tc>
                <a:tc>
                  <a:txBody>
                    <a:bodyPr/>
                    <a:lstStyle/>
                    <a:p>
                      <a:r>
                        <a:rPr lang="es-AR" dirty="0" smtClean="0"/>
                        <a:t>fa</a:t>
                      </a:r>
                      <a:endParaRPr lang="es-AR" dirty="0"/>
                    </a:p>
                  </a:txBody>
                  <a:tcPr/>
                </a:tc>
                <a:tc>
                  <a:txBody>
                    <a:bodyPr/>
                    <a:lstStyle/>
                    <a:p>
                      <a:r>
                        <a:rPr lang="es-AR" dirty="0" smtClean="0"/>
                        <a:t>da</a:t>
                      </a:r>
                      <a:endParaRPr lang="es-AR" dirty="0"/>
                    </a:p>
                  </a:txBody>
                  <a:tcPr/>
                </a:tc>
              </a:tr>
            </a:tbl>
          </a:graphicData>
        </a:graphic>
      </p:graphicFrame>
      <p:cxnSp>
        <p:nvCxnSpPr>
          <p:cNvPr id="8" name="7 Conector recto de flecha"/>
          <p:cNvCxnSpPr/>
          <p:nvPr/>
        </p:nvCxnSpPr>
        <p:spPr>
          <a:xfrm flipV="1">
            <a:off x="3643313" y="2000250"/>
            <a:ext cx="5072062" cy="421163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32843" name="8 CuadroTexto"/>
          <p:cNvSpPr txBox="1">
            <a:spLocks noChangeArrowheads="1"/>
          </p:cNvSpPr>
          <p:nvPr/>
        </p:nvSpPr>
        <p:spPr bwMode="auto">
          <a:xfrm rot="19195159">
            <a:off x="5650871" y="4109896"/>
            <a:ext cx="1643062" cy="430887"/>
          </a:xfrm>
          <a:prstGeom prst="rect">
            <a:avLst/>
          </a:prstGeom>
          <a:noFill/>
          <a:ln w="9525">
            <a:noFill/>
            <a:miter lim="800000"/>
            <a:headEnd/>
            <a:tailEnd/>
          </a:ln>
        </p:spPr>
        <p:txBody>
          <a:bodyPr>
            <a:spAutoFit/>
            <a:scene3d>
              <a:camera prst="orthographicFront"/>
              <a:lightRig rig="threePt" dir="t"/>
            </a:scene3d>
            <a:sp3d extrusionH="57150">
              <a:bevelT h="25400" prst="softRound"/>
            </a:sp3d>
          </a:bodyPr>
          <a:lstStyle/>
          <a:p>
            <a:pPr>
              <a:defRPr/>
            </a:pPr>
            <a:r>
              <a:rPr lang="es-AR" sz="2200" dirty="0">
                <a:solidFill>
                  <a:srgbClr val="002060"/>
                </a:solidFill>
                <a:effectLst>
                  <a:outerShdw blurRad="38100" dist="38100" dir="2700000" algn="tl">
                    <a:srgbClr val="000000">
                      <a:alpha val="43137"/>
                    </a:srgbClr>
                  </a:outerShdw>
                </a:effectLst>
                <a:latin typeface="Berlin Sans FB" pitchFamily="34" charset="0"/>
              </a:rPr>
              <a:t>tiempo</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CuadroTexto"/>
          <p:cNvSpPr txBox="1">
            <a:spLocks noChangeArrowheads="1"/>
          </p:cNvSpPr>
          <p:nvPr/>
        </p:nvSpPr>
        <p:spPr bwMode="auto">
          <a:xfrm>
            <a:off x="214282" y="1500174"/>
            <a:ext cx="8215314" cy="4062651"/>
          </a:xfrm>
          <a:prstGeom prst="rect">
            <a:avLst/>
          </a:prstGeom>
          <a:noFill/>
          <a:ln w="9525">
            <a:noFill/>
            <a:miter lim="800000"/>
            <a:headEnd/>
            <a:tailEnd/>
          </a:ln>
        </p:spPr>
        <p:txBody>
          <a:bodyPr>
            <a:spAutoFit/>
            <a:scene3d>
              <a:camera prst="orthographicFront"/>
              <a:lightRig rig="threePt" dir="t"/>
            </a:scene3d>
            <a:sp3d extrusionH="57150">
              <a:bevelT w="38100" h="38100"/>
            </a:sp3d>
          </a:bodyPr>
          <a:lstStyle/>
          <a:p>
            <a:pPr algn="ctr">
              <a:defRPr/>
            </a:pPr>
            <a:r>
              <a:rPr lang="es-AR" sz="2700" b="1" dirty="0">
                <a:effectLst>
                  <a:outerShdw blurRad="38100" dist="38100" dir="2700000" algn="tl">
                    <a:srgbClr val="000000">
                      <a:alpha val="43137"/>
                    </a:srgbClr>
                  </a:outerShdw>
                </a:effectLst>
                <a:latin typeface="Berlin Sans FB" pitchFamily="34" charset="0"/>
              </a:rPr>
              <a:t> </a:t>
            </a: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3.2.2 PERFIL DE LA CAPACIDAD DE LA COMPAÑÍA (PCI): </a:t>
            </a:r>
          </a:p>
          <a:p>
            <a:pPr algn="just">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just">
              <a:defRPr/>
            </a:pPr>
            <a:r>
              <a:rPr lang="es-AR" sz="2700" dirty="0">
                <a:solidFill>
                  <a:srgbClr val="002060"/>
                </a:solidFill>
                <a:effectLst>
                  <a:outerShdw blurRad="38100" dist="38100" dir="2700000" algn="tl">
                    <a:srgbClr val="000000">
                      <a:alpha val="43137"/>
                    </a:srgbClr>
                  </a:outerShdw>
                </a:effectLst>
                <a:latin typeface="Berlin Sans FB" pitchFamily="34" charset="0"/>
              </a:rPr>
              <a:t>Es un medio para evaluar  las fortalezas y debilidades de la compañía en relación con las oportunidades y amenazas que le presenta el medio externo.</a:t>
            </a:r>
          </a:p>
          <a:p>
            <a:pPr>
              <a:defRPr/>
            </a:pPr>
            <a:r>
              <a:rPr lang="es-AR" sz="2700" dirty="0">
                <a:solidFill>
                  <a:srgbClr val="002060"/>
                </a:solidFill>
                <a:effectLst>
                  <a:outerShdw blurRad="38100" dist="38100" dir="2700000" algn="tl">
                    <a:srgbClr val="000000">
                      <a:alpha val="43137"/>
                    </a:srgbClr>
                  </a:outerShdw>
                </a:effectLst>
                <a:latin typeface="Berlin Sans FB" pitchFamily="34" charset="0"/>
              </a:rPr>
              <a:t>  </a:t>
            </a:r>
          </a:p>
          <a:p>
            <a:pPr>
              <a:buFont typeface="Arial"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Factor Interno: Fortalezas y Debilidades </a:t>
            </a:r>
          </a:p>
          <a:p>
            <a:pPr algn="just">
              <a:buFont typeface="Arial" charset="0"/>
              <a:buChar char="•"/>
              <a:defRPr/>
            </a:pPr>
            <a:r>
              <a:rPr lang="es-AR" sz="2700" dirty="0">
                <a:solidFill>
                  <a:srgbClr val="002060"/>
                </a:solidFill>
                <a:effectLst>
                  <a:outerShdw blurRad="38100" dist="38100" dir="2700000" algn="tl">
                    <a:srgbClr val="000000">
                      <a:alpha val="43137"/>
                    </a:srgbClr>
                  </a:outerShdw>
                </a:effectLst>
                <a:latin typeface="Berlin Sans FB" pitchFamily="34" charset="0"/>
              </a:rPr>
              <a:t> Factor Externo: Oportunidades y Amenazas</a:t>
            </a:r>
          </a:p>
        </p:txBody>
      </p:sp>
      <p:sp>
        <p:nvSpPr>
          <p:cNvPr id="3" name="2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500034" y="1857364"/>
            <a:ext cx="8072440" cy="3431709"/>
          </a:xfrm>
          <a:prstGeom prst="rect">
            <a:avLst/>
          </a:prstGeom>
          <a:noFill/>
        </p:spPr>
        <p:txBody>
          <a:bodyPr>
            <a:spAutoFit/>
            <a:scene3d>
              <a:camera prst="orthographicFront"/>
              <a:lightRig rig="threePt" dir="t"/>
            </a:scene3d>
            <a:sp3d extrusionH="57150">
              <a:bevelT w="38100" h="38100"/>
            </a:sp3d>
          </a:bodyPr>
          <a:lstStyle/>
          <a:p>
            <a:pP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3.2.2.1 EL PCI EXAMINA 5 CATEGORIAS</a:t>
            </a:r>
          </a:p>
          <a:p>
            <a:pPr>
              <a:defRPr/>
            </a:pPr>
            <a:endPar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defRPr/>
            </a:pPr>
            <a:endParaRPr lang="es-AR" dirty="0"/>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La Capacidad Directiva</a:t>
            </a:r>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La Capacidad Competitiva (o mercadeo)</a:t>
            </a:r>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La Capacidad Financiera </a:t>
            </a:r>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La Capacidad Tecnológica</a:t>
            </a:r>
          </a:p>
          <a:p>
            <a:pPr marL="342900" indent="-342900">
              <a:buFont typeface="+mj-lt"/>
              <a:buAutoNum type="arabicPeriod"/>
              <a:defRPr/>
            </a:pPr>
            <a:r>
              <a:rPr lang="es-AR" sz="2700" dirty="0">
                <a:solidFill>
                  <a:srgbClr val="002060"/>
                </a:solidFill>
                <a:effectLst>
                  <a:outerShdw blurRad="38100" dist="38100" dir="2700000" algn="tl">
                    <a:srgbClr val="000000">
                      <a:alpha val="43137"/>
                    </a:srgbClr>
                  </a:outerShdw>
                </a:effectLst>
                <a:latin typeface="Berlin Sans FB" pitchFamily="34" charset="0"/>
              </a:rPr>
              <a:t> La Capacidad de Talento humano</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nvGraphicFramePr>
        <p:xfrm>
          <a:off x="428625" y="785813"/>
          <a:ext cx="8501063" cy="4481512"/>
        </p:xfrm>
        <a:graphic>
          <a:graphicData uri="http://schemas.openxmlformats.org/drawingml/2006/table">
            <a:tbl>
              <a:tblPr firstRow="1" bandRow="1">
                <a:tableStyleId>{5C22544A-7EE6-4342-B048-85BDC9FD1C3A}</a:tableStyleId>
              </a:tblPr>
              <a:tblGrid>
                <a:gridCol w="1571636"/>
                <a:gridCol w="785818"/>
                <a:gridCol w="785818"/>
                <a:gridCol w="785818"/>
                <a:gridCol w="714380"/>
                <a:gridCol w="886388"/>
                <a:gridCol w="685248"/>
                <a:gridCol w="714380"/>
                <a:gridCol w="928694"/>
                <a:gridCol w="642942"/>
              </a:tblGrid>
              <a:tr h="548682">
                <a:tc rowSpan="3">
                  <a:txBody>
                    <a:bodyPr/>
                    <a:lstStyle/>
                    <a:p>
                      <a:endParaRPr lang="es-AR" dirty="0"/>
                    </a:p>
                  </a:txBody>
                  <a:tcPr/>
                </a:tc>
                <a:tc gridSpan="3">
                  <a:txBody>
                    <a:bodyPr/>
                    <a:lstStyle/>
                    <a:p>
                      <a:r>
                        <a:rPr lang="es-AR" sz="2800" dirty="0" smtClean="0">
                          <a:effectLst>
                            <a:outerShdw blurRad="38100" dist="38100" dir="2700000" algn="tl">
                              <a:srgbClr val="000000">
                                <a:alpha val="43137"/>
                              </a:srgbClr>
                            </a:outerShdw>
                          </a:effectLst>
                        </a:rPr>
                        <a:t>Grado</a:t>
                      </a:r>
                      <a:endParaRPr lang="es-AR" sz="2800" dirty="0">
                        <a:effectLst>
                          <a:outerShdw blurRad="38100" dist="38100" dir="2700000" algn="tl">
                            <a:srgbClr val="000000">
                              <a:alpha val="43137"/>
                            </a:srgbClr>
                          </a:outerShdw>
                        </a:effectLst>
                      </a:endParaRPr>
                    </a:p>
                  </a:txBody>
                  <a:tcPr/>
                </a:tc>
                <a:tc hMerge="1">
                  <a:txBody>
                    <a:bodyPr/>
                    <a:lstStyle/>
                    <a:p>
                      <a:endParaRPr lang="es-AR" dirty="0"/>
                    </a:p>
                  </a:txBody>
                  <a:tcPr/>
                </a:tc>
                <a:tc hMerge="1">
                  <a:txBody>
                    <a:bodyPr/>
                    <a:lstStyle/>
                    <a:p>
                      <a:endParaRPr lang="es-AR" dirty="0"/>
                    </a:p>
                  </a:txBody>
                  <a:tcPr/>
                </a:tc>
                <a:tc gridSpan="3">
                  <a:txBody>
                    <a:bodyPr/>
                    <a:lstStyle/>
                    <a:p>
                      <a:r>
                        <a:rPr lang="es-AR" sz="2800" dirty="0" smtClean="0">
                          <a:effectLst>
                            <a:outerShdw blurRad="38100" dist="38100" dir="2700000" algn="tl">
                              <a:srgbClr val="000000">
                                <a:alpha val="43137"/>
                              </a:srgbClr>
                            </a:outerShdw>
                          </a:effectLst>
                        </a:rPr>
                        <a:t>Grado</a:t>
                      </a:r>
                      <a:endParaRPr lang="es-AR" sz="2800" dirty="0">
                        <a:effectLst>
                          <a:outerShdw blurRad="38100" dist="38100" dir="2700000" algn="tl">
                            <a:srgbClr val="000000">
                              <a:alpha val="43137"/>
                            </a:srgbClr>
                          </a:outerShdw>
                        </a:effectLst>
                      </a:endParaRPr>
                    </a:p>
                  </a:txBody>
                  <a:tcPr/>
                </a:tc>
                <a:tc hMerge="1">
                  <a:txBody>
                    <a:bodyPr/>
                    <a:lstStyle/>
                    <a:p>
                      <a:endParaRPr lang="es-AR"/>
                    </a:p>
                  </a:txBody>
                  <a:tcPr/>
                </a:tc>
                <a:tc hMerge="1">
                  <a:txBody>
                    <a:bodyPr/>
                    <a:lstStyle/>
                    <a:p>
                      <a:endParaRPr lang="es-AR" dirty="0"/>
                    </a:p>
                  </a:txBody>
                  <a:tcPr/>
                </a:tc>
                <a:tc rowSpan="2" gridSpan="3">
                  <a:txBody>
                    <a:bodyPr/>
                    <a:lstStyle/>
                    <a:p>
                      <a:r>
                        <a:rPr lang="es-AR" sz="2800" dirty="0" smtClean="0">
                          <a:effectLst>
                            <a:outerShdw blurRad="38100" dist="38100" dir="2700000" algn="tl">
                              <a:srgbClr val="000000">
                                <a:alpha val="43137"/>
                              </a:srgbClr>
                            </a:outerShdw>
                          </a:effectLst>
                        </a:rPr>
                        <a:t>Impacto</a:t>
                      </a:r>
                      <a:endParaRPr lang="es-AR" sz="2800" dirty="0">
                        <a:effectLst>
                          <a:outerShdw blurRad="38100" dist="38100" dir="2700000" algn="tl">
                            <a:srgbClr val="000000">
                              <a:alpha val="43137"/>
                            </a:srgbClr>
                          </a:outerShdw>
                        </a:effectLst>
                      </a:endParaRPr>
                    </a:p>
                  </a:txBody>
                  <a:tcPr/>
                </a:tc>
                <a:tc rowSpan="2" hMerge="1">
                  <a:txBody>
                    <a:bodyPr/>
                    <a:lstStyle/>
                    <a:p>
                      <a:endParaRPr lang="es-AR" dirty="0"/>
                    </a:p>
                  </a:txBody>
                  <a:tcPr/>
                </a:tc>
                <a:tc rowSpan="2" hMerge="1">
                  <a:txBody>
                    <a:bodyPr/>
                    <a:lstStyle/>
                    <a:p>
                      <a:endParaRPr lang="es-AR" dirty="0"/>
                    </a:p>
                  </a:txBody>
                  <a:tcPr/>
                </a:tc>
              </a:tr>
              <a:tr h="548682">
                <a:tc vMerge="1">
                  <a:txBody>
                    <a:bodyPr/>
                    <a:lstStyle/>
                    <a:p>
                      <a:endParaRPr lang="es-AR"/>
                    </a:p>
                  </a:txBody>
                  <a:tcPr/>
                </a:tc>
                <a:tc gridSpan="3">
                  <a:txBody>
                    <a:bodyPr/>
                    <a:lstStyle/>
                    <a:p>
                      <a:r>
                        <a:rPr lang="es-AR" dirty="0" smtClean="0">
                          <a:effectLst>
                            <a:outerShdw blurRad="38100" dist="38100" dir="2700000" algn="tl">
                              <a:srgbClr val="000000">
                                <a:alpha val="43137"/>
                              </a:srgbClr>
                            </a:outerShdw>
                          </a:effectLst>
                        </a:rPr>
                        <a:t>Fortalezas</a:t>
                      </a:r>
                      <a:endParaRPr lang="es-AR" dirty="0">
                        <a:effectLst>
                          <a:outerShdw blurRad="38100" dist="38100" dir="2700000" algn="tl">
                            <a:srgbClr val="000000">
                              <a:alpha val="43137"/>
                            </a:srgbClr>
                          </a:outerShdw>
                        </a:effectLst>
                      </a:endParaRPr>
                    </a:p>
                  </a:txBody>
                  <a:tcPr/>
                </a:tc>
                <a:tc hMerge="1">
                  <a:txBody>
                    <a:bodyPr/>
                    <a:lstStyle/>
                    <a:p>
                      <a:endParaRPr lang="es-AR"/>
                    </a:p>
                  </a:txBody>
                  <a:tcPr/>
                </a:tc>
                <a:tc hMerge="1">
                  <a:txBody>
                    <a:bodyPr/>
                    <a:lstStyle/>
                    <a:p>
                      <a:endParaRPr lang="es-AR" dirty="0"/>
                    </a:p>
                  </a:txBody>
                  <a:tcPr/>
                </a:tc>
                <a:tc gridSpan="3">
                  <a:txBody>
                    <a:bodyPr/>
                    <a:lstStyle/>
                    <a:p>
                      <a:r>
                        <a:rPr lang="es-AR" dirty="0" smtClean="0">
                          <a:effectLst>
                            <a:outerShdw blurRad="38100" dist="38100" dir="2700000" algn="tl">
                              <a:srgbClr val="000000">
                                <a:alpha val="43137"/>
                              </a:srgbClr>
                            </a:outerShdw>
                          </a:effectLst>
                        </a:rPr>
                        <a:t>Dificultades</a:t>
                      </a:r>
                      <a:endParaRPr lang="es-AR" dirty="0">
                        <a:effectLst>
                          <a:outerShdw blurRad="38100" dist="38100" dir="2700000" algn="tl">
                            <a:srgbClr val="000000">
                              <a:alpha val="43137"/>
                            </a:srgbClr>
                          </a:outerShdw>
                        </a:effectLst>
                      </a:endParaRPr>
                    </a:p>
                  </a:txBody>
                  <a:tcPr/>
                </a:tc>
                <a:tc hMerge="1">
                  <a:txBody>
                    <a:bodyPr/>
                    <a:lstStyle/>
                    <a:p>
                      <a:endParaRPr lang="es-AR"/>
                    </a:p>
                  </a:txBody>
                  <a:tcPr/>
                </a:tc>
                <a:tc hMerge="1">
                  <a:txBody>
                    <a:bodyPr/>
                    <a:lstStyle/>
                    <a:p>
                      <a:endParaRPr lang="es-AR" dirty="0"/>
                    </a:p>
                  </a:txBody>
                  <a:tcPr/>
                </a:tc>
                <a:tc gridSpan="3" vMerge="1">
                  <a:txBody>
                    <a:bodyPr/>
                    <a:lstStyle/>
                    <a:p>
                      <a:endParaRPr lang="es-AR" dirty="0"/>
                    </a:p>
                  </a:txBody>
                  <a:tcPr/>
                </a:tc>
                <a:tc hMerge="1" vMerge="1">
                  <a:txBody>
                    <a:bodyPr/>
                    <a:lstStyle/>
                    <a:p>
                      <a:endParaRPr lang="es-AR" dirty="0"/>
                    </a:p>
                  </a:txBody>
                  <a:tcPr/>
                </a:tc>
                <a:tc hMerge="1" vMerge="1">
                  <a:txBody>
                    <a:bodyPr/>
                    <a:lstStyle/>
                    <a:p>
                      <a:endParaRPr lang="es-AR" dirty="0"/>
                    </a:p>
                  </a:txBody>
                  <a:tcPr/>
                </a:tc>
              </a:tr>
              <a:tr h="548682">
                <a:tc vMerge="1">
                  <a:txBody>
                    <a:bodyPr/>
                    <a:lstStyle/>
                    <a:p>
                      <a:endParaRPr lang="es-AR" dirty="0"/>
                    </a:p>
                  </a:txBody>
                  <a:tcPr/>
                </a:tc>
                <a:tc>
                  <a:txBody>
                    <a:bodyPr/>
                    <a:lstStyle/>
                    <a:p>
                      <a:r>
                        <a:rPr lang="es-AR" dirty="0" smtClean="0">
                          <a:effectLst>
                            <a:outerShdw blurRad="38100" dist="38100" dir="2700000" algn="tl">
                              <a:srgbClr val="000000">
                                <a:alpha val="43137"/>
                              </a:srgbClr>
                            </a:outerShdw>
                          </a:effectLst>
                        </a:rPr>
                        <a:t>alto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medio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bajo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alto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medio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bajo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Alto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Medio</a:t>
                      </a:r>
                      <a:endParaRPr lang="es-AR" dirty="0">
                        <a:effectLst>
                          <a:outerShdw blurRad="38100" dist="38100" dir="2700000" algn="tl">
                            <a:srgbClr val="000000">
                              <a:alpha val="43137"/>
                            </a:srgbClr>
                          </a:outerShdw>
                        </a:effectLst>
                      </a:endParaRPr>
                    </a:p>
                  </a:txBody>
                  <a:tcPr/>
                </a:tc>
                <a:tc>
                  <a:txBody>
                    <a:bodyPr/>
                    <a:lstStyle/>
                    <a:p>
                      <a:r>
                        <a:rPr lang="es-AR" dirty="0" smtClean="0">
                          <a:effectLst>
                            <a:outerShdw blurRad="38100" dist="38100" dir="2700000" algn="tl">
                              <a:srgbClr val="000000">
                                <a:alpha val="43137"/>
                              </a:srgbClr>
                            </a:outerShdw>
                          </a:effectLst>
                        </a:rPr>
                        <a:t>bajo</a:t>
                      </a:r>
                      <a:endParaRPr lang="es-AR" dirty="0">
                        <a:effectLst>
                          <a:outerShdw blurRad="38100" dist="38100" dir="2700000" algn="tl">
                            <a:srgbClr val="000000">
                              <a:alpha val="43137"/>
                            </a:srgbClr>
                          </a:outerShdw>
                        </a:effectLst>
                      </a:endParaRPr>
                    </a:p>
                  </a:txBody>
                  <a:tcPr/>
                </a:tc>
              </a:tr>
              <a:tr h="548682">
                <a:tc>
                  <a:txBody>
                    <a:bodyPr/>
                    <a:lstStyle/>
                    <a:p>
                      <a:r>
                        <a:rPr lang="es-AR" b="1" u="none" dirty="0" smtClean="0">
                          <a:solidFill>
                            <a:srgbClr val="002060"/>
                          </a:solidFill>
                          <a:effectLst>
                            <a:outerShdw blurRad="38100" dist="38100" dir="2700000" algn="tl">
                              <a:srgbClr val="000000">
                                <a:alpha val="43137"/>
                              </a:srgbClr>
                            </a:outerShdw>
                          </a:effectLst>
                        </a:rPr>
                        <a:t>1. Directiva</a:t>
                      </a:r>
                      <a:endParaRPr lang="es-AR" b="1" u="none" dirty="0">
                        <a:solidFill>
                          <a:srgbClr val="002060"/>
                        </a:solidFill>
                        <a:effectLst>
                          <a:outerShdw blurRad="38100" dist="38100" dir="2700000" algn="tl">
                            <a:srgbClr val="000000">
                              <a:alpha val="43137"/>
                            </a:srgbClr>
                          </a:outerShdw>
                        </a:effectLst>
                      </a:endParaRPr>
                    </a:p>
                  </a:txBody>
                  <a:tcPr/>
                </a:tc>
                <a:tc>
                  <a:txBody>
                    <a:bodyPr/>
                    <a:lstStyle/>
                    <a:p>
                      <a:endParaRPr lang="es-AR" dirty="0"/>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dirty="0"/>
                    </a:p>
                  </a:txBody>
                  <a:tcPr/>
                </a:tc>
                <a:tc>
                  <a:txBody>
                    <a:bodyPr/>
                    <a:lstStyle/>
                    <a:p>
                      <a:endParaRPr lang="es-AR" dirty="0"/>
                    </a:p>
                  </a:txBody>
                  <a:tcPr/>
                </a:tc>
                <a:tc>
                  <a:txBody>
                    <a:bodyPr/>
                    <a:lstStyle/>
                    <a:p>
                      <a:endParaRPr lang="es-AR"/>
                    </a:p>
                  </a:txBody>
                  <a:tcPr/>
                </a:tc>
              </a:tr>
              <a:tr h="548682">
                <a:tc>
                  <a:txBody>
                    <a:bodyPr/>
                    <a:lstStyle/>
                    <a:p>
                      <a:r>
                        <a:rPr lang="es-AR" b="1" u="none" dirty="0" smtClean="0">
                          <a:solidFill>
                            <a:srgbClr val="002060"/>
                          </a:solidFill>
                          <a:effectLst>
                            <a:outerShdw blurRad="38100" dist="38100" dir="2700000" algn="tl">
                              <a:srgbClr val="000000">
                                <a:alpha val="43137"/>
                              </a:srgbClr>
                            </a:outerShdw>
                          </a:effectLst>
                        </a:rPr>
                        <a:t>2. Competitiva</a:t>
                      </a:r>
                      <a:endParaRPr lang="es-AR" b="1" u="none" dirty="0">
                        <a:solidFill>
                          <a:srgbClr val="002060"/>
                        </a:solidFill>
                        <a:effectLst>
                          <a:outerShdw blurRad="38100" dist="38100" dir="2700000" algn="tl">
                            <a:srgbClr val="000000">
                              <a:alpha val="43137"/>
                            </a:srgbClr>
                          </a:outerShdw>
                        </a:effectLst>
                      </a:endParaRP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r>
              <a:tr h="548682">
                <a:tc>
                  <a:txBody>
                    <a:bodyPr/>
                    <a:lstStyle/>
                    <a:p>
                      <a:r>
                        <a:rPr lang="es-AR" b="1" u="none" dirty="0" smtClean="0">
                          <a:solidFill>
                            <a:srgbClr val="002060"/>
                          </a:solidFill>
                          <a:effectLst>
                            <a:outerShdw blurRad="38100" dist="38100" dir="2700000" algn="tl">
                              <a:srgbClr val="000000">
                                <a:alpha val="43137"/>
                              </a:srgbClr>
                            </a:outerShdw>
                          </a:effectLst>
                        </a:rPr>
                        <a:t>3. Financiera</a:t>
                      </a:r>
                      <a:endParaRPr lang="es-AR" b="1" u="none" dirty="0">
                        <a:solidFill>
                          <a:srgbClr val="002060"/>
                        </a:solidFill>
                        <a:effectLst>
                          <a:outerShdw blurRad="38100" dist="38100" dir="2700000" algn="tl">
                            <a:srgbClr val="000000">
                              <a:alpha val="43137"/>
                            </a:srgbClr>
                          </a:outerShdw>
                        </a:effectLst>
                      </a:endParaRP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r>
              <a:tr h="548682">
                <a:tc>
                  <a:txBody>
                    <a:bodyPr/>
                    <a:lstStyle/>
                    <a:p>
                      <a:r>
                        <a:rPr lang="es-AR" b="1" u="none" dirty="0" smtClean="0">
                          <a:solidFill>
                            <a:srgbClr val="002060"/>
                          </a:solidFill>
                          <a:effectLst>
                            <a:outerShdw blurRad="38100" dist="38100" dir="2700000" algn="tl">
                              <a:srgbClr val="000000">
                                <a:alpha val="43137"/>
                              </a:srgbClr>
                            </a:outerShdw>
                          </a:effectLst>
                        </a:rPr>
                        <a:t>4. Tecnológica</a:t>
                      </a:r>
                      <a:endParaRPr lang="es-AR" b="1" u="none" dirty="0">
                        <a:solidFill>
                          <a:srgbClr val="002060"/>
                        </a:solidFill>
                        <a:effectLst>
                          <a:outerShdw blurRad="38100" dist="38100" dir="2700000" algn="tl">
                            <a:srgbClr val="000000">
                              <a:alpha val="43137"/>
                            </a:srgbClr>
                          </a:outerShdw>
                        </a:effectLst>
                      </a:endParaRP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r>
              <a:tr h="548682">
                <a:tc>
                  <a:txBody>
                    <a:bodyPr/>
                    <a:lstStyle/>
                    <a:p>
                      <a:r>
                        <a:rPr lang="es-AR" b="1" u="none" dirty="0" smtClean="0">
                          <a:solidFill>
                            <a:srgbClr val="002060"/>
                          </a:solidFill>
                          <a:effectLst>
                            <a:outerShdw blurRad="38100" dist="38100" dir="2700000" algn="tl">
                              <a:srgbClr val="000000">
                                <a:alpha val="43137"/>
                              </a:srgbClr>
                            </a:outerShdw>
                          </a:effectLst>
                        </a:rPr>
                        <a:t>5. Talento Humano</a:t>
                      </a:r>
                      <a:endParaRPr lang="es-AR" b="1" u="none" dirty="0">
                        <a:solidFill>
                          <a:srgbClr val="002060"/>
                        </a:solidFill>
                        <a:effectLst>
                          <a:outerShdw blurRad="38100" dist="38100" dir="2700000" algn="tl">
                            <a:srgbClr val="000000">
                              <a:alpha val="43137"/>
                            </a:srgbClr>
                          </a:outerShdw>
                        </a:effectLst>
                      </a:endParaRPr>
                    </a:p>
                  </a:txBody>
                  <a:tcPr/>
                </a:tc>
                <a:tc>
                  <a:txBody>
                    <a:bodyPr/>
                    <a:lstStyle/>
                    <a:p>
                      <a:endParaRPr lang="es-AR" dirty="0"/>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a:p>
                  </a:txBody>
                  <a:tcPr/>
                </a:tc>
                <a:tc>
                  <a:txBody>
                    <a:bodyPr/>
                    <a:lstStyle/>
                    <a:p>
                      <a:endParaRPr lang="es-AR" dirty="0"/>
                    </a:p>
                  </a:txBody>
                  <a:tcPr/>
                </a:tc>
              </a:tr>
            </a:tbl>
          </a:graphicData>
        </a:graphic>
      </p:graphicFrame>
      <p:sp>
        <p:nvSpPr>
          <p:cNvPr id="36958" name="2 CuadroTexto"/>
          <p:cNvSpPr txBox="1">
            <a:spLocks noChangeArrowheads="1"/>
          </p:cNvSpPr>
          <p:nvPr/>
        </p:nvSpPr>
        <p:spPr bwMode="auto">
          <a:xfrm rot="2990019">
            <a:off x="535781" y="1162844"/>
            <a:ext cx="1331913" cy="339725"/>
          </a:xfrm>
          <a:prstGeom prst="rect">
            <a:avLst/>
          </a:prstGeom>
          <a:noFill/>
          <a:ln w="9525">
            <a:noFill/>
            <a:miter lim="800000"/>
            <a:headEnd/>
            <a:tailEnd/>
          </a:ln>
        </p:spPr>
        <p:txBody>
          <a:bodyPr>
            <a:spAutoFit/>
          </a:bodyPr>
          <a:lstStyle/>
          <a:p>
            <a:pPr>
              <a:defRPr/>
            </a:pPr>
            <a:r>
              <a:rPr lang="es-AR" sz="1600" dirty="0">
                <a:solidFill>
                  <a:schemeClr val="bg1"/>
                </a:solidFill>
                <a:effectLst>
                  <a:outerShdw blurRad="38100" dist="38100" dir="2700000" algn="tl">
                    <a:srgbClr val="000000">
                      <a:alpha val="43137"/>
                    </a:srgbClr>
                  </a:outerShdw>
                </a:effectLst>
              </a:rPr>
              <a:t>clasificación</a:t>
            </a:r>
          </a:p>
        </p:txBody>
      </p:sp>
      <p:sp>
        <p:nvSpPr>
          <p:cNvPr id="36959" name="3 CuadroTexto"/>
          <p:cNvSpPr txBox="1">
            <a:spLocks noChangeArrowheads="1"/>
          </p:cNvSpPr>
          <p:nvPr/>
        </p:nvSpPr>
        <p:spPr bwMode="auto">
          <a:xfrm rot="3074477">
            <a:off x="319088" y="1746250"/>
            <a:ext cx="1357312" cy="369888"/>
          </a:xfrm>
          <a:prstGeom prst="rect">
            <a:avLst/>
          </a:prstGeom>
          <a:noFill/>
          <a:ln w="9525">
            <a:noFill/>
            <a:miter lim="800000"/>
            <a:headEnd/>
            <a:tailEnd/>
          </a:ln>
        </p:spPr>
        <p:txBody>
          <a:bodyPr>
            <a:spAutoFit/>
          </a:bodyPr>
          <a:lstStyle/>
          <a:p>
            <a:pPr>
              <a:defRPr/>
            </a:pPr>
            <a:r>
              <a:rPr lang="es-AR" dirty="0">
                <a:solidFill>
                  <a:schemeClr val="bg1"/>
                </a:solidFill>
                <a:effectLst>
                  <a:outerShdw blurRad="38100" dist="38100" dir="2700000" algn="tl">
                    <a:srgbClr val="000000">
                      <a:alpha val="43137"/>
                    </a:srgbClr>
                  </a:outerShdw>
                </a:effectLst>
              </a:rPr>
              <a:t>capacidad</a:t>
            </a:r>
          </a:p>
        </p:txBody>
      </p:sp>
      <p:cxnSp>
        <p:nvCxnSpPr>
          <p:cNvPr id="6" name="5 Conector recto de flecha"/>
          <p:cNvCxnSpPr/>
          <p:nvPr/>
        </p:nvCxnSpPr>
        <p:spPr>
          <a:xfrm rot="16200000" flipH="1">
            <a:off x="321469" y="964406"/>
            <a:ext cx="1500188" cy="128587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2 Subtítulo"/>
          <p:cNvSpPr>
            <a:spLocks noGrp="1"/>
          </p:cNvSpPr>
          <p:nvPr>
            <p:ph type="subTitle" idx="1"/>
          </p:nvPr>
        </p:nvSpPr>
        <p:spPr>
          <a:xfrm>
            <a:off x="857250" y="2714625"/>
            <a:ext cx="6915150" cy="2286000"/>
          </a:xfrm>
        </p:spPr>
        <p:txBody>
          <a:bodyPr/>
          <a:lstStyle/>
          <a:p>
            <a:pPr algn="l">
              <a:defRPr/>
            </a:pPr>
            <a:endParaRPr lang="es-CO" dirty="0" smtClean="0">
              <a:solidFill>
                <a:schemeClr val="tx1"/>
              </a:solidFill>
              <a:latin typeface="Arial" charset="0"/>
              <a:cs typeface="Arial" charset="0"/>
            </a:endParaRPr>
          </a:p>
          <a:p>
            <a:pPr algn="just">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cs typeface="Arial" charset="0"/>
              </a:rPr>
              <a:t>Con base en el DOFA y en el análisis de vulnerabilidad efectuados en el diagnostico, la compañía deberá:</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6" name="5 CuadroTexto"/>
          <p:cNvSpPr txBox="1"/>
          <p:nvPr/>
        </p:nvSpPr>
        <p:spPr>
          <a:xfrm>
            <a:off x="1071538" y="2143116"/>
            <a:ext cx="6715172" cy="584775"/>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 OPCIONES ESTRATÉGICAS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2 Marcador de contenido"/>
          <p:cNvSpPr>
            <a:spLocks noGrp="1"/>
          </p:cNvSpPr>
          <p:nvPr>
            <p:ph idx="1"/>
          </p:nvPr>
        </p:nvSpPr>
        <p:spPr>
          <a:xfrm>
            <a:off x="285750" y="1285875"/>
            <a:ext cx="8229600" cy="3286125"/>
          </a:xfrm>
        </p:spPr>
        <p:txBody>
          <a:bodyPr/>
          <a:lstStyle/>
          <a:p>
            <a:pPr algn="ctr">
              <a:buFont typeface="Arial" charset="0"/>
              <a:buNone/>
              <a:defRPr/>
            </a:pPr>
            <a:endPar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ctr">
              <a:buFont typeface="Arial" charset="0"/>
              <a:buNone/>
              <a:defRPr/>
            </a:pP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 OPCIONES ESTRATÉGICAS</a:t>
            </a:r>
          </a:p>
          <a:p>
            <a:pPr>
              <a:buFont typeface="Arial" charset="0"/>
              <a:buNone/>
              <a:defRPr/>
            </a:pPr>
            <a:endParaRPr lang="es-CO" dirty="0" smtClean="0"/>
          </a:p>
          <a:p>
            <a:pPr algn="just">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Hacer un análisis vectorial de crecimiento.</a:t>
            </a:r>
          </a:p>
          <a:p>
            <a:pPr algn="just">
              <a:defRPr/>
            </a:pPr>
            <a:endPar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endParaRPr>
          </a:p>
          <a:p>
            <a:pPr algn="just">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Analizar el comportamiento de su portafolio de productos.</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2 Marcador de contenido"/>
          <p:cNvSpPr>
            <a:spLocks noGrp="1"/>
          </p:cNvSpPr>
          <p:nvPr>
            <p:ph idx="1"/>
          </p:nvPr>
        </p:nvSpPr>
        <p:spPr>
          <a:xfrm>
            <a:off x="500063" y="1285875"/>
            <a:ext cx="8229600" cy="4054475"/>
          </a:xfrm>
        </p:spPr>
        <p:txBody>
          <a:bodyPr/>
          <a:lstStyle/>
          <a:p>
            <a:pPr>
              <a:buFont typeface="Arial" charset="0"/>
              <a:buNone/>
              <a:defRPr/>
            </a:pPr>
            <a:endPar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ctr">
              <a:buFont typeface="Arial" charset="0"/>
              <a:buNone/>
              <a:defRPr/>
            </a:pP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 OPCIONES ESTRATÉGICAS</a:t>
            </a:r>
          </a:p>
          <a:p>
            <a:pPr>
              <a:buFont typeface="Arial" charset="0"/>
              <a:buNone/>
              <a:defRPr/>
            </a:pPr>
            <a:endParaRPr lang="es-CO" dirty="0" smtClean="0">
              <a:effectLst>
                <a:outerShdw blurRad="38100" dist="38100" dir="2700000" algn="tl">
                  <a:srgbClr val="000000">
                    <a:alpha val="43137"/>
                  </a:srgbClr>
                </a:outerShdw>
              </a:effectLst>
            </a:endParaRPr>
          </a:p>
          <a:p>
            <a:pPr>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Definir los objetivos globales de la compañía</a:t>
            </a:r>
          </a:p>
          <a:p>
            <a:pPr>
              <a:defRPr/>
            </a:pPr>
            <a:endPar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endParaRPr>
          </a:p>
          <a:p>
            <a:pPr>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Determinar las estrategias globales y los proyectos estratégicos que le permitirán lograr eficiente y eficazmente su misión.</a:t>
            </a:r>
          </a:p>
          <a:p>
            <a:pPr>
              <a:defRPr/>
            </a:pPr>
            <a:endParaRPr lang="es-CO" dirty="0" smtClean="0">
              <a:solidFill>
                <a:schemeClr val="accent1">
                  <a:lumMod val="50000"/>
                </a:schemeClr>
              </a:solidFill>
            </a:endParaRP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2 Marcador de contenido"/>
          <p:cNvSpPr>
            <a:spLocks noGrp="1"/>
          </p:cNvSpPr>
          <p:nvPr>
            <p:ph idx="1"/>
          </p:nvPr>
        </p:nvSpPr>
        <p:spPr>
          <a:xfrm>
            <a:off x="714375" y="2071688"/>
            <a:ext cx="7972425" cy="4054475"/>
          </a:xfrm>
        </p:spPr>
        <p:txBody>
          <a:bodyPr/>
          <a:lstStyle/>
          <a:p>
            <a:pPr algn="ctr">
              <a:buFont typeface="Arial" charset="0"/>
              <a:buNone/>
              <a:defRPr/>
            </a:pP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4.1   ANALISIS ESTRATÉGICO </a:t>
            </a:r>
          </a:p>
          <a:p>
            <a:pPr algn="just">
              <a:buFont typeface="Arial" charset="0"/>
              <a:buNone/>
              <a:defRPr/>
            </a:pPr>
            <a:r>
              <a:rPr lang="es-CO" dirty="0" smtClean="0"/>
              <a:t>  </a:t>
            </a:r>
          </a:p>
          <a:p>
            <a:pPr algn="just">
              <a:buFont typeface="Arial" charset="0"/>
              <a:buNone/>
              <a:defRPr/>
            </a:pPr>
            <a:r>
              <a:rPr lang="es-CO" dirty="0" smtClean="0"/>
              <a:t>    </a:t>
            </a:r>
            <a:r>
              <a:rPr lang="es-CO"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El análisis de las diferentes alternativas que tiene la organización para lograr sus objetivos permitirá establecer las opciones estratégicas. </a:t>
            </a:r>
          </a:p>
          <a:p>
            <a:pPr algn="just">
              <a:defRPr/>
            </a:pPr>
            <a:endParaRPr lang="es-CO" dirty="0" smtClean="0"/>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Rectángulo"/>
          <p:cNvSpPr/>
          <p:nvPr/>
        </p:nvSpPr>
        <p:spPr>
          <a:xfrm>
            <a:off x="357188" y="1000125"/>
            <a:ext cx="7358062" cy="584200"/>
          </a:xfrm>
          <a:prstGeom prst="rect">
            <a:avLst/>
          </a:prstGeom>
        </p:spPr>
        <p:txBody>
          <a:bodyPr>
            <a:spAutoFit/>
          </a:bodyPr>
          <a:lstStyle/>
          <a:p>
            <a:pPr algn="ctr">
              <a:buFont typeface="Arial" charset="0"/>
              <a:buNone/>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OPCIONES ESTRATÉGICAS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2 Marcador de contenido"/>
          <p:cNvSpPr>
            <a:spLocks noGrp="1"/>
          </p:cNvSpPr>
          <p:nvPr>
            <p:ph idx="1"/>
          </p:nvPr>
        </p:nvSpPr>
        <p:spPr>
          <a:xfrm>
            <a:off x="457200" y="928688"/>
            <a:ext cx="8229600" cy="5197475"/>
          </a:xfrm>
        </p:spPr>
        <p:txBody>
          <a:bodyPr/>
          <a:lstStyle/>
          <a:p>
            <a:pPr algn="ctr">
              <a:buFont typeface="Arial" charset="0"/>
              <a:buNone/>
              <a:defRPr/>
            </a:pP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OPCIONES ESTRATÉGICAS</a:t>
            </a:r>
          </a:p>
          <a:p>
            <a:pPr algn="ctr">
              <a:buFont typeface="Arial" charset="0"/>
              <a:buNone/>
              <a:defRPr/>
            </a:pPr>
            <a:endPar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ctr">
              <a:buFont typeface="Arial" charset="0"/>
              <a:buNone/>
              <a:defRPr/>
            </a:pP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4.1   ANALISIS ESTRATÉGICO </a:t>
            </a:r>
          </a:p>
          <a:p>
            <a:pPr algn="just">
              <a:buFont typeface="Arial" charset="0"/>
              <a:buNone/>
              <a:defRPr/>
            </a:pPr>
            <a:r>
              <a:rPr lang="es-CO" dirty="0" smtClean="0">
                <a:solidFill>
                  <a:srgbClr val="002060"/>
                </a:solidFill>
                <a:effectLst>
                  <a:outerShdw blurRad="38100" dist="38100" dir="2700000" algn="tl">
                    <a:srgbClr val="000000">
                      <a:alpha val="43137"/>
                    </a:srgbClr>
                  </a:outerShdw>
                </a:effectLst>
                <a:latin typeface="Berlin Sans FB" pitchFamily="34" charset="0"/>
              </a:rPr>
              <a:t>   </a:t>
            </a:r>
            <a:r>
              <a:rPr lang="es-CO" dirty="0" smtClean="0">
                <a:solidFill>
                  <a:schemeClr val="accent1">
                    <a:lumMod val="50000"/>
                  </a:schemeClr>
                </a:solidFill>
                <a:effectLst>
                  <a:outerShdw blurRad="38100" dist="38100" dir="2700000" algn="tl">
                    <a:srgbClr val="000000">
                      <a:alpha val="43137"/>
                    </a:srgbClr>
                  </a:outerShdw>
                </a:effectLst>
                <a:latin typeface="Berlin Sans FB" pitchFamily="34" charset="0"/>
              </a:rPr>
              <a:t>Metodologías para realizar la identificación de opciones estratégicas:</a:t>
            </a:r>
          </a:p>
          <a:p>
            <a:pPr algn="just">
              <a:buFont typeface="Arial" charset="0"/>
              <a:buNone/>
              <a:defRPr/>
            </a:pPr>
            <a:endParaRPr lang="es-CO" dirty="0" smtClean="0">
              <a:solidFill>
                <a:schemeClr val="accent1">
                  <a:lumMod val="50000"/>
                </a:schemeClr>
              </a:solidFill>
            </a:endParaRPr>
          </a:p>
          <a:p>
            <a:pPr algn="just">
              <a:buFont typeface="Arial" charset="0"/>
              <a:buNone/>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1. Alternativas estratégicas.</a:t>
            </a:r>
          </a:p>
          <a:p>
            <a:pPr algn="just">
              <a:buFont typeface="Arial" charset="0"/>
              <a:buNone/>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2. Análisis vectorial de crecimiento.</a:t>
            </a:r>
          </a:p>
          <a:p>
            <a:pPr algn="just">
              <a:buFont typeface="Arial" charset="0"/>
              <a:buNone/>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3. Análisis de portafolio.  </a:t>
            </a:r>
          </a:p>
          <a:p>
            <a:pPr>
              <a:defRPr/>
            </a:pPr>
            <a:endParaRPr lang="es-CO" dirty="0" smtClean="0">
              <a:solidFill>
                <a:schemeClr val="accent1">
                  <a:lumMod val="50000"/>
                </a:schemeClr>
              </a:solidFill>
            </a:endParaRP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2 Marcador de contenido"/>
          <p:cNvSpPr>
            <a:spLocks noGrp="1"/>
          </p:cNvSpPr>
          <p:nvPr>
            <p:ph idx="1"/>
          </p:nvPr>
        </p:nvSpPr>
        <p:spPr>
          <a:xfrm>
            <a:off x="457200" y="2214563"/>
            <a:ext cx="8229600" cy="3286125"/>
          </a:xfrm>
        </p:spPr>
        <p:txBody>
          <a:bodyPr/>
          <a:lstStyle/>
          <a:p>
            <a:pPr algn="ctr">
              <a:buFont typeface="Arial"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4.1.1  </a:t>
            </a:r>
            <a: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ALTERNATIVAS ESTRATÉGICAS</a:t>
            </a:r>
          </a:p>
          <a:p>
            <a:pPr>
              <a:buFont typeface="Arial"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a:t>
            </a:r>
          </a:p>
          <a:p>
            <a:pPr algn="just">
              <a:buFont typeface="Arial" charset="0"/>
              <a:buNone/>
              <a:defRPr/>
            </a:pPr>
            <a:r>
              <a:rPr lang="es-CO" sz="2700" dirty="0" smtClean="0">
                <a:solidFill>
                  <a:srgbClr val="002060"/>
                </a:solidFill>
                <a:effectLst>
                  <a:outerShdw blurRad="38100" dist="38100" dir="2700000" algn="tl">
                    <a:srgbClr val="000000">
                      <a:alpha val="43137"/>
                    </a:srgbClr>
                  </a:outerShdw>
                </a:effectLst>
                <a:latin typeface="Berlin Sans FB" pitchFamily="34" charset="0"/>
              </a:rPr>
              <a:t>    </a:t>
            </a: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Consiste en identificar caminos mediante los cuales una organización puede definir las estrategias para alcanzar su visión, y por tanto, un desempeño exitoso en el mercado.</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Rectángulo"/>
          <p:cNvSpPr/>
          <p:nvPr/>
        </p:nvSpPr>
        <p:spPr>
          <a:xfrm>
            <a:off x="357188" y="1143000"/>
            <a:ext cx="8429625" cy="554038"/>
          </a:xfrm>
          <a:prstGeom prst="rect">
            <a:avLst/>
          </a:prstGeom>
        </p:spPr>
        <p:txBody>
          <a:bodyPr>
            <a:spAutoFit/>
          </a:bodyPr>
          <a:lstStyle/>
          <a:p>
            <a:pPr algn="ctr">
              <a:defRPr/>
            </a:pPr>
            <a:r>
              <a:rPr lang="es-AR" sz="30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4.1   ANALISIS ESTRATÉGICO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71500" y="1500188"/>
            <a:ext cx="8229600" cy="4214812"/>
          </a:xfrm>
        </p:spPr>
        <p:txBody>
          <a:bodyPr/>
          <a:lstStyle/>
          <a:p>
            <a:pPr algn="ctr">
              <a:buFont typeface="Arial" charset="0"/>
              <a:buNone/>
              <a:defRPr/>
            </a:pPr>
            <a:r>
              <a:rPr lang="es-CO" dirty="0" smtClean="0">
                <a:solidFill>
                  <a:srgbClr val="002060"/>
                </a:solidFill>
                <a:effectLst>
                  <a:outerShdw blurRad="38100" dist="38100" dir="2700000" algn="tl">
                    <a:srgbClr val="000000">
                      <a:alpha val="43137"/>
                    </a:srgbClr>
                  </a:outerShdw>
                </a:effectLst>
                <a:latin typeface="Berlin Sans FB" pitchFamily="34" charset="0"/>
              </a:rPr>
              <a:t> 4.1.1  </a:t>
            </a: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ALTERNATIVAS ESTRATÉGICAS</a:t>
            </a:r>
            <a:endParaRPr lang="es-CO" dirty="0" smtClean="0"/>
          </a:p>
          <a:p>
            <a:pPr>
              <a:buFont typeface="Arial" charset="0"/>
              <a:buNone/>
              <a:defRPr/>
            </a:pPr>
            <a:endParaRPr lang="es-CO" dirty="0" smtClean="0"/>
          </a:p>
          <a:p>
            <a:pPr algn="just">
              <a:buFont typeface="Arial" charset="0"/>
              <a:buNone/>
              <a:defRPr/>
            </a:pPr>
            <a:r>
              <a:rPr lang="es-CO" dirty="0" smtClean="0"/>
              <a:t> </a:t>
            </a: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Estas </a:t>
            </a:r>
            <a:r>
              <a:rPr lang="es-CO" sz="2700" dirty="0">
                <a:solidFill>
                  <a:schemeClr val="accent1">
                    <a:lumMod val="50000"/>
                  </a:schemeClr>
                </a:solidFill>
                <a:effectLst>
                  <a:outerShdw blurRad="38100" dist="38100" dir="2700000" algn="tl">
                    <a:srgbClr val="000000">
                      <a:alpha val="43137"/>
                    </a:srgbClr>
                  </a:outerShdw>
                </a:effectLst>
                <a:latin typeface="Berlin Sans FB" pitchFamily="34" charset="0"/>
              </a:rPr>
              <a:t>alternativas se integran </a:t>
            </a: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alrededor de:</a:t>
            </a:r>
            <a:endParaRPr lang="es-CO" sz="2700" dirty="0">
              <a:solidFill>
                <a:schemeClr val="accent1">
                  <a:lumMod val="50000"/>
                </a:schemeClr>
              </a:solidFill>
              <a:effectLst>
                <a:outerShdw blurRad="38100" dist="38100" dir="2700000" algn="tl">
                  <a:srgbClr val="000000">
                    <a:alpha val="43137"/>
                  </a:srgbClr>
                </a:outerShdw>
              </a:effectLst>
              <a:latin typeface="Berlin Sans FB" pitchFamily="34" charset="0"/>
            </a:endParaRPr>
          </a:p>
          <a:p>
            <a:pPr algn="just">
              <a:buFont typeface="Arial" charset="0"/>
              <a:buNone/>
              <a:defRPr/>
            </a:pPr>
            <a:endParaRPr lang="es-CO" dirty="0">
              <a:solidFill>
                <a:schemeClr val="accent1">
                  <a:lumMod val="50000"/>
                </a:schemeClr>
              </a:solidFill>
            </a:endParaRPr>
          </a:p>
          <a:p>
            <a:pPr marL="514350" indent="-514350" algn="just">
              <a:buFont typeface="Arial" charset="0"/>
              <a:buAutoNum type="arabicPeriod"/>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Estrategias ofensivas</a:t>
            </a:r>
          </a:p>
          <a:p>
            <a:pPr marL="514350" indent="-514350" algn="just">
              <a:buFont typeface="Arial" charset="0"/>
              <a:buAutoNum type="arabicPeriod"/>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Estrategias defensivas</a:t>
            </a:r>
          </a:p>
          <a:p>
            <a:pPr marL="514350" indent="-514350" algn="just">
              <a:buFont typeface="Arial" charset="0"/>
              <a:buAutoNum type="arabicPeriod"/>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Estrategias genéricas</a:t>
            </a:r>
          </a:p>
          <a:p>
            <a:pPr marL="514350" indent="-514350" algn="just">
              <a:buFont typeface="Arial" charset="0"/>
              <a:buAutoNum type="arabicPeriod"/>
              <a:defRPr/>
            </a:pPr>
            <a:r>
              <a:rPr lang="es-CO" sz="2700" dirty="0" smtClean="0">
                <a:solidFill>
                  <a:schemeClr val="accent1">
                    <a:lumMod val="50000"/>
                  </a:schemeClr>
                </a:solidFill>
                <a:effectLst>
                  <a:outerShdw blurRad="38100" dist="38100" dir="2700000" algn="tl">
                    <a:srgbClr val="000000">
                      <a:alpha val="43137"/>
                    </a:srgbClr>
                  </a:outerShdw>
                </a:effectLst>
                <a:latin typeface="Berlin Sans FB" pitchFamily="34" charset="0"/>
              </a:rPr>
              <a:t>Estrategias </a:t>
            </a:r>
            <a:r>
              <a:rPr lang="es-CO" sz="2700" dirty="0">
                <a:solidFill>
                  <a:schemeClr val="accent1">
                    <a:lumMod val="50000"/>
                  </a:schemeClr>
                </a:solidFill>
                <a:effectLst>
                  <a:outerShdw blurRad="38100" dist="38100" dir="2700000" algn="tl">
                    <a:srgbClr val="000000">
                      <a:alpha val="43137"/>
                    </a:srgbClr>
                  </a:outerShdw>
                </a:effectLst>
                <a:latin typeface="Berlin Sans FB" pitchFamily="34" charset="0"/>
              </a:rPr>
              <a:t>concéntricas </a:t>
            </a:r>
          </a:p>
          <a:p>
            <a:pPr>
              <a:defRPr/>
            </a:pPr>
            <a:endParaRPr lang="es-CO" dirty="0"/>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2 Marcador de contenido"/>
          <p:cNvSpPr>
            <a:spLocks noGrp="1"/>
          </p:cNvSpPr>
          <p:nvPr>
            <p:ph idx="1"/>
          </p:nvPr>
        </p:nvSpPr>
        <p:spPr>
          <a:xfrm>
            <a:off x="457200" y="2071688"/>
            <a:ext cx="8229600" cy="3143250"/>
          </a:xfrm>
        </p:spPr>
        <p:txBody>
          <a:bodyPr/>
          <a:lstStyle/>
          <a:p>
            <a:pPr>
              <a:defRPr/>
            </a:pPr>
            <a:endParaRPr lang="es-CO" dirty="0" smtClean="0"/>
          </a:p>
          <a:p>
            <a:pPr>
              <a:buFont typeface="Arial" charset="0"/>
              <a:buNone/>
              <a:defRPr/>
            </a:pPr>
            <a:endParaRPr lang="es-CO" dirty="0" smtClean="0"/>
          </a:p>
          <a:p>
            <a:pPr algn="just">
              <a:buFont typeface="Arial" charset="0"/>
              <a:buNone/>
              <a:defRPr/>
            </a:pPr>
            <a:r>
              <a:rPr lang="es-CO" dirty="0" smtClean="0"/>
              <a:t>    </a:t>
            </a:r>
            <a:r>
              <a:rPr lang="es-CO" sz="2700" dirty="0" smtClean="0">
                <a:solidFill>
                  <a:schemeClr val="accent1">
                    <a:lumMod val="50000"/>
                  </a:schemeClr>
                </a:solidFill>
                <a:latin typeface="Berlin Sans FB" pitchFamily="34" charset="0"/>
              </a:rPr>
              <a:t>Buscan la consolidación de una empresa en su mercado. Entre ellas las mas comunes son:</a:t>
            </a:r>
          </a:p>
          <a:p>
            <a:pPr algn="just">
              <a:defRPr/>
            </a:pPr>
            <a:endParaRPr lang="es-CO" dirty="0" smtClean="0">
              <a:solidFill>
                <a:schemeClr val="accent1">
                  <a:lumMod val="50000"/>
                </a:schemeClr>
              </a:solidFill>
            </a:endParaRP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6" name="5 CuadroTexto"/>
          <p:cNvSpPr txBox="1"/>
          <p:nvPr/>
        </p:nvSpPr>
        <p:spPr>
          <a:xfrm>
            <a:off x="428596" y="1571612"/>
            <a:ext cx="8215370" cy="1077218"/>
          </a:xfrm>
          <a:prstGeom prst="rect">
            <a:avLst/>
          </a:prstGeom>
          <a:noFill/>
        </p:spPr>
        <p:txBody>
          <a:bodyPr>
            <a:spAutoFit/>
            <a:scene3d>
              <a:camera prst="orthographicFront"/>
              <a:lightRig rig="threePt" dir="t"/>
            </a:scene3d>
            <a:sp3d extrusionH="57150">
              <a:bevelT w="38100" h="38100"/>
            </a:sp3d>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2 Marcador de contenido"/>
          <p:cNvSpPr>
            <a:spLocks noGrp="1"/>
          </p:cNvSpPr>
          <p:nvPr>
            <p:ph idx="1"/>
          </p:nvPr>
        </p:nvSpPr>
        <p:spPr>
          <a:xfrm>
            <a:off x="285750" y="3000375"/>
            <a:ext cx="8229600" cy="3168650"/>
          </a:xfrm>
        </p:spPr>
        <p:txBody>
          <a:bodyPr/>
          <a:lstStyle/>
          <a:p>
            <a:pPr>
              <a:buFont typeface="Arial" charset="0"/>
              <a:buNone/>
              <a:defRPr/>
            </a:pPr>
            <a:endParaRPr lang="es-CO" dirty="0" smtClean="0"/>
          </a:p>
          <a:p>
            <a:pPr algn="just">
              <a:defRPr/>
            </a:pPr>
            <a:r>
              <a:rPr lang="es-CO" sz="2700" dirty="0" smtClean="0">
                <a:solidFill>
                  <a:schemeClr val="accent1">
                    <a:lumMod val="50000"/>
                  </a:schemeClr>
                </a:solidFill>
                <a:latin typeface="Berlin Sans FB" pitchFamily="34" charset="0"/>
              </a:rPr>
              <a:t>CONCENTRACION</a:t>
            </a:r>
          </a:p>
          <a:p>
            <a:pPr algn="just">
              <a:buFont typeface="Arial" charset="0"/>
              <a:buNone/>
              <a:defRPr/>
            </a:pPr>
            <a:endParaRPr lang="es-CO" sz="2700" dirty="0" smtClean="0">
              <a:latin typeface="Berlin Sans FB" pitchFamily="34" charset="0"/>
            </a:endParaRPr>
          </a:p>
          <a:p>
            <a:pPr algn="just">
              <a:buFont typeface="Arial" charset="0"/>
              <a:buNone/>
              <a:defRPr/>
            </a:pPr>
            <a:r>
              <a:rPr lang="es-CO" sz="2700" dirty="0" smtClean="0">
                <a:solidFill>
                  <a:srgbClr val="002060"/>
                </a:solidFill>
                <a:latin typeface="Berlin Sans FB" pitchFamily="34" charset="0"/>
              </a:rPr>
              <a:t>     Se da cuando una empresa decide especializarse en producir, vender o comercializar un solo producto o servicio. </a:t>
            </a:r>
          </a:p>
          <a:p>
            <a:pPr>
              <a:buFont typeface="Arial" charset="0"/>
              <a:buNone/>
              <a:defRPr/>
            </a:pPr>
            <a:endParaRPr lang="es-CO" dirty="0" smtClean="0"/>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Rectángulo"/>
          <p:cNvSpPr/>
          <p:nvPr/>
        </p:nvSpPr>
        <p:spPr>
          <a:xfrm>
            <a:off x="1571625" y="1357313"/>
            <a:ext cx="6500813" cy="1077912"/>
          </a:xfrm>
          <a:prstGeom prst="rect">
            <a:avLst/>
          </a:prstGeom>
        </p:spPr>
        <p:txBody>
          <a:bodyPr>
            <a:spAutoFit/>
          </a:bodyPr>
          <a:lstStyle/>
          <a:p>
            <a:pPr algn="ctr">
              <a:defRPr/>
            </a:pPr>
            <a:r>
              <a:rPr lang="es-AR" sz="32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2 Marcador de contenido"/>
          <p:cNvSpPr>
            <a:spLocks noGrp="1"/>
          </p:cNvSpPr>
          <p:nvPr>
            <p:ph idx="1"/>
          </p:nvPr>
        </p:nvSpPr>
        <p:spPr>
          <a:xfrm>
            <a:off x="457200" y="1428750"/>
            <a:ext cx="8229600" cy="4697413"/>
          </a:xfrm>
        </p:spPr>
        <p:txBody>
          <a:bodyPr/>
          <a:lstStyle/>
          <a:p>
            <a:pPr algn="ctr">
              <a:buFont typeface="Arial" charset="0"/>
              <a:buNone/>
              <a:defRPr/>
            </a:pPr>
            <a:r>
              <a:rPr lang="es-CO" dirty="0" smtClean="0"/>
              <a:t>  </a:t>
            </a: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p>
          <a:p>
            <a:pPr>
              <a:buFont typeface="Arial" charset="0"/>
              <a:buNone/>
              <a:defRPr/>
            </a:pPr>
            <a:endParaRPr lang="es-CO" dirty="0" smtClean="0">
              <a:latin typeface="Berlin Sans FB Demi" pitchFamily="34" charset="0"/>
            </a:endParaRPr>
          </a:p>
          <a:p>
            <a:pPr algn="just">
              <a:defRPr/>
            </a:pPr>
            <a:r>
              <a:rPr lang="es-CO" sz="2700" dirty="0" smtClean="0">
                <a:solidFill>
                  <a:schemeClr val="accent1">
                    <a:lumMod val="50000"/>
                  </a:schemeClr>
                </a:solidFill>
                <a:latin typeface="Berlin Sans FB" pitchFamily="34" charset="0"/>
              </a:rPr>
              <a:t>DIVERSIFICACIÓN CONCÉNTRICA</a:t>
            </a:r>
            <a:endParaRPr lang="es-AR" sz="2700" dirty="0" smtClean="0">
              <a:solidFill>
                <a:schemeClr val="accent1">
                  <a:lumMod val="5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just">
              <a:buFont typeface="Arial" charset="0"/>
              <a:buNone/>
              <a:defRPr/>
            </a:pPr>
            <a:r>
              <a:rPr lang="es-CO" sz="2700" dirty="0" smtClean="0">
                <a:solidFill>
                  <a:schemeClr val="accent1">
                    <a:lumMod val="50000"/>
                  </a:schemeClr>
                </a:solidFill>
                <a:latin typeface="Berlin Sans FB" pitchFamily="34" charset="0"/>
              </a:rPr>
              <a:t>    </a:t>
            </a:r>
          </a:p>
          <a:p>
            <a:pPr algn="just">
              <a:buFont typeface="Arial" charset="0"/>
              <a:buNone/>
              <a:defRPr/>
            </a:pPr>
            <a:r>
              <a:rPr lang="es-CO" sz="2700" dirty="0" smtClean="0">
                <a:solidFill>
                  <a:schemeClr val="accent1">
                    <a:lumMod val="50000"/>
                  </a:schemeClr>
                </a:solidFill>
                <a:latin typeface="Berlin Sans FB" pitchFamily="34" charset="0"/>
              </a:rPr>
              <a:t>    Este caso se presenta cuando una firma decide complementar su negocio produciendo u ofreciendo productos y servicios  relacionados con su especialización primaria. </a:t>
            </a:r>
          </a:p>
        </p:txBody>
      </p:sp>
      <p:sp>
        <p:nvSpPr>
          <p:cNvPr id="4" name="3 CuadroTexto"/>
          <p:cNvSpPr txBox="1"/>
          <p:nvPr/>
        </p:nvSpPr>
        <p:spPr>
          <a:xfrm>
            <a:off x="0" y="357166"/>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2 Subtítulo"/>
          <p:cNvSpPr>
            <a:spLocks noGrp="1"/>
          </p:cNvSpPr>
          <p:nvPr>
            <p:ph type="subTitle" idx="1"/>
          </p:nvPr>
        </p:nvSpPr>
        <p:spPr>
          <a:xfrm>
            <a:off x="285750" y="2286000"/>
            <a:ext cx="8858250" cy="3352800"/>
          </a:xfrm>
        </p:spPr>
        <p:txBody>
          <a:bodyPr/>
          <a:lstStyle/>
          <a:p>
            <a:pPr algn="just">
              <a:defRPr/>
            </a:pPr>
            <a:endParaRPr lang="es-ES" sz="2700" dirty="0" smtClean="0">
              <a:solidFill>
                <a:schemeClr val="tx1"/>
              </a:solidFill>
              <a:latin typeface="Berlin Sans FB" pitchFamily="34" charset="0"/>
            </a:endParaRPr>
          </a:p>
          <a:p>
            <a:pPr algn="just">
              <a:buFont typeface="Arial" pitchFamily="34" charset="0"/>
              <a:buChar char="•"/>
              <a:defRPr/>
            </a:pPr>
            <a:r>
              <a:rPr lang="es-ES" sz="2700" dirty="0" smtClean="0">
                <a:solidFill>
                  <a:schemeClr val="tx1"/>
                </a:solidFill>
                <a:latin typeface="Berlin Sans FB" pitchFamily="34" charset="0"/>
              </a:rPr>
              <a:t> </a:t>
            </a:r>
            <a:r>
              <a:rPr lang="es-ES" sz="2700" dirty="0" smtClean="0">
                <a:solidFill>
                  <a:schemeClr val="accent1">
                    <a:lumMod val="50000"/>
                  </a:schemeClr>
                </a:solidFill>
                <a:latin typeface="Berlin Sans FB" pitchFamily="34" charset="0"/>
              </a:rPr>
              <a:t>INTEGRACION VERTICAL</a:t>
            </a:r>
          </a:p>
          <a:p>
            <a:pPr algn="just">
              <a:defRPr/>
            </a:pPr>
            <a:r>
              <a:rPr lang="es-ES" sz="2700" dirty="0" smtClean="0">
                <a:solidFill>
                  <a:schemeClr val="accent1">
                    <a:lumMod val="50000"/>
                  </a:schemeClr>
                </a:solidFill>
                <a:latin typeface="Berlin Sans FB" pitchFamily="34" charset="0"/>
              </a:rPr>
              <a:t>Se da cuando una empresa decide agregar una etapa a su proceso de producción o de servicio.</a:t>
            </a:r>
          </a:p>
          <a:p>
            <a:pPr algn="just">
              <a:defRPr/>
            </a:pPr>
            <a:endParaRPr lang="es-ES" sz="2700" dirty="0" smtClean="0">
              <a:solidFill>
                <a:schemeClr val="accent1">
                  <a:lumMod val="50000"/>
                </a:schemeClr>
              </a:solidFill>
              <a:latin typeface="Berlin Sans FB" pitchFamily="34" charset="0"/>
            </a:endParaRPr>
          </a:p>
          <a:p>
            <a:pPr algn="just">
              <a:defRPr/>
            </a:pPr>
            <a:r>
              <a:rPr lang="es-ES" sz="2700" dirty="0" smtClean="0">
                <a:solidFill>
                  <a:schemeClr val="accent1">
                    <a:lumMod val="50000"/>
                  </a:schemeClr>
                </a:solidFill>
                <a:latin typeface="Berlin Sans FB" pitchFamily="34" charset="0"/>
              </a:rPr>
              <a:t>Puede ser hacia atrás (antes de sacar un producto); o hacia adelante (después de producir el articulo). </a:t>
            </a:r>
          </a:p>
        </p:txBody>
      </p:sp>
      <p:sp>
        <p:nvSpPr>
          <p:cNvPr id="4" name="3 Rectángulo"/>
          <p:cNvSpPr/>
          <p:nvPr/>
        </p:nvSpPr>
        <p:spPr>
          <a:xfrm>
            <a:off x="0" y="785813"/>
            <a:ext cx="8858250" cy="1384300"/>
          </a:xfrm>
          <a:prstGeom prst="rect">
            <a:avLst/>
          </a:prstGeom>
        </p:spPr>
        <p:txBody>
          <a:bodyPr>
            <a:spAutoFit/>
          </a:bodyPr>
          <a:lstStyle/>
          <a:p>
            <a:pPr algn="ctr">
              <a:defRPr/>
            </a:pPr>
            <a:endParaRPr lang="es-AR" sz="28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endParaRPr>
          </a:p>
          <a:p>
            <a:pPr algn="ctr">
              <a:defRPr/>
            </a:pPr>
            <a:r>
              <a:rPr lang="es-AR" sz="28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a:t>
            </a:r>
            <a:r>
              <a:rPr lang="es-AR" sz="28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ESTRATÉGIAS OFENSIVAS O DE CRECIMIENTO</a:t>
            </a:r>
          </a:p>
        </p:txBody>
      </p:sp>
      <p:sp>
        <p:nvSpPr>
          <p:cNvPr id="5" name="4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Título"/>
          <p:cNvSpPr>
            <a:spLocks noGrp="1"/>
          </p:cNvSpPr>
          <p:nvPr>
            <p:ph type="title"/>
          </p:nvPr>
        </p:nvSpPr>
        <p:spPr>
          <a:xfrm flipV="1">
            <a:off x="457200" y="1143000"/>
            <a:ext cx="8229600" cy="1285875"/>
          </a:xfrm>
        </p:spPr>
        <p:txBody>
          <a:bodyPr/>
          <a:lstStyle/>
          <a:p>
            <a:r>
              <a:rPr lang="es-ES" sz="4000" smtClean="0">
                <a:latin typeface="Berlin Sans FB Demi" pitchFamily="34" charset="0"/>
              </a:rPr>
              <a:t/>
            </a:r>
            <a:br>
              <a:rPr lang="es-ES" sz="4000" smtClean="0">
                <a:latin typeface="Berlin Sans FB Demi" pitchFamily="34" charset="0"/>
              </a:rPr>
            </a:br>
            <a:r>
              <a:rPr lang="es-ES" sz="4000" smtClean="0">
                <a:latin typeface="Berlin Sans FB Demi" pitchFamily="34" charset="0"/>
              </a:rPr>
              <a:t/>
            </a:r>
            <a:br>
              <a:rPr lang="es-ES" sz="4000" smtClean="0">
                <a:latin typeface="Berlin Sans FB Demi" pitchFamily="34" charset="0"/>
              </a:rPr>
            </a:br>
            <a:r>
              <a:rPr lang="es-ES" sz="4000" smtClean="0">
                <a:latin typeface="Berlin Sans FB Demi" pitchFamily="34" charset="0"/>
              </a:rPr>
              <a:t/>
            </a:r>
            <a:br>
              <a:rPr lang="es-ES" sz="4000" smtClean="0">
                <a:latin typeface="Berlin Sans FB Demi" pitchFamily="34" charset="0"/>
              </a:rPr>
            </a:br>
            <a:r>
              <a:rPr lang="es-ES" sz="4000" smtClean="0">
                <a:latin typeface="Berlin Sans FB Demi" pitchFamily="34" charset="0"/>
              </a:rPr>
              <a:t/>
            </a:r>
            <a:br>
              <a:rPr lang="es-ES" sz="4000" smtClean="0">
                <a:latin typeface="Berlin Sans FB Demi" pitchFamily="34" charset="0"/>
              </a:rPr>
            </a:br>
            <a:endParaRPr lang="es-ES" sz="4000" smtClean="0">
              <a:latin typeface="Berlin Sans FB Demi" pitchFamily="34" charset="0"/>
            </a:endParaRPr>
          </a:p>
        </p:txBody>
      </p:sp>
      <p:sp>
        <p:nvSpPr>
          <p:cNvPr id="58371" name="2 Marcador de contenido"/>
          <p:cNvSpPr>
            <a:spLocks noGrp="1"/>
          </p:cNvSpPr>
          <p:nvPr>
            <p:ph idx="1"/>
          </p:nvPr>
        </p:nvSpPr>
        <p:spPr>
          <a:xfrm>
            <a:off x="500063" y="2714625"/>
            <a:ext cx="8229600" cy="3454400"/>
          </a:xfrm>
        </p:spPr>
        <p:txBody>
          <a:bodyPr/>
          <a:lstStyle/>
          <a:p>
            <a:pPr algn="just">
              <a:defRPr/>
            </a:pPr>
            <a:r>
              <a:rPr lang="es-ES" sz="2700" dirty="0" smtClean="0">
                <a:solidFill>
                  <a:schemeClr val="accent1">
                    <a:lumMod val="50000"/>
                  </a:schemeClr>
                </a:solidFill>
                <a:latin typeface="Berlin Sans FB" pitchFamily="34" charset="0"/>
              </a:rPr>
              <a:t>DIVERSIFICACION DE CONGLOMERADO</a:t>
            </a:r>
          </a:p>
          <a:p>
            <a:pPr algn="just">
              <a:buFont typeface="Arial" charset="0"/>
              <a:buNone/>
              <a:defRPr/>
            </a:pPr>
            <a:endParaRPr lang="es-ES" sz="2700" dirty="0" smtClean="0">
              <a:solidFill>
                <a:schemeClr val="accent1">
                  <a:lumMod val="50000"/>
                </a:schemeClr>
              </a:solidFill>
              <a:latin typeface="Berlin Sans FB" pitchFamily="34" charset="0"/>
            </a:endParaRPr>
          </a:p>
          <a:p>
            <a:pPr algn="just">
              <a:buFont typeface="Arial" charset="0"/>
              <a:buNone/>
              <a:defRPr/>
            </a:pPr>
            <a:r>
              <a:rPr lang="es-ES" sz="2700" dirty="0" smtClean="0">
                <a:solidFill>
                  <a:schemeClr val="accent1">
                    <a:lumMod val="50000"/>
                  </a:schemeClr>
                </a:solidFill>
                <a:latin typeface="Berlin Sans FB" pitchFamily="34" charset="0"/>
              </a:rPr>
              <a:t>   Se da cuando una firma especializada decide entrar en nuevas líneas de productos o servicios no relacionados con su primera actividad.</a:t>
            </a:r>
          </a:p>
        </p:txBody>
      </p:sp>
      <p:sp>
        <p:nvSpPr>
          <p:cNvPr id="4" name="3 Rectángulo"/>
          <p:cNvSpPr/>
          <p:nvPr/>
        </p:nvSpPr>
        <p:spPr>
          <a:xfrm>
            <a:off x="285750" y="1214438"/>
            <a:ext cx="8286750" cy="954087"/>
          </a:xfrm>
          <a:prstGeom prst="rect">
            <a:avLst/>
          </a:prstGeom>
        </p:spPr>
        <p:txBody>
          <a:bodyPr>
            <a:spAutoFit/>
          </a:bodyPr>
          <a:lstStyle/>
          <a:p>
            <a:pPr algn="ctr">
              <a:defRPr/>
            </a:pPr>
            <a:r>
              <a:rPr lang="es-AR" sz="2800" b="1" dirty="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p>
        </p:txBody>
      </p:sp>
      <p:sp>
        <p:nvSpPr>
          <p:cNvPr id="5" name="4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Título"/>
          <p:cNvSpPr>
            <a:spLocks noGrp="1"/>
          </p:cNvSpPr>
          <p:nvPr>
            <p:ph type="title"/>
          </p:nvPr>
        </p:nvSpPr>
        <p:spPr>
          <a:xfrm>
            <a:off x="457200" y="928688"/>
            <a:ext cx="8229600" cy="1428750"/>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
            </a:r>
            <a:b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b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endParaRPr lang="es-ES" dirty="0" smtClean="0">
              <a:latin typeface="Berlin Sans FB Demi" pitchFamily="34" charset="0"/>
            </a:endParaRPr>
          </a:p>
        </p:txBody>
      </p:sp>
      <p:sp>
        <p:nvSpPr>
          <p:cNvPr id="59395" name="2 Marcador de contenido"/>
          <p:cNvSpPr>
            <a:spLocks noGrp="1"/>
          </p:cNvSpPr>
          <p:nvPr>
            <p:ph idx="1"/>
          </p:nvPr>
        </p:nvSpPr>
        <p:spPr>
          <a:xfrm>
            <a:off x="457200" y="2714625"/>
            <a:ext cx="8229600" cy="3411538"/>
          </a:xfrm>
        </p:spPr>
        <p:txBody>
          <a:bodyPr/>
          <a:lstStyle/>
          <a:p>
            <a:pPr algn="ctr">
              <a:buFont typeface="Arial" charset="0"/>
              <a:buNone/>
              <a:defRPr/>
            </a:pPr>
            <a:endParaRPr lang="es-ES" dirty="0" smtClean="0">
              <a:latin typeface="Berlin Sans FB" pitchFamily="34" charset="0"/>
            </a:endParaRPr>
          </a:p>
          <a:p>
            <a:pPr algn="just">
              <a:defRPr/>
            </a:pPr>
            <a:r>
              <a:rPr lang="es-ES" sz="2700" dirty="0" smtClean="0">
                <a:solidFill>
                  <a:schemeClr val="accent1">
                    <a:lumMod val="50000"/>
                  </a:schemeClr>
                </a:solidFill>
                <a:latin typeface="Berlin Sans FB" pitchFamily="34" charset="0"/>
              </a:rPr>
              <a:t>FUSIONES</a:t>
            </a:r>
          </a:p>
          <a:p>
            <a:pPr algn="just">
              <a:buFont typeface="Arial" charset="0"/>
              <a:buNone/>
              <a:defRPr/>
            </a:pPr>
            <a:endParaRPr lang="es-ES" sz="2700" dirty="0" smtClean="0">
              <a:solidFill>
                <a:schemeClr val="accent1">
                  <a:lumMod val="50000"/>
                </a:schemeClr>
              </a:solidFill>
              <a:latin typeface="Berlin Sans FB" pitchFamily="34" charset="0"/>
            </a:endParaRPr>
          </a:p>
          <a:p>
            <a:pPr algn="just">
              <a:buFont typeface="Arial" charset="0"/>
              <a:buNone/>
              <a:defRPr/>
            </a:pPr>
            <a:r>
              <a:rPr lang="es-ES" sz="2700" dirty="0" smtClean="0">
                <a:solidFill>
                  <a:schemeClr val="accent1">
                    <a:lumMod val="50000"/>
                  </a:schemeClr>
                </a:solidFill>
                <a:latin typeface="Berlin Sans FB" pitchFamily="34" charset="0"/>
              </a:rPr>
              <a:t>    La fusión es la combinación de operaciones de dos empresas en una sola.</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Título"/>
          <p:cNvSpPr>
            <a:spLocks noGrp="1"/>
          </p:cNvSpPr>
          <p:nvPr>
            <p:ph type="title"/>
          </p:nvPr>
        </p:nvSpPr>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
            </a:r>
            <a:b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br>
            <a:endParaRPr lang="es-ES" dirty="0" smtClean="0">
              <a:latin typeface="Berlin Sans FB Demi" pitchFamily="34" charset="0"/>
            </a:endParaRPr>
          </a:p>
        </p:txBody>
      </p:sp>
      <p:sp>
        <p:nvSpPr>
          <p:cNvPr id="60419" name="2 Marcador de contenido"/>
          <p:cNvSpPr>
            <a:spLocks noGrp="1"/>
          </p:cNvSpPr>
          <p:nvPr>
            <p:ph idx="1"/>
          </p:nvPr>
        </p:nvSpPr>
        <p:spPr>
          <a:xfrm>
            <a:off x="457200" y="0"/>
            <a:ext cx="8229600" cy="6126163"/>
          </a:xfrm>
        </p:spPr>
        <p:txBody>
          <a:bodyPr/>
          <a:lstStyle/>
          <a:p>
            <a:pPr>
              <a:buFont typeface="Arial" charset="0"/>
              <a:buNone/>
              <a:defRPr/>
            </a:pPr>
            <a:endParaRPr lang="es-ES" dirty="0" smtClean="0"/>
          </a:p>
          <a:p>
            <a:pPr>
              <a:defRPr/>
            </a:pPr>
            <a:endParaRPr lang="es-ES" dirty="0" smtClean="0">
              <a:latin typeface="Berlin Sans FB" pitchFamily="34" charset="0"/>
            </a:endParaRPr>
          </a:p>
          <a:p>
            <a:pPr>
              <a:buFont typeface="Arial" charset="0"/>
              <a:buNone/>
              <a:defRPr/>
            </a:pPr>
            <a:endParaRPr lang="es-ES" dirty="0" smtClean="0">
              <a:latin typeface="Berlin Sans FB" pitchFamily="34" charset="0"/>
            </a:endParaRPr>
          </a:p>
          <a:p>
            <a:pPr>
              <a:buFont typeface="Arial" charset="0"/>
              <a:buNone/>
              <a:defRPr/>
            </a:pPr>
            <a:endParaRPr lang="es-ES" dirty="0" smtClean="0">
              <a:latin typeface="Berlin Sans FB" pitchFamily="34" charset="0"/>
            </a:endParaRPr>
          </a:p>
          <a:p>
            <a:pPr>
              <a:buFont typeface="Arial" charset="0"/>
              <a:buNone/>
              <a:defRPr/>
            </a:pPr>
            <a:endParaRPr lang="es-ES" dirty="0" smtClean="0">
              <a:latin typeface="Berlin Sans FB" pitchFamily="34" charset="0"/>
            </a:endParaRPr>
          </a:p>
          <a:p>
            <a:pPr>
              <a:defRPr/>
            </a:pPr>
            <a:r>
              <a:rPr lang="es-ES" sz="2700" dirty="0" smtClean="0">
                <a:solidFill>
                  <a:schemeClr val="accent1">
                    <a:lumMod val="50000"/>
                  </a:schemeClr>
                </a:solidFill>
                <a:latin typeface="Berlin Sans FB" pitchFamily="34" charset="0"/>
              </a:rPr>
              <a:t>ADQUISICIONES</a:t>
            </a:r>
          </a:p>
          <a:p>
            <a:pPr>
              <a:buFont typeface="Arial" charset="0"/>
              <a:buNone/>
              <a:defRPr/>
            </a:pPr>
            <a:endParaRPr lang="es-ES" sz="2700" dirty="0" smtClean="0">
              <a:solidFill>
                <a:schemeClr val="accent1">
                  <a:lumMod val="50000"/>
                </a:schemeClr>
              </a:solidFill>
              <a:latin typeface="Berlin Sans FB" pitchFamily="34" charset="0"/>
            </a:endParaRPr>
          </a:p>
          <a:p>
            <a:pPr algn="just">
              <a:buFont typeface="Arial" charset="0"/>
              <a:buNone/>
              <a:defRPr/>
            </a:pPr>
            <a:r>
              <a:rPr lang="es-ES" sz="2700" dirty="0" smtClean="0">
                <a:solidFill>
                  <a:schemeClr val="accent1">
                    <a:lumMod val="50000"/>
                  </a:schemeClr>
                </a:solidFill>
                <a:latin typeface="Berlin Sans FB" pitchFamily="34" charset="0"/>
              </a:rPr>
              <a:t>    Es la compra que una compañía hace de otra, pero deja que la firma adquirida opere como empresa independiente de la adquiriente</a:t>
            </a:r>
            <a:r>
              <a:rPr lang="es-ES" sz="2700" dirty="0" smtClean="0">
                <a:solidFill>
                  <a:schemeClr val="accent1">
                    <a:lumMod val="50000"/>
                  </a:schemeClr>
                </a:solidFill>
              </a:rPr>
              <a:t>.</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Título"/>
          <p:cNvSpPr>
            <a:spLocks noGrp="1"/>
          </p:cNvSpPr>
          <p:nvPr>
            <p:ph type="title"/>
          </p:nvPr>
        </p:nvSpPr>
        <p:spPr>
          <a:xfrm>
            <a:off x="457200" y="714375"/>
            <a:ext cx="8229600" cy="1785938"/>
          </a:xfrm>
        </p:spPr>
        <p:txBody>
          <a:bodyPr/>
          <a:lstStyle/>
          <a:p>
            <a:pPr>
              <a:defRPr/>
            </a:pP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ES" sz="2800" dirty="0" smtClean="0">
                <a:latin typeface="Berlin Sans FB Demi" pitchFamily="34" charset="0"/>
              </a:rPr>
              <a:t/>
            </a:r>
            <a:br>
              <a:rPr lang="es-ES" sz="2800" dirty="0" smtClean="0">
                <a:latin typeface="Berlin Sans FB Demi" pitchFamily="34" charset="0"/>
              </a:rPr>
            </a:br>
            <a: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b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b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endParaRPr lang="es-ES" dirty="0" smtClean="0">
              <a:latin typeface="Berlin Sans FB Demi" pitchFamily="34" charset="0"/>
            </a:endParaRPr>
          </a:p>
        </p:txBody>
      </p:sp>
      <p:sp>
        <p:nvSpPr>
          <p:cNvPr id="61443" name="2 Marcador de contenido"/>
          <p:cNvSpPr>
            <a:spLocks noGrp="1"/>
          </p:cNvSpPr>
          <p:nvPr>
            <p:ph idx="1"/>
          </p:nvPr>
        </p:nvSpPr>
        <p:spPr>
          <a:xfrm>
            <a:off x="457200" y="2071688"/>
            <a:ext cx="8229600" cy="4054475"/>
          </a:xfrm>
        </p:spPr>
        <p:txBody>
          <a:bodyPr/>
          <a:lstStyle/>
          <a:p>
            <a:pPr algn="ctr">
              <a:buFont typeface="Arial" charset="0"/>
              <a:buNone/>
              <a:defRPr/>
            </a:pPr>
            <a:r>
              <a:rPr lang="es-ES" dirty="0" smtClean="0">
                <a:solidFill>
                  <a:schemeClr val="accent1">
                    <a:lumMod val="50000"/>
                  </a:schemeClr>
                </a:solidFill>
              </a:rPr>
              <a:t> </a:t>
            </a:r>
          </a:p>
          <a:p>
            <a:pPr algn="just">
              <a:defRPr/>
            </a:pPr>
            <a:r>
              <a:rPr lang="es-ES" dirty="0" smtClean="0">
                <a:solidFill>
                  <a:schemeClr val="accent1">
                    <a:lumMod val="50000"/>
                  </a:schemeClr>
                </a:solidFill>
              </a:rPr>
              <a:t>  </a:t>
            </a:r>
            <a:r>
              <a:rPr lang="es-ES" sz="2700" dirty="0" smtClean="0">
                <a:solidFill>
                  <a:schemeClr val="accent1">
                    <a:lumMod val="50000"/>
                  </a:schemeClr>
                </a:solidFill>
                <a:latin typeface="Berlin Sans FB" pitchFamily="34" charset="0"/>
              </a:rPr>
              <a:t>OPERACIONES CONJUNTAS</a:t>
            </a:r>
          </a:p>
          <a:p>
            <a:pPr algn="just">
              <a:buFont typeface="Arial" charset="0"/>
              <a:buNone/>
              <a:defRPr/>
            </a:pPr>
            <a:r>
              <a:rPr lang="es-ES" sz="2700" dirty="0" smtClean="0">
                <a:solidFill>
                  <a:schemeClr val="accent1">
                    <a:lumMod val="50000"/>
                  </a:schemeClr>
                </a:solidFill>
                <a:latin typeface="Berlin Sans FB" pitchFamily="34" charset="0"/>
              </a:rPr>
              <a:t> </a:t>
            </a:r>
          </a:p>
          <a:p>
            <a:pPr algn="just">
              <a:buFont typeface="Arial" charset="0"/>
              <a:buNone/>
              <a:defRPr/>
            </a:pPr>
            <a:r>
              <a:rPr lang="es-ES" sz="2700" dirty="0" smtClean="0">
                <a:solidFill>
                  <a:schemeClr val="accent1">
                    <a:lumMod val="50000"/>
                  </a:schemeClr>
                </a:solidFill>
                <a:latin typeface="Berlin Sans FB" pitchFamily="34" charset="0"/>
              </a:rPr>
              <a:t>    Dos o mas empresas se unen para realizar un proyecto que ninguna de ellas podría hacer independientemente.</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357188" y="714375"/>
            <a:ext cx="8229600" cy="1500188"/>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AR" sz="2800"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4.2.1  ESTRATÉGIAS OFENSIVAS O DE CRECIMIENTO</a:t>
            </a:r>
            <a: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t/>
            </a:r>
            <a:br>
              <a:rPr lang="es-AR" b="1" dirty="0" smtClean="0">
                <a:solidFill>
                  <a:schemeClr val="accent1">
                    <a:lumMod val="60000"/>
                    <a:lumOff val="40000"/>
                  </a:schemeClr>
                </a:solidFill>
                <a:effectLst>
                  <a:glow rad="101600">
                    <a:srgbClr val="002060">
                      <a:alpha val="60000"/>
                    </a:srgbClr>
                  </a:glow>
                  <a:outerShdw blurRad="38100" dist="38100" dir="2700000" algn="tl">
                    <a:srgbClr val="000000">
                      <a:alpha val="43137"/>
                    </a:srgbClr>
                  </a:outerShdw>
                </a:effectLst>
                <a:latin typeface="Berlin Sans FB" pitchFamily="34" charset="0"/>
              </a:rPr>
            </a:br>
            <a:r>
              <a:rPr lang="es-ES" dirty="0" smtClean="0">
                <a:latin typeface="Berlin Sans FB Demi" pitchFamily="34" charset="0"/>
              </a:rPr>
              <a:t/>
            </a:r>
            <a:br>
              <a:rPr lang="es-ES" dirty="0" smtClean="0">
                <a:latin typeface="Berlin Sans FB Demi" pitchFamily="34" charset="0"/>
              </a:rPr>
            </a:br>
            <a:endParaRPr lang="es-ES" dirty="0" smtClean="0"/>
          </a:p>
        </p:txBody>
      </p:sp>
      <p:sp>
        <p:nvSpPr>
          <p:cNvPr id="62467" name="2 Marcador de contenido"/>
          <p:cNvSpPr>
            <a:spLocks noGrp="1"/>
          </p:cNvSpPr>
          <p:nvPr>
            <p:ph idx="1"/>
          </p:nvPr>
        </p:nvSpPr>
        <p:spPr>
          <a:xfrm>
            <a:off x="500063" y="2214563"/>
            <a:ext cx="8229600" cy="3954462"/>
          </a:xfrm>
        </p:spPr>
        <p:txBody>
          <a:bodyPr/>
          <a:lstStyle/>
          <a:p>
            <a:pPr>
              <a:buFont typeface="Arial" charset="0"/>
              <a:buNone/>
              <a:defRPr/>
            </a:pPr>
            <a:endParaRPr lang="es-ES" sz="2700" dirty="0" smtClean="0">
              <a:solidFill>
                <a:schemeClr val="accent1">
                  <a:lumMod val="50000"/>
                </a:schemeClr>
              </a:solidFill>
              <a:latin typeface="Berlin Sans FB" pitchFamily="34" charset="0"/>
            </a:endParaRPr>
          </a:p>
          <a:p>
            <a:pPr algn="just">
              <a:defRPr/>
            </a:pPr>
            <a:r>
              <a:rPr lang="es-ES" sz="2700" dirty="0" smtClean="0">
                <a:solidFill>
                  <a:schemeClr val="accent1">
                    <a:lumMod val="50000"/>
                  </a:schemeClr>
                </a:solidFill>
                <a:latin typeface="Berlin Sans FB" pitchFamily="34" charset="0"/>
              </a:rPr>
              <a:t> INNOVACION</a:t>
            </a:r>
          </a:p>
          <a:p>
            <a:pPr algn="just">
              <a:buFont typeface="Arial" charset="0"/>
              <a:buNone/>
              <a:defRPr/>
            </a:pPr>
            <a:endParaRPr lang="es-ES" sz="2700" dirty="0" smtClean="0">
              <a:solidFill>
                <a:schemeClr val="accent1">
                  <a:lumMod val="50000"/>
                </a:schemeClr>
              </a:solidFill>
              <a:latin typeface="Berlin Sans FB" pitchFamily="34" charset="0"/>
            </a:endParaRPr>
          </a:p>
          <a:p>
            <a:pPr algn="just">
              <a:buFont typeface="Arial" charset="0"/>
              <a:buNone/>
              <a:defRPr/>
            </a:pPr>
            <a:r>
              <a:rPr lang="es-ES" sz="2700" dirty="0" smtClean="0">
                <a:solidFill>
                  <a:schemeClr val="accent1">
                    <a:lumMod val="50000"/>
                  </a:schemeClr>
                </a:solidFill>
                <a:latin typeface="Berlin Sans FB" pitchFamily="34" charset="0"/>
              </a:rPr>
              <a:t>   Búsqueda permanente de nuevos mercados,   nuevos productos. </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1 Título"/>
          <p:cNvSpPr>
            <a:spLocks noGrp="1"/>
          </p:cNvSpPr>
          <p:nvPr>
            <p:ph type="title"/>
          </p:nvPr>
        </p:nvSpPr>
        <p:spPr>
          <a:xfrm>
            <a:off x="457200" y="1071563"/>
            <a:ext cx="8229600" cy="1357312"/>
          </a:xfrm>
        </p:spPr>
        <p:txBody>
          <a:bodyPr/>
          <a:lstStyle/>
          <a:p>
            <a:pPr>
              <a:defRPr/>
            </a:pPr>
            <a:r>
              <a:rPr lang="es-ES" dirty="0" smtClean="0">
                <a:solidFill>
                  <a:schemeClr val="accent1">
                    <a:lumMod val="75000"/>
                  </a:schemeClr>
                </a:solidFill>
                <a:latin typeface="Berlin Sans FB Demi" pitchFamily="34" charset="0"/>
              </a:rPr>
              <a:t>4.2.2 Estrategias Defensivas</a:t>
            </a:r>
          </a:p>
        </p:txBody>
      </p:sp>
      <p:sp>
        <p:nvSpPr>
          <p:cNvPr id="64515" name="2 Marcador de contenido"/>
          <p:cNvSpPr>
            <a:spLocks noGrp="1"/>
          </p:cNvSpPr>
          <p:nvPr>
            <p:ph idx="1"/>
          </p:nvPr>
        </p:nvSpPr>
        <p:spPr>
          <a:xfrm>
            <a:off x="457200" y="2714625"/>
            <a:ext cx="8229600" cy="3411538"/>
          </a:xfrm>
        </p:spPr>
        <p:txBody>
          <a:bodyPr/>
          <a:lstStyle/>
          <a:p>
            <a:pPr algn="just">
              <a:defRPr/>
            </a:pPr>
            <a:r>
              <a:rPr lang="es-ES" dirty="0" smtClean="0">
                <a:solidFill>
                  <a:schemeClr val="accent1">
                    <a:lumMod val="50000"/>
                  </a:schemeClr>
                </a:solidFill>
                <a:latin typeface="Berlin Sans FB" pitchFamily="34" charset="0"/>
              </a:rPr>
              <a:t>Las estrategias defensivas se aplican en una empresa para anticipar los problemas y evitar las catástrofes que pueden afectar a una organización.</a:t>
            </a:r>
          </a:p>
          <a:p>
            <a:pPr algn="just">
              <a:defRPr/>
            </a:pPr>
            <a:endParaRPr lang="es-ES" dirty="0" smtClean="0">
              <a:solidFill>
                <a:schemeClr val="accent1">
                  <a:lumMod val="50000"/>
                </a:schemeClr>
              </a:solidFill>
              <a:latin typeface="Berlin Sans FB" pitchFamily="34" charset="0"/>
            </a:endParaRPr>
          </a:p>
          <a:p>
            <a:pPr algn="just">
              <a:defRPr/>
            </a:pPr>
            <a:r>
              <a:rPr lang="es-ES" dirty="0" smtClean="0">
                <a:solidFill>
                  <a:schemeClr val="accent1">
                    <a:lumMod val="50000"/>
                  </a:schemeClr>
                </a:solidFill>
                <a:latin typeface="Berlin Sans FB" pitchFamily="34" charset="0"/>
              </a:rPr>
              <a:t>Dentro de la gerencia estratégica se han definido cuatro a saber:</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Título"/>
          <p:cNvSpPr>
            <a:spLocks noGrp="1"/>
          </p:cNvSpPr>
          <p:nvPr>
            <p:ph type="title"/>
          </p:nvPr>
        </p:nvSpPr>
        <p:spPr>
          <a:xfrm>
            <a:off x="457200" y="785813"/>
            <a:ext cx="8229600" cy="1214437"/>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r>
              <a:rPr lang="es-ES" dirty="0" smtClean="0">
                <a:solidFill>
                  <a:schemeClr val="accent1">
                    <a:lumMod val="75000"/>
                  </a:schemeClr>
                </a:solidFill>
                <a:latin typeface="Berlin Sans FB Demi" pitchFamily="34" charset="0"/>
              </a:rPr>
              <a:t>4.2.2 Estrategias Defensivas</a:t>
            </a:r>
            <a:br>
              <a:rPr lang="es-ES" dirty="0" smtClean="0">
                <a:solidFill>
                  <a:schemeClr val="accent1">
                    <a:lumMod val="75000"/>
                  </a:schemeClr>
                </a:solidFill>
                <a:latin typeface="Berlin Sans FB Demi" pitchFamily="34" charset="0"/>
              </a:rPr>
            </a:br>
            <a:r>
              <a:rPr lang="es-ES" dirty="0" smtClean="0">
                <a:latin typeface="Berlin Sans FB Demi" pitchFamily="34" charset="0"/>
              </a:rPr>
              <a:t/>
            </a:r>
            <a:br>
              <a:rPr lang="es-ES" dirty="0" smtClean="0">
                <a:latin typeface="Berlin Sans FB Demi" pitchFamily="34" charset="0"/>
              </a:rPr>
            </a:br>
            <a:endParaRPr lang="es-ES" dirty="0" smtClean="0">
              <a:latin typeface="Berlin Sans FB Demi" pitchFamily="34" charset="0"/>
            </a:endParaRPr>
          </a:p>
        </p:txBody>
      </p:sp>
      <p:sp>
        <p:nvSpPr>
          <p:cNvPr id="65539" name="2 Marcador de contenido"/>
          <p:cNvSpPr>
            <a:spLocks noGrp="1"/>
          </p:cNvSpPr>
          <p:nvPr>
            <p:ph idx="1"/>
          </p:nvPr>
        </p:nvSpPr>
        <p:spPr>
          <a:xfrm>
            <a:off x="457200" y="2071688"/>
            <a:ext cx="8229600" cy="4054475"/>
          </a:xfrm>
        </p:spPr>
        <p:txBody>
          <a:bodyPr/>
          <a:lstStyle/>
          <a:p>
            <a:pPr>
              <a:defRPr/>
            </a:pPr>
            <a:endParaRPr lang="es-ES" dirty="0" smtClean="0"/>
          </a:p>
          <a:p>
            <a:pPr>
              <a:buFont typeface="Arial" charset="0"/>
              <a:buNone/>
              <a:defRPr/>
            </a:pPr>
            <a:endParaRPr lang="es-ES" dirty="0" smtClean="0">
              <a:solidFill>
                <a:schemeClr val="accent1">
                  <a:lumMod val="50000"/>
                </a:schemeClr>
              </a:solidFill>
            </a:endParaRPr>
          </a:p>
          <a:p>
            <a:pPr algn="just">
              <a:defRPr/>
            </a:pPr>
            <a:r>
              <a:rPr lang="es-ES" sz="2700" dirty="0" smtClean="0">
                <a:solidFill>
                  <a:schemeClr val="accent1">
                    <a:lumMod val="50000"/>
                  </a:schemeClr>
                </a:solidFill>
                <a:latin typeface="Berlin Sans FB" pitchFamily="34" charset="0"/>
              </a:rPr>
              <a:t>REDUCCION    </a:t>
            </a:r>
          </a:p>
          <a:p>
            <a:pPr algn="just">
              <a:defRPr/>
            </a:pPr>
            <a:endParaRPr lang="es-ES" sz="2700" dirty="0" smtClean="0">
              <a:solidFill>
                <a:schemeClr val="accent1">
                  <a:lumMod val="50000"/>
                </a:schemeClr>
              </a:solidFill>
              <a:latin typeface="Berlin Sans FB" pitchFamily="34" charset="0"/>
            </a:endParaRPr>
          </a:p>
          <a:p>
            <a:pPr algn="just">
              <a:buFont typeface="Arial" charset="0"/>
              <a:buNone/>
              <a:defRPr/>
            </a:pPr>
            <a:r>
              <a:rPr lang="es-ES" sz="2700" dirty="0" smtClean="0">
                <a:solidFill>
                  <a:schemeClr val="accent1">
                    <a:lumMod val="50000"/>
                  </a:schemeClr>
                </a:solidFill>
                <a:latin typeface="Berlin Sans FB" pitchFamily="34" charset="0"/>
              </a:rPr>
              <a:t>    Consiste en disminuir el numero o tamaño de las operaciones o de las actividades de una empresa para mejorar su productividad.</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1 Título"/>
          <p:cNvSpPr>
            <a:spLocks noGrp="1"/>
          </p:cNvSpPr>
          <p:nvPr>
            <p:ph type="title"/>
          </p:nvPr>
        </p:nvSpPr>
        <p:spPr>
          <a:xfrm>
            <a:off x="457200" y="785813"/>
            <a:ext cx="8229600" cy="928687"/>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r>
              <a:rPr lang="es-ES" dirty="0" smtClean="0">
                <a:solidFill>
                  <a:schemeClr val="accent1">
                    <a:lumMod val="75000"/>
                  </a:schemeClr>
                </a:solidFill>
                <a:latin typeface="Berlin Sans FB Demi" pitchFamily="34" charset="0"/>
              </a:rPr>
              <a:t>4.2.2 Estrategias Defensivas</a:t>
            </a:r>
            <a:br>
              <a:rPr lang="es-ES" dirty="0" smtClean="0">
                <a:solidFill>
                  <a:schemeClr val="accent1">
                    <a:lumMod val="75000"/>
                  </a:schemeClr>
                </a:solidFill>
                <a:latin typeface="Berlin Sans FB Demi" pitchFamily="34" charset="0"/>
              </a:rPr>
            </a:br>
            <a:r>
              <a:rPr lang="es-ES" dirty="0" smtClean="0">
                <a:solidFill>
                  <a:schemeClr val="accent1">
                    <a:lumMod val="75000"/>
                  </a:schemeClr>
                </a:solidFill>
                <a:latin typeface="Berlin Sans FB Demi" pitchFamily="34" charset="0"/>
              </a:rPr>
              <a:t/>
            </a:r>
            <a:br>
              <a:rPr lang="es-ES" dirty="0" smtClean="0">
                <a:solidFill>
                  <a:schemeClr val="accent1">
                    <a:lumMod val="75000"/>
                  </a:schemeClr>
                </a:solidFill>
                <a:latin typeface="Berlin Sans FB Demi" pitchFamily="34" charset="0"/>
              </a:rPr>
            </a:br>
            <a:r>
              <a:rPr lang="es-ES" dirty="0" smtClean="0">
                <a:latin typeface="Berlin Sans FB Demi" pitchFamily="34" charset="0"/>
              </a:rPr>
              <a:t/>
            </a:r>
            <a:br>
              <a:rPr lang="es-ES" dirty="0" smtClean="0">
                <a:latin typeface="Berlin Sans FB Demi" pitchFamily="34" charset="0"/>
              </a:rPr>
            </a:br>
            <a:endParaRPr lang="es-ES" dirty="0" smtClean="0">
              <a:latin typeface="Berlin Sans FB Demi" pitchFamily="34" charset="0"/>
            </a:endParaRPr>
          </a:p>
        </p:txBody>
      </p:sp>
      <p:sp>
        <p:nvSpPr>
          <p:cNvPr id="66563" name="2 Marcador de contenido"/>
          <p:cNvSpPr>
            <a:spLocks noGrp="1"/>
          </p:cNvSpPr>
          <p:nvPr>
            <p:ph idx="1"/>
          </p:nvPr>
        </p:nvSpPr>
        <p:spPr>
          <a:xfrm>
            <a:off x="357188" y="1928813"/>
            <a:ext cx="8229600" cy="4097337"/>
          </a:xfrm>
        </p:spPr>
        <p:txBody>
          <a:bodyPr/>
          <a:lstStyle/>
          <a:p>
            <a:pPr>
              <a:buFont typeface="Arial" charset="0"/>
              <a:buNone/>
              <a:defRPr/>
            </a:pPr>
            <a:endParaRPr lang="es-ES" dirty="0" smtClean="0">
              <a:solidFill>
                <a:schemeClr val="accent1">
                  <a:lumMod val="50000"/>
                </a:schemeClr>
              </a:solidFill>
              <a:latin typeface="Berlin Sans FB" pitchFamily="34" charset="0"/>
            </a:endParaRPr>
          </a:p>
          <a:p>
            <a:pPr algn="just">
              <a:defRPr/>
            </a:pPr>
            <a:r>
              <a:rPr lang="es-ES" dirty="0" smtClean="0">
                <a:solidFill>
                  <a:schemeClr val="accent1">
                    <a:lumMod val="50000"/>
                  </a:schemeClr>
                </a:solidFill>
                <a:latin typeface="Berlin Sans FB" pitchFamily="34" charset="0"/>
              </a:rPr>
              <a:t> </a:t>
            </a:r>
            <a:r>
              <a:rPr lang="es-ES" sz="2700" dirty="0" smtClean="0">
                <a:solidFill>
                  <a:schemeClr val="accent1">
                    <a:lumMod val="50000"/>
                  </a:schemeClr>
                </a:solidFill>
                <a:latin typeface="Berlin Sans FB" pitchFamily="34" charset="0"/>
              </a:rPr>
              <a:t>DESINVERSION</a:t>
            </a:r>
          </a:p>
          <a:p>
            <a:pPr algn="just">
              <a:buFont typeface="Arial" charset="0"/>
              <a:buNone/>
              <a:defRPr/>
            </a:pPr>
            <a:r>
              <a:rPr lang="es-ES" sz="2700" dirty="0" smtClean="0">
                <a:solidFill>
                  <a:schemeClr val="accent1">
                    <a:lumMod val="50000"/>
                  </a:schemeClr>
                </a:solidFill>
                <a:latin typeface="Berlin Sans FB" pitchFamily="34" charset="0"/>
              </a:rPr>
              <a:t> </a:t>
            </a:r>
          </a:p>
          <a:p>
            <a:pPr algn="just">
              <a:buFont typeface="Arial" charset="0"/>
              <a:buNone/>
              <a:defRPr/>
            </a:pPr>
            <a:r>
              <a:rPr lang="es-ES" sz="2700" dirty="0" smtClean="0">
                <a:solidFill>
                  <a:schemeClr val="accent1">
                    <a:lumMod val="50000"/>
                  </a:schemeClr>
                </a:solidFill>
                <a:latin typeface="Berlin Sans FB" pitchFamily="34" charset="0"/>
              </a:rPr>
              <a:t>   Se da cuando una organización cierra o vende parte de su operación para concentrarse en las tareas básicas derivadas de su misión.</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1 Título"/>
          <p:cNvSpPr>
            <a:spLocks noGrp="1"/>
          </p:cNvSpPr>
          <p:nvPr>
            <p:ph type="title"/>
          </p:nvPr>
        </p:nvSpPr>
        <p:spPr>
          <a:xfrm>
            <a:off x="457200" y="714375"/>
            <a:ext cx="8229600" cy="857250"/>
          </a:xfrm>
        </p:spPr>
        <p:txBody>
          <a:bodyPr/>
          <a:lstStyle/>
          <a:p>
            <a:pPr>
              <a:defRPr/>
            </a:pP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r>
              <a:rPr lang="es-ES" dirty="0" smtClean="0">
                <a:solidFill>
                  <a:schemeClr val="accent1">
                    <a:lumMod val="75000"/>
                  </a:schemeClr>
                </a:solidFill>
                <a:latin typeface="Berlin Sans FB Demi" pitchFamily="34" charset="0"/>
              </a:rPr>
              <a:t>4.2.2 Estrategias Defensivas</a:t>
            </a: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endParaRPr lang="es-ES" dirty="0" smtClean="0">
              <a:solidFill>
                <a:schemeClr val="accent1">
                  <a:lumMod val="50000"/>
                </a:schemeClr>
              </a:solidFill>
              <a:latin typeface="Berlin Sans FB Demi" pitchFamily="34" charset="0"/>
            </a:endParaRPr>
          </a:p>
        </p:txBody>
      </p:sp>
      <p:sp>
        <p:nvSpPr>
          <p:cNvPr id="67587" name="2 Marcador de contenido"/>
          <p:cNvSpPr>
            <a:spLocks noGrp="1"/>
          </p:cNvSpPr>
          <p:nvPr>
            <p:ph idx="1"/>
          </p:nvPr>
        </p:nvSpPr>
        <p:spPr>
          <a:xfrm>
            <a:off x="457200" y="1714500"/>
            <a:ext cx="8229600" cy="4411663"/>
          </a:xfrm>
        </p:spPr>
        <p:txBody>
          <a:bodyPr/>
          <a:lstStyle/>
          <a:p>
            <a:pPr>
              <a:buFont typeface="Arial" charset="0"/>
              <a:buNone/>
              <a:defRPr/>
            </a:pPr>
            <a:endParaRPr lang="es-ES" sz="2700" dirty="0" smtClean="0">
              <a:solidFill>
                <a:schemeClr val="accent1">
                  <a:lumMod val="50000"/>
                </a:schemeClr>
              </a:solidFill>
            </a:endParaRPr>
          </a:p>
          <a:p>
            <a:pPr>
              <a:buFont typeface="Arial" charset="0"/>
              <a:buNone/>
              <a:defRPr/>
            </a:pPr>
            <a:endParaRPr lang="es-ES" sz="2700" dirty="0" smtClean="0">
              <a:solidFill>
                <a:schemeClr val="accent1">
                  <a:lumMod val="50000"/>
                </a:schemeClr>
              </a:solidFill>
            </a:endParaRPr>
          </a:p>
          <a:p>
            <a:pPr algn="just">
              <a:defRPr/>
            </a:pPr>
            <a:r>
              <a:rPr lang="es-ES" sz="2700" dirty="0" smtClean="0">
                <a:solidFill>
                  <a:schemeClr val="accent1">
                    <a:lumMod val="50000"/>
                  </a:schemeClr>
                </a:solidFill>
                <a:latin typeface="Berlin Sans FB" pitchFamily="34" charset="0"/>
              </a:rPr>
              <a:t> LIQUIDACION </a:t>
            </a:r>
          </a:p>
          <a:p>
            <a:pPr algn="just">
              <a:buFont typeface="Arial" charset="0"/>
              <a:buNone/>
              <a:defRPr/>
            </a:pPr>
            <a:r>
              <a:rPr lang="es-ES" sz="2700" dirty="0" smtClean="0">
                <a:solidFill>
                  <a:schemeClr val="accent1">
                    <a:lumMod val="50000"/>
                  </a:schemeClr>
                </a:solidFill>
                <a:latin typeface="Berlin Sans FB" pitchFamily="34" charset="0"/>
              </a:rPr>
              <a:t>   </a:t>
            </a:r>
          </a:p>
          <a:p>
            <a:pPr algn="just">
              <a:buFont typeface="Arial" charset="0"/>
              <a:buNone/>
              <a:defRPr/>
            </a:pPr>
            <a:r>
              <a:rPr lang="es-ES" sz="2700" dirty="0" smtClean="0">
                <a:solidFill>
                  <a:schemeClr val="accent1">
                    <a:lumMod val="50000"/>
                  </a:schemeClr>
                </a:solidFill>
                <a:latin typeface="Berlin Sans FB" pitchFamily="34" charset="0"/>
              </a:rPr>
              <a:t>   Vender o disponer de los bienes de una organización previo a los tramites legales es liquidarla.</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1 Título"/>
          <p:cNvSpPr>
            <a:spLocks noGrp="1"/>
          </p:cNvSpPr>
          <p:nvPr>
            <p:ph type="title"/>
          </p:nvPr>
        </p:nvSpPr>
        <p:spPr>
          <a:xfrm>
            <a:off x="571500" y="357188"/>
            <a:ext cx="8229600" cy="1143000"/>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r>
              <a:rPr lang="es-ES" dirty="0" smtClean="0">
                <a:solidFill>
                  <a:schemeClr val="accent1">
                    <a:lumMod val="75000"/>
                  </a:schemeClr>
                </a:solidFill>
                <a:latin typeface="Berlin Sans FB Demi" pitchFamily="34" charset="0"/>
              </a:rPr>
              <a:t>4.2.2 Estrategias Defensivas</a:t>
            </a:r>
            <a:r>
              <a:rPr lang="es-ES" dirty="0" smtClean="0">
                <a:solidFill>
                  <a:schemeClr val="accent1">
                    <a:lumMod val="50000"/>
                  </a:schemeClr>
                </a:solidFill>
                <a:latin typeface="Berlin Sans FB Demi" pitchFamily="34" charset="0"/>
              </a:rPr>
              <a:t/>
            </a:r>
            <a:br>
              <a:rPr lang="es-ES" dirty="0" smtClean="0">
                <a:solidFill>
                  <a:schemeClr val="accent1">
                    <a:lumMod val="50000"/>
                  </a:schemeClr>
                </a:solidFill>
                <a:latin typeface="Berlin Sans FB Demi" pitchFamily="34" charset="0"/>
              </a:rPr>
            </a:br>
            <a:endParaRPr lang="es-ES" dirty="0" smtClean="0">
              <a:solidFill>
                <a:schemeClr val="accent1">
                  <a:lumMod val="50000"/>
                </a:schemeClr>
              </a:solidFill>
            </a:endParaRPr>
          </a:p>
        </p:txBody>
      </p:sp>
      <p:sp>
        <p:nvSpPr>
          <p:cNvPr id="68611" name="2 Marcador de contenido"/>
          <p:cNvSpPr>
            <a:spLocks noGrp="1"/>
          </p:cNvSpPr>
          <p:nvPr>
            <p:ph idx="1"/>
          </p:nvPr>
        </p:nvSpPr>
        <p:spPr>
          <a:xfrm>
            <a:off x="457200" y="2714625"/>
            <a:ext cx="8229600" cy="3411538"/>
          </a:xfrm>
        </p:spPr>
        <p:txBody>
          <a:bodyPr/>
          <a:lstStyle/>
          <a:p>
            <a:pPr>
              <a:buFont typeface="Arial" charset="0"/>
              <a:buNone/>
              <a:defRPr/>
            </a:pPr>
            <a:endParaRPr lang="es-ES" dirty="0" smtClean="0">
              <a:solidFill>
                <a:schemeClr val="accent1">
                  <a:lumMod val="75000"/>
                </a:schemeClr>
              </a:solidFill>
            </a:endParaRPr>
          </a:p>
          <a:p>
            <a:pPr>
              <a:defRPr/>
            </a:pPr>
            <a:r>
              <a:rPr lang="es-ES" sz="2700" dirty="0" smtClean="0">
                <a:solidFill>
                  <a:schemeClr val="accent1">
                    <a:lumMod val="75000"/>
                  </a:schemeClr>
                </a:solidFill>
                <a:latin typeface="Berlin Sans FB" pitchFamily="34" charset="0"/>
              </a:rPr>
              <a:t>   </a:t>
            </a:r>
            <a:r>
              <a:rPr lang="es-ES" sz="2700" dirty="0" smtClean="0">
                <a:latin typeface="Berlin Sans FB" pitchFamily="34" charset="0"/>
              </a:rPr>
              <a:t>RECUPERACION</a:t>
            </a:r>
          </a:p>
          <a:p>
            <a:pPr>
              <a:buFont typeface="Arial" charset="0"/>
              <a:buNone/>
              <a:defRPr/>
            </a:pPr>
            <a:endParaRPr lang="es-ES" sz="2700" dirty="0" smtClean="0">
              <a:latin typeface="Berlin Sans FB" pitchFamily="34" charset="0"/>
            </a:endParaRPr>
          </a:p>
          <a:p>
            <a:pPr>
              <a:buFont typeface="Arial" charset="0"/>
              <a:buNone/>
              <a:defRPr/>
            </a:pPr>
            <a:r>
              <a:rPr lang="es-ES" sz="2700" dirty="0" smtClean="0">
                <a:latin typeface="Berlin Sans FB" pitchFamily="34" charset="0"/>
              </a:rPr>
              <a:t>    Este caso se presenta cuando una empresa emplea estrategias dirigidas a suspender el declive de su organización y colocarla en condiciones para que sobreviva y de utilidades.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Título"/>
          <p:cNvSpPr>
            <a:spLocks noGrp="1"/>
          </p:cNvSpPr>
          <p:nvPr>
            <p:ph type="title"/>
          </p:nvPr>
        </p:nvSpPr>
        <p:spPr>
          <a:xfrm>
            <a:off x="457200" y="857250"/>
            <a:ext cx="8229600" cy="1000125"/>
          </a:xfrm>
        </p:spPr>
        <p:txBody>
          <a:bodyPr/>
          <a:lstStyle/>
          <a:p>
            <a:pPr>
              <a:defRPr/>
            </a:pPr>
            <a:r>
              <a:rPr lang="es-ES" dirty="0" smtClean="0">
                <a:solidFill>
                  <a:schemeClr val="accent1">
                    <a:lumMod val="75000"/>
                  </a:schemeClr>
                </a:solidFill>
                <a:latin typeface="Berlin Sans FB Demi" pitchFamily="34" charset="0"/>
              </a:rPr>
              <a:t>4.2.3  Estrategias Genéricas</a:t>
            </a:r>
          </a:p>
        </p:txBody>
      </p:sp>
      <p:sp>
        <p:nvSpPr>
          <p:cNvPr id="70659" name="2 Marcador de contenido"/>
          <p:cNvSpPr>
            <a:spLocks noGrp="1"/>
          </p:cNvSpPr>
          <p:nvPr>
            <p:ph idx="1"/>
          </p:nvPr>
        </p:nvSpPr>
        <p:spPr>
          <a:xfrm>
            <a:off x="457200" y="2214563"/>
            <a:ext cx="8229600" cy="3911600"/>
          </a:xfrm>
        </p:spPr>
        <p:txBody>
          <a:bodyPr/>
          <a:lstStyle/>
          <a:p>
            <a:pPr>
              <a:defRPr/>
            </a:pPr>
            <a:endParaRPr lang="es-ES" dirty="0" smtClean="0">
              <a:solidFill>
                <a:schemeClr val="accent1">
                  <a:lumMod val="75000"/>
                </a:schemeClr>
              </a:solidFill>
            </a:endParaRPr>
          </a:p>
          <a:p>
            <a:pPr algn="just">
              <a:buFont typeface="Arial" charset="0"/>
              <a:buNone/>
              <a:defRPr/>
            </a:pPr>
            <a:r>
              <a:rPr lang="es-ES" dirty="0" smtClean="0">
                <a:solidFill>
                  <a:schemeClr val="accent1">
                    <a:lumMod val="75000"/>
                  </a:schemeClr>
                </a:solidFill>
                <a:latin typeface="Berlin Sans FB" pitchFamily="34" charset="0"/>
              </a:rPr>
              <a:t>    </a:t>
            </a:r>
            <a:r>
              <a:rPr lang="es-ES" dirty="0" smtClean="0">
                <a:latin typeface="Berlin Sans FB" pitchFamily="34" charset="0"/>
              </a:rPr>
              <a:t>Las estrategias corporativas también pueden ser globales y referidas a todas las unidades estratégicas de negocios. Señalan la dirección por áreas globales.</a:t>
            </a:r>
          </a:p>
          <a:p>
            <a:pPr algn="just">
              <a:buFont typeface="Arial" charset="0"/>
              <a:buNone/>
              <a:defRPr/>
            </a:pPr>
            <a:endParaRPr lang="es-ES" dirty="0" smtClean="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1 Título"/>
          <p:cNvSpPr>
            <a:spLocks noGrp="1"/>
          </p:cNvSpPr>
          <p:nvPr>
            <p:ph type="title"/>
          </p:nvPr>
        </p:nvSpPr>
        <p:spPr>
          <a:xfrm>
            <a:off x="457200" y="1000125"/>
            <a:ext cx="8229600" cy="1571625"/>
          </a:xfrm>
        </p:spPr>
        <p:txBody>
          <a:bodyPr/>
          <a:lstStyle/>
          <a:p>
            <a:pPr>
              <a:defRPr/>
            </a:pPr>
            <a:r>
              <a:rPr lang="es-ES" dirty="0" smtClean="0">
                <a:solidFill>
                  <a:schemeClr val="accent1">
                    <a:lumMod val="75000"/>
                  </a:schemeClr>
                </a:solidFill>
                <a:latin typeface="Berlin Sans FB Demi" pitchFamily="34" charset="0"/>
              </a:rPr>
              <a:t>4.2.4  Estrategias Concéntricas</a:t>
            </a:r>
          </a:p>
        </p:txBody>
      </p:sp>
      <p:sp>
        <p:nvSpPr>
          <p:cNvPr id="82947" name="2 Marcador de contenido"/>
          <p:cNvSpPr>
            <a:spLocks noGrp="1"/>
          </p:cNvSpPr>
          <p:nvPr>
            <p:ph idx="1"/>
          </p:nvPr>
        </p:nvSpPr>
        <p:spPr>
          <a:xfrm>
            <a:off x="457200" y="2714625"/>
            <a:ext cx="8229600" cy="3411538"/>
          </a:xfrm>
        </p:spPr>
        <p:txBody>
          <a:bodyPr/>
          <a:lstStyle/>
          <a:p>
            <a:pPr>
              <a:buFont typeface="Arial" charset="0"/>
              <a:buNone/>
              <a:defRPr/>
            </a:pPr>
            <a:endParaRPr lang="es-ES" dirty="0" smtClean="0"/>
          </a:p>
          <a:p>
            <a:pPr algn="just">
              <a:buFont typeface="Arial" charset="0"/>
              <a:buNone/>
              <a:defRPr/>
            </a:pPr>
            <a:r>
              <a:rPr lang="es-ES" dirty="0" smtClean="0">
                <a:solidFill>
                  <a:schemeClr val="accent1">
                    <a:lumMod val="75000"/>
                  </a:schemeClr>
                </a:solidFill>
              </a:rPr>
              <a:t>    </a:t>
            </a:r>
            <a:r>
              <a:rPr lang="es-ES" dirty="0" smtClean="0">
                <a:latin typeface="Berlin Sans FB" pitchFamily="34" charset="0"/>
              </a:rPr>
              <a:t>Los acelerados cambios del mundo actual inciden directamente sobre el entorno de las empresas y obligan a la gerencia a diseñar estrategias para las diferentes áreas funcionales.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2 Marcador de contenido"/>
          <p:cNvSpPr>
            <a:spLocks noGrp="1"/>
          </p:cNvSpPr>
          <p:nvPr>
            <p:ph idx="1"/>
          </p:nvPr>
        </p:nvSpPr>
        <p:spPr>
          <a:xfrm>
            <a:off x="457200" y="642938"/>
            <a:ext cx="8229600" cy="5483225"/>
          </a:xfrm>
        </p:spPr>
        <p:txBody>
          <a:bodyPr/>
          <a:lstStyle/>
          <a:p>
            <a:pPr>
              <a:buFont typeface="Arial" charset="0"/>
              <a:buNone/>
              <a:defRPr/>
            </a:pPr>
            <a:endParaRPr lang="es-ES" dirty="0" smtClean="0">
              <a:latin typeface="Berlin Sans FB Demi" pitchFamily="34" charset="0"/>
            </a:endParaRPr>
          </a:p>
          <a:p>
            <a:pPr>
              <a:buFont typeface="Arial" charset="0"/>
              <a:buNone/>
              <a:defRPr/>
            </a:pPr>
            <a:r>
              <a:rPr lang="es-ES" dirty="0" smtClean="0">
                <a:solidFill>
                  <a:schemeClr val="accent1">
                    <a:lumMod val="75000"/>
                  </a:schemeClr>
                </a:solidFill>
                <a:latin typeface="Berlin Sans FB Demi" pitchFamily="34" charset="0"/>
              </a:rPr>
              <a:t>4.2.4  Estrategias Concéntricas</a:t>
            </a:r>
            <a:endParaRPr lang="es-ES" dirty="0" smtClean="0">
              <a:solidFill>
                <a:schemeClr val="accent1">
                  <a:lumMod val="75000"/>
                </a:schemeClr>
              </a:solidFill>
              <a:latin typeface="Berlin Sans FB" pitchFamily="34" charset="0"/>
            </a:endParaRPr>
          </a:p>
          <a:p>
            <a:pPr>
              <a:buFont typeface="Arial" charset="0"/>
              <a:buNone/>
              <a:defRPr/>
            </a:pPr>
            <a:r>
              <a:rPr lang="es-ES" dirty="0" smtClean="0">
                <a:solidFill>
                  <a:schemeClr val="accent1">
                    <a:lumMod val="75000"/>
                  </a:schemeClr>
                </a:solidFill>
                <a:latin typeface="Berlin Sans FB" pitchFamily="34" charset="0"/>
              </a:rPr>
              <a:t>  </a:t>
            </a:r>
          </a:p>
          <a:p>
            <a:pP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dirty="0" smtClean="0">
                <a:latin typeface="Berlin Sans FB" pitchFamily="34" charset="0"/>
              </a:rPr>
              <a:t>   El desarrollo de las estrategias globales se soportara en tres estrategias concéntricas que influyen y apoyan todas y cada una de las estrategias globales:</a:t>
            </a:r>
          </a:p>
        </p:txBody>
      </p:sp>
      <p:sp>
        <p:nvSpPr>
          <p:cNvPr id="3" name="2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2 Marcador de contenido"/>
          <p:cNvSpPr>
            <a:spLocks noGrp="1"/>
          </p:cNvSpPr>
          <p:nvPr>
            <p:ph idx="1"/>
          </p:nvPr>
        </p:nvSpPr>
        <p:spPr>
          <a:xfrm>
            <a:off x="457200" y="500063"/>
            <a:ext cx="8229600" cy="5626100"/>
          </a:xfrm>
        </p:spPr>
        <p:txBody>
          <a:bodyPr/>
          <a:lstStyle/>
          <a:p>
            <a:pPr marL="514350" indent="-514350">
              <a:buFont typeface="Arial" charset="0"/>
              <a:buNone/>
              <a:defRPr/>
            </a:pPr>
            <a:endParaRPr lang="es-ES" dirty="0" smtClean="0">
              <a:solidFill>
                <a:schemeClr val="accent1">
                  <a:lumMod val="75000"/>
                </a:schemeClr>
              </a:solidFill>
              <a:latin typeface="Berlin Sans FB Demi" pitchFamily="34" charset="0"/>
            </a:endParaRPr>
          </a:p>
          <a:p>
            <a:pPr marL="514350" indent="-514350">
              <a:buFont typeface="Arial" charset="0"/>
              <a:buNone/>
              <a:defRPr/>
            </a:pPr>
            <a:r>
              <a:rPr lang="es-ES" dirty="0" smtClean="0">
                <a:solidFill>
                  <a:schemeClr val="accent1">
                    <a:lumMod val="75000"/>
                  </a:schemeClr>
                </a:solidFill>
                <a:latin typeface="Berlin Sans FB Demi" pitchFamily="34" charset="0"/>
              </a:rPr>
              <a:t>4.2.4  Estrategias Concéntricas</a:t>
            </a:r>
          </a:p>
          <a:p>
            <a:pPr marL="514350" indent="-514350">
              <a:buFont typeface="Arial" charset="0"/>
              <a:buNone/>
              <a:defRPr/>
            </a:pPr>
            <a:endParaRPr lang="es-ES" dirty="0" smtClean="0">
              <a:solidFill>
                <a:schemeClr val="accent1">
                  <a:lumMod val="75000"/>
                </a:schemeClr>
              </a:solidFill>
              <a:latin typeface="Berlin Sans FB" pitchFamily="34" charset="0"/>
            </a:endParaRPr>
          </a:p>
          <a:p>
            <a:pPr marL="514350" indent="-514350" algn="just">
              <a:buFont typeface="Arial" charset="0"/>
              <a:buNone/>
              <a:defRPr/>
            </a:pPr>
            <a:r>
              <a:rPr lang="es-ES" sz="2700" dirty="0" smtClean="0">
                <a:latin typeface="Berlin Sans FB" pitchFamily="34" charset="0"/>
              </a:rPr>
              <a:t>1. CALIDAD:</a:t>
            </a:r>
          </a:p>
          <a:p>
            <a:pPr marL="514350" indent="-514350" algn="just">
              <a:buFont typeface="Arial" charset="0"/>
              <a:buNone/>
              <a:defRPr/>
            </a:pPr>
            <a:endParaRPr lang="es-ES" sz="2700" dirty="0" smtClean="0">
              <a:latin typeface="Berlin Sans FB" pitchFamily="34" charset="0"/>
            </a:endParaRPr>
          </a:p>
          <a:p>
            <a:pPr marL="514350" indent="-514350" algn="just">
              <a:buFont typeface="Arial" charset="0"/>
              <a:buNone/>
              <a:defRPr/>
            </a:pPr>
            <a:r>
              <a:rPr lang="es-ES" sz="2700" dirty="0" smtClean="0">
                <a:latin typeface="Berlin Sans FB" pitchFamily="34" charset="0"/>
              </a:rPr>
              <a:t>      Las organizaciones deberán poner en marcha un programa de calidad total mediante el mejoramiento diario del servicio, el entrenamiento en la metodología y el uso de instrumentos que este programa requiere.</a:t>
            </a:r>
          </a:p>
        </p:txBody>
      </p:sp>
      <p:sp>
        <p:nvSpPr>
          <p:cNvPr id="3" name="2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2 Marcador de contenido"/>
          <p:cNvSpPr>
            <a:spLocks noGrp="1"/>
          </p:cNvSpPr>
          <p:nvPr>
            <p:ph idx="1"/>
          </p:nvPr>
        </p:nvSpPr>
        <p:spPr>
          <a:xfrm>
            <a:off x="457200" y="857250"/>
            <a:ext cx="8229600" cy="5268913"/>
          </a:xfrm>
        </p:spPr>
        <p:txBody>
          <a:bodyPr/>
          <a:lstStyle/>
          <a:p>
            <a:pPr>
              <a:buFont typeface="Arial" charset="0"/>
              <a:buNone/>
              <a:defRPr/>
            </a:pPr>
            <a:endParaRPr lang="es-ES" dirty="0" smtClean="0">
              <a:solidFill>
                <a:schemeClr val="accent1">
                  <a:lumMod val="75000"/>
                </a:schemeClr>
              </a:solidFill>
              <a:latin typeface="Berlin Sans FB Demi" pitchFamily="34" charset="0"/>
            </a:endParaRPr>
          </a:p>
          <a:p>
            <a:pPr>
              <a:buFont typeface="Arial" charset="0"/>
              <a:buNone/>
              <a:defRPr/>
            </a:pPr>
            <a:r>
              <a:rPr lang="es-ES" dirty="0" smtClean="0">
                <a:solidFill>
                  <a:schemeClr val="accent1">
                    <a:lumMod val="75000"/>
                  </a:schemeClr>
                </a:solidFill>
                <a:latin typeface="Berlin Sans FB Demi" pitchFamily="34" charset="0"/>
              </a:rPr>
              <a:t>4.2.4  Estrategias Concéntricas</a:t>
            </a:r>
            <a:endParaRPr lang="es-ES" dirty="0" smtClean="0">
              <a:solidFill>
                <a:schemeClr val="accent1">
                  <a:lumMod val="75000"/>
                </a:schemeClr>
              </a:solidFill>
              <a:latin typeface="Berlin Sans FB" pitchFamily="34" charset="0"/>
            </a:endParaRPr>
          </a:p>
          <a:p>
            <a:pPr>
              <a:buFont typeface="Arial" charset="0"/>
              <a:buNone/>
              <a:defRPr/>
            </a:pPr>
            <a:endParaRPr lang="es-ES" sz="2700" dirty="0" smtClean="0">
              <a:solidFill>
                <a:schemeClr val="accent1">
                  <a:lumMod val="75000"/>
                </a:schemeClr>
              </a:solidFill>
            </a:endParaRPr>
          </a:p>
          <a:p>
            <a:pPr algn="just">
              <a:buFont typeface="Arial" charset="0"/>
              <a:buNone/>
              <a:defRPr/>
            </a:pPr>
            <a:r>
              <a:rPr lang="es-ES" sz="2700" dirty="0" smtClean="0">
                <a:latin typeface="Berlin Sans FB" pitchFamily="34" charset="0"/>
              </a:rPr>
              <a:t>2. SERVICIO:</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El servicio tendrá que ser la estrategia competitiva de la organización. Por tanto se acometerá la tarea de diseñar la “Estrategia de Calidad del Servicio”.</a:t>
            </a:r>
          </a:p>
        </p:txBody>
      </p:sp>
      <p:sp>
        <p:nvSpPr>
          <p:cNvPr id="3" name="2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2 Marcador de contenido"/>
          <p:cNvSpPr>
            <a:spLocks noGrp="1"/>
          </p:cNvSpPr>
          <p:nvPr>
            <p:ph idx="1"/>
          </p:nvPr>
        </p:nvSpPr>
        <p:spPr>
          <a:xfrm>
            <a:off x="457200" y="928688"/>
            <a:ext cx="8229600" cy="5197475"/>
          </a:xfrm>
        </p:spPr>
        <p:txBody>
          <a:bodyPr/>
          <a:lstStyle/>
          <a:p>
            <a:pPr>
              <a:buFont typeface="Arial" charset="0"/>
              <a:buNone/>
              <a:defRPr/>
            </a:pPr>
            <a:endParaRPr lang="es-ES" dirty="0" smtClean="0">
              <a:solidFill>
                <a:schemeClr val="accent1">
                  <a:lumMod val="75000"/>
                </a:schemeClr>
              </a:solidFill>
              <a:latin typeface="Berlin Sans FB Demi" pitchFamily="34" charset="0"/>
            </a:endParaRPr>
          </a:p>
          <a:p>
            <a:pPr>
              <a:buFont typeface="Arial" charset="0"/>
              <a:buNone/>
              <a:defRPr/>
            </a:pPr>
            <a:r>
              <a:rPr lang="es-ES" dirty="0" smtClean="0">
                <a:solidFill>
                  <a:schemeClr val="accent1">
                    <a:lumMod val="75000"/>
                  </a:schemeClr>
                </a:solidFill>
                <a:latin typeface="Berlin Sans FB Demi" pitchFamily="34" charset="0"/>
              </a:rPr>
              <a:t>4.2.4  Estrategias Concéntricas</a:t>
            </a:r>
            <a:endParaRPr lang="es-ES" dirty="0" smtClean="0">
              <a:solidFill>
                <a:schemeClr val="accent1">
                  <a:lumMod val="75000"/>
                </a:schemeClr>
              </a:solidFill>
              <a:latin typeface="Berlin Sans FB" pitchFamily="34" charset="0"/>
            </a:endParaRPr>
          </a:p>
          <a:p>
            <a:pPr>
              <a:buFont typeface="Arial" charset="0"/>
              <a:buNone/>
              <a:defRPr/>
            </a:pPr>
            <a:endParaRPr lang="es-ES" dirty="0" smtClean="0"/>
          </a:p>
          <a:p>
            <a:pPr algn="just">
              <a:buFont typeface="Arial" charset="0"/>
              <a:buNone/>
              <a:defRPr/>
            </a:pPr>
            <a:r>
              <a:rPr lang="es-ES" sz="2700" dirty="0" smtClean="0">
                <a:latin typeface="Berlin Sans FB" pitchFamily="34" charset="0"/>
              </a:rPr>
              <a:t>3. CAPACITACION:</a:t>
            </a:r>
          </a:p>
          <a:p>
            <a:pPr algn="just">
              <a:buFont typeface="Arial" charset="0"/>
              <a:buNone/>
              <a:defRPr/>
            </a:pPr>
            <a:endParaRPr lang="es-ES" sz="2700" dirty="0" smtClean="0">
              <a:latin typeface="Berlin Sans FB" pitchFamily="34" charset="0"/>
            </a:endParaRPr>
          </a:p>
          <a:p>
            <a:pPr algn="just">
              <a:defRPr/>
            </a:pPr>
            <a:r>
              <a:rPr lang="es-ES" sz="2700" dirty="0" smtClean="0">
                <a:latin typeface="Berlin Sans FB" pitchFamily="34" charset="0"/>
              </a:rPr>
              <a:t>El diseño de un plan estratégico de capacitación, entrenamiento y desarrollo del personal deberá complementar, permear y apoyar cada una de las estrategias globales.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2 Marcador de contenido"/>
          <p:cNvSpPr>
            <a:spLocks noGrp="1"/>
          </p:cNvSpPr>
          <p:nvPr>
            <p:ph idx="1"/>
          </p:nvPr>
        </p:nvSpPr>
        <p:spPr>
          <a:xfrm>
            <a:off x="457200" y="571500"/>
            <a:ext cx="8229600" cy="5554663"/>
          </a:xfrm>
        </p:spPr>
        <p:txBody>
          <a:bodyPr/>
          <a:lstStyle/>
          <a:p>
            <a:pPr>
              <a:buFont typeface="Arial" charset="0"/>
              <a:buNone/>
              <a:defRPr/>
            </a:pPr>
            <a:endParaRPr lang="es-ES" dirty="0" smtClean="0">
              <a:latin typeface="Berlin Sans FB Demi" pitchFamily="34" charset="0"/>
            </a:endParaRPr>
          </a:p>
          <a:p>
            <a:pPr>
              <a:buFont typeface="Arial" charset="0"/>
              <a:buNone/>
              <a:defRPr/>
            </a:pPr>
            <a:r>
              <a:rPr lang="es-ES" dirty="0" smtClean="0">
                <a:solidFill>
                  <a:schemeClr val="accent1">
                    <a:lumMod val="75000"/>
                  </a:schemeClr>
                </a:solidFill>
                <a:latin typeface="Berlin Sans FB Demi" pitchFamily="34" charset="0"/>
              </a:rPr>
              <a:t>4.2.4  Estrategias Concéntricas</a:t>
            </a:r>
            <a:endParaRPr lang="es-ES" dirty="0" smtClean="0">
              <a:solidFill>
                <a:schemeClr val="accent1">
                  <a:lumMod val="75000"/>
                </a:schemeClr>
              </a:solidFill>
            </a:endParaRPr>
          </a:p>
          <a:p>
            <a:pPr>
              <a:buFont typeface="Arial" charset="0"/>
              <a:buNone/>
              <a:defRPr/>
            </a:pPr>
            <a:endParaRPr lang="es-ES" dirty="0" smtClean="0"/>
          </a:p>
          <a:p>
            <a:pPr algn="just">
              <a:buFont typeface="Arial" charset="0"/>
              <a:buNone/>
              <a:defRPr/>
            </a:pPr>
            <a:r>
              <a:rPr lang="es-ES" sz="2700" dirty="0" smtClean="0">
                <a:latin typeface="Berlin Sans FB" pitchFamily="34" charset="0"/>
              </a:rPr>
              <a:t>3. CAPACITACION:</a:t>
            </a:r>
          </a:p>
          <a:p>
            <a:pPr algn="just">
              <a:buFont typeface="Arial" charset="0"/>
              <a:buNone/>
              <a:defRPr/>
            </a:pPr>
            <a:endParaRPr lang="es-ES" sz="2700" dirty="0" smtClean="0"/>
          </a:p>
          <a:p>
            <a:pPr algn="just">
              <a:defRPr/>
            </a:pPr>
            <a:r>
              <a:rPr lang="es-ES" sz="2700" dirty="0" smtClean="0">
                <a:latin typeface="Berlin Sans FB" pitchFamily="34" charset="0"/>
              </a:rPr>
              <a:t> La capacitación, entrenamiento y desarrollo de los recursos humanos será una condición y estrategia prioritaria en el plan. </a:t>
            </a:r>
          </a:p>
        </p:txBody>
      </p:sp>
      <p:sp>
        <p:nvSpPr>
          <p:cNvPr id="3" name="2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1 Título"/>
          <p:cNvSpPr>
            <a:spLocks noGrp="1"/>
          </p:cNvSpPr>
          <p:nvPr>
            <p:ph type="title"/>
          </p:nvPr>
        </p:nvSpPr>
        <p:spPr>
          <a:xfrm>
            <a:off x="457200" y="714375"/>
            <a:ext cx="8229600" cy="2571750"/>
          </a:xfrm>
        </p:spPr>
        <p:txBody>
          <a:bodyPr/>
          <a:lstStyle/>
          <a:p>
            <a:pPr>
              <a:defRPr/>
            </a:pPr>
            <a:r>
              <a:rPr lang="es-ES" dirty="0" smtClean="0"/>
              <a:t/>
            </a:r>
            <a:br>
              <a:rPr lang="es-ES" dirty="0" smtClean="0"/>
            </a:br>
            <a:r>
              <a:rPr lang="es-ES" dirty="0" smtClean="0"/>
              <a:t/>
            </a:r>
            <a:br>
              <a:rPr lang="es-ES" dirty="0" smtClean="0"/>
            </a:br>
            <a:r>
              <a:rPr lang="es-ES" dirty="0" smtClean="0"/>
              <a:t/>
            </a:r>
            <a:br>
              <a:rPr lang="es-ES" dirty="0" smtClean="0"/>
            </a:br>
            <a:r>
              <a:rPr lang="es-ES" dirty="0" smtClean="0"/>
              <a:t/>
            </a:r>
            <a:br>
              <a:rPr lang="es-ES" dirty="0" smtClean="0"/>
            </a:br>
            <a:r>
              <a:rPr lang="es-ES" dirty="0" smtClean="0"/>
              <a:t/>
            </a:r>
            <a:br>
              <a:rPr lang="es-ES" dirty="0" smtClean="0"/>
            </a:b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t/>
            </a:r>
            <a:br>
              <a:rPr lang="es-ES" dirty="0" smtClean="0"/>
            </a:br>
            <a:r>
              <a:rPr lang="es-ES" sz="3200" dirty="0" smtClean="0">
                <a:solidFill>
                  <a:schemeClr val="accent1">
                    <a:lumMod val="75000"/>
                  </a:schemeClr>
                </a:solidFill>
              </a:rPr>
              <a:t/>
            </a:r>
            <a:br>
              <a:rPr lang="es-ES" sz="3200" dirty="0" smtClean="0">
                <a:solidFill>
                  <a:schemeClr val="accent1">
                    <a:lumMod val="75000"/>
                  </a:schemeClr>
                </a:solidFill>
              </a:rPr>
            </a:br>
            <a:r>
              <a:rPr lang="es-ES" dirty="0" smtClean="0"/>
              <a:t/>
            </a:r>
            <a:br>
              <a:rPr lang="es-ES" dirty="0" smtClean="0"/>
            </a:br>
            <a:r>
              <a:rPr lang="es-ES" dirty="0" smtClean="0"/>
              <a:t/>
            </a:r>
            <a:br>
              <a:rPr lang="es-ES" dirty="0" smtClean="0"/>
            </a:br>
            <a:r>
              <a:rPr lang="es-ES" dirty="0" smtClean="0"/>
              <a:t/>
            </a:r>
            <a:br>
              <a:rPr lang="es-ES" dirty="0" smtClean="0"/>
            </a:br>
            <a:r>
              <a:rPr lang="es-ES" dirty="0" smtClean="0"/>
              <a:t/>
            </a:r>
            <a:br>
              <a:rPr lang="es-ES" dirty="0" smtClean="0"/>
            </a:br>
            <a:endParaRPr lang="es-ES" dirty="0" smtClean="0"/>
          </a:p>
        </p:txBody>
      </p:sp>
      <p:sp>
        <p:nvSpPr>
          <p:cNvPr id="91139" name="2 Marcador de contenido"/>
          <p:cNvSpPr>
            <a:spLocks noGrp="1"/>
          </p:cNvSpPr>
          <p:nvPr>
            <p:ph idx="1"/>
          </p:nvPr>
        </p:nvSpPr>
        <p:spPr>
          <a:xfrm>
            <a:off x="457200" y="3143250"/>
            <a:ext cx="8229600" cy="2982913"/>
          </a:xfrm>
        </p:spPr>
        <p:txBody>
          <a:bodyPr/>
          <a:lstStyle/>
          <a:p>
            <a:pPr>
              <a:buFont typeface="Arial" charset="0"/>
              <a:buNone/>
              <a:defRPr/>
            </a:pPr>
            <a:r>
              <a:rPr lang="es-ES" dirty="0" smtClean="0"/>
              <a:t>   </a:t>
            </a:r>
          </a:p>
          <a:p>
            <a:pPr algn="just">
              <a:buFont typeface="Arial" charset="0"/>
              <a:buNone/>
              <a:defRPr/>
            </a:pPr>
            <a:r>
              <a:rPr lang="es-ES" dirty="0" smtClean="0"/>
              <a:t>    </a:t>
            </a:r>
            <a:r>
              <a:rPr lang="es-ES" sz="2700" dirty="0" smtClean="0">
                <a:latin typeface="Berlin Sans FB" pitchFamily="34" charset="0"/>
              </a:rPr>
              <a:t>Concluido el análisis, la compañía comienza la etapa de formulación estratégica, la cual consiste en seleccionar los proyectos estratégicos o áreas estratégicas que han de integrar el Plan Estratégico Corporativo. </a:t>
            </a:r>
          </a:p>
          <a:p>
            <a:pPr>
              <a:buFont typeface="Arial" charset="0"/>
              <a:buNone/>
              <a:defRPr/>
            </a:pPr>
            <a:r>
              <a:rPr lang="es-ES" dirty="0" smtClean="0"/>
              <a:t> </a:t>
            </a:r>
            <a:endParaRPr lang="es-ES" sz="2700" dirty="0" smtClean="0">
              <a:solidFill>
                <a:schemeClr val="accent1">
                  <a:lumMod val="75000"/>
                </a:schemeClr>
              </a:solidFill>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1 Título"/>
          <p:cNvSpPr>
            <a:spLocks noGrp="1"/>
          </p:cNvSpPr>
          <p:nvPr>
            <p:ph type="title"/>
          </p:nvPr>
        </p:nvSpPr>
        <p:spPr>
          <a:xfrm>
            <a:off x="457200" y="714375"/>
            <a:ext cx="8229600" cy="1000125"/>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74755" name="2 Marcador de contenido"/>
          <p:cNvSpPr>
            <a:spLocks noGrp="1"/>
          </p:cNvSpPr>
          <p:nvPr>
            <p:ph idx="1"/>
          </p:nvPr>
        </p:nvSpPr>
        <p:spPr>
          <a:xfrm>
            <a:off x="457200" y="3000375"/>
            <a:ext cx="8229600" cy="3125788"/>
          </a:xfrm>
        </p:spPr>
        <p:txBody>
          <a:bodyPr/>
          <a:lstStyle/>
          <a:p>
            <a:pPr algn="just"/>
            <a:r>
              <a:rPr lang="es-ES" sz="2700" smtClean="0">
                <a:latin typeface="Berlin Sans FB" pitchFamily="34" charset="0"/>
              </a:rPr>
              <a:t>Los proyectos Estratégicos son “POCOS” PERO VITALES. Se dan como resultado de analizar las funciones estratégicas y de dar prioridad a cada una de estas.</a:t>
            </a:r>
          </a:p>
          <a:p>
            <a:pPr algn="just"/>
            <a:endParaRPr lang="es-ES" sz="2700" smtClean="0">
              <a:latin typeface="Berlin Sans FB" pitchFamily="34" charset="0"/>
            </a:endParaRPr>
          </a:p>
          <a:p>
            <a:pPr algn="just"/>
            <a:r>
              <a:rPr lang="es-ES" sz="2700" smtClean="0">
                <a:latin typeface="Berlin Sans FB" pitchFamily="34" charset="0"/>
              </a:rPr>
              <a:t>Son los factores clave del éxito de la compañía.</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1 Título"/>
          <p:cNvSpPr>
            <a:spLocks noGrp="1"/>
          </p:cNvSpPr>
          <p:nvPr>
            <p:ph type="title"/>
          </p:nvPr>
        </p:nvSpPr>
        <p:spPr>
          <a:xfrm>
            <a:off x="457200" y="571500"/>
            <a:ext cx="8229600" cy="1285875"/>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3" name="2 Marcador de contenido"/>
          <p:cNvSpPr>
            <a:spLocks noGrp="1"/>
          </p:cNvSpPr>
          <p:nvPr>
            <p:ph idx="1"/>
          </p:nvPr>
        </p:nvSpPr>
        <p:spPr>
          <a:xfrm>
            <a:off x="457200" y="2786063"/>
            <a:ext cx="8229600" cy="3340100"/>
          </a:xfrm>
        </p:spPr>
        <p:txBody>
          <a:bodyPr/>
          <a:lstStyle/>
          <a:p>
            <a:pPr>
              <a:defRPr/>
            </a:pPr>
            <a:endParaRPr lang="es-ES" sz="2700" dirty="0" smtClean="0">
              <a:solidFill>
                <a:schemeClr val="accent1">
                  <a:lumMod val="75000"/>
                </a:schemeClr>
              </a:solidFill>
            </a:endParaRPr>
          </a:p>
          <a:p>
            <a:pPr>
              <a:defRPr/>
            </a:pPr>
            <a:r>
              <a:rPr lang="es-ES" sz="2700" dirty="0" smtClean="0">
                <a:latin typeface="Berlin Sans FB" pitchFamily="34" charset="0"/>
              </a:rPr>
              <a:t>Proyectos estratégicos podrían ser, por ejemplo:</a:t>
            </a:r>
          </a:p>
          <a:p>
            <a:pPr>
              <a:buFont typeface="Arial" charset="0"/>
              <a:buNone/>
              <a:defRPr/>
            </a:pPr>
            <a:endParaRPr lang="es-ES" sz="2700" dirty="0" smtClean="0">
              <a:latin typeface="Berlin Sans FB" pitchFamily="34" charset="0"/>
            </a:endParaRPr>
          </a:p>
          <a:p>
            <a:pPr marL="514350" indent="-514350">
              <a:buFont typeface="Arial" charset="0"/>
              <a:buAutoNum type="arabicPeriod"/>
              <a:defRPr/>
            </a:pPr>
            <a:r>
              <a:rPr lang="es-ES" sz="2700" dirty="0" smtClean="0">
                <a:latin typeface="Berlin Sans FB" pitchFamily="34" charset="0"/>
              </a:rPr>
              <a:t>Modernización tecnológica.</a:t>
            </a:r>
          </a:p>
          <a:p>
            <a:pPr marL="514350" indent="-514350">
              <a:buFont typeface="Arial" charset="0"/>
              <a:buAutoNum type="arabicPeriod"/>
              <a:defRPr/>
            </a:pPr>
            <a:r>
              <a:rPr lang="es-ES" sz="2700" dirty="0" smtClean="0">
                <a:latin typeface="Berlin Sans FB" pitchFamily="34" charset="0"/>
              </a:rPr>
              <a:t>Reingeniería organizacional.</a:t>
            </a:r>
          </a:p>
          <a:p>
            <a:pPr marL="514350" indent="-514350">
              <a:buFont typeface="Arial" charset="0"/>
              <a:buAutoNum type="arabicPeriod"/>
              <a:defRPr/>
            </a:pPr>
            <a:r>
              <a:rPr lang="es-ES" sz="2700" dirty="0" smtClean="0">
                <a:latin typeface="Berlin Sans FB" pitchFamily="34" charset="0"/>
              </a:rPr>
              <a:t>Plan global de mercadeo.</a:t>
            </a:r>
            <a:endParaRPr lang="es-ES" sz="2700" dirty="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1 Título"/>
          <p:cNvSpPr>
            <a:spLocks noGrp="1"/>
          </p:cNvSpPr>
          <p:nvPr>
            <p:ph type="title"/>
          </p:nvPr>
        </p:nvSpPr>
        <p:spPr>
          <a:xfrm>
            <a:off x="457200" y="642938"/>
            <a:ext cx="8229600" cy="1071562"/>
          </a:xfrm>
        </p:spPr>
        <p:txBody>
          <a:bodyPr/>
          <a:lstStyle/>
          <a:p>
            <a:pPr>
              <a:defRPr/>
            </a:pPr>
            <a:r>
              <a:rPr lang="es-ES" dirty="0" smtClean="0"/>
              <a:t/>
            </a:r>
            <a:br>
              <a:rPr lang="es-ES" dirty="0" smtClean="0"/>
            </a:br>
            <a:r>
              <a:rPr lang="es-ES" sz="4000" dirty="0" smtClean="0">
                <a:solidFill>
                  <a:schemeClr val="accent1">
                    <a:lumMod val="75000"/>
                  </a:schemeClr>
                </a:solidFill>
              </a:rPr>
              <a:t/>
            </a:r>
            <a:br>
              <a:rPr lang="es-ES" sz="4000" dirty="0" smtClean="0">
                <a:solidFill>
                  <a:schemeClr val="accent1">
                    <a:lumMod val="75000"/>
                  </a:schemeClr>
                </a:solidFill>
              </a:rPr>
            </a:br>
            <a:r>
              <a:rPr lang="es-ES" sz="4000" dirty="0" smtClean="0">
                <a:solidFill>
                  <a:schemeClr val="accent1">
                    <a:lumMod val="75000"/>
                  </a:schemeClr>
                </a:solidFill>
                <a:latin typeface="Berlin Sans FB Demi" pitchFamily="34" charset="0"/>
              </a:rPr>
              <a:t>5. FORMULACIÓN ESTRATÉGICA</a:t>
            </a:r>
            <a:br>
              <a:rPr lang="es-ES" sz="4000" dirty="0" smtClean="0">
                <a:solidFill>
                  <a:schemeClr val="accent1">
                    <a:lumMod val="75000"/>
                  </a:schemeClr>
                </a:solidFill>
                <a:latin typeface="Berlin Sans FB Demi" pitchFamily="34" charset="0"/>
              </a:rPr>
            </a:br>
            <a:r>
              <a:rPr lang="es-ES" sz="3200" dirty="0" smtClean="0">
                <a:solidFill>
                  <a:schemeClr val="accent1">
                    <a:lumMod val="75000"/>
                  </a:schemeClr>
                </a:solidFill>
              </a:rPr>
              <a:t/>
            </a:r>
            <a:br>
              <a:rPr lang="es-ES" sz="3200" dirty="0" smtClean="0">
                <a:solidFill>
                  <a:schemeClr val="accent1">
                    <a:lumMod val="75000"/>
                  </a:schemeClr>
                </a:solidFill>
              </a:rPr>
            </a:br>
            <a:r>
              <a:rPr lang="es-ES" sz="3200" dirty="0" smtClean="0">
                <a:solidFill>
                  <a:schemeClr val="accent1">
                    <a:lumMod val="75000"/>
                  </a:schemeClr>
                </a:solidFill>
                <a:latin typeface="Berlin Sans FB" pitchFamily="34" charset="0"/>
              </a:rPr>
              <a:t>5.1  PROYECTOS ESTRATEGICOS</a:t>
            </a:r>
          </a:p>
        </p:txBody>
      </p:sp>
      <p:sp>
        <p:nvSpPr>
          <p:cNvPr id="76803" name="2 Marcador de contenido"/>
          <p:cNvSpPr>
            <a:spLocks noGrp="1"/>
          </p:cNvSpPr>
          <p:nvPr>
            <p:ph idx="1"/>
          </p:nvPr>
        </p:nvSpPr>
        <p:spPr>
          <a:xfrm>
            <a:off x="457200" y="2714625"/>
            <a:ext cx="8229600" cy="3411538"/>
          </a:xfrm>
        </p:spPr>
        <p:txBody>
          <a:bodyPr/>
          <a:lstStyle/>
          <a:p>
            <a:pPr>
              <a:buFont typeface="Arial" charset="0"/>
              <a:buNone/>
            </a:pPr>
            <a:endParaRPr lang="es-ES" smtClean="0"/>
          </a:p>
          <a:p>
            <a:pPr algn="just">
              <a:buFont typeface="Arial" charset="0"/>
              <a:buNone/>
            </a:pPr>
            <a:r>
              <a:rPr lang="es-ES" sz="2700" smtClean="0"/>
              <a:t>4. Calidad total.</a:t>
            </a:r>
          </a:p>
          <a:p>
            <a:pPr algn="just">
              <a:buFont typeface="Arial" charset="0"/>
              <a:buNone/>
            </a:pPr>
            <a:r>
              <a:rPr lang="es-ES" sz="2700" smtClean="0"/>
              <a:t>5. Servicio al cliente.</a:t>
            </a:r>
          </a:p>
          <a:p>
            <a:pPr algn="just">
              <a:buFont typeface="Arial" charset="0"/>
              <a:buNone/>
            </a:pPr>
            <a:r>
              <a:rPr lang="es-ES" sz="2700" smtClean="0"/>
              <a:t>6. Plan estratégico de talento humano.</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1 Título"/>
          <p:cNvSpPr>
            <a:spLocks noGrp="1"/>
          </p:cNvSpPr>
          <p:nvPr>
            <p:ph type="title"/>
          </p:nvPr>
        </p:nvSpPr>
        <p:spPr>
          <a:xfrm>
            <a:off x="457200" y="857250"/>
            <a:ext cx="8229600" cy="1643063"/>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sz="3200" dirty="0" smtClean="0">
                <a:solidFill>
                  <a:schemeClr val="accent1">
                    <a:lumMod val="75000"/>
                  </a:schemeClr>
                </a:solidFill>
                <a:latin typeface="Berlin Sans FB" pitchFamily="34" charset="0"/>
              </a:rPr>
              <a:t>5.1  PROYECTOS ESTRATEGICOS</a:t>
            </a:r>
          </a:p>
        </p:txBody>
      </p:sp>
      <p:sp>
        <p:nvSpPr>
          <p:cNvPr id="77827" name="2 Marcador de contenido"/>
          <p:cNvSpPr>
            <a:spLocks noGrp="1"/>
          </p:cNvSpPr>
          <p:nvPr>
            <p:ph idx="1"/>
          </p:nvPr>
        </p:nvSpPr>
        <p:spPr>
          <a:xfrm>
            <a:off x="457200" y="3571875"/>
            <a:ext cx="8229600" cy="2554288"/>
          </a:xfrm>
        </p:spPr>
        <p:txBody>
          <a:bodyPr/>
          <a:lstStyle/>
          <a:p>
            <a:endParaRPr lang="es-ES" smtClean="0"/>
          </a:p>
          <a:p>
            <a:endParaRPr lang="es-ES" smtClean="0"/>
          </a:p>
          <a:p>
            <a:pPr algn="just"/>
            <a:r>
              <a:rPr lang="es-ES" smtClean="0">
                <a:latin typeface="Berlin Sans FB" pitchFamily="34" charset="0"/>
              </a:rPr>
              <a:t>Los proyectos estratégicos deben ser:</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1 Título"/>
          <p:cNvSpPr>
            <a:spLocks noGrp="1"/>
          </p:cNvSpPr>
          <p:nvPr>
            <p:ph type="title"/>
          </p:nvPr>
        </p:nvSpPr>
        <p:spPr>
          <a:xfrm>
            <a:off x="428625" y="785813"/>
            <a:ext cx="8229600" cy="1071562"/>
          </a:xfrm>
        </p:spPr>
        <p:txBody>
          <a:bodyPr/>
          <a:lstStyle/>
          <a:p>
            <a:pPr>
              <a:defRPr/>
            </a:pPr>
            <a:r>
              <a:rPr lang="es-ES" dirty="0" smtClean="0"/>
              <a:t/>
            </a:r>
            <a:br>
              <a:rPr lang="es-ES" dirty="0" smtClean="0"/>
            </a:br>
            <a:r>
              <a:rPr lang="es-ES" sz="4000" dirty="0" smtClean="0">
                <a:solidFill>
                  <a:schemeClr val="accent1">
                    <a:lumMod val="75000"/>
                  </a:schemeClr>
                </a:solidFill>
              </a:rPr>
              <a:t/>
            </a:r>
            <a:br>
              <a:rPr lang="es-ES" sz="4000" dirty="0" smtClean="0">
                <a:solidFill>
                  <a:schemeClr val="accent1">
                    <a:lumMod val="75000"/>
                  </a:schemeClr>
                </a:solidFill>
              </a:rPr>
            </a:br>
            <a:r>
              <a:rPr lang="es-ES" sz="4000" dirty="0" smtClean="0">
                <a:solidFill>
                  <a:schemeClr val="accent1">
                    <a:lumMod val="75000"/>
                  </a:schemeClr>
                </a:solidFill>
                <a:latin typeface="Berlin Sans FB Demi" pitchFamily="34" charset="0"/>
              </a:rPr>
              <a:t>5. FORMULACIÓN ESTRATÉGICA</a:t>
            </a:r>
            <a:r>
              <a:rPr lang="es-ES" dirty="0" smtClean="0"/>
              <a:t/>
            </a:r>
            <a:br>
              <a:rPr lang="es-ES" dirty="0" smtClean="0"/>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96259" name="2 Marcador de contenido"/>
          <p:cNvSpPr>
            <a:spLocks noGrp="1"/>
          </p:cNvSpPr>
          <p:nvPr>
            <p:ph idx="1"/>
          </p:nvPr>
        </p:nvSpPr>
        <p:spPr>
          <a:xfrm>
            <a:off x="457200" y="2857500"/>
            <a:ext cx="8229600" cy="3268663"/>
          </a:xfrm>
        </p:spPr>
        <p:txBody>
          <a:bodyPr/>
          <a:lstStyle/>
          <a:p>
            <a:pPr>
              <a:buFont typeface="Arial" charset="0"/>
              <a:buNone/>
              <a:defRPr/>
            </a:pPr>
            <a:endParaRPr lang="es-ES" sz="2700" dirty="0" smtClean="0">
              <a:solidFill>
                <a:schemeClr val="accent1">
                  <a:lumMod val="75000"/>
                </a:schemeClr>
              </a:solidFill>
            </a:endParaRPr>
          </a:p>
          <a:p>
            <a:pPr algn="just">
              <a:buFont typeface="Arial" charset="0"/>
              <a:buNone/>
              <a:defRPr/>
            </a:pPr>
            <a:r>
              <a:rPr lang="es-ES" sz="2700" dirty="0" smtClean="0">
                <a:solidFill>
                  <a:schemeClr val="accent1">
                    <a:lumMod val="75000"/>
                  </a:schemeClr>
                </a:solidFill>
                <a:latin typeface="Berlin Sans FB" pitchFamily="34" charset="0"/>
              </a:rPr>
              <a:t>1.EXPLICITOS:</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En cuanto a la consolidación de las fortalezas, atacar las debilidades, aprovechar las oportunidades y anticipar el efecto de las amenazas.</a:t>
            </a:r>
          </a:p>
          <a:p>
            <a:pPr>
              <a:defRPr/>
            </a:pPr>
            <a:endParaRPr lang="es-ES" dirty="0" smtClean="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1 Título"/>
          <p:cNvSpPr>
            <a:spLocks noGrp="1"/>
          </p:cNvSpPr>
          <p:nvPr>
            <p:ph type="title"/>
          </p:nvPr>
        </p:nvSpPr>
        <p:spPr>
          <a:xfrm>
            <a:off x="457200" y="642938"/>
            <a:ext cx="8229600" cy="1143000"/>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sz="3200" dirty="0" smtClean="0">
                <a:solidFill>
                  <a:schemeClr val="accent1">
                    <a:lumMod val="75000"/>
                  </a:schemeClr>
                </a:solidFill>
                <a:latin typeface="Berlin Sans FB" pitchFamily="34" charset="0"/>
              </a:rPr>
              <a:t>5.1  PROYECTOS ESTRATEGICOS</a:t>
            </a:r>
          </a:p>
        </p:txBody>
      </p:sp>
      <p:sp>
        <p:nvSpPr>
          <p:cNvPr id="97283" name="2 Marcador de contenido"/>
          <p:cNvSpPr>
            <a:spLocks noGrp="1"/>
          </p:cNvSpPr>
          <p:nvPr>
            <p:ph idx="1"/>
          </p:nvPr>
        </p:nvSpPr>
        <p:spPr>
          <a:xfrm>
            <a:off x="457200" y="2786063"/>
            <a:ext cx="8229600" cy="3340100"/>
          </a:xfrm>
        </p:spPr>
        <p:txBody>
          <a:bodyPr/>
          <a:lstStyle/>
          <a:p>
            <a:pPr>
              <a:buFont typeface="Arial" charset="0"/>
              <a:buNone/>
              <a:defRPr/>
            </a:pPr>
            <a:endParaRPr lang="es-ES" sz="2700" dirty="0" smtClean="0">
              <a:solidFill>
                <a:schemeClr val="accent1">
                  <a:lumMod val="75000"/>
                </a:schemeClr>
              </a:solidFill>
            </a:endParaRPr>
          </a:p>
          <a:p>
            <a:pPr algn="just">
              <a:buFont typeface="Arial" charset="0"/>
              <a:buNone/>
              <a:defRPr/>
            </a:pPr>
            <a:r>
              <a:rPr lang="es-ES" sz="2700" dirty="0" smtClean="0">
                <a:solidFill>
                  <a:schemeClr val="accent1">
                    <a:lumMod val="75000"/>
                  </a:schemeClr>
                </a:solidFill>
                <a:latin typeface="Berlin Sans FB" pitchFamily="34" charset="0"/>
              </a:rPr>
              <a:t>2. CONSISTENTES:</a:t>
            </a:r>
          </a:p>
          <a:p>
            <a:pPr algn="just">
              <a:buFont typeface="Arial" charset="0"/>
              <a:buNone/>
              <a:defRPr/>
            </a:pPr>
            <a:endParaRPr lang="es-ES" sz="2700" dirty="0" smtClean="0">
              <a:latin typeface="Berlin Sans FB" pitchFamily="34" charset="0"/>
            </a:endParaRPr>
          </a:p>
          <a:p>
            <a:pPr algn="just">
              <a:defRPr/>
            </a:pPr>
            <a:r>
              <a:rPr lang="es-ES" sz="2700" dirty="0" smtClean="0">
                <a:latin typeface="Berlin Sans FB" pitchFamily="34" charset="0"/>
              </a:rPr>
              <a:t> Con los objetivos globales, la misión y la visión.</a:t>
            </a:r>
          </a:p>
          <a:p>
            <a:pPr algn="just">
              <a:defRPr/>
            </a:pPr>
            <a:r>
              <a:rPr lang="es-ES" sz="2700" dirty="0" smtClean="0">
                <a:latin typeface="Berlin Sans FB" pitchFamily="34" charset="0"/>
              </a:rPr>
              <a:t> Deben ser absolutamente necesarios.</a:t>
            </a:r>
          </a:p>
          <a:p>
            <a:pPr algn="just">
              <a:defRPr/>
            </a:pPr>
            <a:r>
              <a:rPr lang="es-ES" sz="2700" dirty="0" smtClean="0">
                <a:latin typeface="Berlin Sans FB" pitchFamily="34" charset="0"/>
              </a:rPr>
              <a:t> Deben concentrarse en uno o mas proyectos estratégicos.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1 Título"/>
          <p:cNvSpPr>
            <a:spLocks noGrp="1"/>
          </p:cNvSpPr>
          <p:nvPr>
            <p:ph type="title"/>
          </p:nvPr>
        </p:nvSpPr>
        <p:spPr>
          <a:xfrm>
            <a:off x="457200" y="1000125"/>
            <a:ext cx="8229600" cy="785813"/>
          </a:xfrm>
        </p:spPr>
        <p:txBody>
          <a:bodyPr/>
          <a:lstStyle/>
          <a:p>
            <a:pPr>
              <a:defRPr/>
            </a:pPr>
            <a:r>
              <a:rPr lang="es-ES" dirty="0" smtClean="0"/>
              <a:t/>
            </a:r>
            <a:br>
              <a:rPr lang="es-ES" dirty="0" smtClean="0"/>
            </a:br>
            <a:r>
              <a:rPr lang="es-ES" sz="4000" dirty="0" smtClean="0">
                <a:solidFill>
                  <a:schemeClr val="accent1">
                    <a:lumMod val="75000"/>
                  </a:schemeClr>
                </a:solidFill>
              </a:rPr>
              <a:t/>
            </a:r>
            <a:br>
              <a:rPr lang="es-ES" sz="4000" dirty="0" smtClean="0">
                <a:solidFill>
                  <a:schemeClr val="accent1">
                    <a:lumMod val="75000"/>
                  </a:schemeClr>
                </a:solidFill>
              </a:rPr>
            </a:br>
            <a:r>
              <a:rPr lang="es-ES" sz="4000" dirty="0" smtClean="0">
                <a:solidFill>
                  <a:schemeClr val="accent1">
                    <a:lumMod val="75000"/>
                  </a:schemeClr>
                </a:solidFill>
                <a:latin typeface="Berlin Sans FB Demi" pitchFamily="34" charset="0"/>
              </a:rPr>
              <a:t>5. FORMULACIÓN ESTRATÉGICA</a:t>
            </a:r>
            <a:r>
              <a:rPr lang="es-ES" dirty="0" smtClean="0"/>
              <a:t/>
            </a:r>
            <a:br>
              <a:rPr lang="es-ES" dirty="0" smtClean="0"/>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98307" name="2 Marcador de contenido"/>
          <p:cNvSpPr>
            <a:spLocks noGrp="1"/>
          </p:cNvSpPr>
          <p:nvPr>
            <p:ph idx="1"/>
          </p:nvPr>
        </p:nvSpPr>
        <p:spPr>
          <a:xfrm>
            <a:off x="457200" y="2428875"/>
            <a:ext cx="8229600" cy="3697288"/>
          </a:xfrm>
        </p:spPr>
        <p:txBody>
          <a:bodyPr/>
          <a:lstStyle/>
          <a:p>
            <a:pPr algn="just">
              <a:buFont typeface="Arial" charset="0"/>
              <a:buNone/>
              <a:defRPr/>
            </a:pPr>
            <a:endParaRPr lang="es-ES" dirty="0" smtClean="0">
              <a:latin typeface="Berlin Sans FB" pitchFamily="34" charset="0"/>
            </a:endParaRPr>
          </a:p>
          <a:p>
            <a:pPr algn="just">
              <a:buFont typeface="Arial" charset="0"/>
              <a:buNone/>
              <a:defRPr/>
            </a:pPr>
            <a:endParaRPr lang="es-ES" dirty="0" smtClean="0">
              <a:latin typeface="Berlin Sans FB" pitchFamily="34" charset="0"/>
            </a:endParaRPr>
          </a:p>
          <a:p>
            <a:pPr algn="just">
              <a:buFont typeface="Arial" charset="0"/>
              <a:buNone/>
              <a:defRPr/>
            </a:pPr>
            <a:r>
              <a:rPr lang="es-ES" sz="2700" dirty="0" smtClean="0">
                <a:solidFill>
                  <a:schemeClr val="accent1">
                    <a:lumMod val="75000"/>
                  </a:schemeClr>
                </a:solidFill>
                <a:latin typeface="Berlin Sans FB" pitchFamily="34" charset="0"/>
              </a:rPr>
              <a:t>3. POCOS Y VITALES:</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Los proyectos estratégicos deben ser pocos. Se aconseja no mas de 5, con el fin de facilitar su monitoria y control.</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1 Título"/>
          <p:cNvSpPr>
            <a:spLocks noGrp="1"/>
          </p:cNvSpPr>
          <p:nvPr>
            <p:ph type="title"/>
          </p:nvPr>
        </p:nvSpPr>
        <p:spPr>
          <a:xfrm>
            <a:off x="500063" y="785813"/>
            <a:ext cx="8229600" cy="1143000"/>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99331" name="2 Marcador de contenido"/>
          <p:cNvSpPr>
            <a:spLocks noGrp="1"/>
          </p:cNvSpPr>
          <p:nvPr>
            <p:ph idx="1"/>
          </p:nvPr>
        </p:nvSpPr>
        <p:spPr>
          <a:xfrm>
            <a:off x="457200" y="2857500"/>
            <a:ext cx="8229600" cy="3268663"/>
          </a:xfrm>
        </p:spPr>
        <p:txBody>
          <a:bodyPr/>
          <a:lstStyle/>
          <a:p>
            <a:pPr>
              <a:buFont typeface="Arial" charset="0"/>
              <a:buNone/>
              <a:defRPr/>
            </a:pPr>
            <a:endParaRPr lang="es-ES" dirty="0" smtClean="0"/>
          </a:p>
          <a:p>
            <a:pPr algn="just">
              <a:buFont typeface="Arial" charset="0"/>
              <a:buNone/>
              <a:defRPr/>
            </a:pPr>
            <a:r>
              <a:rPr lang="es-ES" sz="2700" dirty="0" smtClean="0">
                <a:solidFill>
                  <a:schemeClr val="accent1">
                    <a:lumMod val="75000"/>
                  </a:schemeClr>
                </a:solidFill>
                <a:latin typeface="Berlin Sans FB" pitchFamily="34" charset="0"/>
              </a:rPr>
              <a:t>4. DINAMICOS:</a:t>
            </a:r>
          </a:p>
          <a:p>
            <a:pPr algn="just">
              <a:buFont typeface="Arial" charset="0"/>
              <a:buNone/>
              <a:defRPr/>
            </a:pPr>
            <a:endParaRPr lang="es-ES" sz="2700"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    Los proyectos estratégicos deben conducir a la acción y por lo tanto deben empezar con la frase “DEBEMOS O NECESITAMOS”.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1 Título"/>
          <p:cNvSpPr>
            <a:spLocks noGrp="1"/>
          </p:cNvSpPr>
          <p:nvPr>
            <p:ph type="title"/>
          </p:nvPr>
        </p:nvSpPr>
        <p:spPr>
          <a:xfrm>
            <a:off x="457200" y="714375"/>
            <a:ext cx="8229600" cy="928688"/>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sz="3200" dirty="0" smtClean="0">
                <a:solidFill>
                  <a:schemeClr val="accent1">
                    <a:lumMod val="75000"/>
                  </a:schemeClr>
                </a:solidFill>
              </a:rPr>
              <a:t/>
            </a:r>
            <a:br>
              <a:rPr lang="es-ES" sz="3200" dirty="0" smtClean="0">
                <a:solidFill>
                  <a:schemeClr val="accent1">
                    <a:lumMod val="75000"/>
                  </a:schemeClr>
                </a:solidFill>
              </a:rPr>
            </a:br>
            <a:r>
              <a:rPr lang="es-ES" sz="3200" dirty="0" smtClean="0">
                <a:solidFill>
                  <a:schemeClr val="accent1">
                    <a:lumMod val="75000"/>
                  </a:schemeClr>
                </a:solidFill>
                <a:latin typeface="Berlin Sans FB" pitchFamily="34" charset="0"/>
              </a:rPr>
              <a:t>5.1  PROYECTOS ESTRATEGICOS</a:t>
            </a:r>
          </a:p>
        </p:txBody>
      </p:sp>
      <p:sp>
        <p:nvSpPr>
          <p:cNvPr id="100355" name="2 Marcador de contenido"/>
          <p:cNvSpPr>
            <a:spLocks noGrp="1"/>
          </p:cNvSpPr>
          <p:nvPr>
            <p:ph idx="1"/>
          </p:nvPr>
        </p:nvSpPr>
        <p:spPr>
          <a:xfrm>
            <a:off x="457200" y="2714625"/>
            <a:ext cx="8229600" cy="3411538"/>
          </a:xfrm>
        </p:spPr>
        <p:txBody>
          <a:bodyPr/>
          <a:lstStyle/>
          <a:p>
            <a:pPr>
              <a:buFont typeface="Arial" charset="0"/>
              <a:buNone/>
              <a:defRPr/>
            </a:pPr>
            <a:endParaRPr lang="es-ES" sz="2700" dirty="0" smtClean="0">
              <a:solidFill>
                <a:schemeClr val="accent1">
                  <a:lumMod val="75000"/>
                </a:schemeClr>
              </a:solidFill>
            </a:endParaRPr>
          </a:p>
          <a:p>
            <a:pPr algn="just">
              <a:buFont typeface="Arial" charset="0"/>
              <a:buNone/>
              <a:defRPr/>
            </a:pPr>
            <a:r>
              <a:rPr lang="es-ES" sz="2700" dirty="0" smtClean="0">
                <a:latin typeface="Berlin Sans FB" pitchFamily="34" charset="0"/>
              </a:rPr>
              <a:t>Ejemplos de proyectos Estratégicos:</a:t>
            </a:r>
          </a:p>
          <a:p>
            <a:pPr algn="just">
              <a:buFont typeface="Arial" charset="0"/>
              <a:buNone/>
              <a:defRPr/>
            </a:pPr>
            <a:endParaRPr lang="es-ES" sz="2700" dirty="0" smtClean="0">
              <a:latin typeface="Berlin Sans FB" pitchFamily="34" charset="0"/>
            </a:endParaRPr>
          </a:p>
          <a:p>
            <a:pPr algn="just">
              <a:defRPr/>
            </a:pPr>
            <a:r>
              <a:rPr lang="es-ES" sz="2700" dirty="0" smtClean="0">
                <a:latin typeface="Berlin Sans FB" pitchFamily="34" charset="0"/>
              </a:rPr>
              <a:t>Debemos conocer mejor las necesidades y expectativas del cliente y de la competencia.</a:t>
            </a:r>
          </a:p>
          <a:p>
            <a:pPr algn="just">
              <a:defRPr/>
            </a:pPr>
            <a:r>
              <a:rPr lang="es-ES" sz="2700" dirty="0" smtClean="0">
                <a:latin typeface="Berlin Sans FB" pitchFamily="34" charset="0"/>
              </a:rPr>
              <a:t>Necesitamos reducir costos a todo el nivel.</a:t>
            </a:r>
          </a:p>
          <a:p>
            <a:pPr algn="just">
              <a:defRPr/>
            </a:pPr>
            <a:r>
              <a:rPr lang="es-ES" sz="2700" dirty="0" smtClean="0">
                <a:latin typeface="Berlin Sans FB" pitchFamily="34" charset="0"/>
              </a:rPr>
              <a:t>Debemos modernizarnos tecnológicamente.</a:t>
            </a:r>
          </a:p>
          <a:p>
            <a:pPr>
              <a:defRPr/>
            </a:pPr>
            <a:endParaRPr lang="es-ES" dirty="0" smtClean="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1 Título"/>
          <p:cNvSpPr>
            <a:spLocks noGrp="1"/>
          </p:cNvSpPr>
          <p:nvPr>
            <p:ph type="title"/>
          </p:nvPr>
        </p:nvSpPr>
        <p:spPr>
          <a:xfrm>
            <a:off x="457200" y="928688"/>
            <a:ext cx="8229600" cy="785812"/>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latin typeface="Berlin Sans FB Demi" pitchFamily="34" charset="0"/>
              </a:rPr>
              <a:t/>
            </a:r>
            <a:br>
              <a:rPr lang="es-ES" dirty="0" smtClean="0">
                <a:latin typeface="Berlin Sans FB Demi" pitchFamily="34" charset="0"/>
              </a:rPr>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83971" name="2 Marcador de contenido"/>
          <p:cNvSpPr>
            <a:spLocks noGrp="1"/>
          </p:cNvSpPr>
          <p:nvPr>
            <p:ph idx="1"/>
          </p:nvPr>
        </p:nvSpPr>
        <p:spPr>
          <a:xfrm>
            <a:off x="457200" y="2857500"/>
            <a:ext cx="8229600" cy="3268663"/>
          </a:xfrm>
        </p:spPr>
        <p:txBody>
          <a:bodyPr/>
          <a:lstStyle/>
          <a:p>
            <a:endParaRPr lang="es-ES" smtClean="0"/>
          </a:p>
          <a:p>
            <a:pPr algn="just"/>
            <a:r>
              <a:rPr lang="es-ES" sz="2700" smtClean="0">
                <a:latin typeface="Berlin Sans FB" pitchFamily="34" charset="0"/>
              </a:rPr>
              <a:t>Para la selección de los proyectos Estratégicos se debe tener en cuenta:</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1 Título"/>
          <p:cNvSpPr>
            <a:spLocks noGrp="1"/>
          </p:cNvSpPr>
          <p:nvPr>
            <p:ph type="title"/>
          </p:nvPr>
        </p:nvSpPr>
        <p:spPr>
          <a:xfrm>
            <a:off x="457200" y="642938"/>
            <a:ext cx="8229600" cy="1285875"/>
          </a:xfrm>
        </p:spPr>
        <p:txBody>
          <a:bodyPr/>
          <a:lstStyle/>
          <a:p>
            <a:pPr>
              <a:defRPr/>
            </a:pPr>
            <a:r>
              <a:rPr lang="es-ES" dirty="0" smtClean="0"/>
              <a:t/>
            </a:r>
            <a:br>
              <a:rPr lang="es-ES" dirty="0" smtClean="0"/>
            </a:b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t/>
            </a:r>
            <a:br>
              <a:rPr lang="es-ES" dirty="0" smtClean="0"/>
            </a:br>
            <a:r>
              <a:rPr lang="es-ES" dirty="0" smtClean="0"/>
              <a:t/>
            </a:r>
            <a:br>
              <a:rPr lang="es-ES" dirty="0" smtClean="0"/>
            </a:br>
            <a:r>
              <a:rPr lang="es-ES" sz="3200" dirty="0" smtClean="0">
                <a:solidFill>
                  <a:schemeClr val="accent1">
                    <a:lumMod val="75000"/>
                  </a:schemeClr>
                </a:solidFill>
                <a:latin typeface="Berlin Sans FB" pitchFamily="34" charset="0"/>
              </a:rPr>
              <a:t>5.1  PROYECTOS ESTRATEGICOS</a:t>
            </a:r>
          </a:p>
        </p:txBody>
      </p:sp>
      <p:sp>
        <p:nvSpPr>
          <p:cNvPr id="84995" name="2 Marcador de contenido"/>
          <p:cNvSpPr>
            <a:spLocks noGrp="1"/>
          </p:cNvSpPr>
          <p:nvPr>
            <p:ph idx="1"/>
          </p:nvPr>
        </p:nvSpPr>
        <p:spPr>
          <a:xfrm>
            <a:off x="457200" y="2857500"/>
            <a:ext cx="8229600" cy="3268663"/>
          </a:xfrm>
        </p:spPr>
        <p:txBody>
          <a:bodyPr/>
          <a:lstStyle/>
          <a:p>
            <a:pPr marL="514350" indent="-514350" algn="just">
              <a:buFont typeface="Arial" charset="0"/>
              <a:buNone/>
            </a:pPr>
            <a:endParaRPr lang="es-ES" sz="2700" smtClean="0"/>
          </a:p>
          <a:p>
            <a:pPr marL="514350" indent="-514350" algn="just">
              <a:buFont typeface="Arial" charset="0"/>
              <a:buNone/>
            </a:pPr>
            <a:r>
              <a:rPr lang="es-ES" sz="2700" smtClean="0">
                <a:latin typeface="Berlin Sans FB" pitchFamily="34" charset="0"/>
              </a:rPr>
              <a:t>a. La visión y la misión corporativa.</a:t>
            </a:r>
          </a:p>
          <a:p>
            <a:pPr marL="514350" indent="-514350" algn="just">
              <a:buFont typeface="Arial" charset="0"/>
              <a:buNone/>
            </a:pPr>
            <a:r>
              <a:rPr lang="es-ES" sz="2700" smtClean="0">
                <a:latin typeface="Berlin Sans FB" pitchFamily="34" charset="0"/>
              </a:rPr>
              <a:t>b. Los objetivos corporativos.</a:t>
            </a:r>
          </a:p>
          <a:p>
            <a:pPr marL="514350" indent="-514350" algn="just">
              <a:buFont typeface="Arial" charset="0"/>
              <a:buNone/>
            </a:pPr>
            <a:r>
              <a:rPr lang="es-ES" sz="2700" smtClean="0">
                <a:latin typeface="Berlin Sans FB" pitchFamily="34" charset="0"/>
              </a:rPr>
              <a:t>c. Los proyectos estratégicos deben señalar hacia “los POCOS VITALES”.</a:t>
            </a:r>
          </a:p>
          <a:p>
            <a:pPr marL="514350" indent="-514350" algn="just">
              <a:buFont typeface="Arial" charset="0"/>
              <a:buNone/>
            </a:pPr>
            <a:r>
              <a:rPr lang="es-ES" sz="2700" smtClean="0">
                <a:latin typeface="Berlin Sans FB" pitchFamily="34" charset="0"/>
              </a:rPr>
              <a:t>d. Los proyectos pueden coincidir con las áreas funcionales.</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1 Título"/>
          <p:cNvSpPr>
            <a:spLocks noGrp="1"/>
          </p:cNvSpPr>
          <p:nvPr>
            <p:ph type="title"/>
          </p:nvPr>
        </p:nvSpPr>
        <p:spPr>
          <a:xfrm>
            <a:off x="457200" y="928688"/>
            <a:ext cx="82296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103427" name="2 Marcador de contenido"/>
          <p:cNvSpPr>
            <a:spLocks noGrp="1"/>
          </p:cNvSpPr>
          <p:nvPr>
            <p:ph idx="1"/>
          </p:nvPr>
        </p:nvSpPr>
        <p:spPr>
          <a:xfrm>
            <a:off x="457200" y="1285875"/>
            <a:ext cx="8229600" cy="4840288"/>
          </a:xfrm>
        </p:spPr>
        <p:txBody>
          <a:bodyPr/>
          <a:lstStyle/>
          <a:p>
            <a:pPr algn="ctr">
              <a:buFont typeface="Arial" charset="0"/>
              <a:buNone/>
              <a:defRPr/>
            </a:pPr>
            <a:endParaRPr lang="es-ES" sz="4000" dirty="0" smtClean="0">
              <a:latin typeface="Berlin Sans FB Demi" pitchFamily="34" charset="0"/>
            </a:endParaRPr>
          </a:p>
          <a:p>
            <a:pPr algn="ctr">
              <a:buFont typeface="Arial" charset="0"/>
              <a:buNone/>
              <a:defRPr/>
            </a:pPr>
            <a:endParaRPr lang="es-ES" sz="4000" dirty="0" smtClean="0">
              <a:latin typeface="Berlin Sans FB Demi" pitchFamily="34" charset="0"/>
            </a:endParaRPr>
          </a:p>
          <a:p>
            <a:pPr algn="ctr">
              <a:buFont typeface="Arial" charset="0"/>
              <a:buNone/>
              <a:defRPr/>
            </a:pPr>
            <a:r>
              <a:rPr lang="es-ES" dirty="0" smtClean="0">
                <a:solidFill>
                  <a:schemeClr val="accent1">
                    <a:lumMod val="75000"/>
                  </a:schemeClr>
                </a:solidFill>
                <a:latin typeface="Berlin Sans FB" pitchFamily="34" charset="0"/>
              </a:rPr>
              <a:t>5.2  MATRIZ DE CORRELACION</a:t>
            </a:r>
          </a:p>
          <a:p>
            <a:pPr>
              <a:buFont typeface="Arial" charset="0"/>
              <a:buNone/>
              <a:defRPr/>
            </a:pPr>
            <a:endParaRPr lang="es-ES" sz="4000" dirty="0" smtClean="0">
              <a:latin typeface="Berlin Sans FB" pitchFamily="34" charset="0"/>
            </a:endParaRPr>
          </a:p>
          <a:p>
            <a:pPr algn="just">
              <a:buFont typeface="Arial" charset="0"/>
              <a:buNone/>
              <a:defRPr/>
            </a:pPr>
            <a:r>
              <a:rPr lang="es-ES" sz="2700" dirty="0" smtClean="0">
                <a:solidFill>
                  <a:schemeClr val="accent1">
                    <a:lumMod val="75000"/>
                  </a:schemeClr>
                </a:solidFill>
                <a:latin typeface="Berlin Sans FB" pitchFamily="34" charset="0"/>
              </a:rPr>
              <a:t>    </a:t>
            </a:r>
            <a:r>
              <a:rPr lang="es-ES" sz="2700" dirty="0" smtClean="0">
                <a:latin typeface="Berlin Sans FB" pitchFamily="34" charset="0"/>
              </a:rPr>
              <a:t>La Matriz de Correlación permite un análisis de consistencia entre los proyectos estratégicos y los objetivos globales.</a:t>
            </a:r>
            <a:endParaRPr lang="es-ES" sz="2700" dirty="0" smtClean="0">
              <a:latin typeface="Berlin Sans FB Demi"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1 Título"/>
          <p:cNvSpPr>
            <a:spLocks noGrp="1"/>
          </p:cNvSpPr>
          <p:nvPr>
            <p:ph type="title"/>
          </p:nvPr>
        </p:nvSpPr>
        <p:spPr>
          <a:xfrm>
            <a:off x="457200" y="0"/>
            <a:ext cx="8229600" cy="2500313"/>
          </a:xfrm>
        </p:spPr>
        <p:txBody>
          <a:bodyPr/>
          <a:lstStyle/>
          <a:p>
            <a:pPr>
              <a:defRPr/>
            </a:pPr>
            <a:r>
              <a:rPr lang="es-ES" dirty="0" smtClean="0">
                <a:latin typeface="Berlin Sans FB Demi" pitchFamily="34" charset="0"/>
              </a:rPr>
              <a:t/>
            </a:r>
            <a:br>
              <a:rPr lang="es-ES" dirty="0" smtClean="0">
                <a:latin typeface="Berlin Sans FB Demi" pitchFamily="34" charset="0"/>
              </a:rPr>
            </a:br>
            <a:r>
              <a:rPr lang="es-ES" dirty="0" smtClean="0">
                <a:latin typeface="Berlin Sans FB Demi" pitchFamily="34" charset="0"/>
              </a:rPr>
              <a:t/>
            </a:r>
            <a:br>
              <a:rPr lang="es-ES" dirty="0" smtClean="0">
                <a:latin typeface="Berlin Sans FB Demi" pitchFamily="34" charset="0"/>
              </a:rPr>
            </a:br>
            <a:r>
              <a:rPr lang="es-ES" sz="3200" dirty="0" smtClean="0">
                <a:solidFill>
                  <a:schemeClr val="accent1">
                    <a:lumMod val="75000"/>
                  </a:schemeClr>
                </a:solidFill>
                <a:latin typeface="Berlin Sans FB" pitchFamily="34" charset="0"/>
              </a:rPr>
              <a:t>5.2  MATRIZ DE CORRELACION</a:t>
            </a:r>
            <a:r>
              <a:rPr lang="es-ES" dirty="0" smtClean="0">
                <a:latin typeface="Berlin Sans FB" pitchFamily="34" charset="0"/>
              </a:rPr>
              <a:t/>
            </a:r>
            <a:br>
              <a:rPr lang="es-ES" dirty="0" smtClean="0">
                <a:latin typeface="Berlin Sans FB" pitchFamily="34" charset="0"/>
              </a:rPr>
            </a:br>
            <a:endParaRPr lang="es-ES" dirty="0" smtClean="0"/>
          </a:p>
        </p:txBody>
      </p:sp>
      <p:sp>
        <p:nvSpPr>
          <p:cNvPr id="104451" name="4 Rectángulo"/>
          <p:cNvSpPr>
            <a:spLocks noChangeArrowheads="1"/>
          </p:cNvSpPr>
          <p:nvPr/>
        </p:nvSpPr>
        <p:spPr bwMode="auto">
          <a:xfrm>
            <a:off x="0" y="642938"/>
            <a:ext cx="8786813" cy="708025"/>
          </a:xfrm>
          <a:prstGeom prst="rect">
            <a:avLst/>
          </a:prstGeom>
          <a:noFill/>
          <a:ln w="9525">
            <a:noFill/>
            <a:miter lim="800000"/>
            <a:headEnd/>
            <a:tailEnd/>
          </a:ln>
        </p:spPr>
        <p:txBody>
          <a:bodyPr>
            <a:spAutoFit/>
          </a:bodyPr>
          <a:lstStyle/>
          <a:p>
            <a:pPr algn="ctr">
              <a:defRPr/>
            </a:pPr>
            <a:r>
              <a:rPr lang="es-ES" sz="4000" dirty="0">
                <a:solidFill>
                  <a:schemeClr val="accent1">
                    <a:lumMod val="75000"/>
                  </a:schemeClr>
                </a:solidFill>
                <a:latin typeface="Berlin Sans FB Demi" pitchFamily="34" charset="0"/>
              </a:rPr>
              <a:t>5. FORMULACIÓN ESTRATÉGICA</a:t>
            </a:r>
          </a:p>
        </p:txBody>
      </p:sp>
      <p:graphicFrame>
        <p:nvGraphicFramePr>
          <p:cNvPr id="7" name="6 Marcador de contenido"/>
          <p:cNvGraphicFramePr>
            <a:graphicFrameLocks noGrp="1"/>
          </p:cNvGraphicFramePr>
          <p:nvPr>
            <p:ph idx="1"/>
          </p:nvPr>
        </p:nvGraphicFramePr>
        <p:xfrm>
          <a:off x="357188" y="1785938"/>
          <a:ext cx="8229600" cy="4572036"/>
        </p:xfrm>
        <a:graphic>
          <a:graphicData uri="http://schemas.openxmlformats.org/drawingml/2006/table">
            <a:tbl>
              <a:tblPr firstRow="1" bandRow="1">
                <a:tableStyleId>{5C22544A-7EE6-4342-B048-85BDC9FD1C3A}</a:tableStyleId>
              </a:tblPr>
              <a:tblGrid>
                <a:gridCol w="1571636"/>
                <a:gridCol w="1171564"/>
                <a:gridCol w="1371600"/>
                <a:gridCol w="1371600"/>
                <a:gridCol w="1371600"/>
                <a:gridCol w="1371600"/>
              </a:tblGrid>
              <a:tr h="762006">
                <a:tc>
                  <a:txBody>
                    <a:bodyPr/>
                    <a:lstStyle/>
                    <a:p>
                      <a:r>
                        <a:rPr lang="es-ES" dirty="0" smtClean="0"/>
                        <a:t>OBJETIVOS</a:t>
                      </a:r>
                      <a:endParaRPr lang="es-ES" dirty="0"/>
                    </a:p>
                  </a:txBody>
                  <a:tcPr/>
                </a:tc>
                <a:tc>
                  <a:txBody>
                    <a:bodyPr/>
                    <a:lstStyle/>
                    <a:p>
                      <a:r>
                        <a:rPr lang="es-ES" dirty="0" smtClean="0"/>
                        <a:t>OBJETIVO 1</a:t>
                      </a:r>
                      <a:endParaRPr lang="es-ES" dirty="0"/>
                    </a:p>
                  </a:txBody>
                  <a:tcPr/>
                </a:tc>
                <a:tc>
                  <a:txBody>
                    <a:bodyPr/>
                    <a:lstStyle/>
                    <a:p>
                      <a:r>
                        <a:rPr lang="es-ES" dirty="0" smtClean="0"/>
                        <a:t>OBJETIVO 2</a:t>
                      </a:r>
                      <a:endParaRPr lang="es-ES" dirty="0"/>
                    </a:p>
                  </a:txBody>
                  <a:tcPr/>
                </a:tc>
                <a:tc>
                  <a:txBody>
                    <a:bodyPr/>
                    <a:lstStyle/>
                    <a:p>
                      <a:r>
                        <a:rPr lang="es-ES" dirty="0" smtClean="0"/>
                        <a:t>OBJETIVO 3</a:t>
                      </a:r>
                      <a:endParaRPr lang="es-ES" dirty="0"/>
                    </a:p>
                  </a:txBody>
                  <a:tcPr/>
                </a:tc>
                <a:tc>
                  <a:txBody>
                    <a:bodyPr/>
                    <a:lstStyle/>
                    <a:p>
                      <a:r>
                        <a:rPr lang="es-ES" dirty="0" smtClean="0"/>
                        <a:t>OBJETIVO 4</a:t>
                      </a:r>
                      <a:endParaRPr lang="es-ES" dirty="0"/>
                    </a:p>
                  </a:txBody>
                  <a:tcPr/>
                </a:tc>
                <a:tc>
                  <a:txBody>
                    <a:bodyPr/>
                    <a:lstStyle/>
                    <a:p>
                      <a:r>
                        <a:rPr lang="es-ES" dirty="0" smtClean="0"/>
                        <a:t>OBJETIVO 5</a:t>
                      </a:r>
                      <a:endParaRPr lang="es-ES" dirty="0"/>
                    </a:p>
                  </a:txBody>
                  <a:tcPr/>
                </a:tc>
              </a:tr>
              <a:tr h="762006">
                <a:tc>
                  <a:txBody>
                    <a:bodyPr/>
                    <a:lstStyle/>
                    <a:p>
                      <a:r>
                        <a:rPr lang="es-ES" dirty="0" smtClean="0"/>
                        <a:t>PROYECTOS</a:t>
                      </a:r>
                      <a:r>
                        <a:rPr lang="es-ES" baseline="0" dirty="0" smtClean="0"/>
                        <a:t>  </a:t>
                      </a:r>
                    </a:p>
                    <a:p>
                      <a:r>
                        <a:rPr lang="es-ES" baseline="0" dirty="0" smtClean="0"/>
                        <a:t>ESTRATEGICOS</a:t>
                      </a:r>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r>
              <a:tr h="762006">
                <a:tc>
                  <a:txBody>
                    <a:bodyPr/>
                    <a:lstStyle/>
                    <a:p>
                      <a:r>
                        <a:rPr lang="es-ES" dirty="0" smtClean="0"/>
                        <a:t>PROYECTO 1</a:t>
                      </a:r>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r>
              <a:tr h="762006">
                <a:tc>
                  <a:txBody>
                    <a:bodyPr/>
                    <a:lstStyle/>
                    <a:p>
                      <a:r>
                        <a:rPr lang="es-ES" dirty="0" smtClean="0"/>
                        <a:t>PROYECTO 2</a:t>
                      </a:r>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r>
              <a:tr h="762006">
                <a:tc>
                  <a:txBody>
                    <a:bodyPr/>
                    <a:lstStyle/>
                    <a:p>
                      <a:r>
                        <a:rPr lang="es-ES" dirty="0" smtClean="0"/>
                        <a:t>PROYECTO 3</a:t>
                      </a:r>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r>
              <a:tr h="762006">
                <a:tc>
                  <a:txBody>
                    <a:bodyPr/>
                    <a:lstStyle/>
                    <a:p>
                      <a:r>
                        <a:rPr lang="es-ES" dirty="0" smtClean="0"/>
                        <a:t>PROYECTO 4</a:t>
                      </a:r>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r>
            </a:tbl>
          </a:graphicData>
        </a:graphic>
      </p:graphicFrame>
      <p:sp>
        <p:nvSpPr>
          <p:cNvPr id="5" name="4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5 CuadroTexto"/>
          <p:cNvSpPr txBox="1">
            <a:spLocks noChangeArrowheads="1"/>
          </p:cNvSpPr>
          <p:nvPr/>
        </p:nvSpPr>
        <p:spPr bwMode="auto">
          <a:xfrm>
            <a:off x="571500" y="2786063"/>
            <a:ext cx="7929563" cy="3000375"/>
          </a:xfrm>
          <a:prstGeom prst="rect">
            <a:avLst/>
          </a:prstGeom>
          <a:noFill/>
          <a:ln w="9525">
            <a:noFill/>
            <a:miter lim="800000"/>
            <a:headEnd/>
            <a:tailEnd/>
          </a:ln>
        </p:spPr>
        <p:txBody>
          <a:bodyPr>
            <a:spAutoFit/>
          </a:bodyPr>
          <a:lstStyle/>
          <a:p>
            <a:pPr algn="just">
              <a:defRPr/>
            </a:pPr>
            <a:r>
              <a:rPr lang="es-ES" sz="2700" dirty="0">
                <a:latin typeface="Berlin Sans FB" pitchFamily="34" charset="0"/>
              </a:rPr>
              <a:t>PARA LA ELABORACION DE LA MATRIZ:</a:t>
            </a:r>
          </a:p>
          <a:p>
            <a:pPr algn="just">
              <a:defRPr/>
            </a:pPr>
            <a:endParaRPr lang="es-ES" sz="2700" dirty="0">
              <a:latin typeface="Berlin Sans FB" pitchFamily="34" charset="0"/>
            </a:endParaRPr>
          </a:p>
          <a:p>
            <a:pPr algn="just">
              <a:defRPr/>
            </a:pPr>
            <a:r>
              <a:rPr lang="es-ES" sz="2700" dirty="0">
                <a:latin typeface="Berlin Sans FB" pitchFamily="34" charset="0"/>
              </a:rPr>
              <a:t>1.Seleccione para cada proyecto estratégico, las estrategias básicas mas importantes, no mas de 5 por cada proyecto.</a:t>
            </a:r>
          </a:p>
          <a:p>
            <a:pPr algn="just">
              <a:defRPr/>
            </a:pPr>
            <a:endParaRPr lang="es-ES" sz="2700" dirty="0">
              <a:latin typeface="Berlin Sans FB" pitchFamily="34" charset="0"/>
            </a:endParaRPr>
          </a:p>
          <a:p>
            <a:pPr>
              <a:defRPr/>
            </a:pPr>
            <a:endParaRPr lang="es-ES" sz="2700" dirty="0">
              <a:solidFill>
                <a:schemeClr val="accent1">
                  <a:lumMod val="75000"/>
                </a:schemeClr>
              </a:solidFill>
              <a:latin typeface="Berlin Sans FB" pitchFamily="34" charset="0"/>
            </a:endParaRPr>
          </a:p>
        </p:txBody>
      </p:sp>
      <p:sp>
        <p:nvSpPr>
          <p:cNvPr id="7" name="6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8" name="7 Rectángulo"/>
          <p:cNvSpPr/>
          <p:nvPr/>
        </p:nvSpPr>
        <p:spPr>
          <a:xfrm>
            <a:off x="0" y="857250"/>
            <a:ext cx="9144000" cy="708025"/>
          </a:xfrm>
          <a:prstGeom prst="rect">
            <a:avLst/>
          </a:prstGeom>
        </p:spPr>
        <p:txBody>
          <a:bodyPr>
            <a:spAutoFit/>
          </a:bodyPr>
          <a:lstStyle/>
          <a:p>
            <a:pPr algn="ctr">
              <a:defRPr/>
            </a:pPr>
            <a:r>
              <a:rPr lang="es-ES" sz="4000" dirty="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
        <p:nvSpPr>
          <p:cNvPr id="9" name="8 Rectángulo"/>
          <p:cNvSpPr/>
          <p:nvPr/>
        </p:nvSpPr>
        <p:spPr>
          <a:xfrm>
            <a:off x="428625" y="1643063"/>
            <a:ext cx="8288338" cy="584200"/>
          </a:xfrm>
          <a:prstGeom prst="rect">
            <a:avLst/>
          </a:prstGeom>
        </p:spPr>
        <p:txBody>
          <a:bodyPr>
            <a:spAutoFit/>
          </a:bodyPr>
          <a:lstStyle/>
          <a:p>
            <a:pPr algn="ctr">
              <a:defRPr/>
            </a:pPr>
            <a:r>
              <a:rPr lang="es-ES" sz="3200" dirty="0">
                <a:solidFill>
                  <a:schemeClr val="accent1">
                    <a:lumMod val="75000"/>
                  </a:schemeClr>
                </a:solidFill>
                <a:latin typeface="Berlin Sans FB" pitchFamily="34" charset="0"/>
              </a:rPr>
              <a:t>5.4 MATRIZ DE CORRELACION</a:t>
            </a:r>
            <a:endParaRPr lang="es-ES" sz="3200" dirty="0">
              <a:solidFill>
                <a:schemeClr val="accent1">
                  <a:lumMod val="75000"/>
                </a:schemeClr>
              </a:solidFill>
              <a:latin typeface="Berlin Sans FB" pitchFamily="34"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3 Título"/>
          <p:cNvSpPr>
            <a:spLocks noGrp="1"/>
          </p:cNvSpPr>
          <p:nvPr>
            <p:ph type="ctrTitle"/>
          </p:nvPr>
        </p:nvSpPr>
        <p:spPr>
          <a:xfrm>
            <a:off x="685800" y="1000125"/>
            <a:ext cx="7772400" cy="857250"/>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57313" y="1857375"/>
            <a:ext cx="6400800" cy="928688"/>
          </a:xfrm>
        </p:spPr>
        <p:txBody>
          <a:bodyPr/>
          <a:lstStyle/>
          <a:p>
            <a:pPr>
              <a:defRPr/>
            </a:pPr>
            <a:r>
              <a:rPr lang="es-ES" dirty="0" smtClean="0">
                <a:solidFill>
                  <a:schemeClr val="accent1">
                    <a:lumMod val="75000"/>
                  </a:schemeClr>
                </a:solidFill>
                <a:latin typeface="Berlin Sans FB" pitchFamily="34" charset="0"/>
              </a:rPr>
              <a:t>5.4 MATIRZ DE CORRELACION</a:t>
            </a:r>
          </a:p>
          <a:p>
            <a:pPr>
              <a:defRPr/>
            </a:pPr>
            <a:endParaRPr lang="es-ES" dirty="0"/>
          </a:p>
        </p:txBody>
      </p:sp>
      <p:sp>
        <p:nvSpPr>
          <p:cNvPr id="89092" name="6 CuadroTexto"/>
          <p:cNvSpPr txBox="1">
            <a:spLocks noChangeArrowheads="1"/>
          </p:cNvSpPr>
          <p:nvPr/>
        </p:nvSpPr>
        <p:spPr bwMode="auto">
          <a:xfrm>
            <a:off x="428625" y="2571750"/>
            <a:ext cx="8358188" cy="2662238"/>
          </a:xfrm>
          <a:prstGeom prst="rect">
            <a:avLst/>
          </a:prstGeom>
          <a:noFill/>
          <a:ln w="9525">
            <a:noFill/>
            <a:miter lim="800000"/>
            <a:headEnd/>
            <a:tailEnd/>
          </a:ln>
        </p:spPr>
        <p:txBody>
          <a:bodyPr>
            <a:spAutoFit/>
          </a:bodyPr>
          <a:lstStyle/>
          <a:p>
            <a:endParaRPr lang="es-ES" sz="3200">
              <a:latin typeface="Berlin Sans FB" pitchFamily="34" charset="0"/>
            </a:endParaRPr>
          </a:p>
          <a:p>
            <a:pPr algn="just"/>
            <a:r>
              <a:rPr lang="es-ES" sz="2700">
                <a:latin typeface="Berlin Sans FB" pitchFamily="34" charset="0"/>
              </a:rPr>
              <a:t>PARA LA ELABORACION DE LA MATRIZ:</a:t>
            </a:r>
          </a:p>
          <a:p>
            <a:pPr algn="just"/>
            <a:endParaRPr lang="es-ES" sz="2700">
              <a:latin typeface="Berlin Sans FB" pitchFamily="34" charset="0"/>
            </a:endParaRPr>
          </a:p>
          <a:p>
            <a:pPr algn="just"/>
            <a:r>
              <a:rPr lang="es-ES" sz="2700">
                <a:latin typeface="Berlin Sans FB" pitchFamily="34" charset="0"/>
              </a:rPr>
              <a:t>2. Redáctelas de forma tal que reflejen una acción concreta, sobre la cual sea posible determinar tareas o acciones concretas.</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3 Título"/>
          <p:cNvSpPr>
            <a:spLocks noGrp="1"/>
          </p:cNvSpPr>
          <p:nvPr>
            <p:ph type="ctrTitle"/>
          </p:nvPr>
        </p:nvSpPr>
        <p:spPr>
          <a:xfrm>
            <a:off x="685800" y="1000125"/>
            <a:ext cx="7772400" cy="928688"/>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71600" y="2214563"/>
            <a:ext cx="6400800" cy="785812"/>
          </a:xfrm>
        </p:spPr>
        <p:txBody>
          <a:bodyPr/>
          <a:lstStyle/>
          <a:p>
            <a:pPr>
              <a:defRPr/>
            </a:pPr>
            <a:r>
              <a:rPr lang="es-ES" dirty="0" smtClean="0">
                <a:solidFill>
                  <a:schemeClr val="accent1">
                    <a:lumMod val="75000"/>
                  </a:schemeClr>
                </a:solidFill>
                <a:latin typeface="Berlin Sans FB" pitchFamily="34" charset="0"/>
              </a:rPr>
              <a:t>5.4 MATIRZ DE CORRELACION</a:t>
            </a:r>
          </a:p>
          <a:p>
            <a:pPr>
              <a:defRPr/>
            </a:pPr>
            <a:endParaRPr lang="es-ES" dirty="0"/>
          </a:p>
        </p:txBody>
      </p:sp>
      <p:sp>
        <p:nvSpPr>
          <p:cNvPr id="90116" name="7 CuadroTexto"/>
          <p:cNvSpPr txBox="1">
            <a:spLocks noChangeArrowheads="1"/>
          </p:cNvSpPr>
          <p:nvPr/>
        </p:nvSpPr>
        <p:spPr bwMode="auto">
          <a:xfrm>
            <a:off x="714375" y="2714625"/>
            <a:ext cx="7858125" cy="2662238"/>
          </a:xfrm>
          <a:prstGeom prst="rect">
            <a:avLst/>
          </a:prstGeom>
          <a:noFill/>
          <a:ln w="9525">
            <a:noFill/>
            <a:miter lim="800000"/>
            <a:headEnd/>
            <a:tailEnd/>
          </a:ln>
        </p:spPr>
        <p:txBody>
          <a:bodyPr>
            <a:spAutoFit/>
          </a:bodyPr>
          <a:lstStyle/>
          <a:p>
            <a:endParaRPr lang="es-ES" sz="3200">
              <a:latin typeface="Berlin Sans FB" pitchFamily="34" charset="0"/>
            </a:endParaRPr>
          </a:p>
          <a:p>
            <a:pPr algn="just"/>
            <a:r>
              <a:rPr lang="es-ES" sz="2700">
                <a:latin typeface="Berlin Sans FB" pitchFamily="34" charset="0"/>
              </a:rPr>
              <a:t>PARA LA ELABORACION DE LA MATRIZ:</a:t>
            </a:r>
          </a:p>
          <a:p>
            <a:pPr algn="just"/>
            <a:endParaRPr lang="es-ES" sz="2700">
              <a:latin typeface="Berlin Sans FB" pitchFamily="34" charset="0"/>
            </a:endParaRPr>
          </a:p>
          <a:p>
            <a:pPr algn="just"/>
            <a:r>
              <a:rPr lang="es-ES" sz="2700">
                <a:latin typeface="Berlin Sans FB" pitchFamily="34" charset="0"/>
              </a:rPr>
              <a:t>3. Señale al responsable  de cada estrategia. Estos pueden ser una Unidad Estratégica u Operativa, o también una persona.</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1 Título"/>
          <p:cNvSpPr>
            <a:spLocks noGrp="1"/>
          </p:cNvSpPr>
          <p:nvPr>
            <p:ph type="title"/>
          </p:nvPr>
        </p:nvSpPr>
        <p:spPr>
          <a:xfrm>
            <a:off x="457200" y="571500"/>
            <a:ext cx="8229600" cy="1285875"/>
          </a:xfrm>
        </p:spPr>
        <p:txBody>
          <a:bodyPr/>
          <a:lstStyle/>
          <a:p>
            <a:pPr>
              <a:defRPr/>
            </a:pPr>
            <a:r>
              <a:rPr lang="es-ES" dirty="0" smtClean="0"/>
              <a:t/>
            </a:r>
            <a:br>
              <a:rPr lang="es-ES" dirty="0" smtClean="0"/>
            </a:br>
            <a:r>
              <a:rPr lang="es-ES" sz="4000" dirty="0" smtClean="0">
                <a:solidFill>
                  <a:schemeClr val="accent1">
                    <a:lumMod val="75000"/>
                  </a:schemeClr>
                </a:solidFill>
                <a:latin typeface="Berlin Sans FB Demi" pitchFamily="34" charset="0"/>
              </a:rPr>
              <a:t>5. FORMULACIÓN ESTRATÉGICA</a:t>
            </a:r>
            <a:r>
              <a:rPr lang="es-ES" dirty="0" smtClean="0"/>
              <a:t/>
            </a:r>
            <a:br>
              <a:rPr lang="es-ES" dirty="0" smtClean="0"/>
            </a:br>
            <a:endParaRPr lang="es-ES" dirty="0" smtClean="0"/>
          </a:p>
        </p:txBody>
      </p:sp>
      <p:sp>
        <p:nvSpPr>
          <p:cNvPr id="105475" name="2 Marcador de contenido"/>
          <p:cNvSpPr>
            <a:spLocks noGrp="1"/>
          </p:cNvSpPr>
          <p:nvPr>
            <p:ph idx="1"/>
          </p:nvPr>
        </p:nvSpPr>
        <p:spPr>
          <a:xfrm>
            <a:off x="571500" y="1571625"/>
            <a:ext cx="8229600" cy="4983163"/>
          </a:xfrm>
        </p:spPr>
        <p:txBody>
          <a:bodyPr/>
          <a:lstStyle/>
          <a:p>
            <a:pPr algn="ctr">
              <a:buFont typeface="Arial" charset="0"/>
              <a:buNone/>
              <a:defRPr/>
            </a:pPr>
            <a:endParaRPr lang="es-ES" dirty="0" smtClean="0"/>
          </a:p>
          <a:p>
            <a:pPr algn="ctr">
              <a:buFont typeface="Arial" charset="0"/>
              <a:buNone/>
              <a:defRPr/>
            </a:pPr>
            <a:r>
              <a:rPr lang="es-ES" dirty="0" smtClean="0"/>
              <a:t> </a:t>
            </a:r>
            <a:r>
              <a:rPr lang="es-ES" dirty="0" smtClean="0">
                <a:solidFill>
                  <a:schemeClr val="accent1">
                    <a:lumMod val="75000"/>
                  </a:schemeClr>
                </a:solidFill>
                <a:latin typeface="Berlin Sans FB" pitchFamily="34" charset="0"/>
              </a:rPr>
              <a:t>5.3  ESTRATEGIAS</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dirty="0" smtClean="0">
                <a:latin typeface="Berlin Sans FB" pitchFamily="34" charset="0"/>
              </a:rPr>
              <a:t>   </a:t>
            </a:r>
            <a:r>
              <a:rPr lang="es-ES" sz="2700" dirty="0" smtClean="0">
                <a:latin typeface="Berlin Sans FB" pitchFamily="34" charset="0"/>
              </a:rPr>
              <a:t>Para el proceso de cada proyecto deben  definirse las   estrategias mediante las cuales se desarrollara.</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Las estrategias son el “cómo” de los proyectos; permiten alcanzar cada proyecto estratégico.</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1 Título"/>
          <p:cNvSpPr>
            <a:spLocks noGrp="1"/>
          </p:cNvSpPr>
          <p:nvPr>
            <p:ph type="ctrTitle"/>
          </p:nvPr>
        </p:nvSpPr>
        <p:spPr>
          <a:xfrm>
            <a:off x="685800" y="642938"/>
            <a:ext cx="7772400" cy="928687"/>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4" name="3 Subtítulo"/>
          <p:cNvSpPr>
            <a:spLocks noGrp="1"/>
          </p:cNvSpPr>
          <p:nvPr>
            <p:ph type="subTitle" idx="1"/>
          </p:nvPr>
        </p:nvSpPr>
        <p:spPr>
          <a:xfrm>
            <a:off x="1371600" y="1785938"/>
            <a:ext cx="6400800" cy="857250"/>
          </a:xfrm>
        </p:spPr>
        <p:txBody>
          <a:bodyPr/>
          <a:lstStyle/>
          <a:p>
            <a:pPr>
              <a:defRPr/>
            </a:pPr>
            <a:r>
              <a:rPr lang="es-ES" dirty="0" smtClean="0">
                <a:solidFill>
                  <a:schemeClr val="accent1">
                    <a:lumMod val="75000"/>
                  </a:schemeClr>
                </a:solidFill>
                <a:latin typeface="Berlin Sans FB" pitchFamily="34" charset="0"/>
              </a:rPr>
              <a:t>5.3  ESTRATEGIAS</a:t>
            </a:r>
            <a:endParaRPr lang="es-ES" dirty="0">
              <a:solidFill>
                <a:schemeClr val="accent1">
                  <a:lumMod val="75000"/>
                </a:schemeClr>
              </a:solidFill>
              <a:latin typeface="Berlin Sans FB" pitchFamily="34" charset="0"/>
            </a:endParaRPr>
          </a:p>
        </p:txBody>
      </p:sp>
      <p:sp>
        <p:nvSpPr>
          <p:cNvPr id="106500" name="4 CuadroTexto"/>
          <p:cNvSpPr txBox="1">
            <a:spLocks noChangeArrowheads="1"/>
          </p:cNvSpPr>
          <p:nvPr/>
        </p:nvSpPr>
        <p:spPr bwMode="auto">
          <a:xfrm>
            <a:off x="857250" y="2357438"/>
            <a:ext cx="7643813" cy="5986462"/>
          </a:xfrm>
          <a:prstGeom prst="rect">
            <a:avLst/>
          </a:prstGeom>
          <a:noFill/>
          <a:ln w="9525">
            <a:noFill/>
            <a:miter lim="800000"/>
            <a:headEnd/>
            <a:tailEnd/>
          </a:ln>
        </p:spPr>
        <p:txBody>
          <a:bodyPr>
            <a:spAutoFit/>
          </a:bodyPr>
          <a:lstStyle/>
          <a:p>
            <a:pPr>
              <a:defRPr/>
            </a:pPr>
            <a:endParaRPr lang="es-ES" sz="3200" dirty="0"/>
          </a:p>
          <a:p>
            <a:pPr>
              <a:defRPr/>
            </a:pPr>
            <a:endParaRPr lang="es-ES" sz="2700" dirty="0">
              <a:solidFill>
                <a:schemeClr val="accent1">
                  <a:lumMod val="75000"/>
                </a:schemeClr>
              </a:solidFill>
            </a:endParaRPr>
          </a:p>
          <a:p>
            <a:pPr algn="just">
              <a:defRPr/>
            </a:pPr>
            <a:r>
              <a:rPr lang="es-ES" sz="2700" dirty="0"/>
              <a:t>Las estrategias resultan de responder preguntas como:</a:t>
            </a:r>
          </a:p>
          <a:p>
            <a:pPr algn="just">
              <a:defRPr/>
            </a:pPr>
            <a:endParaRPr lang="es-ES" sz="2700" dirty="0"/>
          </a:p>
          <a:p>
            <a:pPr algn="just">
              <a:buFont typeface="Arial" charset="0"/>
              <a:buChar char="•"/>
              <a:defRPr/>
            </a:pPr>
            <a:r>
              <a:rPr lang="es-ES" sz="2700" dirty="0"/>
              <a:t>¿Que debo hacer para alcanzar, para lograr la ejecución cabal del proyecto A?</a:t>
            </a:r>
          </a:p>
          <a:p>
            <a:pPr>
              <a:defRPr/>
            </a:pPr>
            <a:endParaRPr lang="es-ES" sz="2700" dirty="0">
              <a:solidFill>
                <a:schemeClr val="accent1">
                  <a:lumMod val="75000"/>
                </a:schemeClr>
              </a:solidFill>
            </a:endParaRPr>
          </a:p>
          <a:p>
            <a:pPr>
              <a:defRPr/>
            </a:pPr>
            <a:endParaRPr lang="es-ES" dirty="0"/>
          </a:p>
          <a:p>
            <a:pPr>
              <a:defRPr/>
            </a:pPr>
            <a:endParaRPr lang="es-ES" dirty="0"/>
          </a:p>
          <a:p>
            <a:pPr>
              <a:defRPr/>
            </a:pPr>
            <a:endParaRPr lang="es-ES" dirty="0"/>
          </a:p>
          <a:p>
            <a:pPr>
              <a:defRPr/>
            </a:pPr>
            <a:endParaRPr lang="es-ES" dirty="0"/>
          </a:p>
          <a:p>
            <a:pPr>
              <a:defRPr/>
            </a:pPr>
            <a:endParaRPr lang="es-ES" dirty="0"/>
          </a:p>
          <a:p>
            <a:pPr>
              <a:defRPr/>
            </a:pPr>
            <a:endParaRPr lang="es-ES" dirty="0"/>
          </a:p>
          <a:p>
            <a:pPr>
              <a:defRPr/>
            </a:pPr>
            <a:endParaRPr lang="es-ES" dirty="0"/>
          </a:p>
          <a:p>
            <a:pPr>
              <a:defRPr/>
            </a:pPr>
            <a:endParaRPr lang="es-ES" dirty="0"/>
          </a:p>
          <a:p>
            <a:pPr>
              <a:defRPr/>
            </a:pPr>
            <a:endParaRPr lang="es-ES" dirty="0"/>
          </a:p>
        </p:txBody>
      </p:sp>
      <p:sp>
        <p:nvSpPr>
          <p:cNvPr id="5" name="4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3 Título"/>
          <p:cNvSpPr>
            <a:spLocks noGrp="1"/>
          </p:cNvSpPr>
          <p:nvPr>
            <p:ph type="ctrTitle"/>
          </p:nvPr>
        </p:nvSpPr>
        <p:spPr>
          <a:xfrm>
            <a:off x="685800" y="928688"/>
            <a:ext cx="7772400" cy="642937"/>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285875" y="1857375"/>
            <a:ext cx="6400800" cy="928688"/>
          </a:xfrm>
        </p:spPr>
        <p:txBody>
          <a:bodyPr/>
          <a:lstStyle/>
          <a:p>
            <a:pPr>
              <a:defRPr/>
            </a:pPr>
            <a:r>
              <a:rPr lang="es-ES" dirty="0" smtClean="0">
                <a:solidFill>
                  <a:schemeClr val="accent1">
                    <a:lumMod val="75000"/>
                  </a:schemeClr>
                </a:solidFill>
                <a:latin typeface="Berlin Sans FB" pitchFamily="34" charset="0"/>
              </a:rPr>
              <a:t>5.3  ESTRATEGIAS</a:t>
            </a:r>
            <a:endParaRPr lang="es-ES" dirty="0">
              <a:solidFill>
                <a:schemeClr val="accent1">
                  <a:lumMod val="75000"/>
                </a:schemeClr>
              </a:solidFill>
              <a:latin typeface="Berlin Sans FB" pitchFamily="34" charset="0"/>
            </a:endParaRPr>
          </a:p>
        </p:txBody>
      </p:sp>
      <p:sp>
        <p:nvSpPr>
          <p:cNvPr id="107524" name="5 CuadroTexto"/>
          <p:cNvSpPr txBox="1">
            <a:spLocks noChangeArrowheads="1"/>
          </p:cNvSpPr>
          <p:nvPr/>
        </p:nvSpPr>
        <p:spPr bwMode="auto">
          <a:xfrm>
            <a:off x="500063" y="2857500"/>
            <a:ext cx="8215312" cy="1754188"/>
          </a:xfrm>
          <a:prstGeom prst="rect">
            <a:avLst/>
          </a:prstGeom>
          <a:noFill/>
          <a:ln w="9525">
            <a:noFill/>
            <a:miter lim="800000"/>
            <a:headEnd/>
            <a:tailEnd/>
          </a:ln>
        </p:spPr>
        <p:txBody>
          <a:bodyPr>
            <a:spAutoFit/>
          </a:bodyPr>
          <a:lstStyle/>
          <a:p>
            <a:pPr algn="just">
              <a:buFont typeface="Arial" charset="0"/>
              <a:buChar char="•"/>
              <a:defRPr/>
            </a:pPr>
            <a:endParaRPr lang="es-ES" sz="2700" dirty="0">
              <a:solidFill>
                <a:schemeClr val="accent1">
                  <a:lumMod val="75000"/>
                </a:schemeClr>
              </a:solidFill>
            </a:endParaRPr>
          </a:p>
          <a:p>
            <a:pPr algn="just">
              <a:buFont typeface="Arial" charset="0"/>
              <a:buChar char="•"/>
              <a:defRPr/>
            </a:pPr>
            <a:r>
              <a:rPr lang="es-ES" sz="2700" dirty="0"/>
              <a:t> ¿Cuales son las acciones básicas que se deben realizar para lograr la realización del proyecto estratégico?</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3 Título"/>
          <p:cNvSpPr>
            <a:spLocks noGrp="1"/>
          </p:cNvSpPr>
          <p:nvPr>
            <p:ph type="ctrTitle"/>
          </p:nvPr>
        </p:nvSpPr>
        <p:spPr>
          <a:xfrm>
            <a:off x="685800" y="714375"/>
            <a:ext cx="7772400" cy="857250"/>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71600" y="1857375"/>
            <a:ext cx="6400800" cy="785813"/>
          </a:xfrm>
        </p:spPr>
        <p:txBody>
          <a:bodyPr/>
          <a:lstStyle/>
          <a:p>
            <a:pPr>
              <a:defRPr/>
            </a:pPr>
            <a:r>
              <a:rPr lang="es-ES" dirty="0" smtClean="0">
                <a:solidFill>
                  <a:schemeClr val="accent1">
                    <a:lumMod val="75000"/>
                  </a:schemeClr>
                </a:solidFill>
                <a:latin typeface="Berlin Sans FB" pitchFamily="34" charset="0"/>
              </a:rPr>
              <a:t>5.3  ESTRATEGIAS</a:t>
            </a:r>
          </a:p>
          <a:p>
            <a:pPr>
              <a:defRPr/>
            </a:pPr>
            <a:endParaRPr lang="es-ES" dirty="0"/>
          </a:p>
        </p:txBody>
      </p:sp>
      <p:sp>
        <p:nvSpPr>
          <p:cNvPr id="108548" name="5 CuadroTexto"/>
          <p:cNvSpPr txBox="1">
            <a:spLocks noChangeArrowheads="1"/>
          </p:cNvSpPr>
          <p:nvPr/>
        </p:nvSpPr>
        <p:spPr bwMode="auto">
          <a:xfrm>
            <a:off x="500063" y="2857500"/>
            <a:ext cx="7858125" cy="2586038"/>
          </a:xfrm>
          <a:prstGeom prst="rect">
            <a:avLst/>
          </a:prstGeom>
          <a:noFill/>
          <a:ln w="9525">
            <a:noFill/>
            <a:miter lim="800000"/>
            <a:headEnd/>
            <a:tailEnd/>
          </a:ln>
        </p:spPr>
        <p:txBody>
          <a:bodyPr>
            <a:spAutoFit/>
          </a:bodyPr>
          <a:lstStyle/>
          <a:p>
            <a:pPr>
              <a:defRPr/>
            </a:pPr>
            <a:endParaRPr lang="es-ES" sz="2700" dirty="0">
              <a:solidFill>
                <a:schemeClr val="accent1">
                  <a:lumMod val="75000"/>
                </a:schemeClr>
              </a:solidFill>
              <a:latin typeface="Berlin Sans FB" pitchFamily="34" charset="0"/>
            </a:endParaRPr>
          </a:p>
          <a:p>
            <a:pPr algn="just">
              <a:defRPr/>
            </a:pPr>
            <a:r>
              <a:rPr lang="es-ES" sz="2700" dirty="0">
                <a:latin typeface="Berlin Sans FB" pitchFamily="34" charset="0"/>
              </a:rPr>
              <a:t>Para cada proyecto deben definirse las estrategias y los responsables de cada estrategia.</a:t>
            </a:r>
          </a:p>
          <a:p>
            <a:pPr algn="just">
              <a:defRPr/>
            </a:pPr>
            <a:endParaRPr lang="es-ES" sz="2700" dirty="0">
              <a:latin typeface="Berlin Sans FB" pitchFamily="34" charset="0"/>
            </a:endParaRPr>
          </a:p>
          <a:p>
            <a:pPr algn="just">
              <a:defRPr/>
            </a:pPr>
            <a:r>
              <a:rPr lang="es-ES" sz="2700" dirty="0">
                <a:latin typeface="Berlin Sans FB" pitchFamily="34" charset="0"/>
              </a:rPr>
              <a:t>El responsable puede ser una unidad o un grupo de personas.</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nvPr>
        </p:nvGraphicFramePr>
        <p:xfrm>
          <a:off x="500063" y="2071688"/>
          <a:ext cx="8229600" cy="4211655"/>
        </p:xfrm>
        <a:graphic>
          <a:graphicData uri="http://schemas.openxmlformats.org/drawingml/2006/table">
            <a:tbl>
              <a:tblPr firstRow="1" bandRow="1">
                <a:tableStyleId>{5C22544A-7EE6-4342-B048-85BDC9FD1C3A}</a:tableStyleId>
              </a:tblPr>
              <a:tblGrid>
                <a:gridCol w="4114800"/>
                <a:gridCol w="4114800"/>
              </a:tblGrid>
              <a:tr h="842331">
                <a:tc>
                  <a:txBody>
                    <a:bodyPr/>
                    <a:lstStyle/>
                    <a:p>
                      <a:r>
                        <a:rPr lang="es-ES" sz="2400" dirty="0" smtClean="0">
                          <a:latin typeface="Berlin Sans FB" pitchFamily="34" charset="0"/>
                        </a:rPr>
                        <a:t>NOMBRE DEL PROYECTO</a:t>
                      </a:r>
                      <a:endParaRPr lang="es-ES" sz="2400" dirty="0">
                        <a:latin typeface="Berlin Sans FB" pitchFamily="34" charset="0"/>
                      </a:endParaRPr>
                    </a:p>
                  </a:txBody>
                  <a:tcPr/>
                </a:tc>
                <a:tc>
                  <a:txBody>
                    <a:bodyPr/>
                    <a:lstStyle/>
                    <a:p>
                      <a:r>
                        <a:rPr lang="es-ES" sz="2400" dirty="0" smtClean="0">
                          <a:latin typeface="Berlin Sans FB" pitchFamily="34" charset="0"/>
                        </a:rPr>
                        <a:t>RESPONSABLE</a:t>
                      </a:r>
                      <a:endParaRPr lang="es-ES" sz="2400" dirty="0">
                        <a:latin typeface="Berlin Sans FB" pitchFamily="34" charset="0"/>
                      </a:endParaRPr>
                    </a:p>
                  </a:txBody>
                  <a:tcPr/>
                </a:tc>
              </a:tr>
              <a:tr h="842331">
                <a:tc>
                  <a:txBody>
                    <a:bodyPr/>
                    <a:lstStyle/>
                    <a:p>
                      <a:r>
                        <a:rPr lang="es-ES" sz="2400" dirty="0" smtClean="0">
                          <a:latin typeface="Berlin Sans FB" pitchFamily="34" charset="0"/>
                        </a:rPr>
                        <a:t>ESTRATEGIA 1</a:t>
                      </a:r>
                      <a:endParaRPr lang="es-ES" sz="2400" dirty="0">
                        <a:latin typeface="Berlin Sans FB" pitchFamily="34" charset="0"/>
                      </a:endParaRPr>
                    </a:p>
                  </a:txBody>
                  <a:tcPr/>
                </a:tc>
                <a:tc>
                  <a:txBody>
                    <a:bodyPr/>
                    <a:lstStyle/>
                    <a:p>
                      <a:endParaRPr lang="es-ES" sz="2400">
                        <a:latin typeface="Berlin Sans FB" pitchFamily="34" charset="0"/>
                      </a:endParaRPr>
                    </a:p>
                  </a:txBody>
                  <a:tcPr/>
                </a:tc>
              </a:tr>
              <a:tr h="842331">
                <a:tc>
                  <a:txBody>
                    <a:bodyPr/>
                    <a:lstStyle/>
                    <a:p>
                      <a:r>
                        <a:rPr lang="es-ES" sz="2400" dirty="0" smtClean="0">
                          <a:latin typeface="Berlin Sans FB" pitchFamily="34" charset="0"/>
                        </a:rPr>
                        <a:t>ESTRATEGIA 2</a:t>
                      </a:r>
                      <a:endParaRPr lang="es-ES" sz="2400" dirty="0">
                        <a:latin typeface="Berlin Sans FB" pitchFamily="34" charset="0"/>
                      </a:endParaRPr>
                    </a:p>
                  </a:txBody>
                  <a:tcPr/>
                </a:tc>
                <a:tc>
                  <a:txBody>
                    <a:bodyPr/>
                    <a:lstStyle/>
                    <a:p>
                      <a:endParaRPr lang="es-ES" sz="2400">
                        <a:latin typeface="Berlin Sans FB" pitchFamily="34" charset="0"/>
                      </a:endParaRPr>
                    </a:p>
                  </a:txBody>
                  <a:tcPr/>
                </a:tc>
              </a:tr>
              <a:tr h="842331">
                <a:tc>
                  <a:txBody>
                    <a:bodyPr/>
                    <a:lstStyle/>
                    <a:p>
                      <a:r>
                        <a:rPr lang="es-ES" sz="2400" dirty="0" smtClean="0">
                          <a:latin typeface="Berlin Sans FB" pitchFamily="34" charset="0"/>
                        </a:rPr>
                        <a:t>ESTRATEGIA 3</a:t>
                      </a:r>
                      <a:endParaRPr lang="es-ES" sz="2400" dirty="0">
                        <a:latin typeface="Berlin Sans FB" pitchFamily="34" charset="0"/>
                      </a:endParaRPr>
                    </a:p>
                  </a:txBody>
                  <a:tcPr/>
                </a:tc>
                <a:tc>
                  <a:txBody>
                    <a:bodyPr/>
                    <a:lstStyle/>
                    <a:p>
                      <a:endParaRPr lang="es-ES" sz="2400">
                        <a:latin typeface="Berlin Sans FB" pitchFamily="34" charset="0"/>
                      </a:endParaRPr>
                    </a:p>
                  </a:txBody>
                  <a:tcPr/>
                </a:tc>
              </a:tr>
              <a:tr h="842331">
                <a:tc>
                  <a:txBody>
                    <a:bodyPr/>
                    <a:lstStyle/>
                    <a:p>
                      <a:r>
                        <a:rPr lang="es-ES" sz="2400" dirty="0" smtClean="0">
                          <a:latin typeface="Berlin Sans FB" pitchFamily="34" charset="0"/>
                        </a:rPr>
                        <a:t>ESTRATEGIA 4</a:t>
                      </a:r>
                      <a:endParaRPr lang="es-ES" sz="2400" dirty="0">
                        <a:latin typeface="Berlin Sans FB" pitchFamily="34" charset="0"/>
                      </a:endParaRPr>
                    </a:p>
                  </a:txBody>
                  <a:tcPr/>
                </a:tc>
                <a:tc>
                  <a:txBody>
                    <a:bodyPr/>
                    <a:lstStyle/>
                    <a:p>
                      <a:endParaRPr lang="es-ES" sz="2400" dirty="0">
                        <a:latin typeface="Berlin Sans FB" pitchFamily="34" charset="0"/>
                      </a:endParaRPr>
                    </a:p>
                  </a:txBody>
                  <a:tcPr/>
                </a:tc>
              </a:tr>
            </a:tbl>
          </a:graphicData>
        </a:graphic>
      </p:graphicFrame>
      <p:sp>
        <p:nvSpPr>
          <p:cNvPr id="5" name="4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7" name="6 Rectángulo"/>
          <p:cNvSpPr/>
          <p:nvPr/>
        </p:nvSpPr>
        <p:spPr>
          <a:xfrm>
            <a:off x="0" y="785813"/>
            <a:ext cx="8858250" cy="708025"/>
          </a:xfrm>
          <a:prstGeom prst="rect">
            <a:avLst/>
          </a:prstGeom>
        </p:spPr>
        <p:txBody>
          <a:bodyPr>
            <a:spAutoFit/>
          </a:bodyPr>
          <a:lstStyle/>
          <a:p>
            <a:pPr algn="ctr">
              <a:defRPr/>
            </a:pPr>
            <a:r>
              <a:rPr lang="es-ES" sz="4000" dirty="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
        <p:nvSpPr>
          <p:cNvPr id="8" name="7 Rectángulo"/>
          <p:cNvSpPr/>
          <p:nvPr/>
        </p:nvSpPr>
        <p:spPr>
          <a:xfrm>
            <a:off x="571500" y="1428750"/>
            <a:ext cx="7929563" cy="584200"/>
          </a:xfrm>
          <a:prstGeom prst="rect">
            <a:avLst/>
          </a:prstGeom>
        </p:spPr>
        <p:txBody>
          <a:bodyPr>
            <a:spAutoFit/>
          </a:bodyPr>
          <a:lstStyle/>
          <a:p>
            <a:pPr algn="ctr">
              <a:defRPr/>
            </a:pPr>
            <a:r>
              <a:rPr lang="es-ES" sz="3200" dirty="0">
                <a:solidFill>
                  <a:schemeClr val="accent1">
                    <a:lumMod val="75000"/>
                  </a:schemeClr>
                </a:solidFill>
                <a:latin typeface="Berlin Sans FB" pitchFamily="34" charset="0"/>
              </a:rPr>
              <a:t>5.3  ESTRATEGIAS</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3 Título"/>
          <p:cNvSpPr>
            <a:spLocks noGrp="1"/>
          </p:cNvSpPr>
          <p:nvPr>
            <p:ph type="ctrTitle"/>
          </p:nvPr>
        </p:nvSpPr>
        <p:spPr>
          <a:xfrm>
            <a:off x="685800" y="642938"/>
            <a:ext cx="7772400" cy="642937"/>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71600" y="1500188"/>
            <a:ext cx="6400800" cy="714375"/>
          </a:xfrm>
        </p:spPr>
        <p:txBody>
          <a:bodyPr/>
          <a:lstStyle/>
          <a:p>
            <a:pPr>
              <a:defRPr/>
            </a:pPr>
            <a:r>
              <a:rPr lang="es-ES" dirty="0" smtClean="0">
                <a:solidFill>
                  <a:schemeClr val="accent1">
                    <a:lumMod val="75000"/>
                  </a:schemeClr>
                </a:solidFill>
                <a:latin typeface="Berlin Sans FB Demi" pitchFamily="34" charset="0"/>
              </a:rPr>
              <a:t>5.4  Planes de Acción </a:t>
            </a:r>
            <a:endParaRPr lang="es-ES" dirty="0">
              <a:solidFill>
                <a:schemeClr val="accent1">
                  <a:lumMod val="75000"/>
                </a:schemeClr>
              </a:solidFill>
              <a:latin typeface="Berlin Sans FB Demi" pitchFamily="34" charset="0"/>
            </a:endParaRPr>
          </a:p>
        </p:txBody>
      </p:sp>
      <p:sp>
        <p:nvSpPr>
          <p:cNvPr id="96260" name="5 CuadroTexto"/>
          <p:cNvSpPr txBox="1">
            <a:spLocks noChangeArrowheads="1"/>
          </p:cNvSpPr>
          <p:nvPr/>
        </p:nvSpPr>
        <p:spPr bwMode="auto">
          <a:xfrm>
            <a:off x="428625" y="2357438"/>
            <a:ext cx="8286750" cy="4400550"/>
          </a:xfrm>
          <a:prstGeom prst="rect">
            <a:avLst/>
          </a:prstGeom>
          <a:noFill/>
          <a:ln w="9525">
            <a:noFill/>
            <a:miter lim="800000"/>
            <a:headEnd/>
            <a:tailEnd/>
          </a:ln>
        </p:spPr>
        <p:txBody>
          <a:bodyPr>
            <a:spAutoFit/>
          </a:bodyPr>
          <a:lstStyle/>
          <a:p>
            <a:pPr algn="just"/>
            <a:r>
              <a:rPr lang="es-ES" sz="2700">
                <a:latin typeface="Berlin Sans FB" pitchFamily="34" charset="0"/>
              </a:rPr>
              <a:t>PLAN OPERATIVO:</a:t>
            </a:r>
          </a:p>
          <a:p>
            <a:pPr algn="just"/>
            <a:endParaRPr lang="es-ES" sz="2700">
              <a:latin typeface="Berlin Sans FB" pitchFamily="34" charset="0"/>
            </a:endParaRPr>
          </a:p>
          <a:p>
            <a:pPr algn="just"/>
            <a:r>
              <a:rPr lang="es-ES" sz="2700">
                <a:latin typeface="Berlin Sans FB" pitchFamily="34" charset="0"/>
              </a:rPr>
              <a:t>En esta etapa del proceso, cada una de las personas o unidades responsables de los proyectos estratégicos deberán desarrollar  “El Plan de Acción” para alcanzar los resultados esperados en el tiempo definido.</a:t>
            </a:r>
          </a:p>
          <a:p>
            <a:pPr algn="just"/>
            <a:endParaRPr lang="es-ES" sz="2700">
              <a:latin typeface="Berlin Sans FB" pitchFamily="34" charset="0"/>
            </a:endParaRPr>
          </a:p>
          <a:p>
            <a:pPr algn="just"/>
            <a:r>
              <a:rPr lang="es-ES" sz="2700">
                <a:latin typeface="Berlin Sans FB" pitchFamily="34" charset="0"/>
              </a:rPr>
              <a:t>Para ello deberán: </a:t>
            </a:r>
          </a:p>
          <a:p>
            <a:endParaRPr lang="es-ES" sz="2800">
              <a:latin typeface="Berlin Sans FB" pitchFamily="34" charset="0"/>
            </a:endParaRPr>
          </a:p>
          <a:p>
            <a:endParaRPr lang="es-ES" sz="2800">
              <a:latin typeface="Berlin Sans FB" pitchFamily="34" charset="0"/>
            </a:endParaRP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3 Título"/>
          <p:cNvSpPr>
            <a:spLocks noGrp="1"/>
          </p:cNvSpPr>
          <p:nvPr>
            <p:ph type="ctrTitle"/>
          </p:nvPr>
        </p:nvSpPr>
        <p:spPr>
          <a:xfrm>
            <a:off x="685800" y="1000125"/>
            <a:ext cx="77724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71600" y="1857375"/>
            <a:ext cx="6400800" cy="714375"/>
          </a:xfrm>
        </p:spPr>
        <p:txBody>
          <a:bodyPr/>
          <a:lstStyle/>
          <a:p>
            <a:pPr>
              <a:defRPr/>
            </a:pPr>
            <a:r>
              <a:rPr lang="es-ES" dirty="0" smtClean="0">
                <a:solidFill>
                  <a:schemeClr val="accent1">
                    <a:lumMod val="75000"/>
                  </a:schemeClr>
                </a:solidFill>
                <a:latin typeface="Berlin Sans FB" pitchFamily="34" charset="0"/>
              </a:rPr>
              <a:t>5.4  Planes de Acción </a:t>
            </a:r>
          </a:p>
          <a:p>
            <a:pPr>
              <a:defRPr/>
            </a:pPr>
            <a:endParaRPr lang="es-ES" dirty="0">
              <a:solidFill>
                <a:schemeClr val="accent1">
                  <a:lumMod val="75000"/>
                </a:schemeClr>
              </a:solidFill>
              <a:latin typeface="Berlin Sans FB" pitchFamily="34" charset="0"/>
            </a:endParaRPr>
          </a:p>
        </p:txBody>
      </p:sp>
      <p:sp>
        <p:nvSpPr>
          <p:cNvPr id="97284" name="5 CuadroTexto"/>
          <p:cNvSpPr txBox="1">
            <a:spLocks noChangeArrowheads="1"/>
          </p:cNvSpPr>
          <p:nvPr/>
        </p:nvSpPr>
        <p:spPr bwMode="auto">
          <a:xfrm>
            <a:off x="642938" y="2428875"/>
            <a:ext cx="8143875" cy="3600450"/>
          </a:xfrm>
          <a:prstGeom prst="rect">
            <a:avLst/>
          </a:prstGeom>
          <a:noFill/>
          <a:ln w="9525">
            <a:noFill/>
            <a:miter lim="800000"/>
            <a:headEnd/>
            <a:tailEnd/>
          </a:ln>
        </p:spPr>
        <p:txBody>
          <a:bodyPr>
            <a:spAutoFit/>
          </a:bodyPr>
          <a:lstStyle/>
          <a:p>
            <a:pPr marL="342900" indent="-342900">
              <a:buFontTx/>
              <a:buAutoNum type="arabicPeriod"/>
            </a:pPr>
            <a:endParaRPr lang="es-ES" sz="3200"/>
          </a:p>
          <a:p>
            <a:pPr marL="342900" indent="-342900" algn="just">
              <a:buFontTx/>
              <a:buAutoNum type="arabicPeriod"/>
            </a:pPr>
            <a:r>
              <a:rPr lang="es-ES" sz="2700">
                <a:latin typeface="Berlin Sans FB" pitchFamily="34" charset="0"/>
              </a:rPr>
              <a:t>ESTABLECER UN INDICADOR DE ÉXITO GLOBAL PARA LOS PROYECTOS ESTRATEGICOS.</a:t>
            </a:r>
          </a:p>
          <a:p>
            <a:pPr marL="342900" indent="-342900" algn="just"/>
            <a:endParaRPr lang="es-ES" sz="2800">
              <a:latin typeface="Berlin Sans FB" pitchFamily="34" charset="0"/>
            </a:endParaRPr>
          </a:p>
          <a:p>
            <a:pPr marL="342900" indent="-342900" algn="just"/>
            <a:r>
              <a:rPr lang="es-ES" sz="2700">
                <a:latin typeface="Berlin Sans FB" pitchFamily="34" charset="0"/>
              </a:rPr>
              <a:t>Por ejemplo: Ampliar  la participación en el mercado de un 100%</a:t>
            </a:r>
          </a:p>
          <a:p>
            <a:pPr marL="342900" indent="-342900" algn="just">
              <a:buFont typeface="Arial" charset="0"/>
              <a:buChar char="•"/>
            </a:pPr>
            <a:r>
              <a:rPr lang="es-ES" sz="2700">
                <a:latin typeface="Berlin Sans FB" pitchFamily="34" charset="0"/>
              </a:rPr>
              <a:t>Asegurar la permanencia y retención de los clientes.</a:t>
            </a:r>
          </a:p>
          <a:p>
            <a:pPr marL="342900" indent="-342900" algn="just">
              <a:buFont typeface="Arial" charset="0"/>
              <a:buChar char="•"/>
            </a:pPr>
            <a:r>
              <a:rPr lang="es-ES" sz="2700">
                <a:latin typeface="Berlin Sans FB" pitchFamily="34" charset="0"/>
              </a:rPr>
              <a:t>Disminuir costos de personal.</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3 Título"/>
          <p:cNvSpPr>
            <a:spLocks noGrp="1"/>
          </p:cNvSpPr>
          <p:nvPr>
            <p:ph type="ctrTitle"/>
          </p:nvPr>
        </p:nvSpPr>
        <p:spPr>
          <a:xfrm>
            <a:off x="685800" y="857250"/>
            <a:ext cx="7772400" cy="642938"/>
          </a:xfrm>
        </p:spPr>
        <p:txBody>
          <a:bodyPr/>
          <a:lstStyle/>
          <a:p>
            <a:pPr>
              <a:defRPr/>
            </a:pPr>
            <a:r>
              <a:rPr lang="es-ES" sz="4000" dirty="0" smtClean="0">
                <a:solidFill>
                  <a:schemeClr val="accent1">
                    <a:lumMod val="75000"/>
                  </a:schemeClr>
                </a:solidFill>
                <a:latin typeface="Berlin Sans FB Demi" pitchFamily="34" charset="0"/>
              </a:rPr>
              <a:t>5. FORMULACIÓN ESTRATÉGICA</a:t>
            </a:r>
          </a:p>
        </p:txBody>
      </p:sp>
      <p:sp>
        <p:nvSpPr>
          <p:cNvPr id="5" name="4 Subtítulo"/>
          <p:cNvSpPr>
            <a:spLocks noGrp="1"/>
          </p:cNvSpPr>
          <p:nvPr>
            <p:ph type="subTitle" idx="1"/>
          </p:nvPr>
        </p:nvSpPr>
        <p:spPr>
          <a:xfrm>
            <a:off x="1371600" y="1714500"/>
            <a:ext cx="6400800" cy="714375"/>
          </a:xfrm>
        </p:spPr>
        <p:txBody>
          <a:bodyPr/>
          <a:lstStyle/>
          <a:p>
            <a:pPr>
              <a:defRPr/>
            </a:pPr>
            <a:r>
              <a:rPr lang="es-ES" dirty="0" smtClean="0">
                <a:solidFill>
                  <a:schemeClr val="accent1">
                    <a:lumMod val="75000"/>
                  </a:schemeClr>
                </a:solidFill>
                <a:latin typeface="Berlin Sans FB" pitchFamily="34" charset="0"/>
              </a:rPr>
              <a:t>5.4  Planes de Acción </a:t>
            </a:r>
          </a:p>
          <a:p>
            <a:pPr>
              <a:defRPr/>
            </a:pPr>
            <a:endParaRPr lang="es-ES" dirty="0">
              <a:solidFill>
                <a:schemeClr val="accent1">
                  <a:lumMod val="75000"/>
                </a:schemeClr>
              </a:solidFill>
              <a:latin typeface="Berlin Sans FB" pitchFamily="34" charset="0"/>
            </a:endParaRPr>
          </a:p>
        </p:txBody>
      </p:sp>
      <p:sp>
        <p:nvSpPr>
          <p:cNvPr id="98308" name="5 CuadroTexto"/>
          <p:cNvSpPr txBox="1">
            <a:spLocks noChangeArrowheads="1"/>
          </p:cNvSpPr>
          <p:nvPr/>
        </p:nvSpPr>
        <p:spPr bwMode="auto">
          <a:xfrm>
            <a:off x="500063" y="2714625"/>
            <a:ext cx="8215312" cy="3000375"/>
          </a:xfrm>
          <a:prstGeom prst="rect">
            <a:avLst/>
          </a:prstGeom>
          <a:noFill/>
          <a:ln w="9525">
            <a:noFill/>
            <a:miter lim="800000"/>
            <a:headEnd/>
            <a:tailEnd/>
          </a:ln>
        </p:spPr>
        <p:txBody>
          <a:bodyPr>
            <a:spAutoFit/>
          </a:bodyPr>
          <a:lstStyle/>
          <a:p>
            <a:pPr algn="just"/>
            <a:r>
              <a:rPr lang="es-ES" sz="2700">
                <a:latin typeface="Berlin Sans FB" pitchFamily="34" charset="0"/>
              </a:rPr>
              <a:t>2. Definir las tareas que debe realizar para hacer realidad cada estrategia.</a:t>
            </a:r>
          </a:p>
          <a:p>
            <a:pPr algn="just"/>
            <a:endParaRPr lang="es-ES" sz="2700">
              <a:latin typeface="Berlin Sans FB" pitchFamily="34" charset="0"/>
            </a:endParaRPr>
          </a:p>
          <a:p>
            <a:pPr algn="just"/>
            <a:r>
              <a:rPr lang="es-ES" sz="2700">
                <a:latin typeface="Berlin Sans FB" pitchFamily="34" charset="0"/>
              </a:rPr>
              <a:t>3. Identificar el tiempo necesario.</a:t>
            </a:r>
          </a:p>
          <a:p>
            <a:pPr algn="just"/>
            <a:endParaRPr lang="es-ES" sz="2700">
              <a:latin typeface="Berlin Sans FB" pitchFamily="34" charset="0"/>
            </a:endParaRPr>
          </a:p>
          <a:p>
            <a:pPr algn="just"/>
            <a:r>
              <a:rPr lang="es-ES" sz="2700">
                <a:latin typeface="Berlin Sans FB" pitchFamily="34" charset="0"/>
              </a:rPr>
              <a:t>4. Especificar la meta que se desea alcanzar, en términos concretos, cualitativos o cuantitativos.</a:t>
            </a:r>
          </a:p>
        </p:txBody>
      </p:sp>
      <p:sp>
        <p:nvSpPr>
          <p:cNvPr id="6" name="5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214438"/>
            <a:ext cx="82296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
        <p:nvSpPr>
          <p:cNvPr id="3" name="2 Marcador de contenido"/>
          <p:cNvSpPr>
            <a:spLocks noGrp="1"/>
          </p:cNvSpPr>
          <p:nvPr>
            <p:ph idx="1"/>
          </p:nvPr>
        </p:nvSpPr>
        <p:spPr>
          <a:xfrm>
            <a:off x="457200" y="2071688"/>
            <a:ext cx="8229600" cy="4054475"/>
          </a:xfrm>
        </p:spPr>
        <p:txBody>
          <a:bodyPr/>
          <a:lstStyle/>
          <a:p>
            <a:pPr algn="ctr">
              <a:buFont typeface="Arial" charset="0"/>
              <a:buNone/>
              <a:defRPr/>
            </a:pPr>
            <a:r>
              <a:rPr lang="es-ES" dirty="0" smtClean="0">
                <a:solidFill>
                  <a:schemeClr val="accent1">
                    <a:lumMod val="75000"/>
                  </a:schemeClr>
                </a:solidFill>
                <a:latin typeface="Berlin Sans FB" pitchFamily="34" charset="0"/>
              </a:rPr>
              <a:t>5.4  Planes de Acción </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5. Señalar al responsable de cada tarea o subactividad.</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6. Especificar los recursos técnicos, físicos , financieros y humanos necesarios.</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7. Señalar las limitaciones u obstáculos que pueda encontrar en la ejecución de la estrategia.</a:t>
            </a:r>
            <a:endParaRPr lang="es-ES" sz="2700" dirty="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63"/>
            <a:ext cx="8229600" cy="4483100"/>
          </a:xfrm>
        </p:spPr>
        <p:txBody>
          <a:bodyPr/>
          <a:lstStyle/>
          <a:p>
            <a:pPr algn="ctr">
              <a:buFont typeface="Arial" charset="0"/>
              <a:buNone/>
              <a:defRPr/>
            </a:pPr>
            <a:endParaRPr lang="es-ES" dirty="0" smtClean="0">
              <a:solidFill>
                <a:schemeClr val="accent1">
                  <a:lumMod val="75000"/>
                </a:schemeClr>
              </a:solidFill>
              <a:latin typeface="Berlin Sans FB" pitchFamily="34" charset="0"/>
            </a:endParaRPr>
          </a:p>
          <a:p>
            <a:pPr algn="ctr">
              <a:buFont typeface="Arial" charset="0"/>
              <a:buNone/>
              <a:defRPr/>
            </a:pPr>
            <a:r>
              <a:rPr lang="es-ES" dirty="0" smtClean="0">
                <a:solidFill>
                  <a:schemeClr val="accent1">
                    <a:lumMod val="75000"/>
                  </a:schemeClr>
                </a:solidFill>
                <a:latin typeface="Berlin Sans FB" pitchFamily="34" charset="0"/>
              </a:rPr>
              <a:t>5.5 </a:t>
            </a:r>
            <a:r>
              <a:rPr lang="es-ES" dirty="0" err="1" smtClean="0">
                <a:solidFill>
                  <a:schemeClr val="accent1">
                    <a:lumMod val="75000"/>
                  </a:schemeClr>
                </a:solidFill>
                <a:latin typeface="Berlin Sans FB" pitchFamily="34" charset="0"/>
              </a:rPr>
              <a:t>Presupuestacion</a:t>
            </a:r>
            <a:r>
              <a:rPr lang="es-ES" dirty="0" smtClean="0">
                <a:solidFill>
                  <a:schemeClr val="accent1">
                    <a:lumMod val="75000"/>
                  </a:schemeClr>
                </a:solidFill>
                <a:latin typeface="Berlin Sans FB" pitchFamily="34" charset="0"/>
              </a:rPr>
              <a:t> estratégica</a:t>
            </a:r>
          </a:p>
          <a:p>
            <a:pP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solidFill>
                  <a:schemeClr val="accent1">
                    <a:lumMod val="75000"/>
                  </a:schemeClr>
                </a:solidFill>
                <a:latin typeface="Berlin Sans FB" pitchFamily="34" charset="0"/>
              </a:rPr>
              <a:t>    </a:t>
            </a:r>
            <a:r>
              <a:rPr lang="es-ES" sz="2700" dirty="0" smtClean="0">
                <a:latin typeface="Berlin Sans FB" pitchFamily="34" charset="0"/>
              </a:rPr>
              <a:t>La elaboración de los planes de acción debe conducir a elaborar un presupuesto, dentro del horizonte definido, que identifique y cuantifique los recursos necesarios para la elaboración del plan</a:t>
            </a:r>
            <a:r>
              <a:rPr lang="es-ES" sz="2700" dirty="0" smtClean="0">
                <a:solidFill>
                  <a:schemeClr val="accent1">
                    <a:lumMod val="75000"/>
                  </a:schemeClr>
                </a:solidFill>
                <a:latin typeface="Berlin Sans FB" pitchFamily="34" charset="0"/>
              </a:rPr>
              <a:t>.</a:t>
            </a: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Rectángulo"/>
          <p:cNvSpPr/>
          <p:nvPr/>
        </p:nvSpPr>
        <p:spPr>
          <a:xfrm>
            <a:off x="0" y="785813"/>
            <a:ext cx="8548688" cy="708025"/>
          </a:xfrm>
          <a:prstGeom prst="rect">
            <a:avLst/>
          </a:prstGeom>
        </p:spPr>
        <p:txBody>
          <a:bodyPr>
            <a:spAutoFit/>
          </a:bodyPr>
          <a:lstStyle/>
          <a:p>
            <a:pPr algn="ctr">
              <a:defRPr/>
            </a:pPr>
            <a:r>
              <a:rPr lang="es-ES" sz="4000" dirty="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928813"/>
            <a:ext cx="8229600" cy="4197350"/>
          </a:xfrm>
        </p:spPr>
        <p:txBody>
          <a:bodyPr/>
          <a:lstStyle/>
          <a:p>
            <a:pPr algn="ctr">
              <a:buFont typeface="Arial" charset="0"/>
              <a:buNone/>
              <a:defRPr/>
            </a:pPr>
            <a:r>
              <a:rPr lang="es-ES" dirty="0" smtClean="0">
                <a:solidFill>
                  <a:schemeClr val="accent1">
                    <a:lumMod val="75000"/>
                  </a:schemeClr>
                </a:solidFill>
                <a:latin typeface="Berlin Sans FB" pitchFamily="34" charset="0"/>
              </a:rPr>
              <a:t>5.5 </a:t>
            </a:r>
            <a:r>
              <a:rPr lang="es-ES" dirty="0" err="1" smtClean="0">
                <a:solidFill>
                  <a:schemeClr val="accent1">
                    <a:lumMod val="75000"/>
                  </a:schemeClr>
                </a:solidFill>
                <a:latin typeface="Berlin Sans FB" pitchFamily="34" charset="0"/>
              </a:rPr>
              <a:t>Presupuestacion</a:t>
            </a:r>
            <a:r>
              <a:rPr lang="es-ES" dirty="0" smtClean="0">
                <a:solidFill>
                  <a:schemeClr val="accent1">
                    <a:lumMod val="75000"/>
                  </a:schemeClr>
                </a:solidFill>
                <a:latin typeface="Berlin Sans FB" pitchFamily="34" charset="0"/>
              </a:rPr>
              <a:t> estratégica</a:t>
            </a:r>
          </a:p>
          <a:p>
            <a:pPr>
              <a:buFont typeface="Arial" charset="0"/>
              <a:buNone/>
              <a:defRPr/>
            </a:pPr>
            <a:endParaRPr lang="es-ES" sz="2700" dirty="0" smtClean="0">
              <a:solidFill>
                <a:schemeClr val="accent1">
                  <a:lumMod val="75000"/>
                </a:schemeClr>
              </a:solidFill>
              <a:latin typeface="Berlin Sans FB" pitchFamily="34" charset="0"/>
            </a:endParaRPr>
          </a:p>
          <a:p>
            <a:pPr algn="just">
              <a:buFont typeface="Arial" charset="0"/>
              <a:buNone/>
              <a:defRPr/>
            </a:pPr>
            <a:r>
              <a:rPr lang="es-ES" sz="2700" dirty="0" smtClean="0">
                <a:solidFill>
                  <a:schemeClr val="accent1">
                    <a:lumMod val="75000"/>
                  </a:schemeClr>
                </a:solidFill>
                <a:latin typeface="Berlin Sans FB" pitchFamily="34" charset="0"/>
              </a:rPr>
              <a:t>    </a:t>
            </a:r>
            <a:r>
              <a:rPr lang="es-ES" sz="2700" dirty="0" smtClean="0">
                <a:latin typeface="Berlin Sans FB" pitchFamily="34" charset="0"/>
              </a:rPr>
              <a:t>Debe elaborarse un presupuesto de 3 a 5 años dependiendo del horizonte de tiempo de la planeación estratégica e incorporarlo en las vigencias de </a:t>
            </a:r>
            <a:r>
              <a:rPr lang="es-ES" sz="2700" dirty="0" err="1" smtClean="0">
                <a:latin typeface="Berlin Sans FB" pitchFamily="34" charset="0"/>
              </a:rPr>
              <a:t>presupuestacion</a:t>
            </a:r>
            <a:r>
              <a:rPr lang="es-ES" sz="2700" dirty="0" smtClean="0">
                <a:latin typeface="Berlin Sans FB" pitchFamily="34" charset="0"/>
              </a:rPr>
              <a:t> anuales de cada compañía.</a:t>
            </a:r>
            <a:endParaRPr lang="es-ES" sz="2700" dirty="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
        <p:nvSpPr>
          <p:cNvPr id="5" name="4 Título"/>
          <p:cNvSpPr>
            <a:spLocks noGrp="1"/>
          </p:cNvSpPr>
          <p:nvPr>
            <p:ph type="title"/>
          </p:nvPr>
        </p:nvSpPr>
        <p:spPr>
          <a:xfrm>
            <a:off x="457200" y="928688"/>
            <a:ext cx="82296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857250"/>
            <a:ext cx="8229600" cy="785813"/>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latin typeface="Berlin Sans FB Demi" pitchFamily="34" charset="0"/>
            </a:endParaRPr>
          </a:p>
        </p:txBody>
      </p:sp>
      <p:sp>
        <p:nvSpPr>
          <p:cNvPr id="3" name="2 Marcador de contenido"/>
          <p:cNvSpPr>
            <a:spLocks noGrp="1"/>
          </p:cNvSpPr>
          <p:nvPr>
            <p:ph idx="1"/>
          </p:nvPr>
        </p:nvSpPr>
        <p:spPr>
          <a:xfrm>
            <a:off x="457200" y="2000250"/>
            <a:ext cx="8229600" cy="4125913"/>
          </a:xfrm>
        </p:spPr>
        <p:txBody>
          <a:bodyPr/>
          <a:lstStyle/>
          <a:p>
            <a:pPr algn="ctr">
              <a:buFont typeface="Arial" charset="0"/>
              <a:buNone/>
              <a:defRPr/>
            </a:pPr>
            <a:r>
              <a:rPr lang="es-ES" dirty="0" smtClean="0">
                <a:solidFill>
                  <a:schemeClr val="accent1">
                    <a:lumMod val="75000"/>
                  </a:schemeClr>
                </a:solidFill>
                <a:latin typeface="Berlin Sans FB" pitchFamily="34" charset="0"/>
              </a:rPr>
              <a:t>5.5 </a:t>
            </a:r>
            <a:r>
              <a:rPr lang="es-ES" dirty="0" err="1" smtClean="0">
                <a:solidFill>
                  <a:schemeClr val="accent1">
                    <a:lumMod val="75000"/>
                  </a:schemeClr>
                </a:solidFill>
                <a:latin typeface="Berlin Sans FB" pitchFamily="34" charset="0"/>
              </a:rPr>
              <a:t>Presupuestacion</a:t>
            </a:r>
            <a:r>
              <a:rPr lang="es-ES" dirty="0" smtClean="0">
                <a:solidFill>
                  <a:schemeClr val="accent1">
                    <a:lumMod val="75000"/>
                  </a:schemeClr>
                </a:solidFill>
                <a:latin typeface="Berlin Sans FB" pitchFamily="34" charset="0"/>
              </a:rPr>
              <a:t> estratégica</a:t>
            </a:r>
          </a:p>
          <a:p>
            <a:pP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solidFill>
                  <a:schemeClr val="accent1">
                    <a:lumMod val="75000"/>
                  </a:schemeClr>
                </a:solidFill>
                <a:latin typeface="Berlin Sans FB" pitchFamily="34" charset="0"/>
              </a:rPr>
              <a:t>    </a:t>
            </a:r>
            <a:r>
              <a:rPr lang="es-ES" sz="2700" dirty="0" smtClean="0">
                <a:latin typeface="Berlin Sans FB" pitchFamily="34" charset="0"/>
              </a:rPr>
              <a:t>El presupuesto estratégico es el verdadero plan estratégico, de nada vale elaborar planes, sino se cuenta con los recursos necesarios para su ejecución.</a:t>
            </a:r>
          </a:p>
          <a:p>
            <a:pPr algn="just">
              <a:buFont typeface="Arial" charset="0"/>
              <a:buNone/>
              <a:defRPr/>
            </a:pPr>
            <a:r>
              <a:rPr lang="es-ES" sz="2700" dirty="0" smtClean="0">
                <a:latin typeface="Berlin Sans FB" pitchFamily="34" charset="0"/>
              </a:rPr>
              <a:t>    Por ello, un ejercicio de planeación estratégica sin el de </a:t>
            </a:r>
            <a:r>
              <a:rPr lang="es-ES" sz="2700" dirty="0" err="1" smtClean="0">
                <a:latin typeface="Berlin Sans FB" pitchFamily="34" charset="0"/>
              </a:rPr>
              <a:t>presupuestacion</a:t>
            </a:r>
            <a:r>
              <a:rPr lang="es-ES" sz="2700" dirty="0" smtClean="0">
                <a:latin typeface="Berlin Sans FB" pitchFamily="34" charset="0"/>
              </a:rPr>
              <a:t> es un esfuerzo teórico, muchas veces inútil e innecesario.</a:t>
            </a: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85813"/>
            <a:ext cx="8229600" cy="857250"/>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1857375"/>
            <a:ext cx="8229600" cy="4268788"/>
          </a:xfrm>
        </p:spPr>
        <p:txBody>
          <a:bodyPr/>
          <a:lstStyle/>
          <a:p>
            <a:pPr algn="ctr">
              <a:buFont typeface="Arial" charset="0"/>
              <a:buNone/>
              <a:defRPr/>
            </a:pPr>
            <a:endParaRPr lang="es-ES" dirty="0" smtClean="0">
              <a:solidFill>
                <a:schemeClr val="accent1">
                  <a:lumMod val="75000"/>
                </a:schemeClr>
              </a:solidFill>
              <a:latin typeface="Berlin Sans FB" pitchFamily="34" charset="0"/>
            </a:endParaRPr>
          </a:p>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just">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   Previo a la ejecución del plan se considera fundamental que el plan estratégico sea conocido por los diferentes niveles de la organización.</a:t>
            </a:r>
            <a:endParaRPr lang="es-ES" sz="2700" dirty="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85813"/>
            <a:ext cx="8229600" cy="785812"/>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1928813"/>
            <a:ext cx="8229600" cy="4197350"/>
          </a:xfrm>
        </p:spPr>
        <p:txBody>
          <a:bodyPr/>
          <a:lstStyle/>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    Una vez que las autoridades respectivas hayan aprobado el plan, debe diseñarse un programa para la “venta interna del plan”.</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La venta interna es una estrategia de mercadeo que tiene como objetivo:</a:t>
            </a:r>
            <a:endParaRPr lang="es-ES" sz="2700"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85813"/>
            <a:ext cx="8229600" cy="785812"/>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2000250"/>
            <a:ext cx="8229600" cy="5072063"/>
          </a:xfrm>
        </p:spPr>
        <p:txBody>
          <a:bodyPr/>
          <a:lstStyle/>
          <a:p>
            <a:pPr algn="ctr">
              <a:buFont typeface="Arial" charset="0"/>
              <a:buNone/>
              <a:defRPr/>
            </a:pPr>
            <a:r>
              <a:rPr lang="es-ES" dirty="0" smtClean="0">
                <a:solidFill>
                  <a:schemeClr val="accent1">
                    <a:lumMod val="75000"/>
                  </a:schemeClr>
                </a:solidFill>
                <a:latin typeface="Berlin Sans FB" pitchFamily="34" charset="0"/>
              </a:rPr>
              <a:t>5.6 Difusión Estratégica</a:t>
            </a:r>
          </a:p>
          <a:p>
            <a:pPr>
              <a:buFont typeface="Arial" charset="0"/>
              <a:buNone/>
              <a:defRPr/>
            </a:pPr>
            <a:endParaRPr lang="es-ES" dirty="0" smtClean="0"/>
          </a:p>
          <a:p>
            <a:pPr marL="514350" indent="-514350">
              <a:buFont typeface="Arial" charset="0"/>
              <a:buAutoNum type="alphaLcPeriod"/>
              <a:defRPr/>
            </a:pPr>
            <a:r>
              <a:rPr lang="es-ES" sz="2700" dirty="0" smtClean="0">
                <a:latin typeface="Berlin Sans FB" pitchFamily="34" charset="0"/>
              </a:rPr>
              <a:t>Consolidar el proceso de comunicación interno de la organización.</a:t>
            </a:r>
          </a:p>
          <a:p>
            <a:pPr marL="514350" indent="-514350">
              <a:buFont typeface="Arial" charset="0"/>
              <a:buAutoNum type="alphaLcPeriod"/>
              <a:defRPr/>
            </a:pPr>
            <a:endParaRPr lang="es-ES" sz="2700" dirty="0" smtClean="0">
              <a:latin typeface="Berlin Sans FB" pitchFamily="34" charset="0"/>
            </a:endParaRPr>
          </a:p>
          <a:p>
            <a:pPr marL="514350" indent="-514350">
              <a:buFont typeface="Arial" charset="0"/>
              <a:buAutoNum type="alphaLcPeriod"/>
              <a:defRPr/>
            </a:pPr>
            <a:r>
              <a:rPr lang="es-ES" sz="2700" dirty="0" smtClean="0">
                <a:latin typeface="Berlin Sans FB" pitchFamily="34" charset="0"/>
              </a:rPr>
              <a:t>Estimular el compromiso de los colaboradores a partir del conocimiento de los principios.</a:t>
            </a:r>
          </a:p>
          <a:p>
            <a:pPr marL="514350" indent="-514350">
              <a:buFont typeface="Arial" charset="0"/>
              <a:buNone/>
              <a:defRPr/>
            </a:pPr>
            <a:endParaRPr lang="es-ES" sz="2700" dirty="0" smtClean="0">
              <a:latin typeface="Berlin Sans FB" pitchFamily="34" charset="0"/>
            </a:endParaRPr>
          </a:p>
          <a:p>
            <a:pPr marL="514350" indent="-514350">
              <a:buFont typeface="Arial" charset="0"/>
              <a:buNone/>
              <a:defRPr/>
            </a:pPr>
            <a:r>
              <a:rPr lang="es-ES" sz="2700" dirty="0" smtClean="0">
                <a:latin typeface="Berlin Sans FB" pitchFamily="34" charset="0"/>
              </a:rPr>
              <a:t>c. Propiciar la participación de colaboradores en el desarrollo de proyectos y planes de acción.</a:t>
            </a:r>
            <a:endParaRPr lang="es-ES" sz="2700" dirty="0">
              <a:latin typeface="Berlin Sans FB" pitchFamily="34" charset="0"/>
            </a:endParaRPr>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857250"/>
            <a:ext cx="82296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1857375"/>
            <a:ext cx="8229600" cy="4268788"/>
          </a:xfrm>
        </p:spPr>
        <p:txBody>
          <a:bodyPr/>
          <a:lstStyle/>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d. Crear las condiciones para consolidar una cultura estratégica.</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e. Facilitar y propiciar el trabajo en equipo.</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f. Facilitar la medición de resultados con base en índices de gestión a partir del conocimiento del plan estratégico.</a:t>
            </a:r>
          </a:p>
          <a:p>
            <a:pPr algn="ctr">
              <a:buFont typeface="Arial" charset="0"/>
              <a:buNone/>
              <a:defRPr/>
            </a:pPr>
            <a:endParaRPr lang="es-ES" dirty="0" smtClean="0">
              <a:solidFill>
                <a:schemeClr val="accent1">
                  <a:lumMod val="75000"/>
                </a:schemeClr>
              </a:solidFill>
              <a:latin typeface="Berlin Sans FB" pitchFamily="34" charset="0"/>
            </a:endParaRPr>
          </a:p>
          <a:p>
            <a:pPr>
              <a:buFont typeface="Arial" charset="0"/>
              <a:buNone/>
              <a:defRPr/>
            </a:pPr>
            <a:endParaRPr lang="es-ES" dirty="0" smtClean="0">
              <a:solidFill>
                <a:schemeClr val="accent1">
                  <a:lumMod val="75000"/>
                </a:schemeClr>
              </a:solidFill>
              <a:latin typeface="Berlin Sans FB" pitchFamily="34" charset="0"/>
            </a:endParaRP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928688"/>
            <a:ext cx="8229600" cy="71437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1857375"/>
            <a:ext cx="8229600" cy="4268788"/>
          </a:xfrm>
        </p:spPr>
        <p:txBody>
          <a:bodyPr/>
          <a:lstStyle/>
          <a:p>
            <a:pPr algn="ctr">
              <a:buFont typeface="Arial" charset="0"/>
              <a:buNone/>
              <a:defRPr/>
            </a:pPr>
            <a:endParaRPr lang="es-ES" dirty="0" smtClean="0">
              <a:solidFill>
                <a:schemeClr val="accent1">
                  <a:lumMod val="75000"/>
                </a:schemeClr>
              </a:solidFill>
              <a:latin typeface="Berlin Sans FB" pitchFamily="34" charset="0"/>
            </a:endParaRPr>
          </a:p>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ctr">
              <a:buFont typeface="Arial" charset="0"/>
              <a:buNone/>
              <a:defRPr/>
            </a:pPr>
            <a:endParaRPr lang="es-ES" dirty="0" smtClean="0">
              <a:solidFill>
                <a:schemeClr val="accent1">
                  <a:lumMod val="75000"/>
                </a:schemeClr>
              </a:solidFill>
              <a:latin typeface="Berlin Sans FB" pitchFamily="34" charset="0"/>
            </a:endParaRP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dirty="0" smtClean="0">
                <a:latin typeface="Berlin Sans FB" pitchFamily="34" charset="0"/>
              </a:rPr>
              <a:t>g. Estimular la retroalimentación y la monitoria del plan.</a:t>
            </a: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85813"/>
            <a:ext cx="8229600" cy="63182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a:xfrm>
            <a:off x="457200" y="1785938"/>
            <a:ext cx="8229600" cy="4340225"/>
          </a:xfrm>
        </p:spPr>
        <p:txBody>
          <a:bodyPr/>
          <a:lstStyle/>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El plan debe ser conocido por quienes lo elaboraron y van a participar en su ejecución.</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No se puede ambicionar un equipo si los miembros de el no conocen para donde va la organización.</a:t>
            </a: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375"/>
            <a:ext cx="8229600" cy="703263"/>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p:txBody>
          <a:bodyPr/>
          <a:lstStyle/>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    Cada supervisor asumirá la tarea de divulgar el plan estratégico a sus supervisados y estos en cadena a quienes supervisan , hasta llegar a todos los niveles de la organización.</a:t>
            </a:r>
          </a:p>
          <a:p>
            <a:pPr algn="just">
              <a:buFont typeface="Arial" charset="0"/>
              <a:buNone/>
              <a:defRPr/>
            </a:pPr>
            <a:endParaRPr lang="es-ES" sz="2700" dirty="0" smtClean="0">
              <a:latin typeface="Berlin Sans FB" pitchFamily="34" charset="0"/>
            </a:endParaRPr>
          </a:p>
          <a:p>
            <a:pPr algn="just">
              <a:buFont typeface="Arial" charset="0"/>
              <a:buNone/>
              <a:defRPr/>
            </a:pPr>
            <a:r>
              <a:rPr lang="es-ES" sz="2700" dirty="0" smtClean="0">
                <a:latin typeface="Berlin Sans FB" pitchFamily="34" charset="0"/>
              </a:rPr>
              <a:t>    Periódicamente deberán difundirse los avances y resultados de cada proceso realizado o por realizar.</a:t>
            </a:r>
          </a:p>
          <a:p>
            <a:pPr>
              <a:buFont typeface="Arial" charset="0"/>
              <a:buNone/>
              <a:defRPr/>
            </a:pPr>
            <a:endParaRPr lang="es-ES" sz="2700" dirty="0" smtClean="0">
              <a:latin typeface="Berlin Sans FB" pitchFamily="34" charset="0"/>
            </a:endParaRP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85813"/>
            <a:ext cx="8229600" cy="631825"/>
          </a:xfrm>
        </p:spPr>
        <p:txBody>
          <a:bodyPr/>
          <a:lstStyle/>
          <a:p>
            <a:pPr>
              <a:defRPr/>
            </a:pPr>
            <a:r>
              <a:rPr lang="es-ES" sz="4000" dirty="0" smtClean="0">
                <a:solidFill>
                  <a:schemeClr val="accent1">
                    <a:lumMod val="75000"/>
                  </a:schemeClr>
                </a:solidFill>
                <a:latin typeface="Berlin Sans FB Demi" pitchFamily="34" charset="0"/>
              </a:rPr>
              <a:t>5. FORMULACIÓN ESTRATÉGICA</a:t>
            </a:r>
            <a:endParaRPr lang="es-ES" sz="4000" dirty="0"/>
          </a:p>
        </p:txBody>
      </p:sp>
      <p:sp>
        <p:nvSpPr>
          <p:cNvPr id="3" name="2 Marcador de contenido"/>
          <p:cNvSpPr>
            <a:spLocks noGrp="1"/>
          </p:cNvSpPr>
          <p:nvPr>
            <p:ph idx="1"/>
          </p:nvPr>
        </p:nvSpPr>
        <p:spPr/>
        <p:txBody>
          <a:bodyPr/>
          <a:lstStyle/>
          <a:p>
            <a:pPr algn="ctr">
              <a:buFont typeface="Arial" charset="0"/>
              <a:buNone/>
              <a:defRPr/>
            </a:pPr>
            <a:endParaRPr lang="es-ES" dirty="0" smtClean="0">
              <a:solidFill>
                <a:schemeClr val="accent1">
                  <a:lumMod val="75000"/>
                </a:schemeClr>
              </a:solidFill>
              <a:latin typeface="Berlin Sans FB" pitchFamily="34" charset="0"/>
            </a:endParaRPr>
          </a:p>
          <a:p>
            <a:pPr algn="ctr">
              <a:buFont typeface="Arial" charset="0"/>
              <a:buNone/>
              <a:defRPr/>
            </a:pPr>
            <a:r>
              <a:rPr lang="es-ES" dirty="0" smtClean="0">
                <a:solidFill>
                  <a:schemeClr val="accent1">
                    <a:lumMod val="75000"/>
                  </a:schemeClr>
                </a:solidFill>
                <a:latin typeface="Berlin Sans FB" pitchFamily="34" charset="0"/>
              </a:rPr>
              <a:t>5.6 Difusión Estratégica</a:t>
            </a:r>
          </a:p>
          <a:p>
            <a:pPr algn="ctr">
              <a:buFont typeface="Arial" charset="0"/>
              <a:buNone/>
              <a:defRPr/>
            </a:pPr>
            <a:endParaRPr lang="es-ES" dirty="0" smtClean="0">
              <a:solidFill>
                <a:schemeClr val="accent1">
                  <a:lumMod val="75000"/>
                </a:schemeClr>
              </a:solidFill>
              <a:latin typeface="Berlin Sans FB" pitchFamily="34" charset="0"/>
            </a:endParaRPr>
          </a:p>
          <a:p>
            <a:pPr algn="just">
              <a:buFont typeface="Arial" charset="0"/>
              <a:buNone/>
              <a:defRPr/>
            </a:pPr>
            <a:r>
              <a:rPr lang="es-ES" sz="2700" dirty="0" smtClean="0">
                <a:latin typeface="Berlin Sans FB" pitchFamily="34" charset="0"/>
              </a:rPr>
              <a:t>    El resultad final de esta actividad será lograr compromiso, pertinencia, participación, iniciativa y creatividad entre todos los empleados de la organización.</a:t>
            </a:r>
          </a:p>
          <a:p>
            <a:pPr>
              <a:buFont typeface="Arial" charset="0"/>
              <a:buNone/>
              <a:defRPr/>
            </a:pPr>
            <a:endParaRPr lang="es-ES" dirty="0"/>
          </a:p>
        </p:txBody>
      </p:sp>
      <p:sp>
        <p:nvSpPr>
          <p:cNvPr id="4" name="3 CuadroTexto"/>
          <p:cNvSpPr txBox="1"/>
          <p:nvPr/>
        </p:nvSpPr>
        <p:spPr>
          <a:xfrm>
            <a:off x="0" y="214290"/>
            <a:ext cx="9144000"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threePt" dir="t"/>
            </a:scene3d>
            <a:sp3d extrusionH="57150">
              <a:bevelT w="38100" h="38100"/>
            </a:sp3d>
          </a:bodyPr>
          <a:lstStyle/>
          <a:p>
            <a:pPr algn="ctr">
              <a:defRPr/>
            </a:pPr>
            <a:r>
              <a:rPr lang="es-AR" sz="2400" b="1" dirty="0">
                <a:solidFill>
                  <a:schemeClr val="bg1"/>
                </a:solidFill>
                <a:effectLst>
                  <a:glow rad="139700">
                    <a:schemeClr val="tx2">
                      <a:lumMod val="75000"/>
                      <a:alpha val="40000"/>
                    </a:schemeClr>
                  </a:glow>
                  <a:outerShdw blurRad="38100" dist="38100" dir="2700000" algn="tl">
                    <a:srgbClr val="000000">
                      <a:alpha val="43137"/>
                    </a:srgbClr>
                  </a:outerShdw>
                </a:effectLst>
                <a:latin typeface="Berlin Sans FB" pitchFamily="34" charset="0"/>
              </a:rPr>
              <a:t>COMPONENTES DE LA  PLANEACIÓN ESTRATÉGICA</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2 Marcador de contenido"/>
          <p:cNvSpPr>
            <a:spLocks noGrp="1"/>
          </p:cNvSpPr>
          <p:nvPr>
            <p:ph idx="1"/>
          </p:nvPr>
        </p:nvSpPr>
        <p:spPr>
          <a:xfrm>
            <a:off x="457200" y="785813"/>
            <a:ext cx="8229600" cy="5340350"/>
          </a:xfrm>
        </p:spPr>
        <p:txBody>
          <a:bodyPr/>
          <a:lstStyle/>
          <a:p>
            <a:pPr>
              <a:buFont typeface="Arial" charset="0"/>
              <a:buNone/>
            </a:pPr>
            <a:r>
              <a:rPr lang="es-ES" sz="2700" smtClean="0"/>
              <a:t>     </a:t>
            </a:r>
          </a:p>
          <a:p>
            <a:pPr algn="just">
              <a:buFont typeface="Arial" charset="0"/>
              <a:buNone/>
            </a:pPr>
            <a:endParaRPr lang="es-ES" sz="2700" smtClean="0"/>
          </a:p>
          <a:p>
            <a:pPr algn="just">
              <a:buFont typeface="Arial" charset="0"/>
              <a:buNone/>
            </a:pPr>
            <a:endParaRPr lang="es-ES" sz="2700" smtClean="0"/>
          </a:p>
          <a:p>
            <a:pPr algn="just">
              <a:buFont typeface="Arial" charset="0"/>
              <a:buNone/>
            </a:pPr>
            <a:r>
              <a:rPr lang="es-ES" sz="2700" smtClean="0"/>
              <a:t>     </a:t>
            </a:r>
            <a:r>
              <a:rPr lang="es-ES" sz="2700" smtClean="0">
                <a:latin typeface="Berlin Sans FB" pitchFamily="34" charset="0"/>
              </a:rPr>
              <a:t>El verdadero rol del nuevo líder empresarial, es el de difundir el direccionamiento de la compañía, lograr que lo internacionalicen sus colaboradores. Este debería ser el resultado de la difusión del plan estratégico, cuya responsabilidad compete al equipo general de cada compañía.</a:t>
            </a:r>
          </a:p>
          <a:p>
            <a:pPr algn="just">
              <a:buFont typeface="Arial" charset="0"/>
              <a:buNone/>
            </a:pPr>
            <a:endParaRPr lang="es-ES" sz="2700" smtClean="0">
              <a:latin typeface="Berlin Sans FB" pitchFamily="34" charset="0"/>
            </a:endParaRPr>
          </a:p>
          <a:p>
            <a:pPr algn="ctr">
              <a:buFont typeface="Arial" charset="0"/>
              <a:buNone/>
            </a:pPr>
            <a:r>
              <a:rPr lang="es-ES" sz="2700" smtClean="0">
                <a:latin typeface="Berlin Sans FB" pitchFamily="34" charset="0"/>
              </a:rPr>
              <a:t>PETER DRUCKER</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2590</TotalTime>
  <Words>4115</Words>
  <Application>Microsoft Office PowerPoint</Application>
  <PresentationFormat>Presentación en pantalla (4:3)</PresentationFormat>
  <Paragraphs>749</Paragraphs>
  <Slides>108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108</vt:i4>
      </vt:variant>
    </vt:vector>
  </HeadingPairs>
  <TitlesOfParts>
    <vt:vector size="114" baseType="lpstr">
      <vt:lpstr>Arial</vt:lpstr>
      <vt:lpstr>Calibri</vt:lpstr>
      <vt:lpstr>Berlin Sans FB</vt:lpstr>
      <vt:lpstr>Wingdings</vt:lpstr>
      <vt:lpstr>Berlin Sans FB Demi</vt: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    </vt:lpstr>
      <vt:lpstr>     4.2.1  ESTRATÉGIAS OFENSIVAS O DE CRECIMIENTO   </vt:lpstr>
      <vt:lpstr>    4.2.1  ESTRATÉGIAS OFENSIVAS O DE CRECIMIENTO </vt:lpstr>
      <vt:lpstr>     4.2.1  ESTRATÉGIAS OFENSIVAS O DE CRECIMIENTO   </vt:lpstr>
      <vt:lpstr>  4.2.1  ESTRATÉGIAS OFENSIVAS O DE CRECIMIENTO  </vt:lpstr>
      <vt:lpstr>4.2.2 Estrategias Defensivas</vt:lpstr>
      <vt:lpstr>  4.2.2 Estrategias Defensivas  </vt:lpstr>
      <vt:lpstr>   4.2.2 Estrategias Defensivas   </vt:lpstr>
      <vt:lpstr> 4.2.2 Estrategias Defensivas </vt:lpstr>
      <vt:lpstr>   4.2.2 Estrategias Defensivas </vt:lpstr>
      <vt:lpstr>4.2.3  Estrategias Genéricas</vt:lpstr>
      <vt:lpstr>4.2.4  Estrategias Concéntricas</vt:lpstr>
      <vt:lpstr>Diapositiva 66</vt:lpstr>
      <vt:lpstr>Diapositiva 67</vt:lpstr>
      <vt:lpstr>Diapositiva 68</vt:lpstr>
      <vt:lpstr>Diapositiva 69</vt:lpstr>
      <vt:lpstr>Diapositiva 70</vt:lpstr>
      <vt:lpstr>       5. FORMULACIÓN ESTRATÉGICA       </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  5. FORMULACIÓN ESTRATÉGICA  5.1  PROYECTOS ESTRATEGICOS</vt:lpstr>
      <vt:lpstr>5. FORMULACIÓN ESTRATÉGICA</vt:lpstr>
      <vt:lpstr>  5.2  MATRIZ DE CORRELACION </vt:lpstr>
      <vt:lpstr>Diapositiva 85</vt:lpstr>
      <vt:lpstr>5. FORMULACIÓN ESTRATÉGICA</vt:lpstr>
      <vt:lpstr>5. FORMULACIÓN ESTRATÉGICA</vt:lpstr>
      <vt:lpstr> 5. FORMULACIÓN ESTRATÉGICA </vt:lpstr>
      <vt:lpstr>5. FORMULACIÓN ESTRATÉGICA</vt:lpstr>
      <vt:lpstr>5. FORMULACIÓN ESTRATÉGICA</vt:lpstr>
      <vt:lpstr>5. FORMULACIÓN ESTRATÉGICA</vt:lpstr>
      <vt:lpstr>Diapositiva 92</vt:lpstr>
      <vt:lpstr>5. FORMULACIÓN ESTRATÉGICA</vt:lpstr>
      <vt:lpstr>5. FORMULACIÓN ESTRATÉGICA</vt:lpstr>
      <vt:lpstr>5. FORMULACIÓN ESTRATÉGICA</vt:lpstr>
      <vt:lpstr>5. FORMULACIÓN ESTRATÉGICA</vt:lpstr>
      <vt:lpstr>Diapositiva 97</vt:lpstr>
      <vt:lpstr>5. FORMULACIÓN ESTRATÉGICA</vt:lpstr>
      <vt:lpstr>5. FORMULACIÓN ESTRATÉGICA</vt:lpstr>
      <vt:lpstr>5. FORMULACIÓN ESTRATÉGICA</vt:lpstr>
      <vt:lpstr>5. FORMULACIÓN ESTRATÉGICA</vt:lpstr>
      <vt:lpstr>5. FORMULACIÓN ESTRATÉGICA</vt:lpstr>
      <vt:lpstr>5. FORMULACIÓN ESTRATÉGICA</vt:lpstr>
      <vt:lpstr>5. FORMULACIÓN ESTRATÉGICA</vt:lpstr>
      <vt:lpstr>5. FORMULACIÓN ESTRATÉGICA</vt:lpstr>
      <vt:lpstr>5. FORMULACIÓN ESTRATÉGICA</vt:lpstr>
      <vt:lpstr>5. FORMULACIÓN ESTRATÉGICA</vt:lpstr>
      <vt:lpstr>Diapositiva 108</vt:lpstr>
    </vt:vector>
  </TitlesOfParts>
  <Company>Windows XP Colossus Edition 2 Reloaded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AMBIENTE EXTERNO PRESENTE Y FUTURO</dc:title>
  <dc:creator>Colossus User</dc:creator>
  <cp:lastModifiedBy>jorge lopez</cp:lastModifiedBy>
  <cp:revision>129</cp:revision>
  <dcterms:created xsi:type="dcterms:W3CDTF">2010-04-10T23:39:02Z</dcterms:created>
  <dcterms:modified xsi:type="dcterms:W3CDTF">2010-05-12T19:34:40Z</dcterms:modified>
</cp:coreProperties>
</file>