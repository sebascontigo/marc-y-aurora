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76" r:id="rId2"/>
    <p:sldId id="277" r:id="rId3"/>
    <p:sldId id="278" r:id="rId4"/>
    <p:sldId id="341" r:id="rId5"/>
    <p:sldId id="340" r:id="rId6"/>
    <p:sldId id="364" r:id="rId7"/>
    <p:sldId id="279" r:id="rId8"/>
    <p:sldId id="342" r:id="rId9"/>
    <p:sldId id="351" r:id="rId10"/>
    <p:sldId id="343" r:id="rId11"/>
    <p:sldId id="370" r:id="rId12"/>
    <p:sldId id="374" r:id="rId13"/>
    <p:sldId id="371" r:id="rId14"/>
    <p:sldId id="312" r:id="rId15"/>
    <p:sldId id="345" r:id="rId16"/>
    <p:sldId id="368" r:id="rId17"/>
    <p:sldId id="372" r:id="rId18"/>
    <p:sldId id="314" r:id="rId19"/>
    <p:sldId id="369" r:id="rId20"/>
    <p:sldId id="373" r:id="rId21"/>
    <p:sldId id="344" r:id="rId22"/>
    <p:sldId id="357" r:id="rId23"/>
    <p:sldId id="361" r:id="rId24"/>
    <p:sldId id="352" r:id="rId25"/>
    <p:sldId id="346" r:id="rId26"/>
    <p:sldId id="354" r:id="rId27"/>
    <p:sldId id="355" r:id="rId28"/>
    <p:sldId id="353" r:id="rId29"/>
    <p:sldId id="348" r:id="rId30"/>
    <p:sldId id="347" r:id="rId31"/>
    <p:sldId id="356" r:id="rId32"/>
    <p:sldId id="349" r:id="rId33"/>
    <p:sldId id="350" r:id="rId34"/>
    <p:sldId id="358" r:id="rId35"/>
    <p:sldId id="359" r:id="rId36"/>
    <p:sldId id="362" r:id="rId37"/>
    <p:sldId id="360" r:id="rId38"/>
    <p:sldId id="377" r:id="rId39"/>
    <p:sldId id="378" r:id="rId40"/>
    <p:sldId id="365" r:id="rId41"/>
    <p:sldId id="366" r:id="rId42"/>
    <p:sldId id="367" r:id="rId43"/>
    <p:sldId id="379" r:id="rId44"/>
    <p:sldId id="380" r:id="rId45"/>
    <p:sldId id="376" r:id="rId46"/>
  </p:sldIdLst>
  <p:sldSz cx="9144000" cy="6858000" type="screen4x3"/>
  <p:notesSz cx="6858000" cy="9144000"/>
  <p:defaultTextStyle>
    <a:defPPr>
      <a:defRPr lang="es-C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3F1B"/>
    <a:srgbClr val="0099FF"/>
    <a:srgbClr val="9966FF"/>
    <a:srgbClr val="FF33CC"/>
    <a:srgbClr val="66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07" autoAdjust="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287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-168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C12366-75F3-4758-A71E-0092F3973874}" type="datetimeFigureOut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3D3E48F-D9D6-49EE-99E1-B66E1AF14072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9D3133-9921-43FE-BDB1-8F1E6709D96B}" type="datetimeFigureOut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s-CO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CF7188A-AE29-49C0-87DE-EBCB9D470D3C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CE36C-B562-45CF-8E0A-815935655306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F7FF1-A269-4E0B-B358-1AA9C5FB85BC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ECE08-B931-47ED-B412-1F6AA60F6653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6EBB1-66B5-4895-85B6-B2FCACB42495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24FEC-031C-4092-93E4-AFE79A90670A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8C024-7CE4-476C-AA45-73AB70862555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26E31-06C4-4912-868C-FF52ADE2467D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87238-AAA4-4872-AFD4-069E6CDFF943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6CA88-84C5-4BD4-961F-97C7550AE1BD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3A3C-FAFD-4B27-9115-0AAFEC94496E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703FE-CEC1-4BE6-A3F5-1953636AC0FA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6A7A1-5E2F-4440-90D1-B24E4FB98C9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0EA6E-4D90-4F01-BBC2-1633DA33FD9C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C7A13-C5B6-44BF-A0BB-5027C6F3346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6AD5B-E5CF-4AD1-A55D-A0675069986B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2F242-68EB-476C-BBE4-DD99DFA1D52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18B22-1700-4A11-B6D1-5F506FCE1D7C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33DCC-FB56-4959-8C46-E1712200FCB1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4E8DA-DDD7-4971-AC01-65454FADE14D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98AA6-F7FC-487D-B18C-A1A5222F987E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9A632-DA37-4B58-ACF4-48D9E134CBB7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EFE03-D6B2-45EE-9E3E-78273778E464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CO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FB1F0F-36F6-46B7-BA44-2DE20D79475B}" type="datetime1">
              <a:rPr lang="es-CO"/>
              <a:pPr>
                <a:defRPr/>
              </a:pPr>
              <a:t>21/10/2010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7AC296F-F9C1-4B35-9EAC-F146C3D862C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CO" smtClean="0"/>
              <a:t>	</a:t>
            </a:r>
            <a:r>
              <a:rPr lang="es-CO" smtClean="0">
                <a:solidFill>
                  <a:srgbClr val="F33F1B"/>
                </a:solidFill>
              </a:rPr>
              <a:t>PLANEACIÓN ESTRATÉGICA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643313" y="4214813"/>
            <a:ext cx="5072062" cy="13525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32138" y="6165850"/>
            <a:ext cx="2895600" cy="508000"/>
          </a:xfrm>
        </p:spPr>
        <p:txBody>
          <a:bodyPr/>
          <a:lstStyle/>
          <a:p>
            <a:pPr>
              <a:defRPr/>
            </a:pPr>
            <a:r>
              <a:rPr lang="es-CO"/>
              <a:t>UNIVERSIDAD AUTÓNOMA  LATINOAMERICANA Facultad de Contaduría Pública  Medellín,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075" name="1 Título"/>
          <p:cNvSpPr>
            <a:spLocks noGrp="1"/>
          </p:cNvSpPr>
          <p:nvPr>
            <p:ph type="title"/>
          </p:nvPr>
        </p:nvSpPr>
        <p:spPr>
          <a:xfrm>
            <a:off x="457200" y="692150"/>
            <a:ext cx="8229600" cy="725488"/>
          </a:xfrm>
        </p:spPr>
        <p:txBody>
          <a:bodyPr/>
          <a:lstStyle/>
          <a:p>
            <a:pPr eaLnBrk="1" hangingPunct="1"/>
            <a:r>
              <a:rPr lang="es-CO" sz="4000" smtClean="0">
                <a:solidFill>
                  <a:srgbClr val="FF0000"/>
                </a:solidFill>
              </a:rPr>
              <a:t>QUE ES?</a:t>
            </a:r>
            <a:r>
              <a:rPr lang="es-CO" sz="4000" smtClean="0"/>
              <a:t>	</a:t>
            </a:r>
          </a:p>
        </p:txBody>
      </p:sp>
      <p:sp>
        <p:nvSpPr>
          <p:cNvPr id="3076" name="6 Marcador de contenido"/>
          <p:cNvSpPr>
            <a:spLocks noGrp="1"/>
          </p:cNvSpPr>
          <p:nvPr>
            <p:ph idx="1"/>
          </p:nvPr>
        </p:nvSpPr>
        <p:spPr>
          <a:xfrm>
            <a:off x="571500" y="2000250"/>
            <a:ext cx="8229600" cy="4429125"/>
          </a:xfrm>
        </p:spPr>
        <p:txBody>
          <a:bodyPr/>
          <a:lstStyle/>
          <a:p>
            <a:pPr algn="just" eaLnBrk="1" hangingPunct="1"/>
            <a:r>
              <a:rPr lang="es-CO" smtClean="0"/>
              <a:t>Proceso mediante el cual quienes toman decisiones en una organización obtienen, procesan y analizan la información pertinente interna y externa con el fin de evaluar la situación de la empresa, su competitividad con el fin de anticipar y predecir el futuro.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099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CARACTERÍSTICAS	</a:t>
            </a:r>
          </a:p>
        </p:txBody>
      </p:sp>
      <p:sp>
        <p:nvSpPr>
          <p:cNvPr id="4100" name="5 Marcador de contenido"/>
          <p:cNvSpPr>
            <a:spLocks noGrp="1"/>
          </p:cNvSpPr>
          <p:nvPr>
            <p:ph idx="1"/>
          </p:nvPr>
        </p:nvSpPr>
        <p:spPr>
          <a:xfrm>
            <a:off x="539750" y="1989138"/>
            <a:ext cx="8353425" cy="4186237"/>
          </a:xfrm>
        </p:spPr>
        <p:txBody>
          <a:bodyPr/>
          <a:lstStyle/>
          <a:p>
            <a:pPr algn="just" eaLnBrk="1" hangingPunct="1"/>
            <a:r>
              <a:rPr lang="es-CO" smtClean="0"/>
              <a:t>No es un fin en si misma sino un medio, debe ser revaluada constantemente en función de los cambios.</a:t>
            </a:r>
          </a:p>
          <a:p>
            <a:pPr algn="just" eaLnBrk="1" hangingPunct="1"/>
            <a:r>
              <a:rPr lang="es-CO" smtClean="0"/>
              <a:t>No proporciona la certeza, solamente la probabilidad con relación al futuro.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6 Marcador de contenido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4681537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			</a:t>
            </a:r>
            <a:endParaRPr lang="es-CO" b="1" smtClean="0">
              <a:solidFill>
                <a:srgbClr val="FF0000"/>
              </a:solidFill>
            </a:endParaRPr>
          </a:p>
          <a:p>
            <a:pPr eaLnBrk="1" hangingPunct="1"/>
            <a:r>
              <a:rPr lang="es-CO" smtClean="0"/>
              <a:t>Cual es el negocio?</a:t>
            </a:r>
          </a:p>
          <a:p>
            <a:pPr eaLnBrk="1" hangingPunct="1"/>
            <a:r>
              <a:rPr lang="es-CO" smtClean="0"/>
              <a:t>Cuales son las características del entorno y la competencia?</a:t>
            </a:r>
          </a:p>
          <a:p>
            <a:pPr eaLnBrk="1" hangingPunct="1"/>
            <a:r>
              <a:rPr lang="es-CO" smtClean="0"/>
              <a:t>A donde se quiere llegar?</a:t>
            </a:r>
          </a:p>
          <a:p>
            <a:pPr eaLnBrk="1" hangingPunct="1"/>
            <a:r>
              <a:rPr lang="es-CO" smtClean="0"/>
              <a:t>Como llegar?</a:t>
            </a:r>
          </a:p>
          <a:p>
            <a:pPr eaLnBrk="1" hangingPunct="1"/>
            <a:r>
              <a:rPr lang="es-CO" smtClean="0"/>
              <a:t>Como medir que se estén logrando las metas y objetivos?   </a:t>
            </a:r>
          </a:p>
        </p:txBody>
      </p:sp>
      <p:sp>
        <p:nvSpPr>
          <p:cNvPr id="5124" name="1 Título"/>
          <p:cNvSpPr>
            <a:spLocks/>
          </p:cNvSpPr>
          <p:nvPr/>
        </p:nvSpPr>
        <p:spPr bwMode="auto">
          <a:xfrm>
            <a:off x="457200" y="333375"/>
            <a:ext cx="8435975" cy="158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s-CO" sz="4000">
                <a:solidFill>
                  <a:srgbClr val="FF0000"/>
                </a:solidFill>
                <a:latin typeface="Calibri" pitchFamily="34" charset="0"/>
              </a:rPr>
              <a:t>        </a:t>
            </a:r>
            <a:r>
              <a:rPr lang="es-CO" sz="3600">
                <a:solidFill>
                  <a:srgbClr val="FF0000"/>
                </a:solidFill>
                <a:latin typeface="Calibri" pitchFamily="34" charset="0"/>
              </a:rPr>
              <a:t>ESTE PROCESO QUIERE RESPONDER LAS SIGUIENTES PREGUNTAS:</a:t>
            </a:r>
            <a:r>
              <a:rPr lang="es-CO" sz="4000">
                <a:solidFill>
                  <a:srgbClr val="FF0000"/>
                </a:solidFill>
                <a:latin typeface="Calibri" pitchFamily="34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63" y="428625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CO" sz="4000" dirty="0" smtClean="0"/>
              <a:t>	   </a:t>
            </a:r>
            <a:br>
              <a:rPr lang="es-CO" sz="4000" dirty="0" smtClean="0"/>
            </a:br>
            <a:r>
              <a:rPr lang="es-CO" sz="4000" dirty="0" smtClean="0"/>
              <a:t>	   </a:t>
            </a:r>
            <a:r>
              <a:rPr lang="es-CO" sz="4000" dirty="0" smtClean="0">
                <a:solidFill>
                  <a:srgbClr val="FF0000"/>
                </a:solidFill>
              </a:rPr>
              <a:t>COMPONENTES FUNDAMENTALES:</a:t>
            </a:r>
          </a:p>
        </p:txBody>
      </p:sp>
      <p:sp>
        <p:nvSpPr>
          <p:cNvPr id="6147" name="2 Marcador de contenido"/>
          <p:cNvSpPr>
            <a:spLocks noGrp="1"/>
          </p:cNvSpPr>
          <p:nvPr>
            <p:ph idx="1"/>
          </p:nvPr>
        </p:nvSpPr>
        <p:spPr>
          <a:xfrm>
            <a:off x="395288" y="2420938"/>
            <a:ext cx="8424862" cy="3529012"/>
          </a:xfrm>
        </p:spPr>
        <p:txBody>
          <a:bodyPr/>
          <a:lstStyle/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es-CO" smtClean="0"/>
              <a:t>Los estrategas</a:t>
            </a:r>
          </a:p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es-CO" smtClean="0"/>
              <a:t>El direccionamiento (Objetivos, Misión, Visión)</a:t>
            </a:r>
          </a:p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es-CO" smtClean="0"/>
              <a:t>El diagnóstico estratégico (DOFA)</a:t>
            </a:r>
          </a:p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es-CO" smtClean="0"/>
              <a:t>Las Opciones estratégicas</a:t>
            </a:r>
          </a:p>
        </p:txBody>
      </p:sp>
      <p:pic>
        <p:nvPicPr>
          <p:cNvPr id="4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28625" y="500063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CO" sz="4000" dirty="0" smtClean="0"/>
              <a:t>	   </a:t>
            </a:r>
            <a:br>
              <a:rPr lang="es-CO" sz="4000" dirty="0" smtClean="0"/>
            </a:br>
            <a:r>
              <a:rPr lang="es-CO" sz="4000" dirty="0" smtClean="0"/>
              <a:t>	   </a:t>
            </a:r>
            <a:r>
              <a:rPr lang="es-CO" sz="4000" dirty="0" smtClean="0">
                <a:solidFill>
                  <a:srgbClr val="FF0000"/>
                </a:solidFill>
              </a:rPr>
              <a:t>COMPONENTES FUNDAMENTALES:</a:t>
            </a:r>
          </a:p>
        </p:txBody>
      </p:sp>
      <p:sp>
        <p:nvSpPr>
          <p:cNvPr id="7171" name="2 Marcador de contenido"/>
          <p:cNvSpPr>
            <a:spLocks noGrp="1"/>
          </p:cNvSpPr>
          <p:nvPr>
            <p:ph idx="4294967295"/>
          </p:nvPr>
        </p:nvSpPr>
        <p:spPr>
          <a:xfrm>
            <a:off x="250825" y="2205038"/>
            <a:ext cx="8424863" cy="4103687"/>
          </a:xfrm>
        </p:spPr>
        <p:txBody>
          <a:bodyPr/>
          <a:lstStyle/>
          <a:p>
            <a:pPr marL="609600" indent="-609600" eaLnBrk="1" hangingPunct="1">
              <a:buFont typeface="Calibri" pitchFamily="34" charset="0"/>
              <a:buAutoNum type="arabicPeriod" startAt="5"/>
            </a:pPr>
            <a:r>
              <a:rPr lang="es-CO" smtClean="0"/>
              <a:t>La Formulación estratégica</a:t>
            </a:r>
          </a:p>
          <a:p>
            <a:pPr marL="609600" indent="-609600" eaLnBrk="1" hangingPunct="1">
              <a:buFont typeface="Calibri" pitchFamily="34" charset="0"/>
              <a:buAutoNum type="arabicPeriod" startAt="5"/>
            </a:pPr>
            <a:r>
              <a:rPr lang="es-CO" smtClean="0"/>
              <a:t>Índices de gestión</a:t>
            </a:r>
          </a:p>
          <a:p>
            <a:pPr marL="609600" indent="-609600" eaLnBrk="1" hangingPunct="1">
              <a:buFont typeface="Calibri" pitchFamily="34" charset="0"/>
              <a:buAutoNum type="arabicPeriod" startAt="5"/>
            </a:pPr>
            <a:r>
              <a:rPr lang="es-CO" smtClean="0"/>
              <a:t>Planeación estratégica en cascada</a:t>
            </a:r>
          </a:p>
          <a:p>
            <a:pPr marL="609600" indent="-609600" eaLnBrk="1" hangingPunct="1">
              <a:buFont typeface="Calibri" pitchFamily="34" charset="0"/>
              <a:buAutoNum type="arabicPeriod" startAt="5"/>
            </a:pPr>
            <a:r>
              <a:rPr lang="es-CO" smtClean="0"/>
              <a:t>Difusión de estratégicas</a:t>
            </a:r>
          </a:p>
          <a:p>
            <a:pPr marL="609600" indent="-609600" eaLnBrk="1" hangingPunct="1">
              <a:buFont typeface="Calibri" pitchFamily="34" charset="0"/>
              <a:buAutoNum type="arabicPeriod" startAt="5"/>
            </a:pPr>
            <a:r>
              <a:rPr lang="es-CO" smtClean="0"/>
              <a:t>Conclusiones</a:t>
            </a:r>
          </a:p>
          <a:p>
            <a:pPr marL="609600" indent="-609600" eaLnBrk="1" hangingPunct="1">
              <a:buFont typeface="Calibri" pitchFamily="34" charset="0"/>
              <a:buNone/>
            </a:pPr>
            <a:endParaRPr lang="es-CO" smtClean="0"/>
          </a:p>
        </p:txBody>
      </p:sp>
      <p:pic>
        <p:nvPicPr>
          <p:cNvPr id="4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8195" name="5 Marcador de contenido"/>
          <p:cNvSpPr>
            <a:spLocks noGrp="1"/>
          </p:cNvSpPr>
          <p:nvPr>
            <p:ph idx="1"/>
          </p:nvPr>
        </p:nvSpPr>
        <p:spPr>
          <a:xfrm>
            <a:off x="285750" y="2519363"/>
            <a:ext cx="8462963" cy="3286125"/>
          </a:xfrm>
        </p:spPr>
        <p:txBody>
          <a:bodyPr/>
          <a:lstStyle/>
          <a:p>
            <a:pPr algn="just" eaLnBrk="1" hangingPunct="1"/>
            <a:r>
              <a:rPr lang="es-CO" smtClean="0"/>
              <a:t>Los componen la alta dirección de la empresa (Gerencia, Junta Directiva, Administración), les corresponde definir los objetivos y políticas de la organización</a:t>
            </a:r>
          </a:p>
        </p:txBody>
      </p:sp>
      <p:sp>
        <p:nvSpPr>
          <p:cNvPr id="8196" name="1 Título"/>
          <p:cNvSpPr>
            <a:spLocks noGrp="1"/>
          </p:cNvSpPr>
          <p:nvPr>
            <p:ph type="title"/>
          </p:nvPr>
        </p:nvSpPr>
        <p:spPr>
          <a:xfrm>
            <a:off x="539750" y="620713"/>
            <a:ext cx="8229600" cy="1143000"/>
          </a:xfrm>
        </p:spPr>
        <p:txBody>
          <a:bodyPr/>
          <a:lstStyle/>
          <a:p>
            <a:pPr marL="742950" indent="-742950" eaLnBrk="1" hangingPunct="1">
              <a:buFont typeface="Calibri" pitchFamily="34" charset="0"/>
              <a:buAutoNum type="arabicPeriod"/>
            </a:pPr>
            <a:r>
              <a:rPr lang="es-CO" smtClean="0">
                <a:solidFill>
                  <a:srgbClr val="FF0000"/>
                </a:solidFill>
              </a:rPr>
              <a:t>LOS ESTRATEGAS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19" name="5 Marcador de contenido"/>
          <p:cNvSpPr>
            <a:spLocks noGrp="1"/>
          </p:cNvSpPr>
          <p:nvPr>
            <p:ph idx="1"/>
          </p:nvPr>
        </p:nvSpPr>
        <p:spPr>
          <a:xfrm>
            <a:off x="250825" y="2000250"/>
            <a:ext cx="8686800" cy="4286250"/>
          </a:xfrm>
        </p:spPr>
        <p:txBody>
          <a:bodyPr/>
          <a:lstStyle/>
          <a:p>
            <a:pPr algn="just" eaLnBrk="1" hangingPunct="1"/>
            <a:r>
              <a:rPr lang="es-CO" smtClean="0"/>
              <a:t>Las organizaciones para crecer y permanecer en el mercado deben saber hacia donde van y la situación actual de la compañía. Lo integran LAS ESTAPAS DE PLANEACIÓN ESTRATÉGICA que son: los </a:t>
            </a:r>
            <a:r>
              <a:rPr lang="es-CO" b="1" smtClean="0"/>
              <a:t>Principios Corporativos</a:t>
            </a:r>
            <a:r>
              <a:rPr lang="es-CO" smtClean="0"/>
              <a:t>, </a:t>
            </a:r>
            <a:r>
              <a:rPr lang="es-CO" b="1" smtClean="0"/>
              <a:t>la Visión y Misión de la organización</a:t>
            </a:r>
            <a:r>
              <a:rPr lang="es-CO" smtClean="0"/>
              <a:t>.</a:t>
            </a:r>
          </a:p>
        </p:txBody>
      </p:sp>
      <p:sp>
        <p:nvSpPr>
          <p:cNvPr id="9220" name="1 Título"/>
          <p:cNvSpPr>
            <a:spLocks noGrp="1"/>
          </p:cNvSpPr>
          <p:nvPr>
            <p:ph type="title"/>
          </p:nvPr>
        </p:nvSpPr>
        <p:spPr>
          <a:xfrm>
            <a:off x="428625" y="714375"/>
            <a:ext cx="8501063" cy="1143000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>           2.</a:t>
            </a:r>
            <a:r>
              <a:rPr lang="es-CO" sz="3600" smtClean="0">
                <a:solidFill>
                  <a:srgbClr val="FF0000"/>
                </a:solidFill>
              </a:rPr>
              <a:t>DIRECCIONAMIENTO ESTRATÉGICO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428604"/>
            <a:ext cx="1787527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43" name="Rectangle 3"/>
          <p:cNvSpPr>
            <a:spLocks noGrp="1"/>
          </p:cNvSpPr>
          <p:nvPr>
            <p:ph type="subTitle" idx="1"/>
          </p:nvPr>
        </p:nvSpPr>
        <p:spPr>
          <a:xfrm>
            <a:off x="642938" y="500063"/>
            <a:ext cx="7920037" cy="1500187"/>
          </a:xfrm>
        </p:spPr>
        <p:txBody>
          <a:bodyPr/>
          <a:lstStyle/>
          <a:p>
            <a:pPr eaLnBrk="1" hangingPunct="1"/>
            <a:r>
              <a:rPr lang="es-CO" sz="4000" smtClean="0">
                <a:solidFill>
                  <a:srgbClr val="F33F1B"/>
                </a:solidFill>
              </a:rPr>
              <a:t>ETAPAS DE LA PLANEACIÓN ESTRATÉGICA</a:t>
            </a:r>
            <a:endParaRPr lang="es-ES" sz="4000" smtClean="0">
              <a:solidFill>
                <a:srgbClr val="F33F1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267" name="5 Marcador de contenido"/>
          <p:cNvSpPr>
            <a:spLocks noGrp="1"/>
          </p:cNvSpPr>
          <p:nvPr>
            <p:ph idx="1"/>
          </p:nvPr>
        </p:nvSpPr>
        <p:spPr>
          <a:xfrm>
            <a:off x="250825" y="2205038"/>
            <a:ext cx="8686800" cy="3286125"/>
          </a:xfrm>
        </p:spPr>
        <p:txBody>
          <a:bodyPr/>
          <a:lstStyle/>
          <a:p>
            <a:pPr eaLnBrk="1" hangingPunct="1"/>
            <a:r>
              <a:rPr lang="es-CO" smtClean="0"/>
              <a:t>Identifican y definen los principios de la organización.</a:t>
            </a:r>
          </a:p>
          <a:p>
            <a:pPr eaLnBrk="1" hangingPunct="1"/>
            <a:r>
              <a:rPr lang="es-CO" smtClean="0"/>
              <a:t>Son el conjunto de normas, valores y creencias que regulan la organización.</a:t>
            </a:r>
          </a:p>
          <a:p>
            <a:pPr eaLnBrk="1" hangingPunct="1"/>
            <a:r>
              <a:rPr lang="es-CO" smtClean="0"/>
              <a:t>No son parte de la visión ni de la misión, en cambio son su soporte</a:t>
            </a:r>
          </a:p>
        </p:txBody>
      </p:sp>
      <p:sp>
        <p:nvSpPr>
          <p:cNvPr id="11268" name="1 Título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PRINCIPIOS CORPORATIVOS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291" name="5 Marcador de contenido"/>
          <p:cNvSpPr>
            <a:spLocks noGrp="1"/>
          </p:cNvSpPr>
          <p:nvPr>
            <p:ph idx="4294967295"/>
          </p:nvPr>
        </p:nvSpPr>
        <p:spPr>
          <a:xfrm>
            <a:off x="250825" y="2205038"/>
            <a:ext cx="8713788" cy="40322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VALORES COCA COLA: </a:t>
            </a:r>
          </a:p>
          <a:p>
            <a:pPr eaLnBrk="1" hangingPunct="1"/>
            <a:r>
              <a:rPr lang="es-ES" smtClean="0"/>
              <a:t> Pasión por el servicio y Enfoque al cliente/consumidor.</a:t>
            </a:r>
          </a:p>
          <a:p>
            <a:pPr eaLnBrk="1" hangingPunct="1"/>
            <a:r>
              <a:rPr lang="es-CO" smtClean="0"/>
              <a:t>Innovación y Creatividad</a:t>
            </a:r>
          </a:p>
          <a:p>
            <a:pPr eaLnBrk="1" hangingPunct="1"/>
            <a:r>
              <a:rPr lang="es-CO" smtClean="0"/>
              <a:t>Calidad y Productividad </a:t>
            </a:r>
          </a:p>
          <a:p>
            <a:pPr eaLnBrk="1" hangingPunct="1"/>
            <a:r>
              <a:rPr lang="es-CO" smtClean="0"/>
              <a:t>Honestidad, Integridad y Austeridad.</a:t>
            </a:r>
            <a:endParaRPr lang="es-ES" smtClean="0"/>
          </a:p>
        </p:txBody>
      </p:sp>
      <p:sp>
        <p:nvSpPr>
          <p:cNvPr id="12292" name="1 Título"/>
          <p:cNvSpPr>
            <a:spLocks noGrp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EJEMPLOS DE PRINCIPIOS CORPORATIVOS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15" name="5 Marcador de contenido"/>
          <p:cNvSpPr>
            <a:spLocks noGrp="1"/>
          </p:cNvSpPr>
          <p:nvPr>
            <p:ph idx="4294967295"/>
          </p:nvPr>
        </p:nvSpPr>
        <p:spPr>
          <a:xfrm>
            <a:off x="250825" y="2205038"/>
            <a:ext cx="8713788" cy="40322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VALORES MSH CONSULTING: </a:t>
            </a:r>
          </a:p>
          <a:p>
            <a:pPr eaLnBrk="1" hangingPunct="1"/>
            <a:r>
              <a:rPr lang="es-ES" smtClean="0"/>
              <a:t> Búsqueda constante de mejora de la calidad.</a:t>
            </a:r>
          </a:p>
          <a:p>
            <a:pPr eaLnBrk="1" hangingPunct="1"/>
            <a:r>
              <a:rPr lang="es-CO" smtClean="0"/>
              <a:t>Profesionalismo</a:t>
            </a:r>
          </a:p>
          <a:p>
            <a:pPr eaLnBrk="1" hangingPunct="1"/>
            <a:r>
              <a:rPr lang="es-CO" smtClean="0"/>
              <a:t>Calidad Humana </a:t>
            </a:r>
          </a:p>
          <a:p>
            <a:pPr eaLnBrk="1" hangingPunct="1"/>
            <a:r>
              <a:rPr lang="es-CO" smtClean="0"/>
              <a:t>Pasión por lo que hacemos</a:t>
            </a:r>
          </a:p>
          <a:p>
            <a:pPr eaLnBrk="1" hangingPunct="1"/>
            <a:r>
              <a:rPr lang="es-CO" smtClean="0"/>
              <a:t>Respeto por el cliente</a:t>
            </a:r>
            <a:endParaRPr lang="es-ES" smtClean="0"/>
          </a:p>
        </p:txBody>
      </p:sp>
      <p:sp>
        <p:nvSpPr>
          <p:cNvPr id="13316" name="1 Título"/>
          <p:cNvSpPr>
            <a:spLocks noGrp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EJEMPLOS DE PRINCIPIOS CORPORATIVOS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339" name="5 Marcador de contenido"/>
          <p:cNvSpPr>
            <a:spLocks noGrp="1"/>
          </p:cNvSpPr>
          <p:nvPr>
            <p:ph idx="4294967295"/>
          </p:nvPr>
        </p:nvSpPr>
        <p:spPr>
          <a:xfrm>
            <a:off x="250825" y="2205038"/>
            <a:ext cx="8713788" cy="40322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PRINCIPIOS MSH CONSULTING:</a:t>
            </a:r>
          </a:p>
          <a:p>
            <a:pPr eaLnBrk="1" hangingPunct="1"/>
            <a:r>
              <a:rPr lang="es-ES" smtClean="0"/>
              <a:t> Respeto </a:t>
            </a:r>
          </a:p>
          <a:p>
            <a:pPr eaLnBrk="1" hangingPunct="1"/>
            <a:r>
              <a:rPr lang="es-CO" smtClean="0"/>
              <a:t>Compromiso </a:t>
            </a:r>
          </a:p>
          <a:p>
            <a:pPr eaLnBrk="1" hangingPunct="1"/>
            <a:r>
              <a:rPr lang="es-CO" smtClean="0"/>
              <a:t>Trabajo en equipo </a:t>
            </a:r>
          </a:p>
          <a:p>
            <a:pPr eaLnBrk="1" hangingPunct="1"/>
            <a:r>
              <a:rPr lang="es-CO" smtClean="0"/>
              <a:t>Honestidad y Ética</a:t>
            </a:r>
          </a:p>
          <a:p>
            <a:pPr eaLnBrk="1" hangingPunct="1"/>
            <a:r>
              <a:rPr lang="es-CO" smtClean="0"/>
              <a:t>Desarrollo profesional.</a:t>
            </a:r>
            <a:endParaRPr lang="es-ES" smtClean="0"/>
          </a:p>
        </p:txBody>
      </p:sp>
      <p:sp>
        <p:nvSpPr>
          <p:cNvPr id="14340" name="1 Título"/>
          <p:cNvSpPr>
            <a:spLocks noGrp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EJEMPLOS DE PRINCIPIOS CORPORATIVOS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63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O" sz="4000" b="1" smtClean="0">
                <a:solidFill>
                  <a:srgbClr val="FF0000"/>
                </a:solidFill>
              </a:rPr>
              <a:t/>
            </a:r>
            <a:br>
              <a:rPr lang="es-CO" sz="4000" b="1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MISIÓN</a:t>
            </a:r>
            <a:r>
              <a:rPr lang="es-CO" sz="4000" b="1" smtClean="0"/>
              <a:t>	</a:t>
            </a:r>
          </a:p>
        </p:txBody>
      </p:sp>
      <p:sp>
        <p:nvSpPr>
          <p:cNvPr id="15364" name="5 Marcador de contenido"/>
          <p:cNvSpPr>
            <a:spLocks noGrp="1"/>
          </p:cNvSpPr>
          <p:nvPr>
            <p:ph idx="1"/>
          </p:nvPr>
        </p:nvSpPr>
        <p:spPr>
          <a:xfrm>
            <a:off x="323850" y="1763713"/>
            <a:ext cx="8351838" cy="4186237"/>
          </a:xfrm>
        </p:spPr>
        <p:txBody>
          <a:bodyPr/>
          <a:lstStyle/>
          <a:p>
            <a:pPr eaLnBrk="1" hangingPunct="1"/>
            <a:endParaRPr lang="es-CO" smtClean="0"/>
          </a:p>
          <a:p>
            <a:pPr algn="just" eaLnBrk="1" hangingPunct="1"/>
            <a:r>
              <a:rPr lang="es-CO" b="1" smtClean="0"/>
              <a:t>Es la definición de la empresa en tiempo presente</a:t>
            </a:r>
            <a:r>
              <a:rPr lang="es-CO" smtClean="0"/>
              <a:t>. La razón de ser como organización. Contiene la identificación de sus competencias (producto, mercado y alcance geográfico).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2844" y="5429264"/>
            <a:ext cx="1785950" cy="1285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87" name="Group 2"/>
          <p:cNvGrpSpPr>
            <a:grpSpLocks noChangeAspect="1"/>
          </p:cNvGrpSpPr>
          <p:nvPr/>
        </p:nvGrpSpPr>
        <p:grpSpPr bwMode="auto">
          <a:xfrm>
            <a:off x="1835150" y="260350"/>
            <a:ext cx="5857875" cy="6311900"/>
            <a:chOff x="3012" y="5259"/>
            <a:chExt cx="7692" cy="4433"/>
          </a:xfrm>
        </p:grpSpPr>
        <p:sp>
          <p:nvSpPr>
            <p:cNvPr id="16388" name="AutoShape 3"/>
            <p:cNvSpPr>
              <a:spLocks noChangeAspect="1" noChangeArrowheads="1"/>
            </p:cNvSpPr>
            <p:nvPr/>
          </p:nvSpPr>
          <p:spPr bwMode="auto">
            <a:xfrm>
              <a:off x="3012" y="5259"/>
              <a:ext cx="7692" cy="4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ES">
                <a:latin typeface="Calibri" pitchFamily="34" charset="0"/>
              </a:endParaRPr>
            </a:p>
          </p:txBody>
        </p:sp>
        <p:sp>
          <p:nvSpPr>
            <p:cNvPr id="16389" name="Rectangle 4"/>
            <p:cNvSpPr>
              <a:spLocks noChangeArrowheads="1"/>
            </p:cNvSpPr>
            <p:nvPr/>
          </p:nvSpPr>
          <p:spPr bwMode="auto">
            <a:xfrm>
              <a:off x="5378" y="6585"/>
              <a:ext cx="2544" cy="1231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85868" tIns="42934" rIns="85868" bIns="42934" anchor="ctr"/>
            <a:lstStyle/>
            <a:p>
              <a:pPr algn="ctr"/>
              <a:r>
                <a:rPr lang="es-ES" sz="1900" b="1">
                  <a:solidFill>
                    <a:srgbClr val="000000"/>
                  </a:solidFill>
                  <a:latin typeface="Verdana" pitchFamily="34" charset="0"/>
                </a:rPr>
                <a:t>LA </a:t>
              </a:r>
            </a:p>
            <a:p>
              <a:pPr algn="ctr"/>
              <a:r>
                <a:rPr lang="es-ES" sz="1900" b="1">
                  <a:solidFill>
                    <a:srgbClr val="000000"/>
                  </a:solidFill>
                  <a:latin typeface="Verdana" pitchFamily="34" charset="0"/>
                </a:rPr>
                <a:t>MISIÓN</a:t>
              </a:r>
              <a:endParaRPr lang="es-ES">
                <a:latin typeface="Calibri" pitchFamily="34" charset="0"/>
              </a:endParaRPr>
            </a:p>
          </p:txBody>
        </p:sp>
        <p:sp>
          <p:nvSpPr>
            <p:cNvPr id="16390" name="Line 5"/>
            <p:cNvSpPr>
              <a:spLocks noChangeShapeType="1"/>
            </p:cNvSpPr>
            <p:nvPr/>
          </p:nvSpPr>
          <p:spPr bwMode="auto">
            <a:xfrm>
              <a:off x="6625" y="7857"/>
              <a:ext cx="0" cy="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>
              <a:off x="6616" y="8759"/>
              <a:ext cx="0" cy="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>
              <a:off x="6616" y="5931"/>
              <a:ext cx="0" cy="5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3" name="Line 8"/>
            <p:cNvSpPr>
              <a:spLocks noChangeShapeType="1"/>
            </p:cNvSpPr>
            <p:nvPr/>
          </p:nvSpPr>
          <p:spPr bwMode="auto">
            <a:xfrm flipV="1">
              <a:off x="7991" y="6221"/>
              <a:ext cx="343" cy="29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4" name="Line 9"/>
            <p:cNvSpPr>
              <a:spLocks noChangeShapeType="1"/>
            </p:cNvSpPr>
            <p:nvPr/>
          </p:nvSpPr>
          <p:spPr bwMode="auto">
            <a:xfrm>
              <a:off x="7991" y="7816"/>
              <a:ext cx="481" cy="2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5" name="Line 10"/>
            <p:cNvSpPr>
              <a:spLocks noChangeShapeType="1"/>
            </p:cNvSpPr>
            <p:nvPr/>
          </p:nvSpPr>
          <p:spPr bwMode="auto">
            <a:xfrm>
              <a:off x="7991" y="7164"/>
              <a:ext cx="48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6" name="Line 11"/>
            <p:cNvSpPr>
              <a:spLocks noChangeShapeType="1"/>
            </p:cNvSpPr>
            <p:nvPr/>
          </p:nvSpPr>
          <p:spPr bwMode="auto">
            <a:xfrm>
              <a:off x="4829" y="7237"/>
              <a:ext cx="4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7" name="Line 12"/>
            <p:cNvSpPr>
              <a:spLocks noChangeShapeType="1"/>
            </p:cNvSpPr>
            <p:nvPr/>
          </p:nvSpPr>
          <p:spPr bwMode="auto">
            <a:xfrm>
              <a:off x="4829" y="6368"/>
              <a:ext cx="480" cy="2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8" name="Line 13"/>
            <p:cNvSpPr>
              <a:spLocks noChangeShapeType="1"/>
            </p:cNvSpPr>
            <p:nvPr/>
          </p:nvSpPr>
          <p:spPr bwMode="auto">
            <a:xfrm flipV="1">
              <a:off x="4967" y="7888"/>
              <a:ext cx="342" cy="29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99" name="Text Box 14"/>
            <p:cNvSpPr txBox="1">
              <a:spLocks noChangeArrowheads="1"/>
            </p:cNvSpPr>
            <p:nvPr/>
          </p:nvSpPr>
          <p:spPr bwMode="auto">
            <a:xfrm>
              <a:off x="5877" y="5259"/>
              <a:ext cx="1393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¿CUÁLES SUS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VALORES?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0" name="Text Box 15"/>
            <p:cNvSpPr txBox="1">
              <a:spLocks noChangeArrowheads="1"/>
            </p:cNvSpPr>
            <p:nvPr/>
          </p:nvSpPr>
          <p:spPr bwMode="auto">
            <a:xfrm>
              <a:off x="3446" y="6010"/>
              <a:ext cx="1337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¿CUÁL ES SU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NEGOCIO?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1" name="Text Box 16"/>
            <p:cNvSpPr txBox="1">
              <a:spLocks noChangeArrowheads="1"/>
            </p:cNvSpPr>
            <p:nvPr/>
          </p:nvSpPr>
          <p:spPr bwMode="auto">
            <a:xfrm>
              <a:off x="3608" y="8231"/>
              <a:ext cx="1447" cy="9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400">
                  <a:solidFill>
                    <a:srgbClr val="000000"/>
                  </a:solidFill>
                  <a:latin typeface="Verdana" pitchFamily="34" charset="0"/>
                </a:rPr>
                <a:t>¿CUÁLES SUS</a:t>
              </a:r>
            </a:p>
            <a:p>
              <a:pPr algn="ctr"/>
              <a:r>
                <a:rPr lang="es-ES" sz="1000">
                  <a:solidFill>
                    <a:srgbClr val="000000"/>
                  </a:solidFill>
                  <a:latin typeface="Verdana" pitchFamily="34" charset="0"/>
                </a:rPr>
                <a:t>PRODUCTOS Y</a:t>
              </a:r>
            </a:p>
            <a:p>
              <a:pPr algn="ctr"/>
              <a:r>
                <a:rPr lang="es-ES" sz="1100">
                  <a:solidFill>
                    <a:srgbClr val="000000"/>
                  </a:solidFill>
                  <a:latin typeface="Verdana" pitchFamily="34" charset="0"/>
                </a:rPr>
                <a:t>MERCADOS?</a:t>
              </a:r>
            </a:p>
            <a:p>
              <a:endParaRPr lang="es-ES" sz="1400">
                <a:latin typeface="Calibri" pitchFamily="34" charset="0"/>
              </a:endParaRPr>
            </a:p>
          </p:txBody>
        </p:sp>
        <p:sp>
          <p:nvSpPr>
            <p:cNvPr id="16402" name="Text Box 17"/>
            <p:cNvSpPr txBox="1">
              <a:spLocks noChangeArrowheads="1"/>
            </p:cNvSpPr>
            <p:nvPr/>
          </p:nvSpPr>
          <p:spPr bwMode="auto">
            <a:xfrm>
              <a:off x="3012" y="6916"/>
              <a:ext cx="1845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¿PARA QUÉ EXISTE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LA EMPRESA?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3" name="Text Box 18"/>
            <p:cNvSpPr txBox="1">
              <a:spLocks noChangeArrowheads="1"/>
            </p:cNvSpPr>
            <p:nvPr/>
          </p:nvSpPr>
          <p:spPr bwMode="auto">
            <a:xfrm>
              <a:off x="5474" y="8304"/>
              <a:ext cx="3093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r>
                <a:rPr lang="es-ES" sz="1400">
                  <a:solidFill>
                    <a:srgbClr val="000000"/>
                  </a:solidFill>
                  <a:latin typeface="Verdana" pitchFamily="34" charset="0"/>
                </a:rPr>
                <a:t>¿CUÁLES SUS OBJETIVOS</a:t>
              </a:r>
            </a:p>
            <a:p>
              <a:r>
                <a:rPr lang="es-ES" sz="1400">
                  <a:solidFill>
                    <a:srgbClr val="000000"/>
                  </a:solidFill>
                  <a:latin typeface="Verdana" pitchFamily="34" charset="0"/>
                </a:rPr>
                <a:t>ORGANIZACIONALES</a:t>
              </a:r>
              <a:r>
                <a:rPr lang="es-ES" sz="800">
                  <a:solidFill>
                    <a:srgbClr val="000000"/>
                  </a:solidFill>
                  <a:latin typeface="Verdana" pitchFamily="34" charset="0"/>
                </a:rPr>
                <a:t>?</a:t>
              </a:r>
              <a:endParaRPr lang="es-ES">
                <a:latin typeface="Calibri" pitchFamily="34" charset="0"/>
              </a:endParaRPr>
            </a:p>
          </p:txBody>
        </p:sp>
        <p:sp>
          <p:nvSpPr>
            <p:cNvPr id="16404" name="Text Box 19"/>
            <p:cNvSpPr txBox="1">
              <a:spLocks noChangeArrowheads="1"/>
            </p:cNvSpPr>
            <p:nvPr/>
          </p:nvSpPr>
          <p:spPr bwMode="auto">
            <a:xfrm>
              <a:off x="4419" y="9175"/>
              <a:ext cx="4784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¿CUÁL SU RESPONSABILIDAD COMO CIUDADANO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CORPORATIVO (RESPONSABILIDAD SOCIAL)?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5" name="Text Box 20"/>
            <p:cNvSpPr txBox="1">
              <a:spLocks noChangeArrowheads="1"/>
            </p:cNvSpPr>
            <p:nvPr/>
          </p:nvSpPr>
          <p:spPr bwMode="auto">
            <a:xfrm>
              <a:off x="8453" y="5838"/>
              <a:ext cx="1577" cy="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¿QUIÉNES SON </a:t>
              </a:r>
            </a:p>
            <a:p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SUS CLIENTES?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6" name="Text Box 21"/>
            <p:cNvSpPr txBox="1">
              <a:spLocks noChangeArrowheads="1"/>
            </p:cNvSpPr>
            <p:nvPr/>
          </p:nvSpPr>
          <p:spPr bwMode="auto">
            <a:xfrm>
              <a:off x="8548" y="6926"/>
              <a:ext cx="158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¿CUÁL ES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SU PRIORIDAD?</a:t>
              </a:r>
              <a:endParaRPr lang="es-ES" sz="1200">
                <a:latin typeface="Calibri" pitchFamily="34" charset="0"/>
              </a:endParaRPr>
            </a:p>
          </p:txBody>
        </p:sp>
        <p:sp>
          <p:nvSpPr>
            <p:cNvPr id="16407" name="Text Box 22"/>
            <p:cNvSpPr txBox="1">
              <a:spLocks noChangeArrowheads="1"/>
            </p:cNvSpPr>
            <p:nvPr/>
          </p:nvSpPr>
          <p:spPr bwMode="auto">
            <a:xfrm>
              <a:off x="8482" y="7793"/>
              <a:ext cx="2222" cy="7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5868" tIns="42934" rIns="85868" bIns="42934"/>
            <a:lstStyle/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¿CUÁLES LOS DEBERES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Y DERECHOS DE SUS</a:t>
              </a:r>
            </a:p>
            <a:p>
              <a:pPr algn="ctr"/>
              <a:r>
                <a:rPr lang="es-ES" sz="1200">
                  <a:solidFill>
                    <a:srgbClr val="000000"/>
                  </a:solidFill>
                  <a:latin typeface="Verdana" pitchFamily="34" charset="0"/>
                </a:rPr>
                <a:t>COLABORADORES?</a:t>
              </a:r>
              <a:endParaRPr lang="es-ES" sz="1200"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411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CO" sz="4000" b="1" smtClean="0">
                <a:solidFill>
                  <a:srgbClr val="FF0000"/>
                </a:solidFill>
              </a:rPr>
              <a:t/>
            </a:r>
            <a:br>
              <a:rPr lang="es-CO" sz="4000" b="1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    EJEMPLOS DE MISIÓN</a:t>
            </a:r>
            <a:r>
              <a:rPr lang="es-CO" sz="4000" b="1" smtClean="0"/>
              <a:t>	</a:t>
            </a:r>
          </a:p>
        </p:txBody>
      </p:sp>
      <p:sp>
        <p:nvSpPr>
          <p:cNvPr id="17412" name="5 Marcador de contenido"/>
          <p:cNvSpPr>
            <a:spLocks noGrp="1"/>
          </p:cNvSpPr>
          <p:nvPr>
            <p:ph idx="4294967295"/>
          </p:nvPr>
        </p:nvSpPr>
        <p:spPr>
          <a:xfrm>
            <a:off x="323850" y="1763713"/>
            <a:ext cx="8351838" cy="4186237"/>
          </a:xfrm>
        </p:spPr>
        <p:txBody>
          <a:bodyPr/>
          <a:lstStyle/>
          <a:p>
            <a:pPr eaLnBrk="1" hangingPunct="1"/>
            <a:endParaRPr lang="es-CO" smtClean="0"/>
          </a:p>
          <a:p>
            <a:pPr algn="just" eaLnBrk="1" hangingPunct="1"/>
            <a:r>
              <a:rPr lang="es-ES" smtClean="0"/>
              <a:t>EMPRESA DE SOTWARE: Convertimos la tecnología informática en una solución estratégica rentable para nuestros clientes, colocándolos de esta manera como referentes del mercado. Entendiendo que el éxito de ambos está íntimamente relacionado.</a:t>
            </a:r>
            <a:endParaRPr lang="es-C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35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CO" sz="4000" b="1" smtClean="0">
                <a:solidFill>
                  <a:srgbClr val="FF0000"/>
                </a:solidFill>
              </a:rPr>
              <a:t/>
            </a:r>
            <a:br>
              <a:rPr lang="es-CO" sz="4000" b="1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     EJEMPLOS DE MISIÓN</a:t>
            </a:r>
            <a:r>
              <a:rPr lang="es-CO" sz="4000" b="1" smtClean="0"/>
              <a:t>	</a:t>
            </a:r>
          </a:p>
        </p:txBody>
      </p:sp>
      <p:sp>
        <p:nvSpPr>
          <p:cNvPr id="18436" name="5 Marcador de contenido"/>
          <p:cNvSpPr>
            <a:spLocks noGrp="1"/>
          </p:cNvSpPr>
          <p:nvPr>
            <p:ph idx="4294967295"/>
          </p:nvPr>
        </p:nvSpPr>
        <p:spPr>
          <a:xfrm>
            <a:off x="323850" y="2205038"/>
            <a:ext cx="8351838" cy="4186237"/>
          </a:xfrm>
        </p:spPr>
        <p:txBody>
          <a:bodyPr/>
          <a:lstStyle/>
          <a:p>
            <a:pPr eaLnBrk="1" hangingPunct="1"/>
            <a:endParaRPr lang="es-CO" smtClean="0"/>
          </a:p>
          <a:p>
            <a:pPr eaLnBrk="1" hangingPunct="1"/>
            <a:r>
              <a:rPr lang="es-ES" sz="4000" smtClean="0"/>
              <a:t>COCA COLA: Satisfacer y agradar con excelencia al consumidor de bebidas.</a:t>
            </a:r>
            <a:endParaRPr lang="es-CO" sz="4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71500"/>
            <a:ext cx="8229600" cy="12858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CO" sz="4000" dirty="0" smtClean="0">
                <a:solidFill>
                  <a:srgbClr val="FF0000"/>
                </a:solidFill>
              </a:rPr>
              <a:t>	</a:t>
            </a:r>
            <a:br>
              <a:rPr lang="es-CO" sz="4000" dirty="0" smtClean="0">
                <a:solidFill>
                  <a:srgbClr val="FF0000"/>
                </a:solidFill>
              </a:rPr>
            </a:br>
            <a:r>
              <a:rPr lang="es-CO" b="1" dirty="0" smtClean="0">
                <a:solidFill>
                  <a:srgbClr val="FF0000"/>
                </a:solidFill>
              </a:rPr>
              <a:t>VISIÓN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 smtClean="0"/>
          </a:p>
        </p:txBody>
      </p:sp>
      <p:sp>
        <p:nvSpPr>
          <p:cNvPr id="19460" name="5 Marcador de contenido"/>
          <p:cNvSpPr>
            <a:spLocks noGrp="1"/>
          </p:cNvSpPr>
          <p:nvPr>
            <p:ph idx="1"/>
          </p:nvPr>
        </p:nvSpPr>
        <p:spPr>
          <a:xfrm>
            <a:off x="323850" y="1600200"/>
            <a:ext cx="8362950" cy="4186238"/>
          </a:xfrm>
        </p:spPr>
        <p:txBody>
          <a:bodyPr/>
          <a:lstStyle/>
          <a:p>
            <a:pPr eaLnBrk="1" hangingPunct="1"/>
            <a:endParaRPr lang="es-CO" smtClean="0"/>
          </a:p>
          <a:p>
            <a:pPr algn="just" eaLnBrk="1" hangingPunct="1"/>
            <a:r>
              <a:rPr lang="es-CO" b="1" smtClean="0"/>
              <a:t>Es la ubicación de la empresa en escenarios futuros</a:t>
            </a:r>
            <a:r>
              <a:rPr lang="es-CO" smtClean="0"/>
              <a:t>. Es mas que un sueño, puesto que debe ser viable, realista y medible en el tiempo. Es la imagen clara del estado que logra motivar a los miembros de la organización a convertirlo en realidad.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CO" sz="3600" dirty="0" smtClean="0">
                <a:solidFill>
                  <a:srgbClr val="FF0000"/>
                </a:solidFill>
              </a:rPr>
              <a:t>	</a:t>
            </a:r>
            <a:br>
              <a:rPr lang="es-CO" sz="3600" dirty="0" smtClean="0">
                <a:solidFill>
                  <a:srgbClr val="FF0000"/>
                </a:solidFill>
              </a:rPr>
            </a:br>
            <a:r>
              <a:rPr lang="es-CO" sz="3600" b="1" dirty="0" smtClean="0">
                <a:solidFill>
                  <a:srgbClr val="FF0000"/>
                </a:solidFill>
              </a:rPr>
              <a:t>EJEMPLO DE VISIÓN</a:t>
            </a:r>
            <a:r>
              <a:rPr lang="es-CO" sz="3600" b="1" dirty="0" smtClean="0"/>
              <a:t/>
            </a:r>
            <a:br>
              <a:rPr lang="es-CO" sz="3600" b="1" dirty="0" smtClean="0"/>
            </a:br>
            <a:endParaRPr lang="es-CO" sz="3600" b="1" dirty="0" smtClean="0"/>
          </a:p>
        </p:txBody>
      </p:sp>
      <p:sp>
        <p:nvSpPr>
          <p:cNvPr id="20484" name="5 Marcador de contenido"/>
          <p:cNvSpPr>
            <a:spLocks noGrp="1"/>
          </p:cNvSpPr>
          <p:nvPr>
            <p:ph idx="4294967295"/>
          </p:nvPr>
        </p:nvSpPr>
        <p:spPr>
          <a:xfrm>
            <a:off x="323850" y="1600200"/>
            <a:ext cx="8362950" cy="4186238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b="1" smtClean="0"/>
              <a:t>EMPRESA DE SOTWARE Y HARDWARE:</a:t>
            </a:r>
          </a:p>
          <a:p>
            <a:pPr algn="just" eaLnBrk="1" hangingPunct="1"/>
            <a:r>
              <a:rPr lang="es-ES" smtClean="0"/>
              <a:t>Ser una empresa que se desarrolle de forma confiable, segura, sólida, flexible y rentable, construyendo el cambio en la era del conocimiento, con la audacia y calidad humana de nuestra gente, con una gestión que se anticipe y adapte al cambio, aprenda de la experiencia e innove permanentemente.</a:t>
            </a:r>
            <a:endParaRPr lang="es-C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428625"/>
            <a:ext cx="8229600" cy="12144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CO" sz="3600" dirty="0" smtClean="0">
                <a:solidFill>
                  <a:srgbClr val="FF0000"/>
                </a:solidFill>
              </a:rPr>
              <a:t>	</a:t>
            </a:r>
            <a:br>
              <a:rPr lang="es-CO" sz="3600" dirty="0" smtClean="0">
                <a:solidFill>
                  <a:srgbClr val="FF0000"/>
                </a:solidFill>
              </a:rPr>
            </a:br>
            <a:r>
              <a:rPr lang="es-CO" b="1" dirty="0" smtClean="0">
                <a:solidFill>
                  <a:srgbClr val="FF0000"/>
                </a:solidFill>
              </a:rPr>
              <a:t>EJEMPLO DE VISIÓN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dirty="0" smtClean="0"/>
          </a:p>
        </p:txBody>
      </p:sp>
      <p:sp>
        <p:nvSpPr>
          <p:cNvPr id="21508" name="5 Marcador de contenido"/>
          <p:cNvSpPr>
            <a:spLocks noGrp="1"/>
          </p:cNvSpPr>
          <p:nvPr>
            <p:ph idx="4294967295"/>
          </p:nvPr>
        </p:nvSpPr>
        <p:spPr>
          <a:xfrm>
            <a:off x="323850" y="1600200"/>
            <a:ext cx="8362950" cy="4186238"/>
          </a:xfrm>
        </p:spPr>
        <p:txBody>
          <a:bodyPr/>
          <a:lstStyle/>
          <a:p>
            <a:pPr eaLnBrk="1" hangingPunct="1"/>
            <a:endParaRPr lang="es-CO" smtClean="0"/>
          </a:p>
          <a:p>
            <a:pPr algn="just" eaLnBrk="1" hangingPunct="1"/>
            <a:r>
              <a:rPr lang="es-ES" sz="4000" smtClean="0"/>
              <a:t>COCA COLA: Ser el mejor embotellador del mundo, reconocido por su excelencia operativa y la calidad de su gente</a:t>
            </a:r>
            <a:endParaRPr lang="es-CO" sz="4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2531" name="5 Marcador de contenido"/>
          <p:cNvSpPr>
            <a:spLocks noGrp="1"/>
          </p:cNvSpPr>
          <p:nvPr>
            <p:ph idx="1"/>
          </p:nvPr>
        </p:nvSpPr>
        <p:spPr>
          <a:xfrm>
            <a:off x="214313" y="2000250"/>
            <a:ext cx="8389937" cy="4000500"/>
          </a:xfrm>
        </p:spPr>
        <p:txBody>
          <a:bodyPr/>
          <a:lstStyle/>
          <a:p>
            <a:pPr algn="just" eaLnBrk="1" hangingPunct="1"/>
            <a:r>
              <a:rPr lang="es-CO" smtClean="0"/>
              <a:t>Es indispensable obtener y procesar información sobre el entorno externo con el fin de identificar allí </a:t>
            </a:r>
            <a:r>
              <a:rPr lang="es-CO" b="1" smtClean="0"/>
              <a:t>Oportunidades</a:t>
            </a:r>
            <a:r>
              <a:rPr lang="es-CO" smtClean="0"/>
              <a:t> y </a:t>
            </a:r>
            <a:r>
              <a:rPr lang="es-CO" b="1" smtClean="0"/>
              <a:t>Amenazas</a:t>
            </a:r>
            <a:r>
              <a:rPr lang="es-CO" smtClean="0"/>
              <a:t>, así como las condiciones, </a:t>
            </a:r>
            <a:r>
              <a:rPr lang="es-CO" b="1" smtClean="0"/>
              <a:t>Fortalezas</a:t>
            </a:r>
            <a:r>
              <a:rPr lang="es-CO" smtClean="0"/>
              <a:t> y </a:t>
            </a:r>
            <a:r>
              <a:rPr lang="es-CO" b="1" smtClean="0"/>
              <a:t>Debilidades</a:t>
            </a:r>
            <a:r>
              <a:rPr lang="es-CO" smtClean="0"/>
              <a:t> internas de la organización.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   Responde a las preguntas ¿Dónde estábamos?¿donde estamos hoy?</a:t>
            </a:r>
          </a:p>
        </p:txBody>
      </p:sp>
      <p:sp>
        <p:nvSpPr>
          <p:cNvPr id="2253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>	</a:t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    3. DIAGNÓSTICO ESTRATÉGICO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55" name="5 Marcador de contenido"/>
          <p:cNvSpPr>
            <a:spLocks noGrp="1"/>
          </p:cNvSpPr>
          <p:nvPr>
            <p:ph idx="1"/>
          </p:nvPr>
        </p:nvSpPr>
        <p:spPr>
          <a:xfrm>
            <a:off x="214313" y="2090738"/>
            <a:ext cx="8472487" cy="3786187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   Es el proceso que identifica fortalezas y debilidades, de la organización o de la unidad estratégica. Lo integran el análisis de la capacidad directiva, competitiva, financiera y técnica o tecnológica y de talento humano.  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23556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ANÁLISIS INTERNO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4579" name="5 Marcador de contenido"/>
          <p:cNvSpPr>
            <a:spLocks noGrp="1"/>
          </p:cNvSpPr>
          <p:nvPr>
            <p:ph idx="1"/>
          </p:nvPr>
        </p:nvSpPr>
        <p:spPr>
          <a:xfrm>
            <a:off x="214313" y="2000250"/>
            <a:ext cx="8472487" cy="3786188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   Proceso que identifica las </a:t>
            </a:r>
            <a:r>
              <a:rPr lang="es-CO" b="1" smtClean="0"/>
              <a:t>oportunidades</a:t>
            </a:r>
            <a:r>
              <a:rPr lang="es-CO" smtClean="0"/>
              <a:t> o </a:t>
            </a:r>
            <a:r>
              <a:rPr lang="es-CO" b="1" smtClean="0"/>
              <a:t>amenazas</a:t>
            </a:r>
            <a:r>
              <a:rPr lang="es-CO" smtClean="0"/>
              <a:t> de la organización, unidad o departamento del entorno; lo integran el análisis de: factores económicos, políticos, Sociales, tecnológicos , geográficos, competitivos 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24580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ANÁLISIS EXTERNO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788192" y="277445"/>
            <a:ext cx="1571572" cy="1131829"/>
          </a:xfrm>
          <a:prstGeom prst="rect">
            <a:avLst/>
          </a:prstGeom>
          <a:noFill/>
          <a:ln>
            <a:noFill/>
          </a:ln>
        </p:spPr>
      </p:pic>
      <p:sp>
        <p:nvSpPr>
          <p:cNvPr id="25603" name="1 Título"/>
          <p:cNvSpPr>
            <a:spLocks/>
          </p:cNvSpPr>
          <p:nvPr/>
        </p:nvSpPr>
        <p:spPr bwMode="auto">
          <a:xfrm>
            <a:off x="395288" y="1857375"/>
            <a:ext cx="8229600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742950" indent="-742950" algn="ctr"/>
            <a:r>
              <a:rPr lang="es-CO" sz="4400">
                <a:solidFill>
                  <a:srgbClr val="FF0000"/>
                </a:solidFill>
                <a:latin typeface="Calibri" pitchFamily="34" charset="0"/>
              </a:rPr>
              <a:t>DESPUES DEL ANÁLISIS INTERNO Y EXTERNO VIENE LA MATRIZ DOFA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627" name="5 Marcador de contenido"/>
          <p:cNvSpPr>
            <a:spLocks noGrp="1"/>
          </p:cNvSpPr>
          <p:nvPr>
            <p:ph idx="1"/>
          </p:nvPr>
        </p:nvSpPr>
        <p:spPr>
          <a:xfrm>
            <a:off x="214313" y="2000250"/>
            <a:ext cx="8472487" cy="3786188"/>
          </a:xfrm>
        </p:spPr>
        <p:txBody>
          <a:bodyPr/>
          <a:lstStyle/>
          <a:p>
            <a:pPr algn="just" eaLnBrk="1" hangingPunct="1"/>
            <a:r>
              <a:rPr lang="es-CO" smtClean="0"/>
              <a:t>Son aquellas actividades o atributos al interior de una organización que dificultan el éxito de una empresa.</a:t>
            </a:r>
          </a:p>
          <a:p>
            <a:pPr algn="just" eaLnBrk="1" hangingPunct="1"/>
            <a:r>
              <a:rPr lang="es-CO" smtClean="0"/>
              <a:t>Ejemplo: Mala organización en las ventas</a:t>
            </a:r>
          </a:p>
          <a:p>
            <a:pPr algn="just" eaLnBrk="1" hangingPunct="1"/>
            <a:r>
              <a:rPr lang="es-CO" smtClean="0"/>
              <a:t>Pocos canales de distribución.  </a:t>
            </a:r>
          </a:p>
          <a:p>
            <a:pPr algn="just" eaLnBrk="1" hangingPunct="1"/>
            <a:r>
              <a:rPr lang="es-CO" smtClean="0"/>
              <a:t>Procesos de producción mal elaborados.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26628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DEBILIDADES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7651" name="5 Marcador de contenido"/>
          <p:cNvSpPr>
            <a:spLocks noGrp="1"/>
          </p:cNvSpPr>
          <p:nvPr>
            <p:ph idx="4294967295"/>
          </p:nvPr>
        </p:nvSpPr>
        <p:spPr>
          <a:xfrm>
            <a:off x="285750" y="1785938"/>
            <a:ext cx="8472488" cy="48577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    Son las actividades y atributos internos de una organización que contribuyen y apoyan el logro de los objetivos.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	Ejemplos:</a:t>
            </a:r>
          </a:p>
          <a:p>
            <a:pPr algn="just" eaLnBrk="1" hangingPunct="1"/>
            <a:r>
              <a:rPr lang="es-CO" smtClean="0"/>
              <a:t>Una empresa poseedora de mucho capital de trabajo.</a:t>
            </a:r>
          </a:p>
          <a:p>
            <a:pPr algn="just" eaLnBrk="1" hangingPunct="1"/>
            <a:r>
              <a:rPr lang="es-CO" smtClean="0"/>
              <a:t>Una que tenga muchos conocimientos técnicos y reconocimiento de calidad</a:t>
            </a:r>
          </a:p>
        </p:txBody>
      </p:sp>
      <p:sp>
        <p:nvSpPr>
          <p:cNvPr id="27652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FORTALEZAS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75" name="5 Marcador de contenido"/>
          <p:cNvSpPr>
            <a:spLocks noGrp="1"/>
          </p:cNvSpPr>
          <p:nvPr>
            <p:ph idx="4294967295"/>
          </p:nvPr>
        </p:nvSpPr>
        <p:spPr>
          <a:xfrm>
            <a:off x="214313" y="1989138"/>
            <a:ext cx="8472487" cy="3868737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	Son los eventos hechos o tendencias en el entorno de una organización que podrían facilitar o beneficiar el desarrollo de esta si se aprovechan en forma adecuada.</a:t>
            </a:r>
          </a:p>
          <a:p>
            <a:pPr algn="just" eaLnBrk="1" hangingPunct="1"/>
            <a:r>
              <a:rPr lang="es-CO" smtClean="0"/>
              <a:t>Creciente demanda del producto o servicio</a:t>
            </a:r>
          </a:p>
          <a:p>
            <a:pPr algn="just" eaLnBrk="1" hangingPunct="1"/>
            <a:r>
              <a:rPr lang="es-CO" smtClean="0"/>
              <a:t>Mercados extranjeros no saturados</a:t>
            </a:r>
          </a:p>
          <a:p>
            <a:pPr algn="just" eaLnBrk="1" hangingPunct="1"/>
            <a:endParaRPr lang="es-CO" smtClean="0"/>
          </a:p>
        </p:txBody>
      </p:sp>
      <p:sp>
        <p:nvSpPr>
          <p:cNvPr id="28676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OPORTUNIDADES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29699" name="5 Marcador de contenido"/>
          <p:cNvSpPr>
            <a:spLocks noGrp="1"/>
          </p:cNvSpPr>
          <p:nvPr>
            <p:ph idx="4294967295"/>
          </p:nvPr>
        </p:nvSpPr>
        <p:spPr>
          <a:xfrm>
            <a:off x="214313" y="2071688"/>
            <a:ext cx="8472487" cy="3929062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    Son los eventos, hechos o tendencias en el entorno de la organización que inhiben, limitan o dificultan su desarrollo operativo.</a:t>
            </a:r>
          </a:p>
          <a:p>
            <a:pPr algn="just" eaLnBrk="1" hangingPunct="1"/>
            <a:r>
              <a:rPr lang="es-CO" smtClean="0"/>
              <a:t>Proveedores poco confiables</a:t>
            </a:r>
          </a:p>
          <a:p>
            <a:pPr algn="just" eaLnBrk="1" hangingPunct="1"/>
            <a:r>
              <a:rPr lang="es-CO" smtClean="0"/>
              <a:t>Problemas políticos con otros países.</a:t>
            </a:r>
          </a:p>
          <a:p>
            <a:pPr algn="just" eaLnBrk="1" hangingPunct="1"/>
            <a:r>
              <a:rPr lang="es-CO" smtClean="0"/>
              <a:t>Inflación, crisis económica.</a:t>
            </a:r>
          </a:p>
          <a:p>
            <a:pPr algn="just"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29700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/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b="1" smtClean="0">
                <a:solidFill>
                  <a:srgbClr val="FF0000"/>
                </a:solidFill>
              </a:rPr>
              <a:t>AMENAZAS</a:t>
            </a:r>
            <a:r>
              <a:rPr lang="es-CO" sz="4000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0723" name="5 Marcador de contenido"/>
          <p:cNvSpPr>
            <a:spLocks noGrp="1"/>
          </p:cNvSpPr>
          <p:nvPr>
            <p:ph idx="1"/>
          </p:nvPr>
        </p:nvSpPr>
        <p:spPr>
          <a:xfrm>
            <a:off x="468313" y="2000250"/>
            <a:ext cx="8218487" cy="3876675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   Después de definido el direccionamiento y realizado el diagnóstico del DOFA se deberán explorar las opciones que la compañía tiene para anticipar sus oportunidades, amenazas, fortalezas y oportunidades .</a:t>
            </a:r>
          </a:p>
          <a:p>
            <a:pPr eaLnBrk="1" hangingPunct="1">
              <a:buFont typeface="Arial" charset="0"/>
              <a:buNone/>
            </a:pPr>
            <a:r>
              <a:rPr lang="es-CO" smtClean="0"/>
              <a:t>    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0724" name="1 Título"/>
          <p:cNvSpPr>
            <a:spLocks noGrp="1"/>
          </p:cNvSpPr>
          <p:nvPr>
            <p:ph type="title"/>
          </p:nvPr>
        </p:nvSpPr>
        <p:spPr>
          <a:xfrm>
            <a:off x="714375" y="642938"/>
            <a:ext cx="8102600" cy="714375"/>
          </a:xfrm>
        </p:spPr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        </a:t>
            </a:r>
            <a:r>
              <a:rPr lang="es-CO" b="1" smtClean="0">
                <a:solidFill>
                  <a:srgbClr val="FF0000"/>
                </a:solidFill>
              </a:rPr>
              <a:t>4. </a:t>
            </a:r>
            <a:r>
              <a:rPr lang="es-CO" sz="4000" b="1" smtClean="0">
                <a:solidFill>
                  <a:srgbClr val="FF0000"/>
                </a:solidFill>
              </a:rPr>
              <a:t>OPCIONES ESTRATÉGICAS</a:t>
            </a:r>
            <a:r>
              <a:rPr lang="es-CO" sz="4000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1747" name="5 Marcador de contenido"/>
          <p:cNvSpPr>
            <a:spLocks noGrp="1"/>
          </p:cNvSpPr>
          <p:nvPr>
            <p:ph idx="1"/>
          </p:nvPr>
        </p:nvSpPr>
        <p:spPr>
          <a:xfrm>
            <a:off x="214313" y="1700213"/>
            <a:ext cx="8472487" cy="4086225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  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    Deberá analizar el comportamiento de su portafolio de productos, definir objetivos y determinar estrategias que le permitirán lograr eficientemente su misión esto es lo que se llama proceso de planeación.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1979613" y="908050"/>
            <a:ext cx="669766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O" sz="4400" b="1">
                <a:solidFill>
                  <a:srgbClr val="FF0000"/>
                </a:solidFill>
                <a:latin typeface="Calibri" pitchFamily="34" charset="0"/>
              </a:rPr>
              <a:t>OPCIONES ESTRATÉGICAS</a:t>
            </a:r>
            <a:endParaRPr lang="es-ES" sz="4400" b="1">
              <a:solidFill>
                <a:srgbClr val="FF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771" name="5 Marcador de contenido"/>
          <p:cNvSpPr>
            <a:spLocks noGrp="1"/>
          </p:cNvSpPr>
          <p:nvPr>
            <p:ph idx="1"/>
          </p:nvPr>
        </p:nvSpPr>
        <p:spPr>
          <a:xfrm>
            <a:off x="323850" y="2000250"/>
            <a:ext cx="8534400" cy="3228975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    Las opciones deberán convertirse en planes de acción concretos con definición de responsables.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   Es indispensable proyectar en el tiempo cada uno de los proyectos estratégicos, definir los objetivos de cada área funcional. 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2772" name="1 Título"/>
          <p:cNvSpPr>
            <a:spLocks noGrp="1"/>
          </p:cNvSpPr>
          <p:nvPr>
            <p:ph type="title"/>
          </p:nvPr>
        </p:nvSpPr>
        <p:spPr>
          <a:xfrm>
            <a:off x="900113" y="908050"/>
            <a:ext cx="7847012" cy="720725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>        </a:t>
            </a:r>
            <a:br>
              <a:rPr lang="es-CO" sz="4000" smtClean="0">
                <a:solidFill>
                  <a:srgbClr val="FF0000"/>
                </a:solidFill>
              </a:rPr>
            </a:br>
            <a:r>
              <a:rPr lang="es-CO" sz="4000" smtClean="0">
                <a:solidFill>
                  <a:srgbClr val="FF0000"/>
                </a:solidFill>
              </a:rPr>
              <a:t> 5</a:t>
            </a:r>
            <a:r>
              <a:rPr lang="es-CO" sz="4000" b="1" smtClean="0">
                <a:solidFill>
                  <a:srgbClr val="FF0000"/>
                </a:solidFill>
              </a:rPr>
              <a:t>. FORMULACIÓN ESTRATÉGICA</a:t>
            </a:r>
            <a:r>
              <a:rPr lang="es-CO" sz="4000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3795" name="5 Marcador de contenido"/>
          <p:cNvSpPr>
            <a:spLocks noGrp="1"/>
          </p:cNvSpPr>
          <p:nvPr>
            <p:ph idx="1"/>
          </p:nvPr>
        </p:nvSpPr>
        <p:spPr>
          <a:xfrm>
            <a:off x="755650" y="1989138"/>
            <a:ext cx="7489825" cy="3671887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CO" smtClean="0"/>
              <a:t>Estos proyectos podrían ser por ejemplo:</a:t>
            </a:r>
          </a:p>
          <a:p>
            <a:pPr eaLnBrk="1" hangingPunct="1"/>
            <a:r>
              <a:rPr lang="es-CO" smtClean="0"/>
              <a:t>Modernización tecnológica</a:t>
            </a:r>
          </a:p>
          <a:p>
            <a:pPr eaLnBrk="1" hangingPunct="1"/>
            <a:r>
              <a:rPr lang="es-CO" smtClean="0"/>
              <a:t>Reingeniería organizacional</a:t>
            </a:r>
          </a:p>
          <a:p>
            <a:pPr eaLnBrk="1" hangingPunct="1"/>
            <a:r>
              <a:rPr lang="es-CO" smtClean="0"/>
              <a:t>Plan global de mercadeo </a:t>
            </a:r>
          </a:p>
          <a:p>
            <a:pPr eaLnBrk="1" hangingPunct="1"/>
            <a:r>
              <a:rPr lang="es-CO" smtClean="0"/>
              <a:t>Servicio al cliente</a:t>
            </a:r>
          </a:p>
          <a:p>
            <a:pPr eaLnBrk="1" hangingPunct="1"/>
            <a:r>
              <a:rPr lang="es-CO" smtClean="0"/>
              <a:t>Plan estratégico de talento humano    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3796" name="1 Título"/>
          <p:cNvSpPr>
            <a:spLocks noGrp="1"/>
          </p:cNvSpPr>
          <p:nvPr>
            <p:ph type="title"/>
          </p:nvPr>
        </p:nvSpPr>
        <p:spPr>
          <a:xfrm>
            <a:off x="428625" y="428625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           </a:t>
            </a:r>
            <a:r>
              <a:rPr lang="es-CO" sz="4000" b="1" smtClean="0">
                <a:solidFill>
                  <a:srgbClr val="FF0000"/>
                </a:solidFill>
              </a:rPr>
              <a:t>FORMULACIÓN ESTRATÉGICA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4819" name="5 Marcador de contenido"/>
          <p:cNvSpPr>
            <a:spLocks noGrp="1"/>
          </p:cNvSpPr>
          <p:nvPr>
            <p:ph idx="1"/>
          </p:nvPr>
        </p:nvSpPr>
        <p:spPr>
          <a:xfrm>
            <a:off x="214313" y="2000250"/>
            <a:ext cx="8461375" cy="3733800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   El desempeño en la organización debe monitorearse y auditarse con base en los objetivos, planes de acción y presupuesto estratégico, se deben definir unos índices para medir su desempeño.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    Esta medición se hará de forma periódica para que retroalimente el proceso de planeación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4820" name="1 Título"/>
          <p:cNvSpPr>
            <a:spLocks noGrp="1"/>
          </p:cNvSpPr>
          <p:nvPr>
            <p:ph type="title"/>
          </p:nvPr>
        </p:nvSpPr>
        <p:spPr>
          <a:xfrm>
            <a:off x="428625" y="500063"/>
            <a:ext cx="8229600" cy="1143000"/>
          </a:xfrm>
        </p:spPr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      </a:t>
            </a:r>
            <a:r>
              <a:rPr lang="es-CO" b="1" smtClean="0">
                <a:solidFill>
                  <a:srgbClr val="FF0000"/>
                </a:solidFill>
              </a:rPr>
              <a:t>6.  ÍNDICES DE GESTIÓN </a:t>
            </a:r>
            <a:r>
              <a:rPr lang="es-CO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5843" name="5 Marcador de contenido"/>
          <p:cNvSpPr>
            <a:spLocks noGrp="1"/>
          </p:cNvSpPr>
          <p:nvPr>
            <p:ph idx="1"/>
          </p:nvPr>
        </p:nvSpPr>
        <p:spPr>
          <a:xfrm>
            <a:off x="107950" y="2060575"/>
            <a:ext cx="8856663" cy="3960813"/>
          </a:xfrm>
        </p:spPr>
        <p:txBody>
          <a:bodyPr/>
          <a:lstStyle/>
          <a:p>
            <a:r>
              <a:rPr lang="es-CO" smtClean="0"/>
              <a:t>El modelo de planeación estratégica parte del supuesto de que el proceso es una tarea distribuida en todos los niveles de la organización.</a:t>
            </a:r>
          </a:p>
          <a:p>
            <a:r>
              <a:rPr lang="es-CO" smtClean="0"/>
              <a:t>Inicia en el nivel superior (planeación corporativa)</a:t>
            </a:r>
          </a:p>
          <a:p>
            <a:r>
              <a:rPr lang="es-CO" smtClean="0"/>
              <a:t>Luego lo integran las unidades estratégicas  (planeación táctica).</a:t>
            </a:r>
          </a:p>
          <a:p>
            <a:pPr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5844" name="1 Título"/>
          <p:cNvSpPr>
            <a:spLocks noGrp="1"/>
          </p:cNvSpPr>
          <p:nvPr>
            <p:ph type="title"/>
          </p:nvPr>
        </p:nvSpPr>
        <p:spPr>
          <a:xfrm>
            <a:off x="785813" y="714375"/>
            <a:ext cx="7931150" cy="928688"/>
          </a:xfrm>
        </p:spPr>
        <p:txBody>
          <a:bodyPr/>
          <a:lstStyle/>
          <a:p>
            <a:pPr marL="742950" indent="-742950" eaLnBrk="1" hangingPunct="1"/>
            <a:r>
              <a:rPr lang="es-CO" sz="4000" smtClean="0">
                <a:solidFill>
                  <a:srgbClr val="FF0000"/>
                </a:solidFill>
              </a:rPr>
              <a:t>         </a:t>
            </a:r>
            <a:r>
              <a:rPr lang="es-CO" sz="4000" b="1" smtClean="0">
                <a:solidFill>
                  <a:srgbClr val="FF0000"/>
                </a:solidFill>
              </a:rPr>
              <a:t>7.  PLANEACIÓN EN CASCADA </a:t>
            </a:r>
            <a:r>
              <a:rPr lang="es-CO" sz="4000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6867" name="5 Marcador de contenido"/>
          <p:cNvSpPr>
            <a:spLocks noGrp="1"/>
          </p:cNvSpPr>
          <p:nvPr>
            <p:ph idx="1"/>
          </p:nvPr>
        </p:nvSpPr>
        <p:spPr>
          <a:xfrm>
            <a:off x="214313" y="1928813"/>
            <a:ext cx="8472487" cy="3857625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es-CO" smtClean="0"/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	Definido el plan y antes de ser implementado, debe difundirse a toda la organización; esto logrará que todos los funcionarios identifiquen su responsabilidad en la ejecución del plan y se comprometan con él.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6868" name="1 Título"/>
          <p:cNvSpPr>
            <a:spLocks noGrp="1"/>
          </p:cNvSpPr>
          <p:nvPr>
            <p:ph type="title"/>
          </p:nvPr>
        </p:nvSpPr>
        <p:spPr>
          <a:xfrm>
            <a:off x="468313" y="692150"/>
            <a:ext cx="8207375" cy="1093788"/>
          </a:xfrm>
        </p:spPr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        8</a:t>
            </a:r>
            <a:r>
              <a:rPr lang="es-CO" b="1" smtClean="0">
                <a:solidFill>
                  <a:srgbClr val="FF0000"/>
                </a:solidFill>
              </a:rPr>
              <a:t>.  DIFUSIÓN Y ALINEACIÓN ESTRATEGIAS </a:t>
            </a:r>
            <a:r>
              <a:rPr lang="es-CO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7891" name="5 Marcador de contenido"/>
          <p:cNvSpPr>
            <a:spLocks noGrp="1"/>
          </p:cNvSpPr>
          <p:nvPr>
            <p:ph idx="1"/>
          </p:nvPr>
        </p:nvSpPr>
        <p:spPr>
          <a:xfrm>
            <a:off x="214313" y="1928813"/>
            <a:ext cx="8472487" cy="3857625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es-CO" smtClean="0"/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	La clave del éxito estratégico esta en la alineación de procesos, las personas y clientes, con esto se logrará una visión compartida.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7892" name="3 Rectángulo"/>
          <p:cNvSpPr>
            <a:spLocks noChangeArrowheads="1"/>
          </p:cNvSpPr>
          <p:nvPr/>
        </p:nvSpPr>
        <p:spPr bwMode="auto">
          <a:xfrm>
            <a:off x="1785938" y="357188"/>
            <a:ext cx="6858000" cy="113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O" sz="3400" b="1">
                <a:solidFill>
                  <a:srgbClr val="FF0000"/>
                </a:solidFill>
              </a:rPr>
              <a:t>DIFUSIÓN Y ALINEACIÓN ESTRATEGIAS </a:t>
            </a:r>
            <a:r>
              <a:rPr lang="es-CO">
                <a:solidFill>
                  <a:srgbClr val="FF0000"/>
                </a:solidFill>
              </a:rPr>
              <a:t>	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8915" name="5 Marcador de contenido"/>
          <p:cNvSpPr>
            <a:spLocks noGrp="1"/>
          </p:cNvSpPr>
          <p:nvPr>
            <p:ph idx="1"/>
          </p:nvPr>
        </p:nvSpPr>
        <p:spPr>
          <a:xfrm>
            <a:off x="214313" y="2000250"/>
            <a:ext cx="8472487" cy="4429125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s-CO" smtClean="0"/>
              <a:t>	Todas estas etapas constituyen el marco de referencia para desarrollar una guía metódica que logre llevar de la planeación y teoría estratégica a la práctica.</a:t>
            </a:r>
          </a:p>
          <a:p>
            <a:pPr algn="just" eaLnBrk="1" hangingPunct="1">
              <a:buFont typeface="Arial" charset="0"/>
              <a:buNone/>
            </a:pPr>
            <a:r>
              <a:rPr lang="es-CO" smtClean="0"/>
              <a:t>	Estas son un apoyo en el diseño de estrategias y acciones que le permitan a cada empresa competir más productivamente en los mercados de hoy y a futuro.</a:t>
            </a:r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  <a:p>
            <a:pPr eaLnBrk="1" hangingPunct="1">
              <a:buFont typeface="Arial" charset="0"/>
              <a:buNone/>
            </a:pPr>
            <a:endParaRPr lang="es-CO" smtClean="0"/>
          </a:p>
        </p:txBody>
      </p:sp>
      <p:sp>
        <p:nvSpPr>
          <p:cNvPr id="38916" name="1 Título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868363"/>
          </a:xfrm>
        </p:spPr>
        <p:txBody>
          <a:bodyPr/>
          <a:lstStyle/>
          <a:p>
            <a:pPr marL="742950" indent="-742950" eaLnBrk="1" hangingPunct="1"/>
            <a:r>
              <a:rPr lang="es-CO" smtClean="0">
                <a:solidFill>
                  <a:srgbClr val="FF0000"/>
                </a:solidFill>
              </a:rPr>
              <a:t>        </a:t>
            </a:r>
            <a:r>
              <a:rPr lang="es-CO" b="1" smtClean="0">
                <a:solidFill>
                  <a:srgbClr val="FF0000"/>
                </a:solidFill>
              </a:rPr>
              <a:t>9.  CONCLUSIÓN GENERAL </a:t>
            </a:r>
            <a:r>
              <a:rPr lang="es-CO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F33F1B"/>
                </a:solidFill>
              </a:rPr>
              <a:t>VENTAJAS DE LA PLANEACIÓN ESTRATÉGICA</a:t>
            </a:r>
            <a:r>
              <a:rPr lang="es-CO" sz="5400" b="1" dirty="0" smtClean="0">
                <a:solidFill>
                  <a:srgbClr val="FF0000"/>
                </a:solidFill>
              </a:rPr>
              <a:t> </a:t>
            </a:r>
            <a:r>
              <a:rPr lang="es-CO" sz="5400" dirty="0" smtClean="0">
                <a:solidFill>
                  <a:srgbClr val="FF0000"/>
                </a:solidFill>
              </a:rPr>
              <a:t>	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CO" dirty="0" smtClean="0"/>
              <a:t>La Estrategia determina una dirección o un norte, a las actividades de la Organización.</a:t>
            </a:r>
          </a:p>
          <a:p>
            <a:pPr marL="514350" indent="-514350">
              <a:buAutoNum type="arabicPeriod"/>
            </a:pPr>
            <a:r>
              <a:rPr lang="es-CO" dirty="0" smtClean="0"/>
              <a:t>La Estrategia promueve la coordinación de actividades, y evita que las diferentes áreas de la </a:t>
            </a:r>
            <a:r>
              <a:rPr lang="es-CO" dirty="0" err="1" smtClean="0"/>
              <a:t>Cia</a:t>
            </a:r>
            <a:r>
              <a:rPr lang="es-CO" dirty="0" smtClean="0"/>
              <a:t>. Empujen hacia direcciones diferentes.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F33F1B"/>
                </a:solidFill>
              </a:rPr>
              <a:t>VENTAJAS DE LA PLANEACIÓN ESTRATÉGICA</a:t>
            </a:r>
            <a:r>
              <a:rPr lang="es-CO" sz="5400" b="1" dirty="0" smtClean="0">
                <a:solidFill>
                  <a:srgbClr val="FF0000"/>
                </a:solidFill>
              </a:rPr>
              <a:t> </a:t>
            </a:r>
            <a:r>
              <a:rPr lang="es-CO" sz="5400" dirty="0" smtClean="0">
                <a:solidFill>
                  <a:srgbClr val="FF0000"/>
                </a:solidFill>
              </a:rPr>
              <a:t>	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CO" dirty="0" smtClean="0"/>
              <a:t>3. Permite </a:t>
            </a:r>
            <a:r>
              <a:rPr lang="es-CO" dirty="0" smtClean="0"/>
              <a:t>establecer diferencias entre nuestra Organización, y las demás del </a:t>
            </a:r>
            <a:r>
              <a:rPr lang="es-CO" dirty="0" smtClean="0"/>
              <a:t>Sector, y da consistencia interna.</a:t>
            </a:r>
          </a:p>
          <a:p>
            <a:pPr>
              <a:buNone/>
            </a:pPr>
            <a:r>
              <a:rPr lang="es-CO" dirty="0" smtClean="0"/>
              <a:t>4. </a:t>
            </a:r>
            <a:r>
              <a:rPr lang="es-MX" dirty="0" smtClean="0"/>
              <a:t>Permite identificar oportunidades significativas y precisar ventajas y </a:t>
            </a:r>
            <a:r>
              <a:rPr lang="es-MX" dirty="0" smtClean="0"/>
              <a:t>desventajas respecto a los </a:t>
            </a:r>
            <a:r>
              <a:rPr lang="es-MX" dirty="0" smtClean="0"/>
              <a:t>competidores. </a:t>
            </a:r>
            <a:endParaRPr lang="es-ES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9939" name="5 Marcador de contenido"/>
          <p:cNvSpPr>
            <a:spLocks noGrp="1"/>
          </p:cNvSpPr>
          <p:nvPr>
            <p:ph idx="4294967295"/>
          </p:nvPr>
        </p:nvSpPr>
        <p:spPr>
          <a:xfrm>
            <a:off x="395288" y="1916113"/>
            <a:ext cx="8353425" cy="4203700"/>
          </a:xfrm>
        </p:spPr>
        <p:txBody>
          <a:bodyPr/>
          <a:lstStyle/>
          <a:p>
            <a:pPr marL="609600" indent="-609600" algn="just" eaLnBrk="1" hangingPunct="1">
              <a:buNone/>
            </a:pPr>
            <a:r>
              <a:rPr lang="es-MX" dirty="0" smtClean="0"/>
              <a:t>5. Permite Definir con anticipación los factores estratégicos clave en relación al futuro: competencia, clientes, producto y medio ambiente. </a:t>
            </a:r>
            <a:endParaRPr lang="es-ES" dirty="0" smtClean="0"/>
          </a:p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 </a:t>
            </a:r>
            <a:endParaRPr lang="es-ES" dirty="0" smtClean="0"/>
          </a:p>
          <a:p>
            <a:pPr marL="609600" indent="-609600" algn="just" eaLnBrk="1" hangingPunct="1">
              <a:buFont typeface="Arial" charset="0"/>
              <a:buNone/>
            </a:pPr>
            <a:endParaRPr lang="es-CO" dirty="0" smtClean="0"/>
          </a:p>
        </p:txBody>
      </p:sp>
      <p:sp>
        <p:nvSpPr>
          <p:cNvPr id="39940" name="1 Título"/>
          <p:cNvSpPr>
            <a:spLocks noGrp="1"/>
          </p:cNvSpPr>
          <p:nvPr>
            <p:ph type="title" idx="4294967295"/>
          </p:nvPr>
        </p:nvSpPr>
        <p:spPr>
          <a:xfrm>
            <a:off x="1547813" y="549275"/>
            <a:ext cx="7200900" cy="1008063"/>
          </a:xfrm>
        </p:spPr>
        <p:txBody>
          <a:bodyPr/>
          <a:lstStyle/>
          <a:p>
            <a:pPr marL="742950" indent="-742950" eaLnBrk="1" hangingPunct="1"/>
            <a:r>
              <a:rPr lang="es-MX" sz="3200" b="1" dirty="0" smtClean="0">
                <a:solidFill>
                  <a:srgbClr val="F33F1B"/>
                </a:solidFill>
              </a:rPr>
              <a:t>VENTAJAS DE LA PLANEACIÓN ESTRATÉGICA</a:t>
            </a:r>
            <a:r>
              <a:rPr lang="es-CO" sz="4000" b="1" dirty="0" smtClean="0">
                <a:solidFill>
                  <a:srgbClr val="FF0000"/>
                </a:solidFill>
              </a:rPr>
              <a:t> </a:t>
            </a:r>
            <a:r>
              <a:rPr lang="es-CO" sz="4000" dirty="0" smtClean="0">
                <a:solidFill>
                  <a:srgbClr val="FF000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0963" name="5 Marcador de contenido"/>
          <p:cNvSpPr>
            <a:spLocks noGrp="1"/>
          </p:cNvSpPr>
          <p:nvPr>
            <p:ph idx="4294967295"/>
          </p:nvPr>
        </p:nvSpPr>
        <p:spPr>
          <a:xfrm>
            <a:off x="395288" y="1916113"/>
            <a:ext cx="8353425" cy="4203700"/>
          </a:xfrm>
        </p:spPr>
        <p:txBody>
          <a:bodyPr/>
          <a:lstStyle/>
          <a:p>
            <a:pPr marL="609600" indent="-609600" algn="just" eaLnBrk="1" hangingPunct="1">
              <a:buNone/>
            </a:pPr>
            <a:r>
              <a:rPr lang="es-MX" dirty="0" smtClean="0"/>
              <a:t>6. Crear </a:t>
            </a:r>
            <a:r>
              <a:rPr lang="es-MX" dirty="0" smtClean="0"/>
              <a:t>escenarios futuros de lo que será el contexto de la organización y centrar esfuerzos en el cliente. </a:t>
            </a:r>
            <a:endParaRPr lang="es-ES" dirty="0" smtClean="0"/>
          </a:p>
          <a:p>
            <a:pPr marL="609600" indent="-609600" eaLnBrk="1" hangingPunct="1">
              <a:buFont typeface="Arial" charset="0"/>
              <a:buNone/>
            </a:pPr>
            <a:endParaRPr lang="es-CO" dirty="0" smtClean="0"/>
          </a:p>
        </p:txBody>
      </p:sp>
      <p:sp>
        <p:nvSpPr>
          <p:cNvPr id="40964" name="1 Título"/>
          <p:cNvSpPr>
            <a:spLocks noGrp="1"/>
          </p:cNvSpPr>
          <p:nvPr>
            <p:ph type="title" idx="4294967295"/>
          </p:nvPr>
        </p:nvSpPr>
        <p:spPr>
          <a:xfrm>
            <a:off x="1547813" y="549275"/>
            <a:ext cx="7200900" cy="1008063"/>
          </a:xfrm>
        </p:spPr>
        <p:txBody>
          <a:bodyPr/>
          <a:lstStyle/>
          <a:p>
            <a:pPr marL="742950" indent="-742950" eaLnBrk="1" hangingPunct="1"/>
            <a:r>
              <a:rPr lang="es-MX" sz="3200" b="1" smtClean="0">
                <a:solidFill>
                  <a:srgbClr val="F33F1B"/>
                </a:solidFill>
              </a:rPr>
              <a:t>VENTAJAS DE LA PLANEACIÓN ESTRATÉGICA</a:t>
            </a:r>
            <a:r>
              <a:rPr lang="es-CO" sz="4000" smtClean="0">
                <a:solidFill>
                  <a:srgbClr val="FF0000"/>
                </a:solidFill>
              </a:rPr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1987" name="5 Marcador de contenido"/>
          <p:cNvSpPr>
            <a:spLocks noGrp="1"/>
          </p:cNvSpPr>
          <p:nvPr>
            <p:ph idx="4294967295"/>
          </p:nvPr>
        </p:nvSpPr>
        <p:spPr>
          <a:xfrm>
            <a:off x="395288" y="1916113"/>
            <a:ext cx="8353425" cy="4176712"/>
          </a:xfrm>
        </p:spPr>
        <p:txBody>
          <a:bodyPr/>
          <a:lstStyle/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 7. Es una transición </a:t>
            </a:r>
            <a:r>
              <a:rPr lang="es-MX" dirty="0" smtClean="0"/>
              <a:t>ordenada y planeada </a:t>
            </a:r>
            <a:r>
              <a:rPr lang="es-MX" dirty="0" smtClean="0"/>
              <a:t>entre la posición que una organización tiene </a:t>
            </a:r>
            <a:r>
              <a:rPr lang="es-MX" dirty="0" smtClean="0"/>
              <a:t>ahora, </a:t>
            </a:r>
            <a:r>
              <a:rPr lang="es-MX" dirty="0" smtClean="0"/>
              <a:t>y la que desea para el futuro. </a:t>
            </a:r>
            <a:endParaRPr lang="es-ES" dirty="0" smtClean="0"/>
          </a:p>
          <a:p>
            <a:pPr marL="609600" indent="-609600" algn="just" eaLnBrk="1" hangingPunct="1">
              <a:buFontTx/>
              <a:buAutoNum type="arabicPeriod" startAt="8"/>
            </a:pPr>
            <a:r>
              <a:rPr lang="es-MX" dirty="0" smtClean="0"/>
              <a:t>Su importancia debe ser entendida en función de los resultados y a pesar de la complejidad asociada con su proceso.</a:t>
            </a:r>
            <a:endParaRPr lang="es-UY" dirty="0" smtClean="0"/>
          </a:p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 </a:t>
            </a:r>
            <a:endParaRPr lang="es-ES" dirty="0" smtClean="0"/>
          </a:p>
          <a:p>
            <a:pPr marL="609600" indent="-609600" algn="just" eaLnBrk="1" hangingPunct="1">
              <a:buFontTx/>
              <a:buNone/>
            </a:pPr>
            <a:endParaRPr lang="es-ES" dirty="0" smtClean="0"/>
          </a:p>
          <a:p>
            <a:pPr marL="609600" indent="-609600" eaLnBrk="1" hangingPunct="1">
              <a:buFont typeface="Arial" charset="0"/>
              <a:buNone/>
            </a:pPr>
            <a:endParaRPr lang="es-CO" dirty="0" smtClean="0"/>
          </a:p>
        </p:txBody>
      </p:sp>
      <p:sp>
        <p:nvSpPr>
          <p:cNvPr id="41988" name="1 Título"/>
          <p:cNvSpPr>
            <a:spLocks noGrp="1"/>
          </p:cNvSpPr>
          <p:nvPr>
            <p:ph type="title" idx="4294967295"/>
          </p:nvPr>
        </p:nvSpPr>
        <p:spPr>
          <a:xfrm>
            <a:off x="1547813" y="549275"/>
            <a:ext cx="7200900" cy="1008063"/>
          </a:xfrm>
        </p:spPr>
        <p:txBody>
          <a:bodyPr/>
          <a:lstStyle/>
          <a:p>
            <a:pPr marL="742950" indent="-742950" eaLnBrk="1" hangingPunct="1"/>
            <a:r>
              <a:rPr lang="es-MX" sz="3200" b="1" dirty="0" smtClean="0">
                <a:solidFill>
                  <a:srgbClr val="F33F1B"/>
                </a:solidFill>
              </a:rPr>
              <a:t>VENTAJAS DE LA PLANEACIÓN ESTRATÉGICA</a:t>
            </a:r>
            <a:r>
              <a:rPr lang="es-CO" sz="4000" dirty="0" smtClean="0">
                <a:solidFill>
                  <a:srgbClr val="FF0000"/>
                </a:solidFill>
              </a:rPr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F33F1B"/>
                </a:solidFill>
              </a:rPr>
              <a:t>DESVENTAJAS DE LA PLANEACIÓN ESTRATÉGICA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CO" dirty="0" smtClean="0"/>
              <a:t>El tener una sola dirección, puede ocultar otros peligros potenciales para la Organización.</a:t>
            </a:r>
          </a:p>
          <a:p>
            <a:pPr marL="514350" indent="-514350">
              <a:buAutoNum type="arabicPeriod"/>
            </a:pPr>
            <a:r>
              <a:rPr lang="es-CO" dirty="0" smtClean="0"/>
              <a:t>Es difícil lograr, que a un nivel grupal (sobretodo en grandes </a:t>
            </a:r>
            <a:r>
              <a:rPr lang="es-CO" dirty="0" err="1" smtClean="0"/>
              <a:t>Cías</a:t>
            </a:r>
            <a:r>
              <a:rPr lang="es-CO" dirty="0" smtClean="0"/>
              <a:t>.), se mantenga un enfoque en la misma dirección.</a:t>
            </a:r>
            <a:endParaRPr lang="es-CO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F33F1B"/>
                </a:solidFill>
              </a:rPr>
              <a:t>DESVENTAJAS DE LA PLANEACIÓN ESTRATÉGICA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CO" dirty="0" smtClean="0"/>
              <a:t>3. La </a:t>
            </a:r>
            <a:r>
              <a:rPr lang="es-CO" dirty="0" err="1" smtClean="0"/>
              <a:t>unidireccionalidad</a:t>
            </a:r>
            <a:r>
              <a:rPr lang="es-CO" dirty="0" smtClean="0"/>
              <a:t> conlleva a la rutina y a la falta de creatividad.</a:t>
            </a:r>
          </a:p>
          <a:p>
            <a:pPr>
              <a:buNone/>
            </a:pPr>
            <a:r>
              <a:rPr lang="es-CO" dirty="0" smtClean="0"/>
              <a:t>4. </a:t>
            </a:r>
            <a:r>
              <a:rPr lang="es-MX" dirty="0" smtClean="0"/>
              <a:t>Ejecutar </a:t>
            </a:r>
            <a:r>
              <a:rPr lang="es-MX" dirty="0" smtClean="0"/>
              <a:t>los planes sin tener en cuenta los cambios en el entorno: Nuevas políticas, cambios económicos, situación social, etc. </a:t>
            </a:r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4282" y="357166"/>
            <a:ext cx="1785950" cy="12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035" name="5 Marcador de contenido"/>
          <p:cNvSpPr>
            <a:spLocks noGrp="1"/>
          </p:cNvSpPr>
          <p:nvPr>
            <p:ph idx="4294967295"/>
          </p:nvPr>
        </p:nvSpPr>
        <p:spPr>
          <a:xfrm>
            <a:off x="395288" y="1916113"/>
            <a:ext cx="8353425" cy="4105275"/>
          </a:xfrm>
        </p:spPr>
        <p:txBody>
          <a:bodyPr/>
          <a:lstStyle/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 </a:t>
            </a:r>
          </a:p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5</a:t>
            </a:r>
            <a:r>
              <a:rPr lang="es-MX" dirty="0" smtClean="0"/>
              <a:t>.  </a:t>
            </a:r>
            <a:r>
              <a:rPr lang="es-MX" dirty="0" smtClean="0"/>
              <a:t>Los diagnósticos mal enfocados conducen a  pérdidas económicas, de tiempo, de esfuerzo y como consecuencia la falta de rentabilidad, y en riesgo la permanencia y crecimiento de la empresa.</a:t>
            </a:r>
          </a:p>
          <a:p>
            <a:pPr marL="609600" indent="-609600" algn="just" eaLnBrk="1" hangingPunct="1">
              <a:buFontTx/>
              <a:buNone/>
            </a:pPr>
            <a:endParaRPr lang="es-MX" dirty="0" smtClean="0"/>
          </a:p>
          <a:p>
            <a:pPr marL="609600" indent="-609600" algn="just" eaLnBrk="1" hangingPunct="1">
              <a:buFontTx/>
              <a:buNone/>
            </a:pPr>
            <a:endParaRPr lang="es-UY" dirty="0" smtClean="0"/>
          </a:p>
          <a:p>
            <a:pPr marL="609600" indent="-609600" algn="just" eaLnBrk="1" hangingPunct="1">
              <a:buFontTx/>
              <a:buNone/>
            </a:pPr>
            <a:r>
              <a:rPr lang="es-MX" dirty="0" smtClean="0"/>
              <a:t> </a:t>
            </a:r>
            <a:endParaRPr lang="es-ES" dirty="0" smtClean="0"/>
          </a:p>
          <a:p>
            <a:pPr marL="609600" indent="-609600" algn="just" eaLnBrk="1" hangingPunct="1">
              <a:buFontTx/>
              <a:buNone/>
            </a:pPr>
            <a:endParaRPr lang="es-ES" dirty="0" smtClean="0"/>
          </a:p>
          <a:p>
            <a:pPr marL="609600" indent="-609600" eaLnBrk="1" hangingPunct="1">
              <a:buFont typeface="Arial" charset="0"/>
              <a:buNone/>
            </a:pPr>
            <a:endParaRPr lang="es-CO" dirty="0" smtClean="0"/>
          </a:p>
        </p:txBody>
      </p:sp>
      <p:sp>
        <p:nvSpPr>
          <p:cNvPr id="44036" name="1 Título"/>
          <p:cNvSpPr>
            <a:spLocks noGrp="1"/>
          </p:cNvSpPr>
          <p:nvPr>
            <p:ph type="title" idx="4294967295"/>
          </p:nvPr>
        </p:nvSpPr>
        <p:spPr>
          <a:xfrm>
            <a:off x="1547813" y="549275"/>
            <a:ext cx="7200900" cy="1008063"/>
          </a:xfrm>
        </p:spPr>
        <p:txBody>
          <a:bodyPr/>
          <a:lstStyle/>
          <a:p>
            <a:pPr marL="742950" indent="-742950" eaLnBrk="1" hangingPunct="1"/>
            <a:r>
              <a:rPr lang="es-MX" sz="3200" b="1" dirty="0" smtClean="0">
                <a:solidFill>
                  <a:srgbClr val="F33F1B"/>
                </a:solidFill>
              </a:rPr>
              <a:t>DESVENTAJAS DE LA PLANEACIÓN ESTRATÉGICA</a:t>
            </a:r>
            <a:r>
              <a:rPr lang="es-CO" sz="4000" dirty="0" smtClean="0">
                <a:solidFill>
                  <a:srgbClr val="FF0000"/>
                </a:solidFill>
              </a:rPr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solidFill>
            <a:schemeClr val="tx1"/>
          </a:solidFill>
          <a:round/>
          <a:headEnd/>
          <a:tailEnd/>
        </a:ln>
        <a:effectLst/>
      </a:spPr>
      <a:bodyPr wrap="none" anchor="ctr"/>
      <a:lstStyle>
        <a:defPPr algn="ctr">
          <a:defRPr sz="1200" b="1"/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</TotalTime>
  <Words>1414</Words>
  <Application>Microsoft Office PowerPoint</Application>
  <PresentationFormat>Presentación en pantalla (4:3)</PresentationFormat>
  <Paragraphs>355</Paragraphs>
  <Slides>45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6" baseType="lpstr">
      <vt:lpstr>Tema de Office</vt:lpstr>
      <vt:lpstr> PLANEACIÓN ESTRATÉGICA</vt:lpstr>
      <vt:lpstr>QUE ES? </vt:lpstr>
      <vt:lpstr> CARACTERÍSTICAS </vt:lpstr>
      <vt:lpstr>Diapositiva 4</vt:lpstr>
      <vt:lpstr>         COMPONENTES FUNDAMENTALES:</vt:lpstr>
      <vt:lpstr>         COMPONENTES FUNDAMENTALES:</vt:lpstr>
      <vt:lpstr>LOS ESTRATEGAS</vt:lpstr>
      <vt:lpstr>           2.DIRECCIONAMIENTO ESTRATÉGICO</vt:lpstr>
      <vt:lpstr>Diapositiva 9</vt:lpstr>
      <vt:lpstr> PRINCIPIOS CORPORATIVOS</vt:lpstr>
      <vt:lpstr> EJEMPLOS DE PRINCIPIOS CORPORATIVOS</vt:lpstr>
      <vt:lpstr> EJEMPLOS DE PRINCIPIOS CORPORATIVOS</vt:lpstr>
      <vt:lpstr> EJEMPLOS DE PRINCIPIOS CORPORATIVOS</vt:lpstr>
      <vt:lpstr> MISIÓN </vt:lpstr>
      <vt:lpstr>Diapositiva 15</vt:lpstr>
      <vt:lpstr>     EJEMPLOS DE MISIÓN </vt:lpstr>
      <vt:lpstr>      EJEMPLOS DE MISIÓN </vt:lpstr>
      <vt:lpstr>  VISIÓN </vt:lpstr>
      <vt:lpstr>  EJEMPLO DE VISIÓN </vt:lpstr>
      <vt:lpstr>  EJEMPLO DE VISIÓN </vt:lpstr>
      <vt:lpstr>      3. DIAGNÓSTICO ESTRATÉGICO</vt:lpstr>
      <vt:lpstr>ANÁLISIS INTERNO </vt:lpstr>
      <vt:lpstr>ANÁLISIS EXTERNO </vt:lpstr>
      <vt:lpstr>Diapositiva 24</vt:lpstr>
      <vt:lpstr>DEBILIDADES </vt:lpstr>
      <vt:lpstr> FORTALEZAS </vt:lpstr>
      <vt:lpstr> OPORTUNIDADES</vt:lpstr>
      <vt:lpstr> AMENAZAS </vt:lpstr>
      <vt:lpstr>        4. OPCIONES ESTRATÉGICAS </vt:lpstr>
      <vt:lpstr>Diapositiva 30</vt:lpstr>
      <vt:lpstr>          5. FORMULACIÓN ESTRATÉGICA </vt:lpstr>
      <vt:lpstr>           FORMULACIÓN ESTRATÉGICA</vt:lpstr>
      <vt:lpstr>      6.  ÍNDICES DE GESTIÓN  </vt:lpstr>
      <vt:lpstr>         7.  PLANEACIÓN EN CASCADA  </vt:lpstr>
      <vt:lpstr>        8.  DIFUSIÓN Y ALINEACIÓN ESTRATEGIAS  </vt:lpstr>
      <vt:lpstr>Diapositiva 36</vt:lpstr>
      <vt:lpstr>        9.  CONCLUSIÓN GENERAL  </vt:lpstr>
      <vt:lpstr>VENTAJAS DE LA PLANEACIÓN ESTRATÉGICA  </vt:lpstr>
      <vt:lpstr>VENTAJAS DE LA PLANEACIÓN ESTRATÉGICA  </vt:lpstr>
      <vt:lpstr>VENTAJAS DE LA PLANEACIÓN ESTRATÉGICA  </vt:lpstr>
      <vt:lpstr>VENTAJAS DE LA PLANEACIÓN ESTRATÉGICA  </vt:lpstr>
      <vt:lpstr>VENTAJAS DE LA PLANEACIÓN ESTRATÉGICA  </vt:lpstr>
      <vt:lpstr>DESVENTAJAS DE LA PLANEACIÓN ESTRATÉGICA</vt:lpstr>
      <vt:lpstr>DESVENTAJAS DE LA PLANEACIÓN ESTRATÉGICA</vt:lpstr>
      <vt:lpstr>DESVENTAJAS DE LA PLANEACIÓN ESTRATÉGICA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planeación estratégica</dc:title>
  <dc:creator>HOME</dc:creator>
  <cp:lastModifiedBy>jorge lopez</cp:lastModifiedBy>
  <cp:revision>132</cp:revision>
  <dcterms:created xsi:type="dcterms:W3CDTF">2010-04-17T15:31:38Z</dcterms:created>
  <dcterms:modified xsi:type="dcterms:W3CDTF">2010-10-21T14:30:09Z</dcterms:modified>
</cp:coreProperties>
</file>