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69" r:id="rId17"/>
    <p:sldId id="274" r:id="rId18"/>
    <p:sldId id="275" r:id="rId19"/>
    <p:sldId id="285" r:id="rId20"/>
    <p:sldId id="273" r:id="rId21"/>
    <p:sldId id="276" r:id="rId22"/>
    <p:sldId id="278" r:id="rId23"/>
    <p:sldId id="283" r:id="rId24"/>
    <p:sldId id="279" r:id="rId25"/>
    <p:sldId id="284" r:id="rId26"/>
    <p:sldId id="281" r:id="rId27"/>
    <p:sldId id="277" r:id="rId28"/>
    <p:sldId id="280" r:id="rId29"/>
    <p:sldId id="282" r:id="rId30"/>
    <p:sldId id="286" r:id="rId31"/>
    <p:sldId id="289" r:id="rId32"/>
    <p:sldId id="287" r:id="rId33"/>
    <p:sldId id="288" r:id="rId34"/>
    <p:sldId id="290" r:id="rId35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5143" autoAdjust="0"/>
  </p:normalViewPr>
  <p:slideViewPr>
    <p:cSldViewPr>
      <p:cViewPr varScale="1">
        <p:scale>
          <a:sx n="84" d="100"/>
          <a:sy n="84" d="100"/>
        </p:scale>
        <p:origin x="-106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Título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cxnSp>
        <p:nvCxnSpPr>
          <p:cNvPr id="8" name="7 Conector recto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3 Elipse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37074-CB25-48A2-89E3-D05FE2D339EB}" type="datetimeFigureOut">
              <a:rPr lang="es-ES" smtClean="0"/>
              <a:pPr/>
              <a:t>09/05/2011</a:t>
            </a:fld>
            <a:endParaRPr lang="es-ES"/>
          </a:p>
        </p:txBody>
      </p:sp>
      <p:sp>
        <p:nvSpPr>
          <p:cNvPr id="16" name="15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8E25CB-57D6-4A8F-B15E-6CEAF1270C0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Marcador de contenido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5C37074-CB25-48A2-89E3-D05FE2D339EB}" type="datetimeFigureOut">
              <a:rPr lang="es-ES" smtClean="0"/>
              <a:pPr/>
              <a:t>09/05/2011</a:t>
            </a:fld>
            <a:endParaRPr lang="es-ES"/>
          </a:p>
        </p:txBody>
      </p:sp>
      <p:sp>
        <p:nvSpPr>
          <p:cNvPr id="15" name="14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658E25CB-57D6-4A8F-B15E-6CEAF1270C0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6" name="15 Marcador de pie de página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7" name="16 Título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37074-CB25-48A2-89E3-D05FE2D339EB}" type="datetimeFigureOut">
              <a:rPr lang="es-ES" smtClean="0"/>
              <a:pPr/>
              <a:t>09/05/2011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E25CB-57D6-4A8F-B15E-6CEAF1270C0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cxnSp>
        <p:nvCxnSpPr>
          <p:cNvPr id="7" name="6 Conector recto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37074-CB25-48A2-89E3-D05FE2D339EB}" type="datetimeFigureOut">
              <a:rPr lang="es-ES" smtClean="0"/>
              <a:pPr/>
              <a:t>09/05/2011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E25CB-57D6-4A8F-B15E-6CEAF1270C0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E25CB-57D6-4A8F-B15E-6CEAF1270C0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37074-CB25-48A2-89E3-D05FE2D339EB}" type="datetimeFigureOut">
              <a:rPr lang="es-ES" smtClean="0"/>
              <a:pPr/>
              <a:t>09/05/2011</a:t>
            </a:fld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32" name="31 Marcador de contenido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34" name="33 Marcador de contenido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2" name="11 Marcador de texto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cxnSp>
        <p:nvCxnSpPr>
          <p:cNvPr id="10" name="9 Conector recto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37074-CB25-48A2-89E3-D05FE2D339EB}" type="datetimeFigureOut">
              <a:rPr lang="es-ES" smtClean="0"/>
              <a:pPr/>
              <a:t>09/05/2011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E25CB-57D6-4A8F-B15E-6CEAF1270C0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37074-CB25-48A2-89E3-D05FE2D339EB}" type="datetimeFigureOut">
              <a:rPr lang="es-ES" smtClean="0"/>
              <a:pPr/>
              <a:t>09/05/2011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E25CB-57D6-4A8F-B15E-6CEAF1270C0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28 Marcador de contenido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31" name="30 Título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Marcador de fecha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5C37074-CB25-48A2-89E3-D05FE2D339EB}" type="datetimeFigureOut">
              <a:rPr lang="es-ES" smtClean="0"/>
              <a:pPr/>
              <a:t>09/05/2011</a:t>
            </a:fld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58E25CB-57D6-4A8F-B15E-6CEAF1270C0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37074-CB25-48A2-89E3-D05FE2D339EB}" type="datetimeFigureOut">
              <a:rPr lang="es-ES" smtClean="0"/>
              <a:pPr/>
              <a:t>09/05/2011</a:t>
            </a:fld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8E25CB-57D6-4A8F-B15E-6CEAF1270C0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37074-CB25-48A2-89E3-D05FE2D339EB}" type="datetimeFigureOut">
              <a:rPr lang="es-ES" smtClean="0"/>
              <a:pPr/>
              <a:t>09/05/2011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E25CB-57D6-4A8F-B15E-6CEAF1270C0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37074-CB25-48A2-89E3-D05FE2D339EB}" type="datetimeFigureOut">
              <a:rPr lang="es-ES" smtClean="0"/>
              <a:pPr/>
              <a:t>09/05/2011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E25CB-57D6-4A8F-B15E-6CEAF1270C0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Marcador de texto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24" name="23 Marcador de fecha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D5C37074-CB25-48A2-89E3-D05FE2D339EB}" type="datetimeFigureOut">
              <a:rPr lang="es-ES" smtClean="0"/>
              <a:pPr/>
              <a:t>09/05/2011</a:t>
            </a:fld>
            <a:endParaRPr lang="es-ES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658E25CB-57D6-4A8F-B15E-6CEAF1270C0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5" name="4 Marcador de título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500166" y="1500174"/>
            <a:ext cx="601004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Gerencia Estratégica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785918" y="3429000"/>
            <a:ext cx="55721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/>
              <a:t>“La empresa que no sepa imaginar el futuro, no estará ahí para disfrutarlos”</a:t>
            </a:r>
          </a:p>
          <a:p>
            <a:endParaRPr lang="es-ES" sz="2400" dirty="0"/>
          </a:p>
          <a:p>
            <a:pPr algn="r"/>
            <a:r>
              <a:rPr lang="es-ES" sz="2400" dirty="0" smtClean="0"/>
              <a:t>Gary </a:t>
            </a:r>
            <a:r>
              <a:rPr lang="es-ES" sz="2400" dirty="0" err="1" smtClean="0"/>
              <a:t>Hamel</a:t>
            </a:r>
            <a:endParaRPr lang="es-ES" sz="2400" dirty="0" smtClean="0"/>
          </a:p>
          <a:p>
            <a:endParaRPr lang="es-E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43042" y="1000108"/>
            <a:ext cx="58006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¿Que es estrategia?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1571604" y="3143248"/>
            <a:ext cx="6072230" cy="857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 smtClean="0">
                <a:latin typeface="Arial" pitchFamily="34" charset="0"/>
                <a:cs typeface="Arial" pitchFamily="34" charset="0"/>
              </a:rPr>
              <a:t>Son los medios por los cuales una organización pretende lograr sus objetivos.</a:t>
            </a:r>
            <a:endParaRPr lang="es-E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714348" y="857232"/>
            <a:ext cx="773211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¿Que es gerencia estratégica?</a:t>
            </a:r>
            <a:endParaRPr lang="es-ES" sz="48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928662" y="2571744"/>
            <a:ext cx="721523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000" dirty="0">
                <a:latin typeface="Arial" pitchFamily="34" charset="0"/>
                <a:cs typeface="Arial" pitchFamily="34" charset="0"/>
              </a:rPr>
              <a:t>Es la formulación, ejecución y evaluación de acciones que permiten que una organización logre sus 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objetivos. La 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formulación de estrategias incluye la identificación de las debilidades y fortalezas internas de 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una organización.</a:t>
            </a:r>
            <a:endParaRPr lang="es-E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500166" y="1214422"/>
            <a:ext cx="63366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Importancia de la G.E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1285852" y="2714620"/>
            <a:ext cx="671517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000" dirty="0">
                <a:latin typeface="Arial" pitchFamily="34" charset="0"/>
                <a:cs typeface="Arial" pitchFamily="34" charset="0"/>
              </a:rPr>
              <a:t>Su importancia radica en la necesidad de determinar el concepto de la empresa y su naturaleza, así 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como también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, el por que están allí, y a quien le sirven, los principios y los valores bajo los cuales deben funcionar 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y lo 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que el futuro de su empresa debe ser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s-ES" sz="20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ES" sz="2000" dirty="0" smtClean="0">
                <a:latin typeface="Arial" pitchFamily="34" charset="0"/>
                <a:cs typeface="Arial" pitchFamily="34" charset="0"/>
              </a:rPr>
              <a:t>Así 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como también necesite evaluar la dirección en la que avanza 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para determinar 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si esta será la ruta mas efectiva para desempeñar la visión y la misión empresaria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500166" y="1214422"/>
            <a:ext cx="63366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Importancia de la G.E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1357290" y="2571744"/>
            <a:ext cx="671517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s-ES" sz="2000" dirty="0" smtClean="0">
                <a:latin typeface="Arial" pitchFamily="34" charset="0"/>
                <a:cs typeface="Arial" pitchFamily="34" charset="0"/>
              </a:rPr>
              <a:t> Proporcionar 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una base sólida para tomar decisiones que 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lo mantendrá 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enfocado en una 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dirección adecuada.</a:t>
            </a:r>
          </a:p>
          <a:p>
            <a:endParaRPr lang="es-ES" sz="20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s-ES" sz="2000" dirty="0">
                <a:latin typeface="Arial" pitchFamily="34" charset="0"/>
                <a:cs typeface="Arial" pitchFamily="34" charset="0"/>
              </a:rPr>
              <a:t> R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efuerza 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la misión y la 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visión.</a:t>
            </a:r>
          </a:p>
          <a:p>
            <a:endParaRPr lang="es-ES" sz="20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s-ES" sz="2000" dirty="0" smtClean="0">
                <a:latin typeface="Arial" pitchFamily="34" charset="0"/>
                <a:cs typeface="Arial" pitchFamily="34" charset="0"/>
              </a:rPr>
              <a:t> Ahorra 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tiempo y 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esfuerzo e incrementa 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el ingreso sobre la 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inversión.</a:t>
            </a:r>
          </a:p>
          <a:p>
            <a:pPr>
              <a:buFont typeface="Arial" pitchFamily="34" charset="0"/>
              <a:buChar char="•"/>
            </a:pPr>
            <a:endParaRPr lang="es-ES" sz="20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s-ES" sz="2000" dirty="0" smtClean="0">
                <a:latin typeface="Arial" pitchFamily="34" charset="0"/>
                <a:cs typeface="Arial" pitchFamily="34" charset="0"/>
              </a:rPr>
              <a:t> Aumenta 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el interés por parte de los 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depositarios (Accionistas)</a:t>
            </a:r>
            <a:endParaRPr lang="es-E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643042" y="1357298"/>
            <a:ext cx="57981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Beneficios de la G.E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1000100" y="3000372"/>
            <a:ext cx="700092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s-ES" sz="2000" dirty="0" smtClean="0">
                <a:latin typeface="Arial" pitchFamily="34" charset="0"/>
                <a:cs typeface="Arial" pitchFamily="34" charset="0"/>
              </a:rPr>
              <a:t> Llevan 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orden y disciplina a toda la empresa. Es el comienzo de un sistema de gerencia eficiente 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y efectivo.</a:t>
            </a:r>
          </a:p>
          <a:p>
            <a:pPr algn="just">
              <a:buFont typeface="Arial" pitchFamily="34" charset="0"/>
              <a:buChar char="•"/>
            </a:pPr>
            <a:endParaRPr lang="es-ES" sz="20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s-ES" sz="2000" dirty="0" smtClean="0">
                <a:latin typeface="Arial" pitchFamily="34" charset="0"/>
                <a:cs typeface="Arial" pitchFamily="34" charset="0"/>
              </a:rPr>
              <a:t> Evitan 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las disminuciones en ingresos y utilidades y aún las quiebras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.</a:t>
            </a:r>
            <a:endParaRPr lang="es-E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571604" y="1000108"/>
            <a:ext cx="57981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Beneficios de la G.E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1214414" y="2571744"/>
            <a:ext cx="678661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s-ES" sz="2000" dirty="0" smtClean="0">
                <a:latin typeface="Arial" pitchFamily="34" charset="0"/>
                <a:cs typeface="Arial" pitchFamily="34" charset="0"/>
              </a:rPr>
              <a:t> Permiten a una organización aprovechar oportunidades claves en el medio ambiente, minimizar el impacto de las amenazas externas, utilizar las fortalezas internas y vencer las amenazas internas.</a:t>
            </a:r>
          </a:p>
          <a:p>
            <a:pPr algn="just">
              <a:buFont typeface="Arial" pitchFamily="34" charset="0"/>
              <a:buChar char="•"/>
            </a:pPr>
            <a:endParaRPr lang="es-ES" sz="2000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s-ES" sz="2000" dirty="0" smtClean="0">
                <a:latin typeface="Arial" pitchFamily="34" charset="0"/>
                <a:cs typeface="Arial" pitchFamily="34" charset="0"/>
              </a:rPr>
              <a:t> Las organizaciones que llevan a cabo la gerencia estratégica son más rentables y exitosas que aquellas que no los usan.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428728" y="1214422"/>
            <a:ext cx="66061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Planeación Estratégica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1214414" y="2928934"/>
            <a:ext cx="664373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 smtClean="0">
                <a:latin typeface="Arial" pitchFamily="34" charset="0"/>
                <a:cs typeface="Arial" pitchFamily="34" charset="0"/>
              </a:rPr>
              <a:t>Este proceso busca responder las siguientes preguntas:</a:t>
            </a:r>
          </a:p>
          <a:p>
            <a:endParaRPr lang="es-ES" sz="20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2000" dirty="0" smtClean="0">
                <a:latin typeface="Arial" pitchFamily="34" charset="0"/>
                <a:cs typeface="Arial" pitchFamily="34" charset="0"/>
              </a:rPr>
              <a:t>¿Donde queremos ir?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000" dirty="0" smtClean="0">
                <a:latin typeface="Arial" pitchFamily="34" charset="0"/>
                <a:cs typeface="Arial" pitchFamily="34" charset="0"/>
              </a:rPr>
              <a:t>¿Donde estamos hoy?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000" dirty="0" smtClean="0">
                <a:latin typeface="Arial" pitchFamily="34" charset="0"/>
                <a:cs typeface="Arial" pitchFamily="34" charset="0"/>
              </a:rPr>
              <a:t>¿A donde debemos ir?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000" dirty="0">
                <a:latin typeface="Arial" pitchFamily="34" charset="0"/>
                <a:cs typeface="Arial" pitchFamily="34" charset="0"/>
              </a:rPr>
              <a:t>¿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Adonde podemos ir?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000" dirty="0" smtClean="0">
                <a:latin typeface="Arial" pitchFamily="34" charset="0"/>
                <a:cs typeface="Arial" pitchFamily="34" charset="0"/>
              </a:rPr>
              <a:t>¿Adonde iremos?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000" dirty="0" smtClean="0">
                <a:latin typeface="Arial" pitchFamily="34" charset="0"/>
                <a:cs typeface="Arial" pitchFamily="34" charset="0"/>
              </a:rPr>
              <a:t>¿Como estamos llegando a nuestras metas?</a:t>
            </a:r>
            <a:endParaRPr lang="es-E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357290" y="1142984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1500166" y="2500306"/>
            <a:ext cx="621510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s-ES" sz="2000" dirty="0" smtClean="0">
                <a:latin typeface="Arial" pitchFamily="34" charset="0"/>
                <a:cs typeface="Arial" pitchFamily="34" charset="0"/>
              </a:rPr>
              <a:t> Los Estrategas</a:t>
            </a:r>
          </a:p>
          <a:p>
            <a:pPr>
              <a:buFont typeface="Arial" pitchFamily="34" charset="0"/>
              <a:buChar char="•"/>
            </a:pPr>
            <a:endParaRPr lang="es-ES" sz="20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s-ES" sz="2000" dirty="0" smtClean="0">
                <a:latin typeface="Arial" pitchFamily="34" charset="0"/>
                <a:cs typeface="Arial" pitchFamily="34" charset="0"/>
              </a:rPr>
              <a:t> El Direccionamiento.</a:t>
            </a:r>
          </a:p>
          <a:p>
            <a:pPr>
              <a:buFont typeface="Arial" pitchFamily="34" charset="0"/>
              <a:buChar char="•"/>
            </a:pPr>
            <a:endParaRPr lang="es-ES" sz="20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s-ES" sz="2000" dirty="0" smtClean="0">
                <a:latin typeface="Arial" pitchFamily="34" charset="0"/>
                <a:cs typeface="Arial" pitchFamily="34" charset="0"/>
              </a:rPr>
              <a:t> El Diagnóstico.</a:t>
            </a:r>
          </a:p>
          <a:p>
            <a:pPr>
              <a:buFont typeface="Arial" pitchFamily="34" charset="0"/>
              <a:buChar char="•"/>
            </a:pPr>
            <a:endParaRPr lang="es-ES" sz="20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s-ES" sz="2000" dirty="0" smtClean="0">
                <a:latin typeface="Arial" pitchFamily="34" charset="0"/>
                <a:cs typeface="Arial" pitchFamily="34" charset="0"/>
              </a:rPr>
              <a:t> Las Opciones.</a:t>
            </a:r>
          </a:p>
          <a:p>
            <a:pPr>
              <a:buFont typeface="Arial" pitchFamily="34" charset="0"/>
              <a:buChar char="•"/>
            </a:pPr>
            <a:endParaRPr lang="es-ES" sz="20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s-ES" sz="2000" dirty="0" smtClean="0">
                <a:latin typeface="Arial" pitchFamily="34" charset="0"/>
                <a:cs typeface="Arial" pitchFamily="34" charset="0"/>
              </a:rPr>
              <a:t> La Formulación Estratégica.</a:t>
            </a:r>
          </a:p>
          <a:p>
            <a:pPr>
              <a:buFont typeface="Arial" pitchFamily="34" charset="0"/>
              <a:buChar char="•"/>
            </a:pPr>
            <a:endParaRPr lang="es-ES" sz="20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s-ES" sz="2000" dirty="0" smtClean="0">
                <a:latin typeface="Arial" pitchFamily="34" charset="0"/>
                <a:cs typeface="Arial" pitchFamily="34" charset="0"/>
              </a:rPr>
              <a:t> La Auditoria Estratégica.</a:t>
            </a:r>
            <a:endParaRPr lang="es-E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785786" y="2357430"/>
            <a:ext cx="7286676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s-E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Los Estrategas:</a:t>
            </a:r>
          </a:p>
          <a:p>
            <a:pPr algn="just"/>
            <a:endParaRPr lang="es-ES" sz="20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ES" sz="2000" dirty="0">
                <a:latin typeface="Arial" pitchFamily="34" charset="0"/>
                <a:cs typeface="Arial" pitchFamily="34" charset="0"/>
              </a:rPr>
              <a:t>Son individuos claves responsables del éxito o fracaso de una empresa o industria. Ellos tienen 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diferentes títulos 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como: 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Los miembros de la Junta Directiva, Presidentes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Vicepresidente, Empresarios son los que le corresponde trazar los objetivos y políticas de la organización.</a:t>
            </a:r>
          </a:p>
        </p:txBody>
      </p:sp>
      <p:sp>
        <p:nvSpPr>
          <p:cNvPr id="3" name="2 Rectángulo"/>
          <p:cNvSpPr/>
          <p:nvPr/>
        </p:nvSpPr>
        <p:spPr>
          <a:xfrm>
            <a:off x="1357290" y="928670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500166" y="2690336"/>
            <a:ext cx="614366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ES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ES" dirty="0" smtClean="0">
                <a:latin typeface="Arial" pitchFamily="34" charset="0"/>
                <a:cs typeface="Arial" pitchFamily="34" charset="0"/>
              </a:rPr>
              <a:t>También son todas las personas que tiene la capacidad de tomar decisiones relacionadas con el presente y futuro a un corto y largo plazo.</a:t>
            </a:r>
          </a:p>
          <a:p>
            <a:pPr algn="just"/>
            <a:endParaRPr lang="es-ES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ES" dirty="0" smtClean="0">
                <a:latin typeface="Arial" pitchFamily="34" charset="0"/>
                <a:cs typeface="Arial" pitchFamily="34" charset="0"/>
              </a:rPr>
              <a:t>Debe ser participativo donde todos los colaboradores estén comprometidos con la visión, misión y objetivos de la organización.</a:t>
            </a:r>
            <a:endParaRPr lang="es-E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1357290" y="928670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1571604" y="2214554"/>
            <a:ext cx="29289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s-E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Los Estrategas: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357290" y="2214554"/>
            <a:ext cx="671517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s-ES" sz="20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El Direccionamiento: </a:t>
            </a:r>
          </a:p>
          <a:p>
            <a:endParaRPr lang="es-ES" sz="2000" dirty="0" smtClean="0">
              <a:latin typeface="Arial" pitchFamily="34" charset="0"/>
              <a:cs typeface="Arial" pitchFamily="34" charset="0"/>
            </a:endParaRPr>
          </a:p>
          <a:p>
            <a:endParaRPr lang="es-ES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es-ES" sz="2000" dirty="0" smtClean="0">
                <a:latin typeface="Arial" pitchFamily="34" charset="0"/>
                <a:cs typeface="Arial" pitchFamily="34" charset="0"/>
              </a:rPr>
              <a:t>Hacia donde se dirige la empresa.</a:t>
            </a:r>
          </a:p>
          <a:p>
            <a:endParaRPr lang="es-ES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es-ES" sz="2000" dirty="0" smtClean="0">
                <a:latin typeface="Arial" pitchFamily="34" charset="0"/>
                <a:cs typeface="Arial" pitchFamily="34" charset="0"/>
              </a:rPr>
              <a:t>Esta integrado por los principios corporativos, la visión y misión de la Organización:</a:t>
            </a:r>
          </a:p>
          <a:p>
            <a:endParaRPr lang="es-E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1357290" y="928670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285852" y="3143248"/>
            <a:ext cx="685804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Principios Corporativos:</a:t>
            </a:r>
          </a:p>
          <a:p>
            <a:r>
              <a:rPr lang="es-ES" sz="2000" dirty="0" smtClean="0">
                <a:latin typeface="Arial" pitchFamily="34" charset="0"/>
                <a:cs typeface="Arial" pitchFamily="34" charset="0"/>
              </a:rPr>
              <a:t>Principios de creencias o valores de una organización.</a:t>
            </a:r>
          </a:p>
          <a:p>
            <a:r>
              <a:rPr lang="es-ES" sz="2000" dirty="0" smtClean="0">
                <a:latin typeface="Arial" pitchFamily="34" charset="0"/>
                <a:cs typeface="Arial" pitchFamily="34" charset="0"/>
              </a:rPr>
              <a:t>Por Ejemplo Peldar: </a:t>
            </a:r>
          </a:p>
          <a:p>
            <a:endParaRPr lang="es-ES" sz="20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s-ES" sz="2000" dirty="0" smtClean="0">
                <a:latin typeface="Arial" pitchFamily="34" charset="0"/>
                <a:cs typeface="Arial" pitchFamily="34" charset="0"/>
              </a:rPr>
              <a:t> El respecto por las personas. (Valores y creencias)</a:t>
            </a:r>
          </a:p>
          <a:p>
            <a:pPr>
              <a:buFont typeface="Arial" pitchFamily="34" charset="0"/>
              <a:buChar char="•"/>
            </a:pPr>
            <a:r>
              <a:rPr lang="es-ES" sz="2000" dirty="0" smtClean="0">
                <a:latin typeface="Arial" pitchFamily="34" charset="0"/>
                <a:cs typeface="Arial" pitchFamily="34" charset="0"/>
              </a:rPr>
              <a:t> Los valores éticos ( Honestidad, integridad)</a:t>
            </a:r>
          </a:p>
          <a:p>
            <a:pPr>
              <a:buFont typeface="Arial" pitchFamily="34" charset="0"/>
              <a:buChar char="•"/>
            </a:pPr>
            <a:r>
              <a:rPr lang="es-ES" sz="2000" dirty="0" smtClean="0">
                <a:latin typeface="Arial" pitchFamily="34" charset="0"/>
                <a:cs typeface="Arial" pitchFamily="34" charset="0"/>
              </a:rPr>
              <a:t> La calidad ( Productos, procedimientos, Gestión)</a:t>
            </a:r>
          </a:p>
          <a:p>
            <a:pPr>
              <a:buFont typeface="Arial" pitchFamily="34" charset="0"/>
              <a:buChar char="•"/>
            </a:pPr>
            <a:r>
              <a:rPr lang="es-ES" sz="2000" dirty="0" smtClean="0">
                <a:latin typeface="Arial" pitchFamily="34" charset="0"/>
                <a:cs typeface="Arial" pitchFamily="34" charset="0"/>
              </a:rPr>
              <a:t> La Productividad (responsabilidad)</a:t>
            </a:r>
            <a:endParaRPr lang="es-E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1357290" y="928670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1214414" y="2143116"/>
            <a:ext cx="35830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El Direccionamiento: </a:t>
            </a:r>
            <a:endParaRPr lang="es-E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500034" y="2428868"/>
            <a:ext cx="8026556" cy="36625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El Direccionamiento:</a:t>
            </a:r>
          </a:p>
          <a:p>
            <a:endParaRPr lang="es-ES" sz="2800" dirty="0" smtClean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Visión: </a:t>
            </a:r>
            <a:r>
              <a:rPr lang="es-ES" sz="2400" dirty="0" smtClean="0">
                <a:latin typeface="Arial" pitchFamily="34" charset="0"/>
                <a:cs typeface="Arial" pitchFamily="34" charset="0"/>
              </a:rPr>
              <a:t>Responde a la pregunta: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¿Cuales son Nuestras aspiraciones y que queremos ser?</a:t>
            </a:r>
          </a:p>
          <a:p>
            <a:endParaRPr lang="es-E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s-E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Misión: </a:t>
            </a:r>
            <a:r>
              <a:rPr lang="es-ES" sz="2400" dirty="0" smtClean="0">
                <a:latin typeface="Arial" pitchFamily="34" charset="0"/>
                <a:cs typeface="Arial" pitchFamily="34" charset="0"/>
              </a:rPr>
              <a:t>Responde a la pregunta: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¿Cuál es nuestro negocio y a quienes nos debemos?</a:t>
            </a:r>
          </a:p>
          <a:p>
            <a:endParaRPr lang="es-ES" sz="2400" dirty="0" smtClean="0">
              <a:latin typeface="Arial" pitchFamily="34" charset="0"/>
              <a:cs typeface="Arial" pitchFamily="34" charset="0"/>
            </a:endParaRPr>
          </a:p>
          <a:p>
            <a:endParaRPr lang="es-ES" sz="2400" dirty="0"/>
          </a:p>
        </p:txBody>
      </p:sp>
      <p:sp>
        <p:nvSpPr>
          <p:cNvPr id="3" name="2 Rectángulo"/>
          <p:cNvSpPr/>
          <p:nvPr/>
        </p:nvSpPr>
        <p:spPr>
          <a:xfrm>
            <a:off x="1357290" y="928670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/>
          <p:cNvSpPr/>
          <p:nvPr/>
        </p:nvSpPr>
        <p:spPr>
          <a:xfrm>
            <a:off x="1357290" y="500042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8" name="7 Imagen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500174"/>
            <a:ext cx="6929486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357290" y="928670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928662" y="2428868"/>
            <a:ext cx="36433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El Diagnóstico:</a:t>
            </a:r>
            <a:endParaRPr lang="es-ES" sz="2800" dirty="0">
              <a:solidFill>
                <a:srgbClr val="7030A0"/>
              </a:solidFill>
            </a:endParaRPr>
          </a:p>
        </p:txBody>
      </p:sp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1000100" y="3643314"/>
            <a:ext cx="7286676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es-ES" sz="2400" b="0" i="0" u="none" strike="noStrike" cap="none" normalizeH="0" baseline="0" dirty="0" smtClean="0">
                <a:ln>
                  <a:noFill/>
                </a:ln>
                <a:effectLst/>
                <a:latin typeface="Georgia" pitchFamily="18" charset="0"/>
                <a:ea typeface="Times New Roman" pitchFamily="18" charset="0"/>
                <a:cs typeface="Arial" pitchFamily="34" charset="0"/>
              </a:rPr>
              <a:t>Es</a:t>
            </a:r>
            <a:r>
              <a:rPr lang="es-ES" sz="2400" dirty="0" smtClean="0">
                <a:latin typeface="Georgia" pitchFamily="18" charset="0"/>
                <a:ea typeface="Times New Roman" pitchFamily="18" charset="0"/>
                <a:cs typeface="Arial" pitchFamily="34" charset="0"/>
              </a:rPr>
              <a:t> c</a:t>
            </a:r>
            <a:r>
              <a:rPr kumimoji="0" lang="es-ES" sz="2400" b="0" i="0" u="none" strike="noStrike" cap="none" normalizeH="0" dirty="0" smtClean="0">
                <a:ln>
                  <a:noFill/>
                </a:ln>
                <a:effectLst/>
                <a:latin typeface="Georgia" pitchFamily="18" charset="0"/>
                <a:ea typeface="Times New Roman" pitchFamily="18" charset="0"/>
                <a:cs typeface="Arial" pitchFamily="34" charset="0"/>
              </a:rPr>
              <a:t>onocido como el análisis que realiza la corporación donde determina y permite  </a:t>
            </a:r>
            <a:r>
              <a:rPr kumimoji="0" lang="es-ES" sz="2400" b="0" i="0" u="none" strike="noStrike" cap="none" normalizeH="0" baseline="0" dirty="0" smtClean="0">
                <a:ln>
                  <a:noFill/>
                </a:ln>
                <a:effectLst/>
                <a:latin typeface="Georgia" pitchFamily="18" charset="0"/>
                <a:ea typeface="Times New Roman" pitchFamily="18" charset="0"/>
                <a:cs typeface="Arial" pitchFamily="34" charset="0"/>
              </a:rPr>
              <a:t>alcanzar los objetivos</a:t>
            </a:r>
            <a:r>
              <a:rPr kumimoji="0" lang="es-ES" sz="2400" b="0" i="0" u="none" strike="noStrike" cap="none" normalizeH="0" dirty="0" smtClean="0">
                <a:ln>
                  <a:noFill/>
                </a:ln>
                <a:effectLst/>
                <a:latin typeface="Georgia" pitchFamily="18" charset="0"/>
                <a:ea typeface="Times New Roman" pitchFamily="18" charset="0"/>
                <a:cs typeface="Arial" pitchFamily="34" charset="0"/>
              </a:rPr>
              <a:t> con el fin de identificar en el entorno las, debilidades, fortalezas, </a:t>
            </a:r>
            <a:r>
              <a:rPr lang="es-ES" sz="2400" dirty="0" smtClean="0">
                <a:latin typeface="Georgia" pitchFamily="18" charset="0"/>
                <a:ea typeface="Times New Roman" pitchFamily="18" charset="0"/>
                <a:cs typeface="Arial" pitchFamily="34" charset="0"/>
              </a:rPr>
              <a:t>oportunidades </a:t>
            </a:r>
            <a:r>
              <a:rPr kumimoji="0" lang="es-ES" sz="2400" b="0" i="0" u="none" strike="noStrike" cap="none" normalizeH="0" dirty="0" smtClean="0">
                <a:ln>
                  <a:noFill/>
                </a:ln>
                <a:effectLst/>
                <a:latin typeface="Georgia" pitchFamily="18" charset="0"/>
                <a:ea typeface="Times New Roman" pitchFamily="18" charset="0"/>
                <a:cs typeface="Arial" pitchFamily="34" charset="0"/>
              </a:rPr>
              <a:t>amenazas. La cual sirve para anticiparse y tomar decisiones.</a:t>
            </a:r>
            <a:endParaRPr lang="es-ES" sz="2400" dirty="0" smtClean="0">
              <a:latin typeface="Georgia" pitchFamily="18" charset="0"/>
              <a:ea typeface="Times New Roman" pitchFamily="18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Imagen 34" descr="http://www.monografias.com/trabajos55/gerencia-estrategica/Image9339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3571876"/>
            <a:ext cx="5429288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2 Rectángulo"/>
          <p:cNvSpPr/>
          <p:nvPr/>
        </p:nvSpPr>
        <p:spPr>
          <a:xfrm>
            <a:off x="1357290" y="500042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1071538" y="1571612"/>
            <a:ext cx="728667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El Diagnóstico:</a:t>
            </a:r>
          </a:p>
          <a:p>
            <a:endParaRPr lang="es-ES" sz="2800" dirty="0" smtClean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sz="24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Análisis del entono</a:t>
            </a:r>
            <a:r>
              <a:rPr lang="es-ES" sz="2400" dirty="0" smtClean="0">
                <a:latin typeface="Arial" pitchFamily="34" charset="0"/>
                <a:cs typeface="Arial" pitchFamily="34" charset="0"/>
              </a:rPr>
              <a:t>: Utiliza una herramienta 				conocida como la 5 Fuerzas  </a:t>
            </a:r>
          </a:p>
          <a:p>
            <a:endParaRPr lang="es-E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357290" y="500042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1142976" y="2643182"/>
            <a:ext cx="7286676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El Diagnóstico:</a:t>
            </a:r>
          </a:p>
          <a:p>
            <a:pPr algn="just"/>
            <a:endParaRPr lang="es-ES" sz="2400" dirty="0" smtClean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ES" sz="24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Análisis interno:   </a:t>
            </a:r>
            <a:r>
              <a:rPr lang="es-ES" sz="24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algn="just"/>
            <a:r>
              <a:rPr lang="es-ES" sz="2400" dirty="0" smtClean="0"/>
              <a:t>Consiste en el análisis de las debilidades y fortalezas que tiene la organización, que pueden afectar negativa o positivamente su gestión y para hacerle frente al entorno competitivo.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357290" y="500042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1142976" y="2643182"/>
            <a:ext cx="728667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El Diagnóstico:</a:t>
            </a:r>
          </a:p>
          <a:p>
            <a:pPr algn="just"/>
            <a:endParaRPr lang="es-ES" sz="2400" dirty="0" smtClean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ES" sz="24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Análisis DOFA: </a:t>
            </a:r>
          </a:p>
          <a:p>
            <a:pPr algn="just"/>
            <a:endParaRPr lang="es-ES" sz="2400" dirty="0" smtClean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ES" sz="2400" dirty="0" smtClean="0"/>
              <a:t>Es una herramienta de gran utilidad para entender y tomar decisiones en toda clase de situaciones en negocios y empresas. DOFA es el acrónimo de Debilidades, Oportunidades, Fortalezas y Amenazas.</a:t>
            </a:r>
            <a:endParaRPr lang="es-ES" sz="2400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s-ES" sz="24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357290" y="500042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29698" name="Imagen 36" descr="http://www.monografias.com/trabajos55/gerencia-estrategica/Image9341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2143116"/>
            <a:ext cx="6143668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3 Rectángulo"/>
          <p:cNvSpPr/>
          <p:nvPr/>
        </p:nvSpPr>
        <p:spPr>
          <a:xfrm>
            <a:off x="1357290" y="1571612"/>
            <a:ext cx="36433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El Diagnóstico:</a:t>
            </a:r>
            <a:endParaRPr lang="es-E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142976" y="1928802"/>
            <a:ext cx="24833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Las Opciones.</a:t>
            </a:r>
            <a:endParaRPr lang="es-ES" sz="2800" dirty="0">
              <a:solidFill>
                <a:srgbClr val="7030A0"/>
              </a:solidFill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1357290" y="500042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1071538" y="3143248"/>
            <a:ext cx="70723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000" dirty="0" smtClean="0">
                <a:latin typeface="Arial" pitchFamily="34" charset="0"/>
                <a:cs typeface="Arial" pitchFamily="34" charset="0"/>
              </a:rPr>
              <a:t>Corresponde al análisis de las alternativas estratégicas que se enmarcan en dos opciones: estrategias defensivas y ofensivas</a:t>
            </a:r>
            <a:r>
              <a:rPr lang="es-ES" sz="2000" dirty="0" smtClean="0"/>
              <a:t>.</a:t>
            </a:r>
            <a:endParaRPr lang="es-E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357290" y="500042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571472" y="2714620"/>
            <a:ext cx="7929586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14400" algn="l"/>
              </a:tabLst>
            </a:pPr>
            <a:r>
              <a:rPr kumimoji="0" lang="es-ES" b="1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Georgia" pitchFamily="18" charset="0"/>
                <a:ea typeface="Times New Roman" pitchFamily="18" charset="0"/>
                <a:cs typeface="Arial" pitchFamily="34" charset="0"/>
              </a:rPr>
              <a:t>Estrategias Ofensivas </a:t>
            </a:r>
            <a:r>
              <a:rPr kumimoji="0" lang="es-ES" b="1" i="0" u="none" strike="noStrike" cap="none" normalizeH="0" baseline="0" dirty="0" smtClean="0">
                <a:ln>
                  <a:noFill/>
                </a:ln>
                <a:effectLst/>
                <a:latin typeface="Georgia" pitchFamily="18" charset="0"/>
                <a:ea typeface="Times New Roman" pitchFamily="18" charset="0"/>
                <a:cs typeface="Arial" pitchFamily="34" charset="0"/>
              </a:rPr>
              <a:t>: </a:t>
            </a:r>
            <a:r>
              <a:rPr kumimoji="0" lang="es-ES" i="0" u="none" strike="noStrike" cap="none" normalizeH="0" baseline="0" dirty="0" smtClean="0">
                <a:ln>
                  <a:noFill/>
                </a:ln>
                <a:effectLst/>
                <a:latin typeface="Georgia" pitchFamily="18" charset="0"/>
                <a:ea typeface="Times New Roman" pitchFamily="18" charset="0"/>
                <a:cs typeface="Arial" pitchFamily="34" charset="0"/>
              </a:rPr>
              <a:t>Buscan la consolidación de la empresa en el mercado.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14400" algn="l"/>
              </a:tabLst>
            </a:pPr>
            <a:endParaRPr kumimoji="0" lang="es-ES" b="1" i="0" u="none" strike="noStrike" cap="none" normalizeH="0" baseline="0" dirty="0" smtClean="0">
              <a:ln>
                <a:noFill/>
              </a:ln>
              <a:effectLst/>
              <a:latin typeface="Georgia" pitchFamily="18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14400" algn="l"/>
              </a:tabLst>
            </a:pPr>
            <a:r>
              <a:rPr kumimoji="0" lang="es-ES" b="1" i="0" u="none" strike="noStrike" cap="none" normalizeH="0" baseline="0" dirty="0" smtClean="0">
                <a:ln>
                  <a:noFill/>
                </a:ln>
                <a:effectLst/>
                <a:latin typeface="Georgia" pitchFamily="18" charset="0"/>
                <a:ea typeface="Times New Roman" pitchFamily="18" charset="0"/>
                <a:cs typeface="Arial" pitchFamily="34" charset="0"/>
              </a:rPr>
              <a:t>Concentración:</a:t>
            </a:r>
            <a:r>
              <a:rPr kumimoji="0" lang="es-ES" b="0" i="0" u="none" strike="noStrike" cap="none" normalizeH="0" baseline="0" dirty="0" smtClean="0">
                <a:ln>
                  <a:noFill/>
                </a:ln>
                <a:effectLst/>
                <a:latin typeface="Georgia" pitchFamily="18" charset="0"/>
                <a:ea typeface="Times New Roman" pitchFamily="18" charset="0"/>
                <a:cs typeface="Arial" pitchFamily="34" charset="0"/>
              </a:rPr>
              <a:t> un solo producto, línea o servicio.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14400" algn="l"/>
              </a:tabLst>
            </a:pPr>
            <a:endParaRPr kumimoji="0" lang="es-ES" b="0" i="0" u="none" strike="noStrike" cap="none" normalizeH="0" baseline="0" dirty="0" smtClean="0">
              <a:ln>
                <a:noFill/>
              </a:ln>
              <a:effectLst/>
              <a:latin typeface="Georgia" pitchFamily="18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14400" algn="l"/>
              </a:tabLst>
            </a:pPr>
            <a:r>
              <a:rPr kumimoji="0" lang="es-ES" b="1" i="0" u="none" strike="noStrike" cap="none" normalizeH="0" baseline="0" dirty="0" smtClean="0">
                <a:ln>
                  <a:noFill/>
                </a:ln>
                <a:effectLst/>
                <a:latin typeface="Georgia" pitchFamily="18" charset="0"/>
                <a:ea typeface="Times New Roman" pitchFamily="18" charset="0"/>
                <a:cs typeface="Arial" pitchFamily="34" charset="0"/>
              </a:rPr>
              <a:t>Fusiones:</a:t>
            </a:r>
            <a:r>
              <a:rPr kumimoji="0" lang="es-ES" b="0" i="0" u="none" strike="noStrike" cap="none" normalizeH="0" baseline="0" dirty="0" smtClean="0">
                <a:ln>
                  <a:noFill/>
                </a:ln>
                <a:effectLst/>
                <a:latin typeface="Georgia" pitchFamily="18" charset="0"/>
                <a:ea typeface="Times New Roman" pitchFamily="18" charset="0"/>
                <a:cs typeface="Arial" pitchFamily="34" charset="0"/>
              </a:rPr>
              <a:t> combinación de operaciones de dos empresas en una sola.</a:t>
            </a:r>
          </a:p>
        </p:txBody>
      </p:sp>
      <p:sp>
        <p:nvSpPr>
          <p:cNvPr id="4" name="3 Rectángulo"/>
          <p:cNvSpPr/>
          <p:nvPr/>
        </p:nvSpPr>
        <p:spPr>
          <a:xfrm>
            <a:off x="571472" y="1928802"/>
            <a:ext cx="24833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Las Opciones.</a:t>
            </a:r>
            <a:endParaRPr lang="es-E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714348" y="1928802"/>
            <a:ext cx="24833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Las Opciones.</a:t>
            </a:r>
            <a:endParaRPr lang="es-ES" sz="2800" dirty="0">
              <a:solidFill>
                <a:srgbClr val="7030A0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42910" y="2714620"/>
            <a:ext cx="7929586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14400" algn="l"/>
              </a:tabLst>
            </a:pPr>
            <a:r>
              <a:rPr kumimoji="0" lang="es-ES" b="1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Georgia" pitchFamily="18" charset="0"/>
                <a:ea typeface="Times New Roman" pitchFamily="18" charset="0"/>
                <a:cs typeface="Arial" pitchFamily="34" charset="0"/>
              </a:rPr>
              <a:t>Estrategias Ofensivas: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14400" algn="l"/>
              </a:tabLst>
            </a:pPr>
            <a:endParaRPr lang="es-ES" b="1" dirty="0" smtClean="0">
              <a:solidFill>
                <a:srgbClr val="7030A0"/>
              </a:solidFill>
              <a:latin typeface="Georgia" pitchFamily="18" charset="0"/>
              <a:ea typeface="Times New Roman" pitchFamily="18" charset="0"/>
              <a:cs typeface="Arial" pitchFamily="34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</a:pPr>
            <a:r>
              <a:rPr lang="es-ES" b="1" dirty="0" smtClean="0">
                <a:latin typeface="Georgia" pitchFamily="18" charset="0"/>
                <a:ea typeface="Times New Roman" pitchFamily="18" charset="0"/>
                <a:cs typeface="Arial" pitchFamily="34" charset="0"/>
              </a:rPr>
              <a:t>Adquisiciones:</a:t>
            </a:r>
            <a:r>
              <a:rPr lang="es-ES" dirty="0" smtClean="0">
                <a:latin typeface="Georgia" pitchFamily="18" charset="0"/>
                <a:ea typeface="Times New Roman" pitchFamily="18" charset="0"/>
                <a:cs typeface="Arial" pitchFamily="34" charset="0"/>
              </a:rPr>
              <a:t> compra que una compañía hace de otra, pero que deja que la firma adquirida opere como empresa independiente de la adquiriente.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</a:pPr>
            <a:endParaRPr lang="es-ES" dirty="0" smtClean="0">
              <a:latin typeface="Georgia" pitchFamily="18" charset="0"/>
              <a:ea typeface="Times New Roman" pitchFamily="18" charset="0"/>
              <a:cs typeface="Arial" pitchFamily="34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</a:pPr>
            <a:r>
              <a:rPr lang="es-ES" b="1" dirty="0" smtClean="0">
                <a:latin typeface="Georgia" pitchFamily="18" charset="0"/>
                <a:ea typeface="Times New Roman" pitchFamily="18" charset="0"/>
                <a:cs typeface="Arial" pitchFamily="34" charset="0"/>
              </a:rPr>
              <a:t>Alianzas estratégicas:</a:t>
            </a:r>
            <a:r>
              <a:rPr lang="es-ES" dirty="0" smtClean="0">
                <a:latin typeface="Georgia" pitchFamily="18" charset="0"/>
                <a:ea typeface="Times New Roman" pitchFamily="18" charset="0"/>
                <a:cs typeface="Arial" pitchFamily="34" charset="0"/>
              </a:rPr>
              <a:t> la unión de empresas, sin que cada aliado pierda su identidad.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14400" algn="l"/>
              </a:tabLst>
            </a:pPr>
            <a:endParaRPr kumimoji="0" lang="es-ES" b="0" i="0" u="none" strike="noStrike" cap="none" normalizeH="0" baseline="0" dirty="0" smtClean="0">
              <a:ln>
                <a:noFill/>
              </a:ln>
              <a:effectLst/>
              <a:latin typeface="Georgia" pitchFamily="18" charset="0"/>
              <a:ea typeface="Times New Roman" pitchFamily="18" charset="0"/>
              <a:cs typeface="Arial" pitchFamily="34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357290" y="500042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357290" y="500042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857224" y="2714620"/>
            <a:ext cx="721523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</a:pPr>
            <a:r>
              <a:rPr lang="es-ES" b="1" dirty="0" smtClean="0">
                <a:solidFill>
                  <a:srgbClr val="7030A0"/>
                </a:solidFill>
                <a:latin typeface="Georgia" pitchFamily="18" charset="0"/>
                <a:ea typeface="Times New Roman" pitchFamily="18" charset="0"/>
                <a:cs typeface="Arial" pitchFamily="34" charset="0"/>
              </a:rPr>
              <a:t>Estrategias Defensivas.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</a:pPr>
            <a:endParaRPr lang="es-ES" b="1" dirty="0" smtClean="0">
              <a:latin typeface="Georgia" pitchFamily="18" charset="0"/>
              <a:ea typeface="Times New Roman" pitchFamily="18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</a:pPr>
            <a:r>
              <a:rPr lang="es-ES" b="1" dirty="0" smtClean="0">
                <a:latin typeface="Georgia" pitchFamily="18" charset="0"/>
                <a:ea typeface="Times New Roman" pitchFamily="18" charset="0"/>
                <a:cs typeface="Arial" pitchFamily="34" charset="0"/>
              </a:rPr>
              <a:t>Reducción:</a:t>
            </a:r>
            <a:r>
              <a:rPr lang="es-ES" dirty="0" smtClean="0">
                <a:latin typeface="Georgia" pitchFamily="18" charset="0"/>
                <a:ea typeface="Times New Roman" pitchFamily="18" charset="0"/>
                <a:cs typeface="Arial" pitchFamily="34" charset="0"/>
              </a:rPr>
              <a:t> Disminuir el número o tamaño de las operaciones o de las actividades de una empresa para mejorar su productividad.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</a:pPr>
            <a:endParaRPr lang="es-ES" dirty="0" smtClean="0">
              <a:latin typeface="Georgia" pitchFamily="18" charset="0"/>
              <a:ea typeface="Times New Roman" pitchFamily="18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</a:pPr>
            <a:r>
              <a:rPr lang="es-ES" b="1" dirty="0" smtClean="0">
                <a:latin typeface="Georgia" pitchFamily="18" charset="0"/>
                <a:ea typeface="Times New Roman" pitchFamily="18" charset="0"/>
                <a:cs typeface="Arial" pitchFamily="34" charset="0"/>
              </a:rPr>
              <a:t>Desinversión:</a:t>
            </a:r>
            <a:r>
              <a:rPr lang="es-ES" dirty="0" smtClean="0">
                <a:latin typeface="Georgia" pitchFamily="18" charset="0"/>
                <a:ea typeface="Times New Roman" pitchFamily="18" charset="0"/>
                <a:cs typeface="Arial" pitchFamily="34" charset="0"/>
              </a:rPr>
              <a:t> cuando una organización cierra o vende parte de su operación para concentrarse en tareas básicas derivadas de su misión.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</a:pPr>
            <a:endParaRPr lang="es-ES" dirty="0" smtClean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</a:pPr>
            <a:r>
              <a:rPr lang="es-ES" b="1" dirty="0" smtClean="0">
                <a:latin typeface="Georgia" pitchFamily="18" charset="0"/>
                <a:ea typeface="Times New Roman" pitchFamily="18" charset="0"/>
                <a:cs typeface="Arial" pitchFamily="34" charset="0"/>
              </a:rPr>
              <a:t>Liquidación:</a:t>
            </a:r>
            <a:r>
              <a:rPr lang="es-ES" dirty="0" smtClean="0">
                <a:latin typeface="Georgia" pitchFamily="18" charset="0"/>
                <a:ea typeface="Times New Roman" pitchFamily="18" charset="0"/>
                <a:cs typeface="Arial" pitchFamily="34" charset="0"/>
              </a:rPr>
              <a:t> vender bienes de una organización para liquidarla.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</a:pPr>
            <a:endParaRPr lang="es-ES" dirty="0" smtClean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</a:pPr>
            <a:r>
              <a:rPr lang="es-ES" b="1" dirty="0" smtClean="0">
                <a:latin typeface="Georgia" pitchFamily="18" charset="0"/>
                <a:ea typeface="Times New Roman" pitchFamily="18" charset="0"/>
                <a:cs typeface="Arial" pitchFamily="34" charset="0"/>
              </a:rPr>
              <a:t>Recuperación:</a:t>
            </a:r>
            <a:r>
              <a:rPr lang="es-ES" dirty="0" smtClean="0">
                <a:latin typeface="Georgia" pitchFamily="18" charset="0"/>
                <a:ea typeface="Times New Roman" pitchFamily="18" charset="0"/>
                <a:cs typeface="Arial" pitchFamily="34" charset="0"/>
              </a:rPr>
              <a:t> cuando una empresa emplea estrategias dirigidas a suspender el declive de su organización.</a:t>
            </a:r>
            <a:endParaRPr lang="es-ES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928662" y="1928802"/>
            <a:ext cx="24833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Las Opciones.</a:t>
            </a:r>
            <a:endParaRPr lang="es-E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357290" y="500042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857224" y="2928934"/>
            <a:ext cx="721523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</a:pPr>
            <a:r>
              <a:rPr lang="es-ES" b="1" dirty="0" smtClean="0">
                <a:solidFill>
                  <a:srgbClr val="7030A0"/>
                </a:solidFill>
                <a:latin typeface="Georgia" pitchFamily="18" charset="0"/>
                <a:ea typeface="Times New Roman" pitchFamily="18" charset="0"/>
                <a:cs typeface="Arial" pitchFamily="34" charset="0"/>
              </a:rPr>
              <a:t>Estrategias Defensivas.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</a:pPr>
            <a:endParaRPr lang="es-ES" b="1" dirty="0" smtClean="0">
              <a:latin typeface="Georgia" pitchFamily="18" charset="0"/>
              <a:ea typeface="Times New Roman" pitchFamily="18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</a:pPr>
            <a:r>
              <a:rPr lang="es-ES" b="1" dirty="0" smtClean="0">
                <a:latin typeface="Georgia" pitchFamily="18" charset="0"/>
                <a:ea typeface="Times New Roman" pitchFamily="18" charset="0"/>
                <a:cs typeface="Arial" pitchFamily="34" charset="0"/>
              </a:rPr>
              <a:t>Liquidación:</a:t>
            </a:r>
            <a:r>
              <a:rPr lang="es-ES" dirty="0" smtClean="0">
                <a:latin typeface="Georgia" pitchFamily="18" charset="0"/>
                <a:ea typeface="Times New Roman" pitchFamily="18" charset="0"/>
                <a:cs typeface="Arial" pitchFamily="34" charset="0"/>
              </a:rPr>
              <a:t> vender bienes de una organización para liquidarla.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</a:pPr>
            <a:endParaRPr lang="es-ES" dirty="0" smtClean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</a:pPr>
            <a:r>
              <a:rPr lang="es-ES" b="1" dirty="0" smtClean="0">
                <a:latin typeface="Georgia" pitchFamily="18" charset="0"/>
                <a:ea typeface="Times New Roman" pitchFamily="18" charset="0"/>
                <a:cs typeface="Arial" pitchFamily="34" charset="0"/>
              </a:rPr>
              <a:t>Recuperación:</a:t>
            </a:r>
            <a:r>
              <a:rPr lang="es-ES" dirty="0" smtClean="0">
                <a:latin typeface="Georgia" pitchFamily="18" charset="0"/>
                <a:ea typeface="Times New Roman" pitchFamily="18" charset="0"/>
                <a:cs typeface="Arial" pitchFamily="34" charset="0"/>
              </a:rPr>
              <a:t> cuando una empresa emplea estrategias dirigidas a suspender el declive de su organización.</a:t>
            </a:r>
            <a:endParaRPr lang="es-ES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928662" y="1928802"/>
            <a:ext cx="24833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Las Opciones.</a:t>
            </a:r>
            <a:endParaRPr lang="es-E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357290" y="500042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2000240"/>
            <a:ext cx="7500990" cy="4411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3 Rectángulo"/>
          <p:cNvSpPr/>
          <p:nvPr/>
        </p:nvSpPr>
        <p:spPr>
          <a:xfrm>
            <a:off x="785786" y="1285860"/>
            <a:ext cx="24833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Las Opciones.</a:t>
            </a:r>
            <a:endParaRPr lang="es-E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642910" y="2071678"/>
            <a:ext cx="46634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La Formulación Estratégica.</a:t>
            </a:r>
            <a:endParaRPr lang="es-ES" sz="2800" dirty="0">
              <a:solidFill>
                <a:srgbClr val="7030A0"/>
              </a:solidFill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1357290" y="500042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571472" y="3286124"/>
            <a:ext cx="7715304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2400" b="0" i="0" u="none" strike="noStrike" cap="none" normalizeH="0" baseline="0" dirty="0" smtClean="0">
                <a:ln>
                  <a:noFill/>
                </a:ln>
                <a:effectLst/>
                <a:latin typeface="Georgia" pitchFamily="18" charset="0"/>
                <a:ea typeface="Times New Roman" pitchFamily="18" charset="0"/>
                <a:cs typeface="Arial" pitchFamily="34" charset="0"/>
              </a:rPr>
              <a:t>La formulación estratégica, consiste en seleccionar los proyectos</a:t>
            </a:r>
            <a:r>
              <a:rPr kumimoji="0" lang="es-ES" sz="2400" b="0" i="0" u="none" strike="noStrike" cap="none" normalizeH="0" dirty="0" smtClean="0">
                <a:ln>
                  <a:noFill/>
                </a:ln>
                <a:effectLst/>
                <a:latin typeface="Georgia" pitchFamily="18" charset="0"/>
                <a:ea typeface="Times New Roman" pitchFamily="18" charset="0"/>
                <a:cs typeface="Arial" pitchFamily="34" charset="0"/>
              </a:rPr>
              <a:t> o</a:t>
            </a:r>
            <a:r>
              <a:rPr kumimoji="0" lang="es-ES" sz="2400" b="0" i="0" u="none" strike="noStrike" cap="none" normalizeH="0" baseline="0" dirty="0" smtClean="0">
                <a:ln>
                  <a:noFill/>
                </a:ln>
                <a:effectLst/>
                <a:latin typeface="Georgia" pitchFamily="18" charset="0"/>
                <a:ea typeface="Times New Roman" pitchFamily="18" charset="0"/>
                <a:cs typeface="Arial" pitchFamily="34" charset="0"/>
              </a:rPr>
              <a:t> áreas estratégicas que han de integrar el Plan Estratégico Corporativo.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357158" y="2786058"/>
            <a:ext cx="850109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7030A0"/>
                </a:solidFill>
                <a:latin typeface="Georgia" pitchFamily="18" charset="0"/>
                <a:ea typeface="Times New Roman" pitchFamily="18" charset="0"/>
                <a:cs typeface="Arial" pitchFamily="34" charset="0"/>
              </a:rPr>
              <a:t>PROYECTOS ESTRATÉGICOS</a:t>
            </a:r>
          </a:p>
          <a:p>
            <a:endParaRPr lang="es-ES" dirty="0" smtClean="0">
              <a:solidFill>
                <a:srgbClr val="7030A0"/>
              </a:solidFill>
              <a:latin typeface="Georgia" pitchFamily="18" charset="0"/>
              <a:ea typeface="Times New Roman" pitchFamily="18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dirty="0" smtClean="0">
                <a:latin typeface="Georgia" pitchFamily="18" charset="0"/>
                <a:ea typeface="Times New Roman" pitchFamily="18" charset="0"/>
                <a:cs typeface="Arial" pitchFamily="34" charset="0"/>
              </a:rPr>
              <a:t>Son el resultado de analizar las opciones estratégicas y de dar prioridad a cada una de éstas, seleccionando aquellas en las cuales debe tener un desempeño excepcional como condición para lograr sus objetivos y por ende su misión y visión.</a:t>
            </a:r>
            <a:endParaRPr lang="es-ES" sz="1400" dirty="0" smtClean="0">
              <a:latin typeface="Arial" pitchFamily="34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dirty="0" smtClean="0">
              <a:latin typeface="Georgia" pitchFamily="18" charset="0"/>
              <a:ea typeface="Times New Roman" pitchFamily="18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dirty="0" smtClean="0">
                <a:latin typeface="Georgia" pitchFamily="18" charset="0"/>
                <a:ea typeface="Times New Roman" pitchFamily="18" charset="0"/>
                <a:cs typeface="Arial" pitchFamily="34" charset="0"/>
              </a:rPr>
              <a:t>Ejemplos:</a:t>
            </a:r>
            <a:endParaRPr lang="es-ES" sz="1400" dirty="0" smtClean="0">
              <a:latin typeface="Arial" pitchFamily="34" charset="0"/>
              <a:cs typeface="Arial" pitchFamily="34" charset="0"/>
            </a:endParaRPr>
          </a:p>
          <a:p>
            <a:pPr marL="228600" lvl="0" indent="-22860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s-ES" dirty="0" smtClean="0">
                <a:latin typeface="Georgia" pitchFamily="18" charset="0"/>
                <a:ea typeface="Times New Roman" pitchFamily="18" charset="0"/>
                <a:cs typeface="Arial" pitchFamily="34" charset="0"/>
              </a:rPr>
              <a:t>Modernización tecnológica.</a:t>
            </a:r>
            <a:endParaRPr lang="es-ES" sz="1400" dirty="0" smtClean="0">
              <a:latin typeface="Arial" pitchFamily="34" charset="0"/>
              <a:cs typeface="Arial" pitchFamily="34" charset="0"/>
            </a:endParaRPr>
          </a:p>
          <a:p>
            <a:pPr marL="228600" lvl="0" indent="-22860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s-ES" dirty="0" smtClean="0">
                <a:latin typeface="Georgia" pitchFamily="18" charset="0"/>
                <a:ea typeface="Times New Roman" pitchFamily="18" charset="0"/>
                <a:cs typeface="Arial" pitchFamily="34" charset="0"/>
              </a:rPr>
              <a:t> Plan Global de Mercadeo.</a:t>
            </a:r>
          </a:p>
          <a:p>
            <a:pPr marL="228600" lvl="0" indent="-22860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s-ES" dirty="0" smtClean="0">
                <a:latin typeface="Georgia" pitchFamily="18" charset="0"/>
                <a:ea typeface="Times New Roman" pitchFamily="18" charset="0"/>
                <a:cs typeface="Arial" pitchFamily="34" charset="0"/>
              </a:rPr>
              <a:t>Calidad Total.</a:t>
            </a:r>
          </a:p>
          <a:p>
            <a:pPr marL="228600" lvl="0" indent="-22860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s-ES" dirty="0" smtClean="0">
                <a:latin typeface="Georgia" pitchFamily="18" charset="0"/>
                <a:ea typeface="Times New Roman" pitchFamily="18" charset="0"/>
                <a:cs typeface="Arial" pitchFamily="34" charset="0"/>
              </a:rPr>
              <a:t>Servicio .al cliente.</a:t>
            </a:r>
          </a:p>
          <a:p>
            <a:r>
              <a:rPr lang="es-ES" dirty="0" smtClean="0">
                <a:solidFill>
                  <a:srgbClr val="445555"/>
                </a:solidFill>
                <a:latin typeface="Georgia" pitchFamily="18" charset="0"/>
                <a:ea typeface="Times New Roman" pitchFamily="18" charset="0"/>
                <a:cs typeface="Arial" pitchFamily="34" charset="0"/>
              </a:rPr>
              <a:t> </a:t>
            </a:r>
            <a:endParaRPr lang="es-ES" dirty="0"/>
          </a:p>
        </p:txBody>
      </p:sp>
      <p:sp>
        <p:nvSpPr>
          <p:cNvPr id="3" name="2 Rectángulo"/>
          <p:cNvSpPr/>
          <p:nvPr/>
        </p:nvSpPr>
        <p:spPr>
          <a:xfrm>
            <a:off x="357158" y="1928802"/>
            <a:ext cx="46634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La Formulación Estratégica.</a:t>
            </a:r>
            <a:endParaRPr lang="es-ES" sz="2800" dirty="0">
              <a:solidFill>
                <a:srgbClr val="7030A0"/>
              </a:solidFill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1357290" y="500042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357290" y="500042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40963" name="Imagen 38" descr="http://www.monografias.com/trabajos55/gerencia-estrategica/Image9343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3214686"/>
            <a:ext cx="7460953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7 Rectángulo"/>
          <p:cNvSpPr/>
          <p:nvPr/>
        </p:nvSpPr>
        <p:spPr>
          <a:xfrm>
            <a:off x="571472" y="1857364"/>
            <a:ext cx="46634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La Formulación Estratégica.</a:t>
            </a:r>
            <a:endParaRPr lang="es-ES" sz="2800" dirty="0">
              <a:solidFill>
                <a:srgbClr val="7030A0"/>
              </a:solidFill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642910" y="2643182"/>
            <a:ext cx="33393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 smtClean="0">
                <a:solidFill>
                  <a:srgbClr val="7030A0"/>
                </a:solidFill>
                <a:latin typeface="Georgia" pitchFamily="18" charset="0"/>
                <a:ea typeface="Times New Roman" pitchFamily="18" charset="0"/>
                <a:cs typeface="Arial" pitchFamily="34" charset="0"/>
              </a:rPr>
              <a:t>PROYECTOS ESTRATÉGICOS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357290" y="500042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785786" y="1857364"/>
            <a:ext cx="41424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Ejecución de Estrategias</a:t>
            </a:r>
            <a:endParaRPr lang="es-ES" sz="2800" dirty="0">
              <a:solidFill>
                <a:srgbClr val="7030A0"/>
              </a:solidFill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785786" y="3071810"/>
            <a:ext cx="75724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dirty="0" smtClean="0"/>
              <a:t>Significa la movilización tanto de empleados como de gerentes, para llevar a cabo las estrategias ya formuladas, consiste en: fijación de metas, de políticas y asignación de recursos. Es el paso más difícil en el proceso de la dirección estratégica, debido al hecho de que requiere disciplina personal, sacrificio y concentración.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1357290" y="500042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571472" y="1643050"/>
            <a:ext cx="79063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Algunas características entre la Formulación y Ejecución</a:t>
            </a:r>
            <a:endParaRPr lang="es-ES" sz="2400" dirty="0">
              <a:solidFill>
                <a:srgbClr val="7030A0"/>
              </a:solidFill>
            </a:endParaRPr>
          </a:p>
        </p:txBody>
      </p: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3357562"/>
            <a:ext cx="6629400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5 Rectángulo"/>
          <p:cNvSpPr/>
          <p:nvPr/>
        </p:nvSpPr>
        <p:spPr>
          <a:xfrm>
            <a:off x="2143108" y="2857496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Formulación</a:t>
            </a:r>
            <a:endParaRPr lang="es-ES" dirty="0"/>
          </a:p>
        </p:txBody>
      </p:sp>
      <p:sp>
        <p:nvSpPr>
          <p:cNvPr id="7" name="6 Rectángulo"/>
          <p:cNvSpPr/>
          <p:nvPr/>
        </p:nvSpPr>
        <p:spPr>
          <a:xfrm>
            <a:off x="5643570" y="2857496"/>
            <a:ext cx="1184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Ejecución</a:t>
            </a:r>
            <a:endParaRPr lang="es-E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357290" y="500042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1071538" y="1857364"/>
            <a:ext cx="61424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Evaluación o Auditoria de Estrategias</a:t>
            </a:r>
            <a:endParaRPr lang="es-ES" sz="2800" dirty="0">
              <a:solidFill>
                <a:srgbClr val="7030A0"/>
              </a:solidFill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928662" y="3286124"/>
            <a:ext cx="750099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dirty="0" smtClean="0"/>
              <a:t>Se debe analizar los factores internos y externos que representan las bases de sus estrategias actuales. Las preguntas que se hacen: ¿Siguen siendo fortalezas internas las fortalezas? ; ¿Siguen siendo debilidades internas todavía  debilidades? ; ¿Son las oportunidades externas todavía oportunidades?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357290" y="500042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2144138"/>
            <a:ext cx="7643866" cy="425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3 Rectángulo"/>
          <p:cNvSpPr/>
          <p:nvPr/>
        </p:nvSpPr>
        <p:spPr>
          <a:xfrm>
            <a:off x="1714480" y="1500174"/>
            <a:ext cx="61424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Evaluación o Auditoria de Estrategias</a:t>
            </a:r>
            <a:endParaRPr lang="es-E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1357290" y="500042"/>
            <a:ext cx="6688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Componentes de la P.E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857224" y="3000372"/>
            <a:ext cx="73581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 smtClean="0"/>
              <a:t>“Las empresas que no tenga una estrategias, sean grandes o pequeñas, son muy vulnerables y serán derribadas por los vientos de la competencia en el corto plazo”</a:t>
            </a:r>
          </a:p>
          <a:p>
            <a:pPr algn="just"/>
            <a:endParaRPr lang="es-ES" sz="2400" dirty="0" smtClean="0"/>
          </a:p>
          <a:p>
            <a:pPr algn="r"/>
            <a:r>
              <a:rPr lang="es-ES" sz="2400" dirty="0" smtClean="0"/>
              <a:t>(Michael Porter)</a:t>
            </a:r>
            <a:endParaRPr lang="es-ES" sz="24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l">
  <a:themeElements>
    <a:clrScheme name="Papel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l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l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419</TotalTime>
  <Words>1322</Words>
  <Application>Microsoft Office PowerPoint</Application>
  <PresentationFormat>Presentación en pantalla (4:3)</PresentationFormat>
  <Paragraphs>176</Paragraphs>
  <Slides>34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5" baseType="lpstr">
      <vt:lpstr>Papel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Diapositiva 11</vt:lpstr>
      <vt:lpstr>Diapositiva 12</vt:lpstr>
      <vt:lpstr>Diapositiva 13</vt:lpstr>
      <vt:lpstr>Diapositiva 14</vt:lpstr>
      <vt:lpstr>Diapositiva 15</vt:lpstr>
      <vt:lpstr>Diapositiva 16</vt:lpstr>
      <vt:lpstr>Diapositiva 17</vt:lpstr>
      <vt:lpstr>Diapositiva 18</vt:lpstr>
      <vt:lpstr>Diapositiva 19</vt:lpstr>
      <vt:lpstr>Diapositiva 20</vt:lpstr>
      <vt:lpstr>Diapositiva 21</vt:lpstr>
      <vt:lpstr>Diapositiva 22</vt:lpstr>
      <vt:lpstr>Diapositiva 23</vt:lpstr>
      <vt:lpstr>Diapositiva 24</vt:lpstr>
      <vt:lpstr>Diapositiva 25</vt:lpstr>
      <vt:lpstr>Diapositiva 26</vt:lpstr>
      <vt:lpstr>Diapositiva 27</vt:lpstr>
      <vt:lpstr>Diapositiva 28</vt:lpstr>
      <vt:lpstr>Diapositiva 29</vt:lpstr>
      <vt:lpstr>Diapositiva 30</vt:lpstr>
      <vt:lpstr>Diapositiva 31</vt:lpstr>
      <vt:lpstr>Diapositiva 32</vt:lpstr>
      <vt:lpstr>Diapositiva 33</vt:lpstr>
      <vt:lpstr>Diapositiva 34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USUARIO</dc:creator>
  <cp:lastModifiedBy>USUARIO</cp:lastModifiedBy>
  <cp:revision>52</cp:revision>
  <dcterms:created xsi:type="dcterms:W3CDTF">2011-05-06T10:17:51Z</dcterms:created>
  <dcterms:modified xsi:type="dcterms:W3CDTF">2011-05-09T05:34:33Z</dcterms:modified>
</cp:coreProperties>
</file>