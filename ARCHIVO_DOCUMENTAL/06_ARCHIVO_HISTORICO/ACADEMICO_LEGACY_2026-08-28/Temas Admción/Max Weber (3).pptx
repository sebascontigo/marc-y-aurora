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3" r:id="rId4"/>
    <p:sldId id="265" r:id="rId5"/>
    <p:sldId id="261" r:id="rId6"/>
    <p:sldId id="266" r:id="rId7"/>
    <p:sldId id="264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4709" autoAdjust="0"/>
  </p:normalViewPr>
  <p:slideViewPr>
    <p:cSldViewPr>
      <p:cViewPr varScale="1">
        <p:scale>
          <a:sx n="75" d="100"/>
          <a:sy n="75" d="100"/>
        </p:scale>
        <p:origin x="-101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912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A98C782-815A-48A1-93A7-0D524A950CC1}" type="datetimeFigureOut">
              <a:rPr lang="es-ES" smtClean="0"/>
              <a:pPr/>
              <a:t>15/09/2010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CF6CC67-478E-4898-98E6-9542C73D232D}" type="slidenum">
              <a:rPr lang="es-ES" smtClean="0"/>
              <a:pPr/>
              <a:t>‹Nº›</a:t>
            </a:fld>
            <a:endParaRPr lang="es-ES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Max weber </a:t>
            </a:r>
            <a:endParaRPr lang="es-ES" sz="6000" dirty="0">
              <a:solidFill>
                <a:schemeClr val="tx2"/>
              </a:solidFill>
              <a:latin typeface="Algerian" pitchFamily="82" charset="0"/>
            </a:endParaRPr>
          </a:p>
        </p:txBody>
      </p:sp>
      <p:pic>
        <p:nvPicPr>
          <p:cNvPr id="6" name="5 Marcador de contenido" descr="max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51720" y="1965871"/>
            <a:ext cx="5184576" cy="445167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latin typeface="Algerian" pitchFamily="82" charset="0"/>
              </a:rPr>
              <a:t>Max weber</a:t>
            </a:r>
            <a:endParaRPr lang="es-ES" dirty="0">
              <a:latin typeface="Algerian" pitchFamily="82" charset="0"/>
            </a:endParaRPr>
          </a:p>
        </p:txBody>
      </p:sp>
      <p:pic>
        <p:nvPicPr>
          <p:cNvPr id="5" name="4 Marcador de contenido" descr="max weber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844825"/>
            <a:ext cx="3456384" cy="4392488"/>
          </a:xfrm>
        </p:spPr>
      </p:pic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 smtClean="0">
                <a:latin typeface="Arial" pitchFamily="34" charset="0"/>
                <a:cs typeface="Arial" pitchFamily="34" charset="0"/>
              </a:rPr>
              <a:t>(1864 – 1920)</a:t>
            </a:r>
          </a:p>
          <a:p>
            <a:r>
              <a:rPr lang="es-ES" dirty="0" smtClean="0">
                <a:latin typeface="Arial" pitchFamily="34" charset="0"/>
                <a:cs typeface="Arial" pitchFamily="34" charset="0"/>
              </a:rPr>
              <a:t>Destacado científico alemán. </a:t>
            </a:r>
          </a:p>
          <a:p>
            <a:r>
              <a:rPr lang="es-ES" dirty="0" smtClean="0">
                <a:latin typeface="Arial" pitchFamily="34" charset="0"/>
                <a:cs typeface="Arial" pitchFamily="34" charset="0"/>
              </a:rPr>
              <a:t>Uno de los percusores de la sociología moderna.</a:t>
            </a:r>
            <a:endParaRPr lang="es-E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6000" dirty="0" smtClean="0">
                <a:latin typeface="Algerian" pitchFamily="82" charset="0"/>
              </a:rPr>
              <a:t>burocracia</a:t>
            </a:r>
            <a:endParaRPr lang="es-ES" sz="6000" dirty="0">
              <a:latin typeface="Algerian" pitchFamily="82" charset="0"/>
            </a:endParaRPr>
          </a:p>
        </p:txBody>
      </p:sp>
      <p:pic>
        <p:nvPicPr>
          <p:cNvPr id="4" name="3 Marcador de contenido" descr="burocracia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63688" y="1761044"/>
            <a:ext cx="5616624" cy="466589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latin typeface="Algerian" pitchFamily="82" charset="0"/>
              </a:rPr>
              <a:t>burocracia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Se caracteriza por:</a:t>
            </a:r>
          </a:p>
          <a:p>
            <a:pPr>
              <a:buNone/>
            </a:pPr>
            <a:r>
              <a:rPr lang="es-ES" sz="2400" dirty="0" smtClean="0">
                <a:latin typeface="Arial" pitchFamily="34" charset="0"/>
                <a:cs typeface="Arial" pitchFamily="34" charset="0"/>
              </a:rPr>
              <a:t>   Ineficiencia, papeleo, desgano, deshonestidad, politiquería, etc. son algunas características que se alimentan con la burguesía. 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/>
            </a:r>
            <a:b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</a:br>
            <a:r>
              <a:rPr lang="es-ES" sz="6000" dirty="0" err="1" smtClean="0">
                <a:solidFill>
                  <a:schemeClr val="tx2"/>
                </a:solidFill>
                <a:latin typeface="Algerian" pitchFamily="82" charset="0"/>
              </a:rPr>
              <a:t>max</a:t>
            </a:r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 weber</a:t>
            </a:r>
            <a:endParaRPr lang="es-ES" sz="6000" dirty="0">
              <a:solidFill>
                <a:schemeClr val="tx2"/>
              </a:solidFill>
              <a:latin typeface="Algeri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s-ES" sz="2800" dirty="0" smtClean="0">
                <a:latin typeface="Arial" pitchFamily="34" charset="0"/>
                <a:cs typeface="Arial" pitchFamily="34" charset="0"/>
              </a:rPr>
              <a:t>pionero en el desarrollo de la teoría de la organización burocrática.</a:t>
            </a:r>
            <a:endParaRPr lang="es-E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5400" dirty="0" smtClean="0">
                <a:latin typeface="Algerian" pitchFamily="82" charset="0"/>
              </a:rPr>
              <a:t>burocracia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s-ES" sz="2800" dirty="0" smtClean="0">
                <a:latin typeface="Arial" pitchFamily="34" charset="0"/>
                <a:cs typeface="Arial" pitchFamily="34" charset="0"/>
              </a:rPr>
              <a:t>Weber aporta una perspectiva nueva que consiste en identificar y elaborar las características de la organización que la denomino “organización burocrática”</a:t>
            </a:r>
            <a:endParaRPr lang="es-E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6000" dirty="0" smtClean="0">
                <a:latin typeface="Algerian" pitchFamily="82" charset="0"/>
              </a:rPr>
              <a:t>burocracia</a:t>
            </a:r>
            <a:endParaRPr lang="es-ES" sz="6000" dirty="0">
              <a:latin typeface="Algerian" pitchFamily="82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 smtClean="0">
                <a:latin typeface="Arial" pitchFamily="34" charset="0"/>
                <a:cs typeface="Arial" pitchFamily="34" charset="0"/>
              </a:rPr>
              <a:t>Representa una de las contribuciones mas solidas para comprender el tipo de organización compleja que se dio  simultáneamente con el capitalismo.</a:t>
            </a:r>
            <a:endParaRPr lang="es-E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5400" dirty="0" smtClean="0">
                <a:solidFill>
                  <a:schemeClr val="tx2"/>
                </a:solidFill>
                <a:latin typeface="Algerian" pitchFamily="82" charset="0"/>
              </a:rPr>
              <a:t>Elementos de la organización de la burocracia </a:t>
            </a:r>
            <a:endParaRPr lang="es-ES" sz="5400" dirty="0">
              <a:solidFill>
                <a:schemeClr val="tx2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645024"/>
            <a:ext cx="7772400" cy="1152128"/>
          </a:xfrm>
        </p:spPr>
        <p:txBody>
          <a:bodyPr>
            <a:noAutofit/>
          </a:bodyPr>
          <a:lstStyle/>
          <a:p>
            <a:pPr marL="457200" indent="-457200"/>
            <a:r>
              <a:rPr lang="es-ES" sz="2400" dirty="0" smtClean="0">
                <a:latin typeface="Arial" pitchFamily="34" charset="0"/>
                <a:cs typeface="Arial" pitchFamily="34" charset="0"/>
              </a:rPr>
              <a:t>1). 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Objeto de estudio: organización social y política del capitalismo</a:t>
            </a:r>
          </a:p>
          <a:p>
            <a:pPr marL="457200" indent="-457200"/>
            <a:endParaRPr lang="es-ES" sz="24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Elementos de la organización de la burocracia 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2452528"/>
          </a:xfrm>
        </p:spPr>
        <p:txBody>
          <a:bodyPr>
            <a:normAutofit/>
          </a:bodyPr>
          <a:lstStyle/>
          <a:p>
            <a:r>
              <a:rPr lang="es-ES" sz="3100" dirty="0" smtClean="0">
                <a:latin typeface="Arial" pitchFamily="34" charset="0"/>
                <a:cs typeface="Arial" pitchFamily="34" charset="0"/>
              </a:rPr>
              <a:t>2) La burocracia  como tipo ideal: diferentes formas de autoridad y dominación, características de la burocracia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Elementos de la organización de la burocracia 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876464"/>
          </a:xfrm>
        </p:spPr>
        <p:txBody>
          <a:bodyPr>
            <a:normAutofit/>
          </a:bodyPr>
          <a:lstStyle/>
          <a:p>
            <a:r>
              <a:rPr lang="es-ES" sz="28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s-ES" sz="2800" dirty="0" smtClean="0">
                <a:latin typeface="Algerian" pitchFamily="82" charset="0"/>
                <a:cs typeface="Arial" pitchFamily="34" charset="0"/>
              </a:rPr>
              <a:t>) 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racionalidad: sociología de la religión, sociología de la política </a:t>
            </a:r>
            <a:endParaRPr lang="es-E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Elementos de la organización de la burocracia 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59632" y="3789040"/>
            <a:ext cx="7043120" cy="504056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s-ES" sz="2800" dirty="0" smtClean="0">
                <a:latin typeface="Arial" pitchFamily="34" charset="0"/>
                <a:cs typeface="Arial" pitchFamily="34" charset="0"/>
              </a:rPr>
              <a:t>) Características de la organización burocrática: poder, autoridad y tipos de denominación</a:t>
            </a:r>
            <a:endParaRPr lang="es-E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6000" dirty="0" smtClean="0">
                <a:solidFill>
                  <a:schemeClr val="tx2"/>
                </a:solidFill>
                <a:latin typeface="Algerian" pitchFamily="82" charset="0"/>
              </a:rPr>
              <a:t>Elementos de la organización de la burocracia 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3501008"/>
            <a:ext cx="7844408" cy="789632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5) Ventajas técnicas de la organización burocrática: una ves que se establece se convierte en una de las escrituras mas difíciles de destruir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La burocracia como producto de estado moderno</a:t>
            </a:r>
            <a:endParaRPr lang="es-ES" dirty="0">
              <a:solidFill>
                <a:schemeClr val="tx2"/>
              </a:solidFill>
              <a:latin typeface="Algeri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789040"/>
            <a:ext cx="7763200" cy="2880320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A pesar de que weber elaboro el concepto de burocracia apartar de la sociología política, utilizo el concepto de modo comprehensivo  e incluyo todas las instituciones sociales  además de la administración publica.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428604"/>
            <a:ext cx="7772400" cy="2250588"/>
          </a:xfrm>
        </p:spPr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DISTINTIVOS de la burocracia según weber</a:t>
            </a:r>
            <a:endParaRPr lang="es-ES" dirty="0">
              <a:solidFill>
                <a:schemeClr val="tx2"/>
              </a:solidFill>
              <a:latin typeface="Algeri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789040"/>
            <a:ext cx="7700392" cy="2596544"/>
          </a:xfrm>
        </p:spPr>
        <p:txBody>
          <a:bodyPr>
            <a:noAutofit/>
          </a:bodyPr>
          <a:lstStyle/>
          <a:p>
            <a:pPr marL="457200" indent="-457200">
              <a:buAutoNum type="arabicParenR"/>
            </a:pPr>
            <a:r>
              <a:rPr lang="es-ES" sz="2400" dirty="0" smtClean="0">
                <a:latin typeface="Arial" pitchFamily="34" charset="0"/>
                <a:cs typeface="Arial" pitchFamily="34" charset="0"/>
              </a:rPr>
              <a:t>Carácter legal de las normas y reglamentos</a:t>
            </a:r>
          </a:p>
          <a:p>
            <a:pPr marL="457200" indent="-457200"/>
            <a:r>
              <a:rPr lang="es-ES" sz="2400" dirty="0" smtClean="0">
                <a:latin typeface="Arial" pitchFamily="34" charset="0"/>
                <a:cs typeface="Arial" pitchFamily="34" charset="0"/>
              </a:rPr>
              <a:t>    Es una organización basada en una legislación propia (como la constitución del estado  o los estatutos de la empresa privada).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DISTINTIVOS de la burocracia según weber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11560" y="3501008"/>
            <a:ext cx="7691192" cy="2952328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2) Carácter formal de las comunicaciones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La burocracia es una organización unida por comunicación escritas. Las reglas, decisiones y acciones administrativa son formulada y registradas por escritos</a:t>
            </a:r>
            <a:r>
              <a:rPr lang="es-ES" sz="3200" dirty="0" smtClean="0">
                <a:latin typeface="Algerian" pitchFamily="82" charset="0"/>
              </a:rPr>
              <a:t>.</a:t>
            </a:r>
            <a:endParaRPr lang="es-ES" sz="3200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DISTINTIVOS de la burocracia según weber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67544" y="4005064"/>
            <a:ext cx="7835208" cy="2852936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3) Carácter nacional y división del trabajo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La burocracia es una organización que se caracteriza por una división sistemática del trabajo. La división del trabajo atiende a una racionalidad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DISTINTIVOS de la burocracia según weber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55576" y="3501008"/>
            <a:ext cx="7547176" cy="2952328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4) Impersonalidad en las relaciones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La administración de la burocracia se realiza sin considerar las personas como personas, sino como ocupantes de cargos de funciones el poder de cada persona es impersonal y derivada en el cargo que ocupa</a:t>
            </a:r>
            <a:endParaRPr lang="es-E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DISTINTIVOS de la burocracia según weber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552" y="3501008"/>
            <a:ext cx="7763200" cy="2736304"/>
          </a:xfrm>
        </p:spPr>
        <p:txBody>
          <a:bodyPr>
            <a:no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5) Jerarquía de la autoridad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La burocracia es una organización que establece los cargos según el principio de la jerarquía.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Todos los cargos están dispuestos en una estructura jerárquica que encierra privilegios y obligaciones.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>
                <a:solidFill>
                  <a:schemeClr val="tx2"/>
                </a:solidFill>
                <a:latin typeface="Algerian" pitchFamily="82" charset="0"/>
              </a:rPr>
              <a:t>DISTINTIVOS de la burocracia según weber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11560" y="3717032"/>
            <a:ext cx="7691192" cy="2664296"/>
          </a:xfrm>
        </p:spPr>
        <p:txBody>
          <a:bodyPr>
            <a:normAutofit/>
          </a:bodyPr>
          <a:lstStyle/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6) Rutinas y procedimientos estandarizados</a:t>
            </a:r>
          </a:p>
          <a:p>
            <a:r>
              <a:rPr lang="es-ES" sz="2400" dirty="0" smtClean="0">
                <a:latin typeface="Arial" pitchFamily="34" charset="0"/>
                <a:cs typeface="Arial" pitchFamily="34" charset="0"/>
              </a:rPr>
              <a:t>La burocracia es una organización que establece las reglas y normas técnicas para el desempeño de cada cargo.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501</Words>
  <Application>Microsoft Office PowerPoint</Application>
  <PresentationFormat>Presentación en pantalla (4:3)</PresentationFormat>
  <Paragraphs>46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Flujo</vt:lpstr>
      <vt:lpstr>Max weber </vt:lpstr>
      <vt:lpstr>Max weber</vt:lpstr>
      <vt:lpstr>burocracia</vt:lpstr>
      <vt:lpstr>burocracia</vt:lpstr>
      <vt:lpstr> max weber</vt:lpstr>
      <vt:lpstr>burocracia</vt:lpstr>
      <vt:lpstr>burocracia</vt:lpstr>
      <vt:lpstr>Elementos de la organización de la burocracia </vt:lpstr>
      <vt:lpstr>Elementos de la organización de la burocracia </vt:lpstr>
      <vt:lpstr>Elementos de la organización de la burocracia </vt:lpstr>
      <vt:lpstr>Elementos de la organización de la burocracia </vt:lpstr>
      <vt:lpstr>Elementos de la organización de la burocracia </vt:lpstr>
      <vt:lpstr>La burocracia como producto de estado moderno</vt:lpstr>
      <vt:lpstr>DISTINTIVOS de la burocracia según weber</vt:lpstr>
      <vt:lpstr>DISTINTIVOS de la burocracia según weber</vt:lpstr>
      <vt:lpstr>DISTINTIVOS de la burocracia según weber</vt:lpstr>
      <vt:lpstr>DISTINTIVOS de la burocracia según weber</vt:lpstr>
      <vt:lpstr>DISTINTIVOS de la burocracia según weber</vt:lpstr>
      <vt:lpstr>DISTINTIVOS de la burocracia según weber</vt:lpstr>
    </vt:vector>
  </TitlesOfParts>
  <Company>Final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weber</dc:title>
  <dc:creator>Usuario</dc:creator>
  <cp:lastModifiedBy>USUARIO</cp:lastModifiedBy>
  <cp:revision>7</cp:revision>
  <dcterms:created xsi:type="dcterms:W3CDTF">2010-09-08T21:28:26Z</dcterms:created>
  <dcterms:modified xsi:type="dcterms:W3CDTF">2010-09-16T02:34:03Z</dcterms:modified>
</cp:coreProperties>
</file>