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33"/>
  </p:notesMasterIdLst>
  <p:sldIdLst>
    <p:sldId id="272" r:id="rId5"/>
    <p:sldId id="273" r:id="rId6"/>
    <p:sldId id="274" r:id="rId7"/>
    <p:sldId id="275" r:id="rId8"/>
    <p:sldId id="276" r:id="rId9"/>
    <p:sldId id="277" r:id="rId10"/>
    <p:sldId id="279" r:id="rId11"/>
    <p:sldId id="281" r:id="rId12"/>
    <p:sldId id="282" r:id="rId13"/>
    <p:sldId id="283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56" r:id="rId22"/>
    <p:sldId id="258" r:id="rId23"/>
    <p:sldId id="259" r:id="rId24"/>
    <p:sldId id="267" r:id="rId25"/>
    <p:sldId id="268" r:id="rId26"/>
    <p:sldId id="269" r:id="rId27"/>
    <p:sldId id="270" r:id="rId28"/>
    <p:sldId id="271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C5AA1-7E2C-48F0-A42C-50D12BC6461D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68A2A-3A90-44EA-A1BE-49ECABB38008}" type="slidenum">
              <a:rPr lang="es-CR" smtClean="0"/>
              <a:pPr/>
              <a:t>‹Nº›</a:t>
            </a:fld>
            <a:endParaRPr lang="es-C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A68A2A-3A90-44EA-A1BE-49ECABB38008}" type="slidenum">
              <a:rPr lang="es-CR" smtClean="0"/>
              <a:pPr/>
              <a:t>11</a:t>
            </a:fld>
            <a:endParaRPr lang="es-C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CR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CR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CR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7" name="6 Cheurón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Título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2" name="21 Subtítulo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20" name="1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8" name="7 Elipse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10" name="9 Rectángulo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6" name="5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8" name="7 Rectángulo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9" name="8 Proceso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9 Proceso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CR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CR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ircular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Anillo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E5CE1B5-A18F-4EF1-A7CE-4A82864275D5}" type="datetimeFigureOut">
              <a:rPr lang="es-CR" smtClean="0"/>
              <a:pPr/>
              <a:t>17/08/2010</a:t>
            </a:fld>
            <a:endParaRPr lang="es-CR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s-CR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964AB8B-D7E3-414B-BC4A-4DEFFEEFA316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15" name="14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00034" y="928670"/>
            <a:ext cx="7986714" cy="150019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R" dirty="0" smtClean="0"/>
              <a:t>Frederick Winslow Taylor </a:t>
            </a:r>
            <a:br>
              <a:rPr lang="es-CR" dirty="0" smtClean="0"/>
            </a:br>
            <a:r>
              <a:rPr lang="es-CR" dirty="0" smtClean="0"/>
              <a:t>y </a:t>
            </a:r>
            <a:br>
              <a:rPr lang="es-CR" dirty="0" smtClean="0"/>
            </a:br>
            <a:r>
              <a:rPr lang="es-CR" dirty="0" smtClean="0"/>
              <a:t>la administración científica </a:t>
            </a:r>
            <a:endParaRPr lang="es-CR" dirty="0"/>
          </a:p>
        </p:txBody>
      </p:sp>
      <p:sp>
        <p:nvSpPr>
          <p:cNvPr id="23555" name="2 Subtítulo"/>
          <p:cNvSpPr>
            <a:spLocks noGrp="1"/>
          </p:cNvSpPr>
          <p:nvPr>
            <p:ph type="subTitle" idx="1"/>
          </p:nvPr>
        </p:nvSpPr>
        <p:spPr>
          <a:xfrm>
            <a:off x="142875" y="2643188"/>
            <a:ext cx="7772400" cy="2857500"/>
          </a:xfrm>
        </p:spPr>
        <p:txBody>
          <a:bodyPr/>
          <a:lstStyle/>
          <a:p>
            <a:pPr marR="0" algn="l" eaLnBrk="1" hangingPunct="1">
              <a:buFont typeface="Wingdings" pitchFamily="2" charset="2"/>
              <a:buChar char="v"/>
            </a:pPr>
            <a:endParaRPr lang="es-CR" dirty="0" smtClean="0"/>
          </a:p>
        </p:txBody>
      </p:sp>
      <p:pic>
        <p:nvPicPr>
          <p:cNvPr id="23556" name="Picture 5" descr="C:\Documents and Settings\Angelical\Mis documentos\Mis imágenes\Frederick%20Taylo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7813" y="2500313"/>
            <a:ext cx="3071812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contenido"/>
          <p:cNvSpPr>
            <a:spLocks noGrp="1"/>
          </p:cNvSpPr>
          <p:nvPr>
            <p:ph idx="1"/>
          </p:nvPr>
        </p:nvSpPr>
        <p:spPr>
          <a:xfrm>
            <a:off x="500063" y="1214438"/>
            <a:ext cx="8229600" cy="4525962"/>
          </a:xfrm>
        </p:spPr>
        <p:txBody>
          <a:bodyPr/>
          <a:lstStyle/>
          <a:p>
            <a:pPr eaLnBrk="1" hangingPunct="1"/>
            <a:r>
              <a:rPr lang="es-CR" smtClean="0"/>
              <a:t>Considerado como el padre  de la administración científica </a:t>
            </a:r>
          </a:p>
          <a:p>
            <a:pPr eaLnBrk="1" hangingPunct="1"/>
            <a:r>
              <a:rPr lang="es-CR" smtClean="0"/>
              <a:t>Principal exponente  del pensamiento administrativo </a:t>
            </a:r>
          </a:p>
          <a:p>
            <a:pPr eaLnBrk="1" hangingPunct="1"/>
            <a:r>
              <a:rPr lang="es-CR" smtClean="0"/>
              <a:t>Ofrece una aproximación teórica científica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R" dirty="0" smtClean="0"/>
              <a:t>Introducción </a:t>
            </a:r>
            <a:endParaRPr lang="es-CR" dirty="0"/>
          </a:p>
        </p:txBody>
      </p:sp>
      <p:pic>
        <p:nvPicPr>
          <p:cNvPr id="24580" name="Picture 3" descr="C:\Documents and Settings\Angelical\Mis documentos\Mis imágenes\AdminT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813" y="3714750"/>
            <a:ext cx="47720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R" dirty="0" smtClean="0"/>
              <a:t>Contexto </a:t>
            </a:r>
            <a:r>
              <a:rPr lang="es-CR" dirty="0" err="1" smtClean="0"/>
              <a:t>historico</a:t>
            </a:r>
            <a:endParaRPr lang="es-CR" dirty="0"/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s-CR" dirty="0" smtClean="0"/>
              <a:t>Se inicio en la revolución industrial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s-CR" dirty="0" smtClean="0"/>
              <a:t>Taylor desarrollo sus ideas a partir de varios pensadores:</a:t>
            </a:r>
          </a:p>
          <a:p>
            <a:pPr marL="365760" indent="-25603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R" dirty="0" smtClean="0"/>
              <a:t>Adam Smith (economista)</a:t>
            </a:r>
          </a:p>
          <a:p>
            <a:pPr marL="365760" indent="-25603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s-CR" dirty="0" smtClean="0"/>
              <a:t>Charles babbage (matemático) </a:t>
            </a:r>
          </a:p>
          <a:p>
            <a:pPr marL="365760" indent="-25603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s-CR" dirty="0" smtClean="0"/>
          </a:p>
          <a:p>
            <a:pPr marL="624078" indent="-51435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endParaRPr lang="es-CR" dirty="0"/>
          </a:p>
        </p:txBody>
      </p:sp>
      <p:pic>
        <p:nvPicPr>
          <p:cNvPr id="25604" name="Picture 4" descr="C:\Documents and Settings\Angelical\Mis documentos\Mis imágenes\Charles_Babb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6375" y="3786188"/>
            <a:ext cx="2500313" cy="299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5" descr="C:\Documents and Settings\Angelical\Mis documentos\Mis imágenes\smith_ada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" y="3786188"/>
            <a:ext cx="3286125" cy="287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0"/>
            <a:ext cx="3929058" cy="150017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R" dirty="0" smtClean="0"/>
              <a:t>Biografía: </a:t>
            </a:r>
            <a:endParaRPr lang="es-CR" dirty="0"/>
          </a:p>
        </p:txBody>
      </p:sp>
      <p:sp>
        <p:nvSpPr>
          <p:cNvPr id="26627" name="2 Subtítulo"/>
          <p:cNvSpPr>
            <a:spLocks noGrp="1"/>
          </p:cNvSpPr>
          <p:nvPr>
            <p:ph type="subTitle" idx="1"/>
          </p:nvPr>
        </p:nvSpPr>
        <p:spPr>
          <a:xfrm>
            <a:off x="142875" y="1643063"/>
            <a:ext cx="7772400" cy="4500562"/>
          </a:xfrm>
        </p:spPr>
        <p:txBody>
          <a:bodyPr/>
          <a:lstStyle/>
          <a:p>
            <a:pPr marR="0" algn="l" eaLnBrk="1" hangingPunct="1"/>
            <a:r>
              <a:rPr lang="es-CR" dirty="0" smtClean="0"/>
              <a:t>Frederick </a:t>
            </a:r>
            <a:r>
              <a:rPr lang="es-CR" dirty="0" err="1" smtClean="0"/>
              <a:t>Winslow</a:t>
            </a:r>
            <a:r>
              <a:rPr lang="es-CR" dirty="0" smtClean="0"/>
              <a:t> </a:t>
            </a:r>
            <a:r>
              <a:rPr lang="es-CR" b="1" dirty="0" smtClean="0"/>
              <a:t>Taylor</a:t>
            </a:r>
          </a:p>
          <a:p>
            <a:pPr marR="0" algn="l" eaLnBrk="1" hangingPunct="1"/>
            <a:r>
              <a:rPr lang="es-CR" b="1" dirty="0" smtClean="0"/>
              <a:t>( 1856-1915)</a:t>
            </a:r>
          </a:p>
          <a:p>
            <a:pPr marR="0" algn="l" eaLnBrk="1" hangingPunct="1">
              <a:buFont typeface="Arial" charset="0"/>
              <a:buChar char="•"/>
            </a:pPr>
            <a:endParaRPr lang="es-CR" dirty="0" smtClean="0"/>
          </a:p>
          <a:p>
            <a:pPr marR="0" algn="l" eaLnBrk="1" hangingPunct="1">
              <a:buFont typeface="Arial" charset="0"/>
              <a:buChar char="•"/>
            </a:pPr>
            <a:r>
              <a:rPr lang="es-CR" dirty="0" smtClean="0"/>
              <a:t>Ingeniero norteamericano</a:t>
            </a:r>
          </a:p>
          <a:p>
            <a:pPr marR="0" algn="l" eaLnBrk="1" hangingPunct="1">
              <a:buFont typeface="Arial" charset="0"/>
              <a:buChar char="•"/>
            </a:pPr>
            <a:r>
              <a:rPr lang="es-CR" dirty="0" smtClean="0"/>
              <a:t>Nació en filadelfia (EE.UU)</a:t>
            </a:r>
          </a:p>
          <a:p>
            <a:pPr marR="0" algn="l" eaLnBrk="1" hangingPunct="1">
              <a:buFont typeface="Arial" charset="0"/>
              <a:buChar char="•"/>
            </a:pPr>
            <a:r>
              <a:rPr lang="es-CR" dirty="0" smtClean="0"/>
              <a:t>Inicio como obrero en </a:t>
            </a:r>
            <a:r>
              <a:rPr lang="es-CR" dirty="0" smtClean="0"/>
              <a:t>1878</a:t>
            </a:r>
            <a:endParaRPr lang="es-CR" dirty="0" smtClean="0"/>
          </a:p>
          <a:p>
            <a:pPr marR="0" algn="l" eaLnBrk="1" hangingPunct="1">
              <a:buFont typeface="Arial" charset="0"/>
              <a:buChar char="•"/>
            </a:pPr>
            <a:r>
              <a:rPr lang="es-CR" dirty="0" smtClean="0"/>
              <a:t>Fue capataz, supervisor, jefe de taller y en 1885 fue ingeniero</a:t>
            </a:r>
          </a:p>
          <a:p>
            <a:pPr marR="0" algn="l" eaLnBrk="1" hangingPunct="1">
              <a:buFont typeface="Arial" charset="0"/>
              <a:buChar char="•"/>
            </a:pPr>
            <a:endParaRPr lang="es-CR" dirty="0" smtClean="0"/>
          </a:p>
          <a:p>
            <a:pPr marR="0" algn="l" eaLnBrk="1" hangingPunct="1"/>
            <a:endParaRPr lang="es-CR" dirty="0" smtClean="0"/>
          </a:p>
        </p:txBody>
      </p:sp>
      <p:pic>
        <p:nvPicPr>
          <p:cNvPr id="26628" name="Picture 2" descr="C:\Documents and Settings\Angelical\Mis documentos\Mis imágenes\fwt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6375" y="214313"/>
            <a:ext cx="3071813" cy="375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Marcador de contenido"/>
          <p:cNvSpPr>
            <a:spLocks noGrp="1"/>
          </p:cNvSpPr>
          <p:nvPr>
            <p:ph sz="half" idx="1"/>
          </p:nvPr>
        </p:nvSpPr>
        <p:spPr>
          <a:xfrm>
            <a:off x="214313" y="1143000"/>
            <a:ext cx="4038600" cy="4525963"/>
          </a:xfrm>
        </p:spPr>
        <p:txBody>
          <a:bodyPr/>
          <a:lstStyle/>
          <a:p>
            <a:pPr marL="623888" indent="-514350" eaLnBrk="1" hangingPunct="1">
              <a:buFont typeface="Lucida Sans Unicode" pitchFamily="34" charset="0"/>
              <a:buAutoNum type="arabicPeriod"/>
            </a:pPr>
            <a:r>
              <a:rPr lang="es-CR" smtClean="0"/>
              <a:t>Las partes deben de estar unidas </a:t>
            </a:r>
          </a:p>
          <a:p>
            <a:pPr marL="623888" indent="-514350" eaLnBrk="1" hangingPunct="1">
              <a:buFont typeface="Lucida Sans Unicode" pitchFamily="34" charset="0"/>
              <a:buAutoNum type="arabicPeriod"/>
            </a:pPr>
            <a:r>
              <a:rPr lang="es-CR" smtClean="0"/>
              <a:t>Para el desarrollo de una tarea debe Utilizar método científico </a:t>
            </a:r>
          </a:p>
          <a:p>
            <a:pPr marL="623888" indent="-514350" eaLnBrk="1" hangingPunct="1">
              <a:buFont typeface="Lucida Sans Unicode" pitchFamily="34" charset="0"/>
              <a:buAutoNum type="arabicPeriod"/>
            </a:pPr>
            <a:r>
              <a:rPr lang="es-CR" smtClean="0"/>
              <a:t>Los incentivos promueven  intereses al trabajador </a:t>
            </a:r>
          </a:p>
          <a:p>
            <a:pPr marL="623888" indent="-514350" eaLnBrk="1" hangingPunct="1">
              <a:buFont typeface="Wingdings 3" pitchFamily="18" charset="2"/>
              <a:buNone/>
            </a:pPr>
            <a:endParaRPr lang="es-CR" smtClean="0"/>
          </a:p>
        </p:txBody>
      </p:sp>
      <p:sp>
        <p:nvSpPr>
          <p:cNvPr id="27651" name="2 Marcador de contenido"/>
          <p:cNvSpPr>
            <a:spLocks noGrp="1"/>
          </p:cNvSpPr>
          <p:nvPr>
            <p:ph sz="half" idx="2"/>
          </p:nvPr>
        </p:nvSpPr>
        <p:spPr>
          <a:xfrm>
            <a:off x="4286250" y="1143000"/>
            <a:ext cx="4038600" cy="4525963"/>
          </a:xfrm>
        </p:spPr>
        <p:txBody>
          <a:bodyPr/>
          <a:lstStyle/>
          <a:p>
            <a:pPr marL="623888" indent="-514350" eaLnBrk="1" hangingPunct="1">
              <a:buFont typeface="Lucida Sans Unicode" pitchFamily="34" charset="0"/>
              <a:buAutoNum type="arabicPeriod" startAt="4"/>
            </a:pPr>
            <a:r>
              <a:rPr lang="es-CR" smtClean="0"/>
              <a:t>Estandarización de los métodos</a:t>
            </a:r>
          </a:p>
          <a:p>
            <a:pPr marL="623888" indent="-514350" eaLnBrk="1" hangingPunct="1">
              <a:buFont typeface="Lucida Sans Unicode" pitchFamily="34" charset="0"/>
              <a:buAutoNum type="arabicPeriod" startAt="4"/>
            </a:pPr>
            <a:r>
              <a:rPr lang="es-CR" smtClean="0"/>
              <a:t>Diferenciar las funciones del supervisor y el trabajador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R" dirty="0" smtClean="0"/>
              <a:t>Taylor propuso :</a:t>
            </a:r>
            <a:endParaRPr lang="es-CR" dirty="0"/>
          </a:p>
        </p:txBody>
      </p:sp>
      <p:pic>
        <p:nvPicPr>
          <p:cNvPr id="27653" name="Picture 3" descr="C:\Documents and Settings\Angelical\Mis documentos\Mis imágenes\trabajado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5" y="3857625"/>
            <a:ext cx="2552700" cy="278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mb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14313" y="1357313"/>
            <a:ext cx="6215062" cy="3429000"/>
          </a:xfrm>
        </p:spPr>
        <p:txBody>
          <a:bodyPr>
            <a:normAutofit lnSpcReduction="10000"/>
          </a:bodyPr>
          <a:lstStyle/>
          <a:p>
            <a:pPr marL="624078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s-CR" dirty="0" smtClean="0"/>
              <a:t>Organización del trabajo </a:t>
            </a:r>
          </a:p>
          <a:p>
            <a:pPr marL="624078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s-CR" dirty="0" smtClean="0"/>
          </a:p>
          <a:p>
            <a:pPr marL="624078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s-CR" dirty="0" smtClean="0"/>
              <a:t>Selección del trabajador </a:t>
            </a:r>
          </a:p>
          <a:p>
            <a:pPr marL="624078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s-CR" dirty="0" smtClean="0"/>
          </a:p>
          <a:p>
            <a:pPr marL="624078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s-CR" dirty="0" smtClean="0"/>
              <a:t>Cooperación y remuneración </a:t>
            </a:r>
          </a:p>
          <a:p>
            <a:pPr marL="624078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s-CR" dirty="0" smtClean="0"/>
          </a:p>
          <a:p>
            <a:pPr marL="624078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s-CR" dirty="0" smtClean="0"/>
              <a:t>Responsabilidad y especialización</a:t>
            </a:r>
            <a:endParaRPr lang="es-CR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0" y="0"/>
            <a:ext cx="8001024" cy="1785926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CR" sz="6000" dirty="0" smtClean="0"/>
              <a:t>Principios</a:t>
            </a:r>
            <a:r>
              <a:rPr lang="es-CR" dirty="0" smtClean="0"/>
              <a:t>:</a:t>
            </a:r>
            <a:endParaRPr lang="es-CR" dirty="0"/>
          </a:p>
        </p:txBody>
      </p:sp>
      <p:pic>
        <p:nvPicPr>
          <p:cNvPr id="28676" name="Picture 3" descr="C:\Documents and Settings\Angelical\Mis documentos\Mis imágenes\stop-watch_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2013" y="428625"/>
            <a:ext cx="3201987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1214438"/>
            <a:ext cx="6400800" cy="2286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AR" dirty="0" smtClean="0">
                <a:solidFill>
                  <a:schemeClr val="tx2">
                    <a:satMod val="130000"/>
                  </a:schemeClr>
                </a:solidFill>
              </a:rPr>
              <a:t>fue el mediador para que Taylor  y sus métodos alcanzara el reconocimiento.</a:t>
            </a:r>
            <a:r>
              <a:rPr lang="es-CR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s-CR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s-CR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143125" y="142875"/>
            <a:ext cx="6715125" cy="78581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s-AR" sz="4000" b="1" dirty="0" smtClean="0"/>
              <a:t>Henry Towne (1844 - 1924)</a:t>
            </a:r>
            <a:endParaRPr lang="es-CR" sz="4000" dirty="0"/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63" y="3571875"/>
            <a:ext cx="2428875" cy="315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71500" y="0"/>
            <a:ext cx="8001000" cy="1071563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AR" sz="3600" b="1" dirty="0" smtClean="0">
                <a:solidFill>
                  <a:schemeClr val="tx2">
                    <a:satMod val="130000"/>
                  </a:schemeClr>
                </a:solidFill>
              </a:rPr>
              <a:t>Harrington Emerson (1853 – 1931)</a:t>
            </a:r>
            <a:endParaRPr lang="es-CR" sz="36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1071563"/>
            <a:ext cx="7407275" cy="2651125"/>
          </a:xfrm>
        </p:spPr>
        <p:txBody>
          <a:bodyPr>
            <a:normAutofit fontScale="550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s-AR" sz="7600" dirty="0" smtClean="0"/>
              <a:t>intenta simplificar los métodos de estudios y trabajos  de Taylor, con el fin de realizar menores gastos en el análisis  del trabajo.</a:t>
            </a:r>
            <a:endParaRPr lang="es-CR" sz="7600" dirty="0" smtClean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s-AR" dirty="0" smtClean="0"/>
              <a:t> </a:t>
            </a:r>
            <a:endParaRPr lang="es-CR" dirty="0" smtClean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</p:txBody>
      </p:sp>
      <p:pic>
        <p:nvPicPr>
          <p:cNvPr id="32772" name="Picture 2" descr="C:\Documents and Settings\Angelical\Mis documentos\Mis imágenes\emerson_harrington_bachrach_photo_portrait_19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25" y="3214688"/>
            <a:ext cx="292893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l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1563" y="274638"/>
            <a:ext cx="7862887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AR" b="1" dirty="0" smtClean="0">
                <a:solidFill>
                  <a:schemeClr val="tx2">
                    <a:satMod val="130000"/>
                  </a:schemeClr>
                </a:solidFill>
              </a:rPr>
              <a:t>Frank Gilbret (1868 – 1924) y Lilian Gilbret</a:t>
            </a:r>
            <a:endParaRPr lang="es-CR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3795" name="2 Marcador de contenido"/>
          <p:cNvSpPr>
            <a:spLocks noGrp="1"/>
          </p:cNvSpPr>
          <p:nvPr>
            <p:ph idx="1"/>
          </p:nvPr>
        </p:nvSpPr>
        <p:spPr>
          <a:xfrm>
            <a:off x="3571875" y="1571625"/>
            <a:ext cx="5572125" cy="4429125"/>
          </a:xfrm>
        </p:spPr>
        <p:txBody>
          <a:bodyPr/>
          <a:lstStyle/>
          <a:p>
            <a:pPr eaLnBrk="1" hangingPunct="1"/>
            <a:r>
              <a:rPr lang="es-AR" smtClean="0"/>
              <a:t>uno de los grandes equipos matrimoniales de la ciencia y la ingeniería, trabajaron en el desarrollo del estudio de los movimientos como una técnica de la ingeniería y de la dirección.</a:t>
            </a:r>
            <a:endParaRPr lang="es-CR" smtClean="0"/>
          </a:p>
          <a:p>
            <a:pPr eaLnBrk="1" hangingPunct="1"/>
            <a:endParaRPr lang="es-CR" smtClean="0"/>
          </a:p>
        </p:txBody>
      </p:sp>
      <p:pic>
        <p:nvPicPr>
          <p:cNvPr id="33796" name="Picture 2" descr="C:\Documents and Settings\Angelical\Mis documentos\Mis imágenes\gilbret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2357438"/>
            <a:ext cx="314325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625" y="142875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AR" dirty="0" smtClean="0">
                <a:solidFill>
                  <a:schemeClr val="tx2">
                    <a:satMod val="130000"/>
                  </a:schemeClr>
                </a:solidFill>
              </a:rPr>
              <a:t>Henry Ford (1863 – 1947)</a:t>
            </a:r>
            <a:endParaRPr lang="es-CR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142875" y="1357313"/>
            <a:ext cx="4022725" cy="4114800"/>
          </a:xfrm>
        </p:spPr>
        <p:txBody>
          <a:bodyPr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s-AR" sz="3600" dirty="0" smtClean="0"/>
              <a:t>Utilizó un sistema de integración vertical y horizontal, produciendo desde materia prima inicial hasta el producto final.</a:t>
            </a:r>
            <a:endParaRPr lang="es-CR" sz="3600" dirty="0" smtClean="0"/>
          </a:p>
          <a:p>
            <a:pPr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</p:txBody>
      </p:sp>
      <p:pic>
        <p:nvPicPr>
          <p:cNvPr id="34820" name="Picture 2" descr="C:\Documents and Settings\Angelical\Mis documentos\Mis imágenes\Henry_For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5" y="1428750"/>
            <a:ext cx="3175000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11222"/>
          </a:xfrm>
        </p:spPr>
        <p:txBody>
          <a:bodyPr>
            <a:normAutofit/>
          </a:bodyPr>
          <a:lstStyle/>
          <a:p>
            <a:r>
              <a:rPr lang="es-CR" sz="4800" b="1" dirty="0" smtClean="0"/>
              <a:t>Fordismo moderno </a:t>
            </a:r>
            <a:endParaRPr lang="es-CR" sz="48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R" dirty="0" smtClean="0"/>
              <a:t>Fabricación repetitiva orientada a la producción de productos en masa</a:t>
            </a:r>
          </a:p>
          <a:p>
            <a:r>
              <a:rPr lang="es-CR" dirty="0" smtClean="0"/>
              <a:t>Producción como un flujo                                                        </a:t>
            </a:r>
          </a:p>
          <a:p>
            <a:pPr>
              <a:buNone/>
            </a:pPr>
            <a:r>
              <a:rPr lang="es-CR" dirty="0" smtClean="0"/>
              <a:t>Continuado </a:t>
            </a:r>
          </a:p>
          <a:p>
            <a:r>
              <a:rPr lang="es-CR" dirty="0" smtClean="0"/>
              <a:t>Perfeccionar la forma de</a:t>
            </a:r>
          </a:p>
          <a:p>
            <a:pPr>
              <a:buNone/>
            </a:pPr>
            <a:r>
              <a:rPr lang="es-CR" dirty="0" smtClean="0"/>
              <a:t> combinar Los factores </a:t>
            </a:r>
          </a:p>
          <a:p>
            <a:pPr>
              <a:buNone/>
            </a:pPr>
            <a:r>
              <a:rPr lang="es-CR" dirty="0" smtClean="0"/>
              <a:t>internos </a:t>
            </a:r>
          </a:p>
          <a:p>
            <a:pPr>
              <a:buNone/>
            </a:pPr>
            <a:endParaRPr lang="es-CR" dirty="0" smtClean="0"/>
          </a:p>
        </p:txBody>
      </p:sp>
      <p:pic>
        <p:nvPicPr>
          <p:cNvPr id="1026" name="Picture 2" descr="C:\Documents and Settings\Angelical\Mis documentos\Mis imágenes\catmoni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0562" y="2214554"/>
            <a:ext cx="3790950" cy="3876675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14546" y="142852"/>
            <a:ext cx="6172200" cy="1071570"/>
          </a:xfrm>
        </p:spPr>
        <p:txBody>
          <a:bodyPr>
            <a:normAutofit fontScale="90000"/>
          </a:bodyPr>
          <a:lstStyle/>
          <a:p>
            <a:pPr marL="514350" indent="-514350" algn="ctr">
              <a:buFont typeface="Arial" pitchFamily="34" charset="0"/>
              <a:buChar char="•"/>
            </a:pPr>
            <a:r>
              <a:rPr lang="es-CR" dirty="0" smtClean="0"/>
              <a:t>Principios</a:t>
            </a:r>
            <a:br>
              <a:rPr lang="es-CR" dirty="0" smtClean="0"/>
            </a:br>
            <a:r>
              <a:rPr lang="es-CR" dirty="0" smtClean="0"/>
              <a:t>Estructura de la entradas</a:t>
            </a:r>
            <a:endParaRPr lang="es-C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14546" y="1785926"/>
            <a:ext cx="6172200" cy="4429156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s-CR" dirty="0" smtClean="0"/>
              <a:t> produce una proporción mayor a la acordada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Prima el hacer sobre el comprar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Compra parecida a una tienda de barrio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Se emplea múltiples proveedores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Dificultad en la logística y el control de calidad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se piensa en el precio de adquisición </a:t>
            </a:r>
          </a:p>
          <a:p>
            <a:pPr>
              <a:buFont typeface="Arial" pitchFamily="34" charset="0"/>
              <a:buChar char="•"/>
            </a:pPr>
            <a:endParaRPr lang="es-CR" dirty="0" smtClean="0"/>
          </a:p>
          <a:p>
            <a:r>
              <a:rPr lang="es-CR" dirty="0" smtClean="0"/>
              <a:t>  </a:t>
            </a:r>
            <a:endParaRPr lang="es-CR" dirty="0"/>
          </a:p>
        </p:txBody>
      </p:sp>
      <p:pic>
        <p:nvPicPr>
          <p:cNvPr id="1026" name="Picture 2" descr="C:\Documents and Settings\Angelical\Mis documentos\Mis imágenes\maquina_de_hacer_tortillas_tortilleria_p102085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8992" y="4000504"/>
            <a:ext cx="3565512" cy="267413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43890" cy="725470"/>
          </a:xfrm>
        </p:spPr>
        <p:txBody>
          <a:bodyPr>
            <a:noAutofit/>
          </a:bodyPr>
          <a:lstStyle/>
          <a:p>
            <a:pPr marL="514350" indent="-514350" algn="ctr">
              <a:buFont typeface="Arial" pitchFamily="34" charset="0"/>
              <a:buChar char="•"/>
            </a:pPr>
            <a:r>
              <a:rPr lang="es-CR" sz="4000" b="1" dirty="0" smtClean="0"/>
              <a:t>Configuración de salidas </a:t>
            </a:r>
            <a:endParaRPr lang="es-CR" sz="4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85786" y="1285860"/>
            <a:ext cx="3571900" cy="5143536"/>
          </a:xfrm>
        </p:spPr>
        <p:txBody>
          <a:bodyPr/>
          <a:lstStyle/>
          <a:p>
            <a:r>
              <a:rPr lang="es-CR" dirty="0" smtClean="0"/>
              <a:t> Innovación y originalidad</a:t>
            </a:r>
          </a:p>
          <a:p>
            <a:r>
              <a:rPr lang="es-CR" dirty="0" smtClean="0"/>
              <a:t>Se incremente el numero de  modelos y variantes </a:t>
            </a:r>
          </a:p>
          <a:p>
            <a:r>
              <a:rPr lang="es-CR" dirty="0" smtClean="0"/>
              <a:t> hay demasiados  distribuidores intermedio </a:t>
            </a:r>
          </a:p>
          <a:p>
            <a:r>
              <a:rPr lang="es-CR" dirty="0" smtClean="0"/>
              <a:t> Gran costo final y poca escucha al consumidor </a:t>
            </a:r>
          </a:p>
          <a:p>
            <a:pPr>
              <a:buNone/>
            </a:pPr>
            <a:endParaRPr lang="es-CR" dirty="0"/>
          </a:p>
        </p:txBody>
      </p:sp>
      <p:pic>
        <p:nvPicPr>
          <p:cNvPr id="2050" name="Picture 2" descr="C:\Documents and Settings\Angelical\Mis documentos\Mis imágenes\toall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9190" y="1142984"/>
            <a:ext cx="3286148" cy="501554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57356" y="0"/>
            <a:ext cx="6929486" cy="1714488"/>
          </a:xfrm>
        </p:spPr>
        <p:txBody>
          <a:bodyPr>
            <a:normAutofit/>
          </a:bodyPr>
          <a:lstStyle/>
          <a:p>
            <a:pPr marL="514350" indent="-514350" algn="ctr">
              <a:buFont typeface="Arial" pitchFamily="34" charset="0"/>
              <a:buChar char="•"/>
            </a:pPr>
            <a:r>
              <a:rPr lang="es-CR" sz="4000" dirty="0" smtClean="0"/>
              <a:t>Calidad y satisfacción al cliente </a:t>
            </a:r>
            <a:endParaRPr lang="es-CR" sz="4000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357422" y="1785926"/>
            <a:ext cx="6172200" cy="464347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s-CR" dirty="0" smtClean="0"/>
              <a:t> Busca aumentar los deseo de adquisición </a:t>
            </a:r>
          </a:p>
          <a:p>
            <a:pPr>
              <a:buFont typeface="Wingdings" pitchFamily="2" charset="2"/>
              <a:buChar char="q"/>
            </a:pPr>
            <a:r>
              <a:rPr lang="es-CR" dirty="0" smtClean="0"/>
              <a:t> Satisfacer al cliente en todo deseo </a:t>
            </a:r>
          </a:p>
          <a:p>
            <a:pPr>
              <a:buFont typeface="Wingdings" pitchFamily="2" charset="2"/>
              <a:buChar char="q"/>
            </a:pPr>
            <a:r>
              <a:rPr lang="es-CR" dirty="0" smtClean="0"/>
              <a:t> Nuevas técnicas (japonesas)</a:t>
            </a:r>
          </a:p>
          <a:p>
            <a:pPr>
              <a:buFont typeface="Wingdings" pitchFamily="2" charset="2"/>
              <a:buChar char="q"/>
            </a:pPr>
            <a:r>
              <a:rPr lang="es-CR" dirty="0" smtClean="0"/>
              <a:t> Hombre propenso a cometer errores</a:t>
            </a:r>
          </a:p>
          <a:p>
            <a:pPr>
              <a:buFont typeface="Wingdings" pitchFamily="2" charset="2"/>
              <a:buChar char="q"/>
            </a:pPr>
            <a:r>
              <a:rPr lang="es-CR" dirty="0" smtClean="0"/>
              <a:t> Empobrecimiento del trabajo humano  </a:t>
            </a:r>
            <a:endParaRPr lang="es-CR" dirty="0"/>
          </a:p>
        </p:txBody>
      </p:sp>
      <p:pic>
        <p:nvPicPr>
          <p:cNvPr id="3074" name="Picture 2" descr="C:\Documents and Settings\Angelical\Mis documentos\Mis imágenes\thumbu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64" y="3714752"/>
            <a:ext cx="3906300" cy="2928958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14480" y="357166"/>
            <a:ext cx="7072362" cy="785818"/>
          </a:xfrm>
        </p:spPr>
        <p:txBody>
          <a:bodyPr>
            <a:normAutofit/>
          </a:bodyPr>
          <a:lstStyle/>
          <a:p>
            <a:pPr marL="514350" indent="-514350">
              <a:buFont typeface="Arial" pitchFamily="34" charset="0"/>
              <a:buChar char="•"/>
            </a:pPr>
            <a:r>
              <a:rPr lang="es-CR" sz="3600" dirty="0" smtClean="0"/>
              <a:t>Tecnología de producto </a:t>
            </a:r>
            <a:endParaRPr lang="es-CR" sz="3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928794" y="1285860"/>
            <a:ext cx="6215106" cy="3714776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CR" dirty="0" smtClean="0"/>
              <a:t> Creación de departamentos y áreas autónomas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cruce de intereses dificultando un objetivo  común 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Perspectiva tecnología propia 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Estudio del mercado </a:t>
            </a:r>
            <a:endParaRPr lang="es-CR" dirty="0"/>
          </a:p>
        </p:txBody>
      </p:sp>
      <p:pic>
        <p:nvPicPr>
          <p:cNvPr id="4098" name="Picture 2" descr="C:\Documents and Settings\Angelical\Mis documentos\Mis imágenes\tecnolog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12" y="3143248"/>
            <a:ext cx="3714776" cy="359030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85786" y="0"/>
            <a:ext cx="7467600" cy="11430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CR" dirty="0" smtClean="0"/>
              <a:t> </a:t>
            </a:r>
            <a:r>
              <a:rPr lang="es-CR" sz="4800" b="1" dirty="0" smtClean="0"/>
              <a:t>personal </a:t>
            </a:r>
            <a:endParaRPr lang="es-CR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1142984"/>
            <a:ext cx="7467600" cy="4873752"/>
          </a:xfrm>
        </p:spPr>
        <p:txBody>
          <a:bodyPr/>
          <a:lstStyle/>
          <a:p>
            <a:r>
              <a:rPr lang="es-CR" dirty="0" smtClean="0"/>
              <a:t> No se tiene en cuenta la persona </a:t>
            </a:r>
          </a:p>
          <a:p>
            <a:r>
              <a:rPr lang="es-CR" dirty="0" smtClean="0"/>
              <a:t> Lo importante es el capital </a:t>
            </a:r>
          </a:p>
          <a:p>
            <a:r>
              <a:rPr lang="es-CR" dirty="0" smtClean="0"/>
              <a:t> Empleado como coste a minimizar</a:t>
            </a:r>
          </a:p>
          <a:p>
            <a:r>
              <a:rPr lang="es-CR" dirty="0" smtClean="0"/>
              <a:t> Maquinizar la empresa </a:t>
            </a:r>
          </a:p>
          <a:p>
            <a:r>
              <a:rPr lang="es-CR" dirty="0" smtClean="0"/>
              <a:t> trabajador = subordinado = niño </a:t>
            </a:r>
          </a:p>
          <a:p>
            <a:pPr>
              <a:buNone/>
            </a:pPr>
            <a:endParaRPr lang="es-CR" dirty="0" smtClean="0"/>
          </a:p>
        </p:txBody>
      </p:sp>
      <p:pic>
        <p:nvPicPr>
          <p:cNvPr id="5122" name="Picture 2" descr="C:\Documents and Settings\Angelical\Mis documentos\Mis imágenes\emplead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3429000"/>
            <a:ext cx="2928958" cy="2967235"/>
          </a:xfrm>
          <a:prstGeom prst="rect">
            <a:avLst/>
          </a:prstGeom>
          <a:noFill/>
        </p:spPr>
      </p:pic>
      <p:pic>
        <p:nvPicPr>
          <p:cNvPr id="5123" name="Picture 3" descr="C:\Documents and Settings\Angelical\Mis documentos\Mis imágenes\startup-capital-intr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24" y="3500438"/>
            <a:ext cx="3192694" cy="271464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plit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28794" y="357166"/>
            <a:ext cx="6643734" cy="928694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s-CR" dirty="0" smtClean="0"/>
              <a:t> </a:t>
            </a:r>
            <a:r>
              <a:rPr lang="es-CR" sz="3600" dirty="0" smtClean="0"/>
              <a:t>organización y dirección  </a:t>
            </a:r>
            <a:endParaRPr lang="es-C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000232" y="1428736"/>
            <a:ext cx="6786610" cy="457203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CR" dirty="0" smtClean="0"/>
              <a:t>Separación entre los que piensan y lo que ejecutan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Arrogancia del poder, trasladada a la arrogancia del saber 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Amplia diferencia entre administración y  </a:t>
            </a:r>
            <a:r>
              <a:rPr lang="es-CR" dirty="0" err="1" smtClean="0"/>
              <a:t>produccion</a:t>
            </a:r>
            <a:r>
              <a:rPr lang="es-CR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niveles de mando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mala comunicación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problemas internos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pierde labor en conjunto y </a:t>
            </a:r>
          </a:p>
          <a:p>
            <a:r>
              <a:rPr lang="es-CR" dirty="0" smtClean="0"/>
              <a:t>Mala comunicación  </a:t>
            </a:r>
            <a:endParaRPr lang="es-CR" dirty="0"/>
          </a:p>
        </p:txBody>
      </p:sp>
      <p:pic>
        <p:nvPicPr>
          <p:cNvPr id="6146" name="Picture 2" descr="C:\Documents and Settings\Angelical\Mis documentos\Mis imágenes\organizacio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0694" y="3000372"/>
            <a:ext cx="3429024" cy="342902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0"/>
            <a:ext cx="7715304" cy="928670"/>
          </a:xfrm>
        </p:spPr>
        <p:txBody>
          <a:bodyPr>
            <a:normAutofit/>
          </a:bodyPr>
          <a:lstStyle/>
          <a:p>
            <a:r>
              <a:rPr lang="es-CR" sz="3600" dirty="0" smtClean="0"/>
              <a:t>la organización como maquina </a:t>
            </a:r>
            <a:endParaRPr lang="es-CR" sz="3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285852" y="928670"/>
            <a:ext cx="7215238" cy="285752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endParaRPr lang="es-CR" dirty="0" smtClean="0"/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Usar una maquina, trabajar con una maquina y  como una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nos dejamos guiar con los principios mecanicistas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 las organización la llevamos a la mecanización del pensamiento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formas burocráticas de la organización </a:t>
            </a:r>
          </a:p>
          <a:p>
            <a:pPr>
              <a:buFont typeface="Arial" pitchFamily="34" charset="0"/>
              <a:buChar char="•"/>
            </a:pPr>
            <a:r>
              <a:rPr lang="es-CR" dirty="0" smtClean="0"/>
              <a:t> Taylor racionaliza el taller al separar la mano del cerebro </a:t>
            </a:r>
          </a:p>
          <a:p>
            <a:pPr>
              <a:buFont typeface="Arial" pitchFamily="34" charset="0"/>
              <a:buChar char="•"/>
            </a:pPr>
            <a:endParaRPr lang="es-CR" dirty="0"/>
          </a:p>
        </p:txBody>
      </p:sp>
      <p:pic>
        <p:nvPicPr>
          <p:cNvPr id="1026" name="Picture 2" descr="C:\Documents and Settings\Angelical\Mis documentos\Mis imágenes\untitled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1306" y="3857627"/>
            <a:ext cx="5922594" cy="300037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over dir="r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798496"/>
          </a:xfrm>
        </p:spPr>
        <p:txBody>
          <a:bodyPr>
            <a:normAutofit/>
          </a:bodyPr>
          <a:lstStyle/>
          <a:p>
            <a:r>
              <a:rPr lang="es-CR" sz="4400" b="1" dirty="0" smtClean="0"/>
              <a:t>Metáfora de la maquina </a:t>
            </a:r>
            <a:endParaRPr lang="es-CR" sz="44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2"/>
          </p:nvPr>
        </p:nvSpPr>
        <p:spPr>
          <a:xfrm>
            <a:off x="285720" y="2071678"/>
            <a:ext cx="3857652" cy="4357718"/>
          </a:xfrm>
        </p:spPr>
        <p:txBody>
          <a:bodyPr/>
          <a:lstStyle/>
          <a:p>
            <a:r>
              <a:rPr lang="es-CR" dirty="0" smtClean="0"/>
              <a:t>Útil  en  tarea lineal</a:t>
            </a:r>
          </a:p>
          <a:p>
            <a:r>
              <a:rPr lang="es-CR" dirty="0" smtClean="0"/>
              <a:t>Cuando se puede producir el mismo producto una y otra vez </a:t>
            </a:r>
          </a:p>
          <a:p>
            <a:r>
              <a:rPr lang="es-CR" dirty="0" smtClean="0"/>
              <a:t>Útil cuándo la parte humana  de la maquina sea obediente  </a:t>
            </a:r>
          </a:p>
          <a:p>
            <a:r>
              <a:rPr lang="es-CR" dirty="0" smtClean="0"/>
              <a:t>Cuando el producto realizado será esperado </a:t>
            </a:r>
            <a:endParaRPr lang="es-CR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4"/>
          </p:nvPr>
        </p:nvSpPr>
        <p:spPr>
          <a:xfrm>
            <a:off x="4357686" y="2000240"/>
            <a:ext cx="3871914" cy="4500594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Las formas organizacionales tienen dificultades a adaptarse al cambio </a:t>
            </a:r>
          </a:p>
          <a:p>
            <a:r>
              <a:rPr lang="es-CR" dirty="0" smtClean="0"/>
              <a:t> Apatía, descuido y falta de amor propio </a:t>
            </a:r>
          </a:p>
          <a:p>
            <a:r>
              <a:rPr lang="es-CR" dirty="0" smtClean="0"/>
              <a:t>Consecuencias no previstas  y no deseables</a:t>
            </a:r>
          </a:p>
          <a:p>
            <a:r>
              <a:rPr lang="es-CR" dirty="0" smtClean="0"/>
              <a:t>Efectos deshumanizadores  sobre los empleados 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"/>
          </p:nvPr>
        </p:nvSpPr>
        <p:spPr>
          <a:xfrm>
            <a:off x="428596" y="1285860"/>
            <a:ext cx="3657600" cy="658368"/>
          </a:xfrm>
        </p:spPr>
        <p:txBody>
          <a:bodyPr/>
          <a:lstStyle/>
          <a:p>
            <a:pPr algn="ctr"/>
            <a:r>
              <a:rPr lang="es-CR" sz="4000" dirty="0" smtClean="0"/>
              <a:t>Ventajas</a:t>
            </a:r>
            <a:endParaRPr lang="es-CR" sz="4000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3"/>
          </p:nvPr>
        </p:nvSpPr>
        <p:spPr>
          <a:xfrm>
            <a:off x="4357686" y="1285860"/>
            <a:ext cx="3657600" cy="658368"/>
          </a:xfrm>
        </p:spPr>
        <p:txBody>
          <a:bodyPr/>
          <a:lstStyle/>
          <a:p>
            <a:pPr algn="ctr"/>
            <a:r>
              <a:rPr lang="es-CR" sz="3200" dirty="0" smtClean="0"/>
              <a:t>Limitaciones </a:t>
            </a:r>
            <a:endParaRPr lang="es-CR" sz="3200" dirty="0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6908"/>
          </a:xfrm>
        </p:spPr>
        <p:txBody>
          <a:bodyPr>
            <a:normAutofit/>
          </a:bodyPr>
          <a:lstStyle/>
          <a:p>
            <a:pPr algn="ctr"/>
            <a:r>
              <a:rPr lang="es-CR" sz="4000" b="1" dirty="0" smtClean="0"/>
              <a:t>Organización mecanicista</a:t>
            </a:r>
            <a:endParaRPr lang="es-CR" sz="4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R" dirty="0" smtClean="0"/>
              <a:t> Eficacia por encima de la creatividad </a:t>
            </a:r>
          </a:p>
          <a:p>
            <a:r>
              <a:rPr lang="es-CR" dirty="0" smtClean="0"/>
              <a:t>Racionalidad burocrática</a:t>
            </a:r>
          </a:p>
          <a:p>
            <a:r>
              <a:rPr lang="es-CR" dirty="0" smtClean="0"/>
              <a:t>Desprecia la iniciativa y anima la obediencia </a:t>
            </a:r>
          </a:p>
          <a:p>
            <a:r>
              <a:rPr lang="es-CR" dirty="0" smtClean="0"/>
              <a:t>Convierte sistema de cooperación y uno de competición  </a:t>
            </a:r>
          </a:p>
          <a:p>
            <a:r>
              <a:rPr lang="es-CR" dirty="0" smtClean="0"/>
              <a:t>Limita el desarrollo de</a:t>
            </a:r>
          </a:p>
          <a:p>
            <a:pPr>
              <a:buNone/>
            </a:pPr>
            <a:r>
              <a:rPr lang="es-CR" dirty="0" smtClean="0"/>
              <a:t>La capacidad humana</a:t>
            </a:r>
          </a:p>
          <a:p>
            <a:endParaRPr lang="es-CR" dirty="0" smtClean="0"/>
          </a:p>
          <a:p>
            <a:endParaRPr lang="es-CR" dirty="0"/>
          </a:p>
        </p:txBody>
      </p:sp>
      <p:pic>
        <p:nvPicPr>
          <p:cNvPr id="2050" name="Picture 2" descr="C:\Documents and Settings\Angelical\Mis documentos\Mis imágenes\maquinas-component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6" y="3500438"/>
            <a:ext cx="4339161" cy="292893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539750" y="2708275"/>
            <a:ext cx="81359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4000">
                <a:latin typeface="Arial" charset="0"/>
              </a:rPr>
              <a:t>Taylorismo en Estados Unidos</a:t>
            </a:r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755650" y="2997200"/>
            <a:ext cx="77771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4000">
                <a:latin typeface="Arial" charset="0"/>
              </a:rPr>
              <a:t>Taylorismo en Colombia</a:t>
            </a:r>
          </a:p>
        </p:txBody>
      </p:sp>
    </p:spTree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50825" y="260350"/>
            <a:ext cx="8642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800" b="1">
                <a:latin typeface="Arial" charset="0"/>
              </a:rPr>
              <a:t>SERVIFLEX LTDA</a:t>
            </a:r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539750" y="1196975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0246" name="AutoShape 6"/>
          <p:cNvSpPr>
            <a:spLocks noChangeArrowheads="1"/>
          </p:cNvSpPr>
          <p:nvPr/>
        </p:nvSpPr>
        <p:spPr bwMode="auto">
          <a:xfrm>
            <a:off x="5508625" y="1052513"/>
            <a:ext cx="2592388" cy="1008062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2700338" y="1557338"/>
            <a:ext cx="280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755650" y="1341438"/>
            <a:ext cx="172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latin typeface="Arial" charset="0"/>
              </a:rPr>
              <a:t>Mano de obra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651500" y="1196975"/>
            <a:ext cx="22336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b="1">
                <a:latin typeface="Arial" charset="0"/>
              </a:rPr>
              <a:t>NO ESPECIALIZADA</a:t>
            </a:r>
          </a:p>
        </p:txBody>
      </p:sp>
      <p:sp>
        <p:nvSpPr>
          <p:cNvPr id="10251" name="AutoShape 11"/>
          <p:cNvSpPr>
            <a:spLocks noChangeArrowheads="1"/>
          </p:cNvSpPr>
          <p:nvPr/>
        </p:nvSpPr>
        <p:spPr bwMode="auto">
          <a:xfrm>
            <a:off x="539750" y="2852738"/>
            <a:ext cx="2159000" cy="719137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0252" name="AutoShape 12"/>
          <p:cNvSpPr>
            <a:spLocks noChangeArrowheads="1"/>
          </p:cNvSpPr>
          <p:nvPr/>
        </p:nvSpPr>
        <p:spPr bwMode="auto">
          <a:xfrm>
            <a:off x="5508625" y="2708275"/>
            <a:ext cx="2592388" cy="1008063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2700338" y="3213100"/>
            <a:ext cx="280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684213" y="3068638"/>
            <a:ext cx="18716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b="1">
                <a:latin typeface="Arial" charset="0"/>
              </a:rPr>
              <a:t>Maquinaria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580063" y="2997200"/>
            <a:ext cx="2376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b="1">
                <a:latin typeface="Arial" charset="0"/>
              </a:rPr>
              <a:t>ESPECIALIZADA</a:t>
            </a:r>
          </a:p>
        </p:txBody>
      </p:sp>
      <p:sp>
        <p:nvSpPr>
          <p:cNvPr id="10256" name="AutoShape 16"/>
          <p:cNvSpPr>
            <a:spLocks noChangeArrowheads="1"/>
          </p:cNvSpPr>
          <p:nvPr/>
        </p:nvSpPr>
        <p:spPr bwMode="auto">
          <a:xfrm>
            <a:off x="611188" y="4365625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0257" name="AutoShape 17"/>
          <p:cNvSpPr>
            <a:spLocks noChangeArrowheads="1"/>
          </p:cNvSpPr>
          <p:nvPr/>
        </p:nvSpPr>
        <p:spPr bwMode="auto">
          <a:xfrm>
            <a:off x="5508625" y="4797425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auto">
          <a:xfrm>
            <a:off x="5508625" y="3933825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>
            <a:off x="4572000" y="443706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4572000" y="4292600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4572000" y="51577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0265" name="Line 25"/>
          <p:cNvSpPr>
            <a:spLocks noChangeShapeType="1"/>
          </p:cNvSpPr>
          <p:nvPr/>
        </p:nvSpPr>
        <p:spPr bwMode="auto">
          <a:xfrm flipV="1">
            <a:off x="4572000" y="42926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>
            <a:off x="2771775" y="4724400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755650" y="4581525"/>
            <a:ext cx="18716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b="1">
                <a:latin typeface="Arial" charset="0"/>
              </a:rPr>
              <a:t>Materiales</a:t>
            </a:r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5651500" y="4149725"/>
            <a:ext cx="1873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latin typeface="Arial" charset="0"/>
              </a:rPr>
              <a:t>POLIETILENO</a:t>
            </a:r>
          </a:p>
        </p:txBody>
      </p:sp>
      <p:sp>
        <p:nvSpPr>
          <p:cNvPr id="10270" name="Text Box 30"/>
          <p:cNvSpPr txBox="1">
            <a:spLocks noChangeArrowheads="1"/>
          </p:cNvSpPr>
          <p:nvPr/>
        </p:nvSpPr>
        <p:spPr bwMode="auto">
          <a:xfrm>
            <a:off x="5508625" y="4941888"/>
            <a:ext cx="22320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latin typeface="Arial" charset="0"/>
              </a:rPr>
              <a:t>POLIPROPILENO</a:t>
            </a:r>
          </a:p>
        </p:txBody>
      </p:sp>
    </p:spTree>
  </p:cSld>
  <p:clrMapOvr>
    <a:masterClrMapping/>
  </p:clrMapOvr>
  <p:transition spd="slow"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5651500" y="4797425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>
            <a:off x="5651500" y="4005263"/>
            <a:ext cx="2159000" cy="719137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5651500" y="3213100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2295" name="AutoShape 7"/>
          <p:cNvSpPr>
            <a:spLocks noChangeArrowheads="1"/>
          </p:cNvSpPr>
          <p:nvPr/>
        </p:nvSpPr>
        <p:spPr bwMode="auto">
          <a:xfrm>
            <a:off x="5651500" y="2060575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2296" name="AutoShape 8"/>
          <p:cNvSpPr>
            <a:spLocks noChangeArrowheads="1"/>
          </p:cNvSpPr>
          <p:nvPr/>
        </p:nvSpPr>
        <p:spPr bwMode="auto">
          <a:xfrm>
            <a:off x="5651500" y="1268413"/>
            <a:ext cx="2159000" cy="719137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2297" name="AutoShape 9"/>
          <p:cNvSpPr>
            <a:spLocks noChangeArrowheads="1"/>
          </p:cNvSpPr>
          <p:nvPr/>
        </p:nvSpPr>
        <p:spPr bwMode="auto">
          <a:xfrm>
            <a:off x="5651500" y="476250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2298" name="AutoShape 10"/>
          <p:cNvSpPr>
            <a:spLocks noChangeArrowheads="1"/>
          </p:cNvSpPr>
          <p:nvPr/>
        </p:nvSpPr>
        <p:spPr bwMode="auto">
          <a:xfrm>
            <a:off x="900113" y="2565400"/>
            <a:ext cx="2159000" cy="719138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>
            <a:off x="4572000" y="83661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4572000" y="1628775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4572000" y="2420938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4572000" y="836613"/>
            <a:ext cx="0" cy="4321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4572000" y="357346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4572000" y="4365625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4572000" y="5157788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3059113" y="2924175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971550" y="2708275"/>
            <a:ext cx="2016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000" b="1">
                <a:latin typeface="Arial" charset="0"/>
              </a:rPr>
              <a:t>METODO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724525" y="549275"/>
            <a:ext cx="19431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1600">
                <a:latin typeface="Arial" charset="0"/>
              </a:rPr>
              <a:t>AMBIENTE RUIDOSO</a:t>
            </a: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5795963" y="1268413"/>
            <a:ext cx="18716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>
                <a:latin typeface="Arial" charset="0"/>
              </a:rPr>
              <a:t>CANALES  NO ADECUADOS</a:t>
            </a: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5724525" y="2060575"/>
            <a:ext cx="19431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600">
                <a:latin typeface="Arial" charset="0"/>
              </a:rPr>
              <a:t>SIN PROTECCION ADECUADA</a:t>
            </a: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5724525" y="3213100"/>
            <a:ext cx="19431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Arial" charset="0"/>
              </a:rPr>
              <a:t>TAREAS REPETITIVAS</a:t>
            </a: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5724525" y="4149725"/>
            <a:ext cx="1943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Arial" charset="0"/>
              </a:rPr>
              <a:t>ACCIDENTES</a:t>
            </a:r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5724525" y="5013325"/>
            <a:ext cx="21605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Arial" charset="0"/>
              </a:rPr>
              <a:t>INCAPACIDADES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3419475" y="333375"/>
            <a:ext cx="1728788" cy="72072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2124075" y="1412875"/>
            <a:ext cx="4537075" cy="792163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>
            <a:off x="2124075" y="2781300"/>
            <a:ext cx="4535488" cy="3024188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R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4356100" y="22050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4356100" y="105251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CR"/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3492500" y="549275"/>
            <a:ext cx="1511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Arial" charset="0"/>
              </a:rPr>
              <a:t>PROYECTO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2268538" y="1628775"/>
            <a:ext cx="424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>
                <a:latin typeface="Arial" charset="0"/>
              </a:rPr>
              <a:t>BUSCAR PROCESOS CRITICOS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2339975" y="3068638"/>
            <a:ext cx="4176713" cy="25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s-ES">
                <a:latin typeface="Arial" charset="0"/>
              </a:rPr>
              <a:t>Atraso entrega de productos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s-ES">
                <a:latin typeface="Arial" charset="0"/>
              </a:rPr>
              <a:t>Disminución en la calidad de los productos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s-ES">
                <a:latin typeface="Arial" charset="0"/>
              </a:rPr>
              <a:t>Aumenta el desperdicio de materiales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s-ES">
                <a:latin typeface="Arial" charset="0"/>
              </a:rPr>
              <a:t>Empirismo para elaborar los empaques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s-ES">
                <a:latin typeface="Arial" charset="0"/>
              </a:rPr>
              <a:t>Aumento en los costos de producción</a:t>
            </a:r>
          </a:p>
        </p:txBody>
      </p:sp>
    </p:spTree>
  </p:cSld>
  <p:clrMapOvr>
    <a:masterClrMapping/>
  </p:clrMapOvr>
  <p:transition spd="slow">
    <p:plus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00034" y="0"/>
            <a:ext cx="7851648" cy="1142984"/>
          </a:xfrm>
        </p:spPr>
        <p:txBody>
          <a:bodyPr/>
          <a:lstStyle/>
          <a:p>
            <a:pPr algn="ctr"/>
            <a:r>
              <a:rPr lang="es-CR" dirty="0" smtClean="0"/>
              <a:t>Conclusiones</a:t>
            </a:r>
            <a:endParaRPr lang="es-C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2844" y="1214422"/>
            <a:ext cx="8715436" cy="5357850"/>
          </a:xfrm>
        </p:spPr>
        <p:txBody>
          <a:bodyPr>
            <a:normAutofit lnSpcReduction="10000"/>
          </a:bodyPr>
          <a:lstStyle/>
          <a:p>
            <a:pPr algn="l"/>
            <a:r>
              <a:rPr lang="es-CR" dirty="0" smtClean="0"/>
              <a:t>                                           </a:t>
            </a:r>
            <a:r>
              <a:rPr lang="es-CR" sz="3200" b="1" dirty="0" smtClean="0"/>
              <a:t>ventajas:</a:t>
            </a:r>
            <a:endParaRPr lang="es-CR" b="1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Mayor especialización</a:t>
            </a:r>
            <a:endParaRPr lang="es-CR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Se obtiene la más alta eficiencia en cada persona</a:t>
            </a:r>
            <a:endParaRPr lang="es-CR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La división del trabajo es planeada</a:t>
            </a:r>
            <a:endParaRPr lang="es-CR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El trabajo manual se separa del trabajo intelectual</a:t>
            </a:r>
            <a:endParaRPr lang="es-CR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Disminuye la presión sobre un solo jefe por el número de especialistas con que cuenta la organización</a:t>
            </a:r>
            <a:endParaRPr lang="es-CR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Mejoró niveles de calidad </a:t>
            </a:r>
            <a:endParaRPr lang="es-CR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Estandarizar los procesos de producción y se crean      incentivos</a:t>
            </a:r>
            <a:endParaRPr lang="es-CR" dirty="0" smtClean="0"/>
          </a:p>
          <a:p>
            <a:pPr lvl="0" algn="l">
              <a:buFont typeface="Arial" pitchFamily="34" charset="0"/>
              <a:buChar char="•"/>
            </a:pPr>
            <a:r>
              <a:rPr lang="es-ES" dirty="0" smtClean="0"/>
              <a:t>Se establecieron jornadas de trabajo más justas</a:t>
            </a:r>
            <a:endParaRPr lang="es-CR" dirty="0" smtClean="0"/>
          </a:p>
          <a:p>
            <a:pPr algn="l">
              <a:buFont typeface="Arial" pitchFamily="34" charset="0"/>
              <a:buChar char="•"/>
            </a:pPr>
            <a:r>
              <a:rPr lang="es-ES" dirty="0" smtClean="0"/>
              <a:t>Se eliminaron los niños de las plantas</a:t>
            </a:r>
            <a:r>
              <a:rPr lang="es-CR" dirty="0" err="1" smtClean="0"/>
              <a:t>entajas</a:t>
            </a:r>
            <a:endParaRPr lang="es-C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2844" y="0"/>
            <a:ext cx="8229600" cy="1143000"/>
          </a:xfrm>
        </p:spPr>
        <p:txBody>
          <a:bodyPr/>
          <a:lstStyle/>
          <a:p>
            <a:pPr algn="ctr"/>
            <a:r>
              <a:rPr lang="es-CR" dirty="0" smtClean="0"/>
              <a:t>     Desventajas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14282" y="1142984"/>
            <a:ext cx="8229600" cy="4389120"/>
          </a:xfrm>
        </p:spPr>
        <p:txBody>
          <a:bodyPr/>
          <a:lstStyle/>
          <a:p>
            <a:pPr lvl="0"/>
            <a:r>
              <a:rPr lang="es-ES" dirty="0" smtClean="0"/>
              <a:t>Se limita la creatividad y no se permite pensar al obrero</a:t>
            </a:r>
            <a:endParaRPr lang="es-CR" dirty="0" smtClean="0"/>
          </a:p>
          <a:p>
            <a:pPr lvl="0"/>
            <a:r>
              <a:rPr lang="es-ES" dirty="0" smtClean="0"/>
              <a:t>Se ve al hombre como máquina y no como ser </a:t>
            </a:r>
            <a:endParaRPr lang="es-CR" dirty="0" smtClean="0"/>
          </a:p>
          <a:p>
            <a:pPr lvl="0"/>
            <a:r>
              <a:rPr lang="es-ES" dirty="0" smtClean="0"/>
              <a:t>Separación entre los que piensan y los que ejecutan</a:t>
            </a:r>
            <a:endParaRPr lang="es-CR" dirty="0" smtClean="0"/>
          </a:p>
          <a:p>
            <a:pPr lvl="0"/>
            <a:r>
              <a:rPr lang="es-ES" dirty="0" smtClean="0"/>
              <a:t>Procesos repetitivos, desmotivación rutina</a:t>
            </a:r>
            <a:endParaRPr lang="es-CR" dirty="0" smtClean="0"/>
          </a:p>
          <a:p>
            <a:pPr lvl="0"/>
            <a:r>
              <a:rPr lang="es-ES" dirty="0" smtClean="0"/>
              <a:t>Se criticó porque su modelo fue muy teórico </a:t>
            </a:r>
            <a:endParaRPr lang="es-CR" dirty="0" smtClean="0"/>
          </a:p>
          <a:p>
            <a:endParaRPr lang="es-CR" dirty="0" smtClean="0"/>
          </a:p>
          <a:p>
            <a:pPr>
              <a:buNone/>
            </a:pPr>
            <a:endParaRPr lang="es-CR" dirty="0"/>
          </a:p>
        </p:txBody>
      </p:sp>
      <p:pic>
        <p:nvPicPr>
          <p:cNvPr id="1026" name="Picture 2" descr="C:\Documents and Settings\Angelical\Mis documentos\Mis imágenes\hombre%20maquina%2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4143380"/>
            <a:ext cx="2524125" cy="2028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olsticio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262</TotalTime>
  <Words>831</Words>
  <Application>Microsoft Office PowerPoint</Application>
  <PresentationFormat>Presentación en pantalla (4:3)</PresentationFormat>
  <Paragraphs>155</Paragraphs>
  <Slides>28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Mirador</vt:lpstr>
      <vt:lpstr>Flujo</vt:lpstr>
      <vt:lpstr>Concurrencia</vt:lpstr>
      <vt:lpstr>Solsticio</vt:lpstr>
      <vt:lpstr>Frederick Winslow Taylor  y  la administración científica </vt:lpstr>
      <vt:lpstr>Introducción </vt:lpstr>
      <vt:lpstr>Contexto historico</vt:lpstr>
      <vt:lpstr>Biografía: </vt:lpstr>
      <vt:lpstr>Taylor propuso :</vt:lpstr>
      <vt:lpstr>Principios:</vt:lpstr>
      <vt:lpstr>fue el mediador para que Taylor  y sus métodos alcanzara el reconocimiento. </vt:lpstr>
      <vt:lpstr>Harrington Emerson (1853 – 1931)</vt:lpstr>
      <vt:lpstr>Frank Gilbret (1868 – 1924) y Lilian Gilbret</vt:lpstr>
      <vt:lpstr>Henry Ford (1863 – 1947)</vt:lpstr>
      <vt:lpstr>Fordismo moderno </vt:lpstr>
      <vt:lpstr>Principios Estructura de la entradas</vt:lpstr>
      <vt:lpstr>Configuración de salidas </vt:lpstr>
      <vt:lpstr>Calidad y satisfacción al cliente </vt:lpstr>
      <vt:lpstr>Tecnología de producto </vt:lpstr>
      <vt:lpstr> personal </vt:lpstr>
      <vt:lpstr> organización y dirección  </vt:lpstr>
      <vt:lpstr>la organización como maquina </vt:lpstr>
      <vt:lpstr>Metáfora de la maquina </vt:lpstr>
      <vt:lpstr>Organización mecanicista</vt:lpstr>
      <vt:lpstr>Diapositiva 21</vt:lpstr>
      <vt:lpstr>Diapositiva 22</vt:lpstr>
      <vt:lpstr>Diapositiva 23</vt:lpstr>
      <vt:lpstr>Diapositiva 24</vt:lpstr>
      <vt:lpstr>Diapositiva 25</vt:lpstr>
      <vt:lpstr>Diapositiva 26</vt:lpstr>
      <vt:lpstr>Conclusiones</vt:lpstr>
      <vt:lpstr>     Desventajas</vt:lpstr>
    </vt:vector>
  </TitlesOfParts>
  <Company>Heaven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organización como maquina </dc:title>
  <dc:creator>Angelical</dc:creator>
  <cp:lastModifiedBy>jorge lopez</cp:lastModifiedBy>
  <cp:revision>29</cp:revision>
  <dcterms:created xsi:type="dcterms:W3CDTF">2009-02-23T19:51:45Z</dcterms:created>
  <dcterms:modified xsi:type="dcterms:W3CDTF">2010-08-17T13:26:14Z</dcterms:modified>
</cp:coreProperties>
</file>