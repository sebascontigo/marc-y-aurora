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6" r:id="rId3"/>
    <p:sldId id="274" r:id="rId4"/>
    <p:sldId id="257" r:id="rId5"/>
    <p:sldId id="264" r:id="rId6"/>
    <p:sldId id="259" r:id="rId7"/>
    <p:sldId id="287" r:id="rId8"/>
    <p:sldId id="288" r:id="rId9"/>
    <p:sldId id="260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5" r:id="rId18"/>
    <p:sldId id="284" r:id="rId19"/>
    <p:sldId id="278" r:id="rId20"/>
    <p:sldId id="279" r:id="rId21"/>
    <p:sldId id="280" r:id="rId22"/>
    <p:sldId id="286" r:id="rId23"/>
    <p:sldId id="293" r:id="rId2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800000"/>
    <a:srgbClr val="FF9900"/>
    <a:srgbClr val="FFCC66"/>
    <a:srgbClr val="FF33CC"/>
    <a:srgbClr val="FFFFFF"/>
    <a:srgbClr val="CCCC00"/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78214-7E57-40B5-A949-14E05905F16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095EA-81CB-4E3D-8ACD-73C31DEFE07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6B386-BCF2-4272-8717-B097A00BDFC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3AD89-4F55-4C32-8E17-92238D5C181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6CD7-32B4-43A8-911F-1BD0A021E65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1379B-05B9-47BD-AE59-7C5E7B55BC8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AAD5B-7A73-4C67-B15A-9497BAEB979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6A27B-22BF-4309-B47F-327525532DE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D2002-C823-4EF7-B82C-01ED59EFB0A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7DE3C-6C93-47D0-ACA0-41C5452607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6DA6F-57AF-42F8-A3B3-588A09C1816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0949B-71C3-43B6-95C9-23C54E5EC87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D7AF024-5B9C-4281-BA1C-616744E17AB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489325" y="109538"/>
            <a:ext cx="1698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MAPA CONCEPTUAL</a:t>
            </a:r>
          </a:p>
        </p:txBody>
      </p:sp>
      <p:sp>
        <p:nvSpPr>
          <p:cNvPr id="4099" name="Oval 3"/>
          <p:cNvSpPr>
            <a:spLocks noChangeArrowheads="1"/>
          </p:cNvSpPr>
          <p:nvPr/>
        </p:nvSpPr>
        <p:spPr bwMode="auto">
          <a:xfrm>
            <a:off x="3276600" y="533400"/>
            <a:ext cx="22860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200">
                <a:latin typeface="Arial" charset="0"/>
              </a:rPr>
              <a:t>TEORIA ESTRUCTURALISTA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1371600"/>
            <a:ext cx="21336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Oposición t.clásica t.r.humana</a:t>
            </a:r>
          </a:p>
          <a:p>
            <a:r>
              <a:rPr lang="es-ES_tradnl" sz="1200">
                <a:latin typeface="Arial" charset="0"/>
              </a:rPr>
              <a:t>Organización unidad social y </a:t>
            </a:r>
          </a:p>
          <a:p>
            <a:r>
              <a:rPr lang="es-ES_tradnl" sz="1200">
                <a:latin typeface="Arial" charset="0"/>
              </a:rPr>
              <a:t>compleja.</a:t>
            </a:r>
          </a:p>
          <a:p>
            <a:r>
              <a:rPr lang="es-ES_tradnl" sz="1200">
                <a:latin typeface="Arial" charset="0"/>
              </a:rPr>
              <a:t>Influencia en ciencias sociales</a:t>
            </a:r>
          </a:p>
          <a:p>
            <a:r>
              <a:rPr lang="es-ES_tradnl" sz="1200">
                <a:latin typeface="Arial" charset="0"/>
              </a:rPr>
              <a:t>Nuevo concepto de estructura</a:t>
            </a:r>
          </a:p>
          <a:p>
            <a:r>
              <a:rPr lang="es-ES_tradnl" sz="1200">
                <a:latin typeface="Arial" charset="0"/>
              </a:rPr>
              <a:t> 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7315200" y="1981200"/>
            <a:ext cx="18288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Tipos de conflictos</a:t>
            </a:r>
          </a:p>
          <a:p>
            <a:r>
              <a:rPr lang="es-ES_tradnl" sz="1200">
                <a:latin typeface="Arial" charset="0"/>
              </a:rPr>
              <a:t>1 auto.especialista y  auto</a:t>
            </a:r>
          </a:p>
          <a:p>
            <a:r>
              <a:rPr lang="es-ES_tradnl" sz="1200">
                <a:latin typeface="Arial" charset="0"/>
              </a:rPr>
              <a:t>   administrativa.</a:t>
            </a:r>
          </a:p>
          <a:p>
            <a:r>
              <a:rPr lang="es-ES_tradnl" sz="1200">
                <a:latin typeface="Arial" charset="0"/>
              </a:rPr>
              <a:t>2 Dilemas de la o.</a:t>
            </a:r>
          </a:p>
          <a:p>
            <a:r>
              <a:rPr lang="es-ES_tradnl" sz="1200">
                <a:latin typeface="Arial" charset="0"/>
              </a:rPr>
              <a:t>3 Entre línea y asesoría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200400" y="4648200"/>
            <a:ext cx="1828800" cy="1905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LA ORGANIZACIÓN</a:t>
            </a:r>
          </a:p>
          <a:p>
            <a:r>
              <a:rPr lang="es-ES_tradnl" sz="1200">
                <a:latin typeface="Arial" charset="0"/>
              </a:rPr>
              <a:t>Unidad social dentro de </a:t>
            </a:r>
          </a:p>
          <a:p>
            <a:r>
              <a:rPr lang="es-ES_tradnl" sz="1200">
                <a:latin typeface="Arial" charset="0"/>
              </a:rPr>
              <a:t>la cual las personas esta</a:t>
            </a:r>
          </a:p>
          <a:p>
            <a:r>
              <a:rPr lang="es-ES_tradnl" sz="1200">
                <a:latin typeface="Arial" charset="0"/>
              </a:rPr>
              <a:t>blecen relaciones para </a:t>
            </a:r>
          </a:p>
          <a:p>
            <a:r>
              <a:rPr lang="es-ES_tradnl" sz="1200">
                <a:latin typeface="Arial" charset="0"/>
              </a:rPr>
              <a:t>lograr objetivos</a:t>
            </a:r>
          </a:p>
          <a:p>
            <a:r>
              <a:rPr lang="es-ES_tradnl" sz="1200">
                <a:latin typeface="Arial" charset="0"/>
              </a:rPr>
              <a:t>EL HOMBRE ORGANI.</a:t>
            </a:r>
          </a:p>
          <a:p>
            <a:r>
              <a:rPr lang="es-ES_tradnl" sz="1200">
                <a:latin typeface="Arial" charset="0"/>
              </a:rPr>
              <a:t>Flexibilidad</a:t>
            </a:r>
          </a:p>
          <a:p>
            <a:r>
              <a:rPr lang="es-ES_tradnl" sz="1200">
                <a:latin typeface="Arial" charset="0"/>
              </a:rPr>
              <a:t>Paciencia</a:t>
            </a:r>
          </a:p>
          <a:p>
            <a:r>
              <a:rPr lang="es-ES_tradnl" sz="1200">
                <a:latin typeface="Arial" charset="0"/>
              </a:rPr>
              <a:t>Recompensas</a:t>
            </a:r>
          </a:p>
          <a:p>
            <a:r>
              <a:rPr lang="es-ES_tradnl" sz="1200">
                <a:latin typeface="Arial" charset="0"/>
              </a:rPr>
              <a:t>Deseo de realización	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1066800" y="2743200"/>
            <a:ext cx="1066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Naturaleza</a:t>
            </a:r>
          </a:p>
          <a:p>
            <a:r>
              <a:rPr lang="es-ES_tradnl" sz="1200">
                <a:latin typeface="Arial" charset="0"/>
              </a:rPr>
              <a:t>Trabajo</a:t>
            </a:r>
          </a:p>
          <a:p>
            <a:r>
              <a:rPr lang="es-ES_tradnl" sz="1200">
                <a:latin typeface="Arial" charset="0"/>
              </a:rPr>
              <a:t>Capital</a:t>
            </a:r>
          </a:p>
          <a:p>
            <a:r>
              <a:rPr lang="es-ES_tradnl" sz="1200">
                <a:latin typeface="Arial" charset="0"/>
              </a:rPr>
              <a:t>Organización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1752600" y="1066800"/>
            <a:ext cx="9890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ORIGENES</a:t>
            </a:r>
          </a:p>
        </p:txBody>
      </p:sp>
      <p:cxnSp>
        <p:nvCxnSpPr>
          <p:cNvPr id="4105" name="AutoShape 9"/>
          <p:cNvCxnSpPr>
            <a:cxnSpLocks noChangeShapeType="1"/>
            <a:stCxn id="4099" idx="4"/>
            <a:endCxn id="4100" idx="0"/>
          </p:cNvCxnSpPr>
          <p:nvPr/>
        </p:nvCxnSpPr>
        <p:spPr bwMode="auto">
          <a:xfrm flipH="1">
            <a:off x="1066800" y="1066800"/>
            <a:ext cx="3352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2286000" y="1752600"/>
            <a:ext cx="136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ETAPAS DE  LA </a:t>
            </a:r>
          </a:p>
          <a:p>
            <a:r>
              <a:rPr lang="es-ES_tradnl" sz="1200">
                <a:latin typeface="Arial" charset="0"/>
              </a:rPr>
              <a:t>ORGANIZACIÓN</a:t>
            </a:r>
          </a:p>
        </p:txBody>
      </p:sp>
      <p:cxnSp>
        <p:nvCxnSpPr>
          <p:cNvPr id="4107" name="AutoShape 11"/>
          <p:cNvCxnSpPr>
            <a:cxnSpLocks noChangeShapeType="1"/>
            <a:stCxn id="4099" idx="4"/>
            <a:endCxn id="4103" idx="0"/>
          </p:cNvCxnSpPr>
          <p:nvPr/>
        </p:nvCxnSpPr>
        <p:spPr bwMode="auto">
          <a:xfrm flipH="1">
            <a:off x="1600200" y="1066800"/>
            <a:ext cx="2819400" cy="167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4114800" y="1524000"/>
            <a:ext cx="1268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DEFINICIONES</a:t>
            </a:r>
          </a:p>
        </p:txBody>
      </p:sp>
      <p:cxnSp>
        <p:nvCxnSpPr>
          <p:cNvPr id="4109" name="AutoShape 13"/>
          <p:cNvCxnSpPr>
            <a:cxnSpLocks noChangeShapeType="1"/>
            <a:stCxn id="4099" idx="4"/>
            <a:endCxn id="4102" idx="0"/>
          </p:cNvCxnSpPr>
          <p:nvPr/>
        </p:nvCxnSpPr>
        <p:spPr bwMode="auto">
          <a:xfrm flipH="1">
            <a:off x="4114800" y="1066800"/>
            <a:ext cx="304800" cy="3581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3048000" y="2895600"/>
            <a:ext cx="13716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1 ETZIONI</a:t>
            </a:r>
          </a:p>
          <a:p>
            <a:r>
              <a:rPr lang="es-ES_tradnl" sz="1200">
                <a:latin typeface="Arial" charset="0"/>
              </a:rPr>
              <a:t>2 BLAU Y SCOTT</a:t>
            </a:r>
          </a:p>
          <a:p>
            <a:endParaRPr lang="es-ES_tradnl" sz="1200">
              <a:latin typeface="Arial" charset="0"/>
            </a:endParaRPr>
          </a:p>
        </p:txBody>
      </p:sp>
      <p:sp>
        <p:nvSpPr>
          <p:cNvPr id="4111" name="Rectangle 15"/>
          <p:cNvSpPr>
            <a:spLocks noChangeArrowheads="1"/>
          </p:cNvSpPr>
          <p:nvPr/>
        </p:nvSpPr>
        <p:spPr bwMode="auto">
          <a:xfrm>
            <a:off x="838200" y="3962400"/>
            <a:ext cx="2209800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ENFOQUE MULTIPLE</a:t>
            </a:r>
          </a:p>
          <a:p>
            <a:r>
              <a:rPr lang="es-ES_tradnl" sz="1200">
                <a:latin typeface="Arial" charset="0"/>
              </a:rPr>
              <a:t>1 O. Formal e informal</a:t>
            </a:r>
          </a:p>
          <a:p>
            <a:r>
              <a:rPr lang="es-ES_tradnl" sz="1200">
                <a:latin typeface="Arial" charset="0"/>
              </a:rPr>
              <a:t>2 Recompensas materiales y </a:t>
            </a:r>
          </a:p>
          <a:p>
            <a:r>
              <a:rPr lang="es-ES_tradnl" sz="1200">
                <a:latin typeface="Arial" charset="0"/>
              </a:rPr>
              <a:t>   sociales</a:t>
            </a:r>
          </a:p>
          <a:p>
            <a:r>
              <a:rPr lang="es-ES_tradnl" sz="1200">
                <a:latin typeface="Arial" charset="0"/>
              </a:rPr>
              <a:t>3 Diferentes enfoques de la O.</a:t>
            </a:r>
          </a:p>
          <a:p>
            <a:r>
              <a:rPr lang="es-ES_tradnl" sz="1200">
                <a:latin typeface="Arial" charset="0"/>
              </a:rPr>
              <a:t>4 Diferentes niveles de la O.</a:t>
            </a:r>
          </a:p>
          <a:p>
            <a:r>
              <a:rPr lang="es-ES_tradnl" sz="1200">
                <a:latin typeface="Arial" charset="0"/>
              </a:rPr>
              <a:t>5 Diversidad de O.</a:t>
            </a:r>
          </a:p>
          <a:p>
            <a:r>
              <a:rPr lang="es-ES_tradnl" sz="1200">
                <a:latin typeface="Arial" charset="0"/>
              </a:rPr>
              <a:t>6 Análisis interorganizacional</a:t>
            </a:r>
          </a:p>
          <a:p>
            <a:endParaRPr lang="es-ES_tradnl" sz="1200">
              <a:latin typeface="Arial" charset="0"/>
            </a:endParaRP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2209800" y="2438400"/>
            <a:ext cx="1166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ANALISIS DE </a:t>
            </a:r>
          </a:p>
          <a:p>
            <a:r>
              <a:rPr lang="es-ES_tradnl" sz="1200">
                <a:latin typeface="Arial" charset="0"/>
              </a:rPr>
              <a:t>LAS ORGAN.</a:t>
            </a:r>
          </a:p>
        </p:txBody>
      </p:sp>
      <p:cxnSp>
        <p:nvCxnSpPr>
          <p:cNvPr id="4113" name="AutoShape 17"/>
          <p:cNvCxnSpPr>
            <a:cxnSpLocks noChangeShapeType="1"/>
            <a:stCxn id="4099" idx="4"/>
            <a:endCxn id="4111" idx="0"/>
          </p:cNvCxnSpPr>
          <p:nvPr/>
        </p:nvCxnSpPr>
        <p:spPr bwMode="auto">
          <a:xfrm flipH="1">
            <a:off x="1943100" y="1066800"/>
            <a:ext cx="2476500" cy="289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3352800" y="2209800"/>
            <a:ext cx="11096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TIPOLOGIAS</a:t>
            </a:r>
          </a:p>
        </p:txBody>
      </p:sp>
      <p:cxnSp>
        <p:nvCxnSpPr>
          <p:cNvPr id="4115" name="AutoShape 19"/>
          <p:cNvCxnSpPr>
            <a:cxnSpLocks noChangeShapeType="1"/>
            <a:stCxn id="4099" idx="4"/>
            <a:endCxn id="4110" idx="0"/>
          </p:cNvCxnSpPr>
          <p:nvPr/>
        </p:nvCxnSpPr>
        <p:spPr bwMode="auto">
          <a:xfrm flipH="1">
            <a:off x="3733800" y="1066800"/>
            <a:ext cx="685800" cy="1828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4648200" y="2286000"/>
            <a:ext cx="1168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AMBIENTE O.</a:t>
            </a:r>
          </a:p>
        </p:txBody>
      </p:sp>
      <p:sp>
        <p:nvSpPr>
          <p:cNvPr id="4117" name="Rectangle 21"/>
          <p:cNvSpPr>
            <a:spLocks noChangeArrowheads="1"/>
          </p:cNvSpPr>
          <p:nvPr/>
        </p:nvSpPr>
        <p:spPr bwMode="auto">
          <a:xfrm>
            <a:off x="6934200" y="4038600"/>
            <a:ext cx="1828800" cy="198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1 Convergencia de varios</a:t>
            </a:r>
          </a:p>
          <a:p>
            <a:r>
              <a:rPr lang="es-ES_tradnl" sz="1200">
                <a:latin typeface="Arial" charset="0"/>
              </a:rPr>
              <a:t>   enfoques divergentes.</a:t>
            </a:r>
          </a:p>
          <a:p>
            <a:r>
              <a:rPr lang="es-ES_tradnl" sz="1200">
                <a:latin typeface="Arial" charset="0"/>
              </a:rPr>
              <a:t>2 Ampliación del enfoque</a:t>
            </a:r>
          </a:p>
          <a:p>
            <a:r>
              <a:rPr lang="es-ES_tradnl" sz="1200">
                <a:latin typeface="Arial" charset="0"/>
              </a:rPr>
              <a:t>3 Doble tendencia teórica</a:t>
            </a:r>
          </a:p>
          <a:p>
            <a:r>
              <a:rPr lang="es-ES_tradnl" sz="1200">
                <a:latin typeface="Arial" charset="0"/>
              </a:rPr>
              <a:t>4 Análisis organizacional</a:t>
            </a:r>
          </a:p>
          <a:p>
            <a:r>
              <a:rPr lang="es-ES_tradnl" sz="1200">
                <a:latin typeface="Arial" charset="0"/>
              </a:rPr>
              <a:t>   mas extenso.</a:t>
            </a:r>
          </a:p>
          <a:p>
            <a:r>
              <a:rPr lang="es-ES_tradnl" sz="1200">
                <a:latin typeface="Arial" charset="0"/>
              </a:rPr>
              <a:t>5 Inadecuación de las </a:t>
            </a:r>
          </a:p>
          <a:p>
            <a:r>
              <a:rPr lang="es-ES_tradnl" sz="1200">
                <a:latin typeface="Arial" charset="0"/>
              </a:rPr>
              <a:t>   tipologías organización</a:t>
            </a:r>
          </a:p>
          <a:p>
            <a:r>
              <a:rPr lang="es-ES_tradnl" sz="1200">
                <a:latin typeface="Arial" charset="0"/>
              </a:rPr>
              <a:t>6 Teoría de la crisis.</a:t>
            </a:r>
          </a:p>
          <a:p>
            <a:r>
              <a:rPr lang="es-ES_tradnl" sz="1200">
                <a:latin typeface="Arial" charset="0"/>
              </a:rPr>
              <a:t>7 Teoría de transición y</a:t>
            </a:r>
          </a:p>
          <a:p>
            <a:r>
              <a:rPr lang="es-ES_tradnl" sz="1200">
                <a:latin typeface="Arial" charset="0"/>
              </a:rPr>
              <a:t>   de cambio.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4648200" y="3048000"/>
            <a:ext cx="18288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s-ES_tradnl" sz="1200">
                <a:latin typeface="Arial" charset="0"/>
              </a:rPr>
              <a:t>Interdependencia de las </a:t>
            </a:r>
          </a:p>
          <a:p>
            <a:r>
              <a:rPr lang="es-ES_tradnl" sz="1200">
                <a:latin typeface="Arial" charset="0"/>
              </a:rPr>
              <a:t>organizaciones</a:t>
            </a:r>
          </a:p>
          <a:p>
            <a:r>
              <a:rPr lang="es-ES_tradnl" sz="1200">
                <a:latin typeface="Arial" charset="0"/>
              </a:rPr>
              <a:t>  Competencia</a:t>
            </a:r>
          </a:p>
          <a:p>
            <a:r>
              <a:rPr lang="es-ES_tradnl" sz="1200">
                <a:latin typeface="Arial" charset="0"/>
              </a:rPr>
              <a:t>  Ajuste o negociación</a:t>
            </a:r>
          </a:p>
          <a:p>
            <a:r>
              <a:rPr lang="es-ES_tradnl" sz="1200">
                <a:latin typeface="Arial" charset="0"/>
              </a:rPr>
              <a:t>  Cooptación</a:t>
            </a:r>
          </a:p>
          <a:p>
            <a:r>
              <a:rPr lang="es-ES_tradnl" sz="1200">
                <a:latin typeface="Arial" charset="0"/>
              </a:rPr>
              <a:t>  Coalición</a:t>
            </a:r>
          </a:p>
          <a:p>
            <a:r>
              <a:rPr lang="es-ES_tradnl" sz="1200">
                <a:latin typeface="Arial" charset="0"/>
              </a:rPr>
              <a:t>Conjunto organizacional</a:t>
            </a:r>
          </a:p>
          <a:p>
            <a:endParaRPr lang="es-ES_tradnl" sz="1200">
              <a:latin typeface="Arial" charset="0"/>
            </a:endParaRPr>
          </a:p>
        </p:txBody>
      </p:sp>
      <p:cxnSp>
        <p:nvCxnSpPr>
          <p:cNvPr id="4119" name="AutoShape 23"/>
          <p:cNvCxnSpPr>
            <a:cxnSpLocks noChangeShapeType="1"/>
            <a:stCxn id="4099" idx="4"/>
            <a:endCxn id="4118" idx="0"/>
          </p:cNvCxnSpPr>
          <p:nvPr/>
        </p:nvCxnSpPr>
        <p:spPr bwMode="auto">
          <a:xfrm>
            <a:off x="4419600" y="1066800"/>
            <a:ext cx="1143000" cy="198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20" name="Text Box 24"/>
          <p:cNvSpPr txBox="1">
            <a:spLocks noChangeArrowheads="1"/>
          </p:cNvSpPr>
          <p:nvPr/>
        </p:nvSpPr>
        <p:spPr bwMode="auto">
          <a:xfrm>
            <a:off x="6689725" y="1709738"/>
            <a:ext cx="11668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CONFLICTOS</a:t>
            </a:r>
          </a:p>
        </p:txBody>
      </p:sp>
      <p:cxnSp>
        <p:nvCxnSpPr>
          <p:cNvPr id="4121" name="AutoShape 25"/>
          <p:cNvCxnSpPr>
            <a:cxnSpLocks noChangeShapeType="1"/>
            <a:stCxn id="4099" idx="4"/>
            <a:endCxn id="4101" idx="0"/>
          </p:cNvCxnSpPr>
          <p:nvPr/>
        </p:nvCxnSpPr>
        <p:spPr bwMode="auto">
          <a:xfrm>
            <a:off x="4419600" y="1066800"/>
            <a:ext cx="38100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6765925" y="3462338"/>
            <a:ext cx="1208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200">
                <a:latin typeface="Arial" charset="0"/>
              </a:rPr>
              <a:t>EVALUACIÓN </a:t>
            </a:r>
          </a:p>
          <a:p>
            <a:r>
              <a:rPr lang="es-ES_tradnl" sz="1200">
                <a:latin typeface="Arial" charset="0"/>
              </a:rPr>
              <a:t>CRÍTICA</a:t>
            </a:r>
          </a:p>
        </p:txBody>
      </p:sp>
      <p:cxnSp>
        <p:nvCxnSpPr>
          <p:cNvPr id="4123" name="AutoShape 27"/>
          <p:cNvCxnSpPr>
            <a:cxnSpLocks noChangeShapeType="1"/>
            <a:stCxn id="4099" idx="4"/>
            <a:endCxn id="4117" idx="0"/>
          </p:cNvCxnSpPr>
          <p:nvPr/>
        </p:nvCxnSpPr>
        <p:spPr bwMode="auto">
          <a:xfrm>
            <a:off x="4419600" y="1066800"/>
            <a:ext cx="3429000" cy="297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pPr eaLnBrk="1" hangingPunct="1"/>
            <a:r>
              <a:rPr lang="es-ES_tradnl" b="1" smtClean="0"/>
              <a:t>MAPA CONCEPTUAL</a:t>
            </a:r>
          </a:p>
        </p:txBody>
      </p: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2743200" y="1143000"/>
            <a:ext cx="2895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24" name="Rectangle 9"/>
          <p:cNvSpPr>
            <a:spLocks noChangeArrowheads="1"/>
          </p:cNvSpPr>
          <p:nvPr/>
        </p:nvSpPr>
        <p:spPr bwMode="auto">
          <a:xfrm>
            <a:off x="228600" y="1752600"/>
            <a:ext cx="83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25" name="Rectangle 10"/>
          <p:cNvSpPr>
            <a:spLocks noChangeArrowheads="1"/>
          </p:cNvSpPr>
          <p:nvPr/>
        </p:nvSpPr>
        <p:spPr bwMode="auto">
          <a:xfrm>
            <a:off x="1219200" y="17526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26" name="Rectangle 11"/>
          <p:cNvSpPr>
            <a:spLocks noChangeArrowheads="1"/>
          </p:cNvSpPr>
          <p:nvPr/>
        </p:nvSpPr>
        <p:spPr bwMode="auto">
          <a:xfrm>
            <a:off x="2362200" y="17526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27" name="Rectangle 12"/>
          <p:cNvSpPr>
            <a:spLocks noChangeArrowheads="1"/>
          </p:cNvSpPr>
          <p:nvPr/>
        </p:nvSpPr>
        <p:spPr bwMode="auto">
          <a:xfrm>
            <a:off x="5562600" y="17526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28" name="Rectangle 13"/>
          <p:cNvSpPr>
            <a:spLocks noChangeArrowheads="1"/>
          </p:cNvSpPr>
          <p:nvPr/>
        </p:nvSpPr>
        <p:spPr bwMode="auto">
          <a:xfrm>
            <a:off x="7010400" y="17526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29" name="Rectangle 14"/>
          <p:cNvSpPr>
            <a:spLocks noChangeArrowheads="1"/>
          </p:cNvSpPr>
          <p:nvPr/>
        </p:nvSpPr>
        <p:spPr bwMode="auto">
          <a:xfrm>
            <a:off x="8153400" y="17526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ES_tradnl"/>
          </a:p>
        </p:txBody>
      </p:sp>
      <p:sp>
        <p:nvSpPr>
          <p:cNvPr id="5130" name="Rectangle 15"/>
          <p:cNvSpPr>
            <a:spLocks noChangeArrowheads="1"/>
          </p:cNvSpPr>
          <p:nvPr/>
        </p:nvSpPr>
        <p:spPr bwMode="auto">
          <a:xfrm>
            <a:off x="1600200" y="2514600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ORÍGENES DE LA T. </a:t>
            </a:r>
          </a:p>
          <a:p>
            <a:pPr algn="ctr"/>
            <a:r>
              <a:rPr lang="es-ES_tradnl" sz="1000" b="1"/>
              <a:t>ESTRUCTURALISTA</a:t>
            </a:r>
          </a:p>
        </p:txBody>
      </p:sp>
      <p:sp>
        <p:nvSpPr>
          <p:cNvPr id="5131" name="Rectangle 16"/>
          <p:cNvSpPr>
            <a:spLocks noChangeArrowheads="1"/>
          </p:cNvSpPr>
          <p:nvPr/>
        </p:nvSpPr>
        <p:spPr bwMode="auto">
          <a:xfrm>
            <a:off x="381000" y="2362200"/>
            <a:ext cx="914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OPOSICIÓN</a:t>
            </a:r>
          </a:p>
          <a:p>
            <a:pPr algn="ctr"/>
            <a:r>
              <a:rPr lang="es-ES_tradnl" sz="1000" b="1"/>
              <a:t>SURGIDA</a:t>
            </a:r>
            <a:endParaRPr lang="es-ES_tradnl"/>
          </a:p>
        </p:txBody>
      </p:sp>
      <p:sp>
        <p:nvSpPr>
          <p:cNvPr id="5132" name="Rectangle 17"/>
          <p:cNvSpPr>
            <a:spLocks noChangeArrowheads="1"/>
          </p:cNvSpPr>
          <p:nvPr/>
        </p:nvSpPr>
        <p:spPr bwMode="auto">
          <a:xfrm>
            <a:off x="381000" y="3048000"/>
            <a:ext cx="914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ES_tradnl"/>
          </a:p>
        </p:txBody>
      </p:sp>
      <p:sp>
        <p:nvSpPr>
          <p:cNvPr id="5133" name="Rectangle 18"/>
          <p:cNvSpPr>
            <a:spLocks noChangeArrowheads="1"/>
          </p:cNvSpPr>
          <p:nvPr/>
        </p:nvSpPr>
        <p:spPr bwMode="auto">
          <a:xfrm>
            <a:off x="5105400" y="2286000"/>
            <a:ext cx="1066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34" name="Rectangle 19"/>
          <p:cNvSpPr>
            <a:spLocks noChangeArrowheads="1"/>
          </p:cNvSpPr>
          <p:nvPr/>
        </p:nvSpPr>
        <p:spPr bwMode="auto">
          <a:xfrm>
            <a:off x="7010400" y="2286000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35" name="Rectangle 20"/>
          <p:cNvSpPr>
            <a:spLocks noChangeArrowheads="1"/>
          </p:cNvSpPr>
          <p:nvPr/>
        </p:nvSpPr>
        <p:spPr bwMode="auto">
          <a:xfrm>
            <a:off x="6400800" y="2971800"/>
            <a:ext cx="762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36" name="Rectangle 21"/>
          <p:cNvSpPr>
            <a:spLocks noChangeArrowheads="1"/>
          </p:cNvSpPr>
          <p:nvPr/>
        </p:nvSpPr>
        <p:spPr bwMode="auto">
          <a:xfrm>
            <a:off x="7315200" y="2971800"/>
            <a:ext cx="685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37" name="Rectangle 22"/>
          <p:cNvSpPr>
            <a:spLocks noChangeArrowheads="1"/>
          </p:cNvSpPr>
          <p:nvPr/>
        </p:nvSpPr>
        <p:spPr bwMode="auto">
          <a:xfrm>
            <a:off x="8077200" y="2971800"/>
            <a:ext cx="1066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38" name="Rectangle 23"/>
          <p:cNvSpPr>
            <a:spLocks noChangeArrowheads="1"/>
          </p:cNvSpPr>
          <p:nvPr/>
        </p:nvSpPr>
        <p:spPr bwMode="auto">
          <a:xfrm>
            <a:off x="5181600" y="2971800"/>
            <a:ext cx="1066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CAPACIDAD DE</a:t>
            </a:r>
          </a:p>
          <a:p>
            <a:pPr algn="ctr"/>
            <a:r>
              <a:rPr lang="es-ES_tradnl" sz="1000" b="1"/>
              <a:t>DIFERIR LAS</a:t>
            </a:r>
          </a:p>
          <a:p>
            <a:pPr algn="ctr"/>
            <a:r>
              <a:rPr lang="es-ES_tradnl" sz="1000" b="1"/>
              <a:t> RECOMPENSAS</a:t>
            </a:r>
            <a:endParaRPr lang="es-ES_tradnl"/>
          </a:p>
        </p:txBody>
      </p:sp>
      <p:sp>
        <p:nvSpPr>
          <p:cNvPr id="5139" name="Rectangle 24"/>
          <p:cNvSpPr>
            <a:spLocks noChangeArrowheads="1"/>
          </p:cNvSpPr>
          <p:nvPr/>
        </p:nvSpPr>
        <p:spPr bwMode="auto">
          <a:xfrm>
            <a:off x="3048000" y="3581400"/>
            <a:ext cx="2362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0" name="Rectangle 25"/>
          <p:cNvSpPr>
            <a:spLocks noChangeArrowheads="1"/>
          </p:cNvSpPr>
          <p:nvPr/>
        </p:nvSpPr>
        <p:spPr bwMode="auto">
          <a:xfrm>
            <a:off x="0" y="4038600"/>
            <a:ext cx="990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ORG. FORMAL</a:t>
            </a:r>
          </a:p>
          <a:p>
            <a:pPr algn="ctr"/>
            <a:r>
              <a:rPr lang="es-ES_tradnl" sz="1000" b="1"/>
              <a:t> E INFORMAL</a:t>
            </a:r>
            <a:endParaRPr lang="es-ES_tradnl" b="1"/>
          </a:p>
        </p:txBody>
      </p:sp>
      <p:sp>
        <p:nvSpPr>
          <p:cNvPr id="5141" name="Rectangle 26"/>
          <p:cNvSpPr>
            <a:spLocks noChangeArrowheads="1"/>
          </p:cNvSpPr>
          <p:nvPr/>
        </p:nvSpPr>
        <p:spPr bwMode="auto">
          <a:xfrm>
            <a:off x="1219200" y="4038600"/>
            <a:ext cx="1066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RECOMP. MAT.</a:t>
            </a:r>
          </a:p>
          <a:p>
            <a:pPr algn="ctr"/>
            <a:r>
              <a:rPr lang="es-ES_tradnl" sz="1000" b="1"/>
              <a:t>Y SOCIALES</a:t>
            </a:r>
          </a:p>
        </p:txBody>
      </p:sp>
      <p:sp>
        <p:nvSpPr>
          <p:cNvPr id="5142" name="Rectangle 27"/>
          <p:cNvSpPr>
            <a:spLocks noChangeArrowheads="1"/>
          </p:cNvSpPr>
          <p:nvPr/>
        </p:nvSpPr>
        <p:spPr bwMode="auto">
          <a:xfrm>
            <a:off x="2438400" y="4038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3" name="Rectangle 28"/>
          <p:cNvSpPr>
            <a:spLocks noChangeArrowheads="1"/>
          </p:cNvSpPr>
          <p:nvPr/>
        </p:nvSpPr>
        <p:spPr bwMode="auto">
          <a:xfrm>
            <a:off x="5410200" y="40386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4" name="Rectangle 29"/>
          <p:cNvSpPr>
            <a:spLocks noChangeArrowheads="1"/>
          </p:cNvSpPr>
          <p:nvPr/>
        </p:nvSpPr>
        <p:spPr bwMode="auto">
          <a:xfrm>
            <a:off x="6629400" y="4038600"/>
            <a:ext cx="91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5" name="Rectangle 30"/>
          <p:cNvSpPr>
            <a:spLocks noChangeArrowheads="1"/>
          </p:cNvSpPr>
          <p:nvPr/>
        </p:nvSpPr>
        <p:spPr bwMode="auto">
          <a:xfrm>
            <a:off x="7696200" y="40386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6" name="Rectangle 31"/>
          <p:cNvSpPr>
            <a:spLocks noChangeArrowheads="1"/>
          </p:cNvSpPr>
          <p:nvPr/>
        </p:nvSpPr>
        <p:spPr bwMode="auto">
          <a:xfrm>
            <a:off x="3352800" y="4572000"/>
            <a:ext cx="2209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7" name="Rectangle 33"/>
          <p:cNvSpPr>
            <a:spLocks noChangeArrowheads="1"/>
          </p:cNvSpPr>
          <p:nvPr/>
        </p:nvSpPr>
        <p:spPr bwMode="auto">
          <a:xfrm>
            <a:off x="3505200" y="5791200"/>
            <a:ext cx="1828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48" name="Rectangle 34"/>
          <p:cNvSpPr>
            <a:spLocks noChangeArrowheads="1"/>
          </p:cNvSpPr>
          <p:nvPr/>
        </p:nvSpPr>
        <p:spPr bwMode="auto">
          <a:xfrm>
            <a:off x="5867400" y="4876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ETIZONI</a:t>
            </a:r>
          </a:p>
        </p:txBody>
      </p:sp>
      <p:sp>
        <p:nvSpPr>
          <p:cNvPr id="5149" name="Text Box 42"/>
          <p:cNvSpPr txBox="1">
            <a:spLocks noChangeArrowheads="1"/>
          </p:cNvSpPr>
          <p:nvPr/>
        </p:nvSpPr>
        <p:spPr bwMode="auto">
          <a:xfrm>
            <a:off x="3060700" y="1154113"/>
            <a:ext cx="19462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400" b="1"/>
              <a:t>TEORÍA </a:t>
            </a:r>
          </a:p>
          <a:p>
            <a:pPr algn="ctr"/>
            <a:r>
              <a:rPr lang="es-ES_tradnl" sz="1400" b="1"/>
              <a:t>ESTRUCTURALISTA</a:t>
            </a:r>
          </a:p>
        </p:txBody>
      </p:sp>
      <p:sp>
        <p:nvSpPr>
          <p:cNvPr id="5150" name="Text Box 44"/>
          <p:cNvSpPr txBox="1">
            <a:spLocks noChangeArrowheads="1"/>
          </p:cNvSpPr>
          <p:nvPr/>
        </p:nvSpPr>
        <p:spPr bwMode="auto">
          <a:xfrm>
            <a:off x="184150" y="1736725"/>
            <a:ext cx="923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VICTOR A.</a:t>
            </a:r>
          </a:p>
          <a:p>
            <a:pPr algn="ctr"/>
            <a:r>
              <a:rPr lang="es-ES_tradnl" sz="1000" b="1"/>
              <a:t>THOMPSON</a:t>
            </a:r>
          </a:p>
        </p:txBody>
      </p:sp>
      <p:sp>
        <p:nvSpPr>
          <p:cNvPr id="5151" name="Text Box 45"/>
          <p:cNvSpPr txBox="1">
            <a:spLocks noChangeArrowheads="1"/>
          </p:cNvSpPr>
          <p:nvPr/>
        </p:nvSpPr>
        <p:spPr bwMode="auto">
          <a:xfrm>
            <a:off x="1143000" y="1752600"/>
            <a:ext cx="1066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000" b="1"/>
              <a:t>AMITAI </a:t>
            </a:r>
          </a:p>
          <a:p>
            <a:pPr algn="ctr"/>
            <a:r>
              <a:rPr lang="es-ES" sz="1000" b="1"/>
              <a:t> ETZIONI	</a:t>
            </a:r>
          </a:p>
          <a:p>
            <a:pPr algn="ctr"/>
            <a:endParaRPr lang="es-ES_tradnl" sz="1000" b="1"/>
          </a:p>
        </p:txBody>
      </p:sp>
      <p:sp>
        <p:nvSpPr>
          <p:cNvPr id="5152" name="Text Box 46"/>
          <p:cNvSpPr txBox="1">
            <a:spLocks noChangeArrowheads="1"/>
          </p:cNvSpPr>
          <p:nvPr/>
        </p:nvSpPr>
        <p:spPr bwMode="auto">
          <a:xfrm>
            <a:off x="2574925" y="1752600"/>
            <a:ext cx="8540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000" b="1"/>
              <a:t>TALCOTT PARSONS	</a:t>
            </a:r>
          </a:p>
          <a:p>
            <a:pPr algn="ctr"/>
            <a:endParaRPr lang="es-ES_tradnl" sz="1000" b="1"/>
          </a:p>
        </p:txBody>
      </p:sp>
      <p:sp>
        <p:nvSpPr>
          <p:cNvPr id="5153" name="Text Box 47"/>
          <p:cNvSpPr txBox="1">
            <a:spLocks noChangeArrowheads="1"/>
          </p:cNvSpPr>
          <p:nvPr/>
        </p:nvSpPr>
        <p:spPr bwMode="auto">
          <a:xfrm>
            <a:off x="5546725" y="1752600"/>
            <a:ext cx="1082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000" b="1"/>
              <a:t>PETER  M. BLAU	</a:t>
            </a:r>
          </a:p>
          <a:p>
            <a:pPr algn="ctr"/>
            <a:endParaRPr lang="es-ES_tradnl" sz="1000" b="1"/>
          </a:p>
        </p:txBody>
      </p:sp>
      <p:sp>
        <p:nvSpPr>
          <p:cNvPr id="5154" name="Text Box 48"/>
          <p:cNvSpPr txBox="1">
            <a:spLocks noChangeArrowheads="1"/>
          </p:cNvSpPr>
          <p:nvPr/>
        </p:nvSpPr>
        <p:spPr bwMode="auto">
          <a:xfrm>
            <a:off x="6994525" y="1736725"/>
            <a:ext cx="9302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000" b="1"/>
              <a:t>REINHARD BENDIX	</a:t>
            </a:r>
          </a:p>
          <a:p>
            <a:pPr algn="ctr"/>
            <a:endParaRPr lang="es-ES_tradnl" sz="1000" b="1"/>
          </a:p>
        </p:txBody>
      </p:sp>
      <p:sp>
        <p:nvSpPr>
          <p:cNvPr id="5155" name="Text Box 50"/>
          <p:cNvSpPr txBox="1">
            <a:spLocks noChangeArrowheads="1"/>
          </p:cNvSpPr>
          <p:nvPr/>
        </p:nvSpPr>
        <p:spPr bwMode="auto">
          <a:xfrm>
            <a:off x="8137525" y="1752600"/>
            <a:ext cx="10064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000" b="1"/>
              <a:t>ROBERT PRESTHUS	</a:t>
            </a:r>
            <a:endParaRPr lang="es-ES" b="1">
              <a:latin typeface="Arial" charset="0"/>
            </a:endParaRPr>
          </a:p>
          <a:p>
            <a:pPr algn="ctr"/>
            <a:endParaRPr lang="es-ES_tradnl"/>
          </a:p>
        </p:txBody>
      </p:sp>
      <p:sp>
        <p:nvSpPr>
          <p:cNvPr id="5156" name="Text Box 52"/>
          <p:cNvSpPr txBox="1">
            <a:spLocks noChangeArrowheads="1"/>
          </p:cNvSpPr>
          <p:nvPr/>
        </p:nvSpPr>
        <p:spPr bwMode="auto">
          <a:xfrm>
            <a:off x="5033963" y="2346325"/>
            <a:ext cx="12144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ORGANIZACIÓN</a:t>
            </a:r>
          </a:p>
        </p:txBody>
      </p:sp>
      <p:sp>
        <p:nvSpPr>
          <p:cNvPr id="5157" name="Text Box 53"/>
          <p:cNvSpPr txBox="1">
            <a:spLocks noChangeArrowheads="1"/>
          </p:cNvSpPr>
          <p:nvPr/>
        </p:nvSpPr>
        <p:spPr bwMode="auto">
          <a:xfrm>
            <a:off x="7219950" y="2286000"/>
            <a:ext cx="1390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EL HOMBRE</a:t>
            </a:r>
          </a:p>
          <a:p>
            <a:pPr algn="ctr"/>
            <a:r>
              <a:rPr lang="es-ES_tradnl" sz="1000" b="1"/>
              <a:t>ORGANIZACIONAL</a:t>
            </a:r>
          </a:p>
        </p:txBody>
      </p:sp>
      <p:sp>
        <p:nvSpPr>
          <p:cNvPr id="5158" name="Text Box 54"/>
          <p:cNvSpPr txBox="1">
            <a:spLocks noChangeArrowheads="1"/>
          </p:cNvSpPr>
          <p:nvPr/>
        </p:nvSpPr>
        <p:spPr bwMode="auto">
          <a:xfrm>
            <a:off x="6334125" y="3108325"/>
            <a:ext cx="904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PACIENCIA</a:t>
            </a:r>
          </a:p>
        </p:txBody>
      </p:sp>
      <p:sp>
        <p:nvSpPr>
          <p:cNvPr id="5159" name="Text Box 56"/>
          <p:cNvSpPr txBox="1">
            <a:spLocks noChangeArrowheads="1"/>
          </p:cNvSpPr>
          <p:nvPr/>
        </p:nvSpPr>
        <p:spPr bwMode="auto">
          <a:xfrm>
            <a:off x="8105775" y="3108325"/>
            <a:ext cx="1114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FLEXIBILIDAD</a:t>
            </a:r>
          </a:p>
        </p:txBody>
      </p:sp>
      <p:sp>
        <p:nvSpPr>
          <p:cNvPr id="5160" name="Text Box 57"/>
          <p:cNvSpPr txBox="1">
            <a:spLocks noChangeArrowheads="1"/>
          </p:cNvSpPr>
          <p:nvPr/>
        </p:nvSpPr>
        <p:spPr bwMode="auto">
          <a:xfrm>
            <a:off x="3508375" y="3581400"/>
            <a:ext cx="1368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ANÁLISIS DE LAS</a:t>
            </a:r>
          </a:p>
          <a:p>
            <a:pPr algn="ctr"/>
            <a:r>
              <a:rPr lang="es-ES_tradnl" sz="1000" b="1"/>
              <a:t>ORGANIZACIONES</a:t>
            </a:r>
          </a:p>
        </p:txBody>
      </p:sp>
      <p:sp>
        <p:nvSpPr>
          <p:cNvPr id="5161" name="Text Box 58"/>
          <p:cNvSpPr txBox="1">
            <a:spLocks noChangeArrowheads="1"/>
          </p:cNvSpPr>
          <p:nvPr/>
        </p:nvSpPr>
        <p:spPr bwMode="auto">
          <a:xfrm>
            <a:off x="3633788" y="4556125"/>
            <a:ext cx="1471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TIPOLOGÍAS DE LAS</a:t>
            </a:r>
          </a:p>
          <a:p>
            <a:pPr algn="ctr"/>
            <a:r>
              <a:rPr lang="es-ES_tradnl" sz="1000" b="1"/>
              <a:t>ORGANIZACIONES</a:t>
            </a:r>
          </a:p>
        </p:txBody>
      </p:sp>
      <p:sp>
        <p:nvSpPr>
          <p:cNvPr id="5162" name="Rectangle 60"/>
          <p:cNvSpPr>
            <a:spLocks noChangeArrowheads="1"/>
          </p:cNvSpPr>
          <p:nvPr/>
        </p:nvSpPr>
        <p:spPr bwMode="auto">
          <a:xfrm>
            <a:off x="3200400" y="5257800"/>
            <a:ext cx="2514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63" name="Text Box 61"/>
          <p:cNvSpPr txBox="1">
            <a:spLocks noChangeArrowheads="1"/>
          </p:cNvSpPr>
          <p:nvPr/>
        </p:nvSpPr>
        <p:spPr bwMode="auto">
          <a:xfrm>
            <a:off x="3260725" y="5318125"/>
            <a:ext cx="2300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OBJETIVOS ORGANIZACIONALES</a:t>
            </a:r>
          </a:p>
        </p:txBody>
      </p:sp>
      <p:sp>
        <p:nvSpPr>
          <p:cNvPr id="5164" name="Text Box 62"/>
          <p:cNvSpPr txBox="1">
            <a:spLocks noChangeArrowheads="1"/>
          </p:cNvSpPr>
          <p:nvPr/>
        </p:nvSpPr>
        <p:spPr bwMode="auto">
          <a:xfrm>
            <a:off x="3636963" y="5791200"/>
            <a:ext cx="15446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CONFLICTOS</a:t>
            </a:r>
          </a:p>
          <a:p>
            <a:pPr algn="ctr"/>
            <a:r>
              <a:rPr lang="es-ES_tradnl" sz="1000" b="1"/>
              <a:t>ORGANIZACIONALES</a:t>
            </a:r>
          </a:p>
        </p:txBody>
      </p:sp>
      <p:sp>
        <p:nvSpPr>
          <p:cNvPr id="5165" name="Rectangle 63"/>
          <p:cNvSpPr>
            <a:spLocks noChangeArrowheads="1"/>
          </p:cNvSpPr>
          <p:nvPr/>
        </p:nvSpPr>
        <p:spPr bwMode="auto">
          <a:xfrm>
            <a:off x="3505200" y="6324600"/>
            <a:ext cx="1905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66" name="Text Box 64"/>
          <p:cNvSpPr txBox="1">
            <a:spLocks noChangeArrowheads="1"/>
          </p:cNvSpPr>
          <p:nvPr/>
        </p:nvSpPr>
        <p:spPr bwMode="auto">
          <a:xfrm>
            <a:off x="3698875" y="6400800"/>
            <a:ext cx="1635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EVALUACIÓN CRÍTICA</a:t>
            </a:r>
          </a:p>
        </p:txBody>
      </p:sp>
      <p:sp>
        <p:nvSpPr>
          <p:cNvPr id="5167" name="Line 65"/>
          <p:cNvSpPr>
            <a:spLocks noChangeShapeType="1"/>
          </p:cNvSpPr>
          <p:nvPr/>
        </p:nvSpPr>
        <p:spPr bwMode="auto">
          <a:xfrm>
            <a:off x="4114800" y="16764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68" name="Line 66"/>
          <p:cNvSpPr>
            <a:spLocks noChangeShapeType="1"/>
          </p:cNvSpPr>
          <p:nvPr/>
        </p:nvSpPr>
        <p:spPr bwMode="auto">
          <a:xfrm>
            <a:off x="4114800" y="3962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69" name="Line 68"/>
          <p:cNvSpPr>
            <a:spLocks noChangeShapeType="1"/>
          </p:cNvSpPr>
          <p:nvPr/>
        </p:nvSpPr>
        <p:spPr bwMode="auto">
          <a:xfrm>
            <a:off x="41148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0" name="Line 69"/>
          <p:cNvSpPr>
            <a:spLocks noChangeShapeType="1"/>
          </p:cNvSpPr>
          <p:nvPr/>
        </p:nvSpPr>
        <p:spPr bwMode="auto">
          <a:xfrm>
            <a:off x="4114800" y="5638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1" name="Line 70"/>
          <p:cNvSpPr>
            <a:spLocks noChangeShapeType="1"/>
          </p:cNvSpPr>
          <p:nvPr/>
        </p:nvSpPr>
        <p:spPr bwMode="auto">
          <a:xfrm>
            <a:off x="4191000" y="6172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2" name="Line 71"/>
          <p:cNvSpPr>
            <a:spLocks noChangeShapeType="1"/>
          </p:cNvSpPr>
          <p:nvPr/>
        </p:nvSpPr>
        <p:spPr bwMode="auto">
          <a:xfrm flipH="1">
            <a:off x="28956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3" name="Line 72"/>
          <p:cNvSpPr>
            <a:spLocks noChangeShapeType="1"/>
          </p:cNvSpPr>
          <p:nvPr/>
        </p:nvSpPr>
        <p:spPr bwMode="auto">
          <a:xfrm>
            <a:off x="4114800" y="2438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4" name="Line 73"/>
          <p:cNvSpPr>
            <a:spLocks noChangeShapeType="1"/>
          </p:cNvSpPr>
          <p:nvPr/>
        </p:nvSpPr>
        <p:spPr bwMode="auto">
          <a:xfrm>
            <a:off x="6172200" y="2438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5" name="Line 77"/>
          <p:cNvSpPr>
            <a:spLocks noChangeShapeType="1"/>
          </p:cNvSpPr>
          <p:nvPr/>
        </p:nvSpPr>
        <p:spPr bwMode="auto">
          <a:xfrm flipH="1">
            <a:off x="5791200" y="2590800"/>
            <a:ext cx="1219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6" name="Line 78"/>
          <p:cNvSpPr>
            <a:spLocks noChangeShapeType="1"/>
          </p:cNvSpPr>
          <p:nvPr/>
        </p:nvSpPr>
        <p:spPr bwMode="auto">
          <a:xfrm flipH="1">
            <a:off x="6705600" y="2743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7" name="Line 79"/>
          <p:cNvSpPr>
            <a:spLocks noChangeShapeType="1"/>
          </p:cNvSpPr>
          <p:nvPr/>
        </p:nvSpPr>
        <p:spPr bwMode="auto">
          <a:xfrm>
            <a:off x="7696200" y="2743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8" name="Line 80"/>
          <p:cNvSpPr>
            <a:spLocks noChangeShapeType="1"/>
          </p:cNvSpPr>
          <p:nvPr/>
        </p:nvSpPr>
        <p:spPr bwMode="auto">
          <a:xfrm>
            <a:off x="8534400" y="2743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79" name="Line 81"/>
          <p:cNvSpPr>
            <a:spLocks noChangeShapeType="1"/>
          </p:cNvSpPr>
          <p:nvPr/>
        </p:nvSpPr>
        <p:spPr bwMode="auto">
          <a:xfrm>
            <a:off x="1295400" y="2514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0" name="Line 82"/>
          <p:cNvSpPr>
            <a:spLocks noChangeShapeType="1"/>
          </p:cNvSpPr>
          <p:nvPr/>
        </p:nvSpPr>
        <p:spPr bwMode="auto">
          <a:xfrm flipV="1">
            <a:off x="1295400" y="2971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1" name="Line 83"/>
          <p:cNvSpPr>
            <a:spLocks noChangeShapeType="1"/>
          </p:cNvSpPr>
          <p:nvPr/>
        </p:nvSpPr>
        <p:spPr bwMode="auto">
          <a:xfrm flipH="1">
            <a:off x="3581400" y="41910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2" name="Line 84"/>
          <p:cNvSpPr>
            <a:spLocks noChangeShapeType="1"/>
          </p:cNvSpPr>
          <p:nvPr/>
        </p:nvSpPr>
        <p:spPr bwMode="auto">
          <a:xfrm flipH="1">
            <a:off x="2286000" y="419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3" name="Line 85"/>
          <p:cNvSpPr>
            <a:spLocks noChangeShapeType="1"/>
          </p:cNvSpPr>
          <p:nvPr/>
        </p:nvSpPr>
        <p:spPr bwMode="auto">
          <a:xfrm flipH="1">
            <a:off x="9906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4" name="Line 86"/>
          <p:cNvSpPr>
            <a:spLocks noChangeShapeType="1"/>
          </p:cNvSpPr>
          <p:nvPr/>
        </p:nvSpPr>
        <p:spPr bwMode="auto">
          <a:xfrm>
            <a:off x="64008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5" name="Line 87"/>
          <p:cNvSpPr>
            <a:spLocks noChangeShapeType="1"/>
          </p:cNvSpPr>
          <p:nvPr/>
        </p:nvSpPr>
        <p:spPr bwMode="auto">
          <a:xfrm>
            <a:off x="7543800" y="419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6" name="Text Box 90"/>
          <p:cNvSpPr txBox="1">
            <a:spLocks noChangeArrowheads="1"/>
          </p:cNvSpPr>
          <p:nvPr/>
        </p:nvSpPr>
        <p:spPr bwMode="auto">
          <a:xfrm>
            <a:off x="7223125" y="2971800"/>
            <a:ext cx="8207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PERMAN.</a:t>
            </a:r>
          </a:p>
          <a:p>
            <a:pPr algn="ctr"/>
            <a:r>
              <a:rPr lang="es-ES_tradnl" sz="1000" b="1"/>
              <a:t>DESEO DE</a:t>
            </a:r>
          </a:p>
          <a:p>
            <a:pPr algn="ctr"/>
            <a:r>
              <a:rPr lang="es-ES_tradnl" sz="1000" b="1"/>
              <a:t>REALIZ.</a:t>
            </a:r>
          </a:p>
        </p:txBody>
      </p:sp>
      <p:sp>
        <p:nvSpPr>
          <p:cNvPr id="5187" name="Text Box 92"/>
          <p:cNvSpPr txBox="1">
            <a:spLocks noChangeArrowheads="1"/>
          </p:cNvSpPr>
          <p:nvPr/>
        </p:nvSpPr>
        <p:spPr bwMode="auto">
          <a:xfrm>
            <a:off x="381000" y="3048000"/>
            <a:ext cx="931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NECESIDAD</a:t>
            </a:r>
          </a:p>
        </p:txBody>
      </p:sp>
      <p:sp>
        <p:nvSpPr>
          <p:cNvPr id="5188" name="Line 93"/>
          <p:cNvSpPr>
            <a:spLocks noChangeShapeType="1"/>
          </p:cNvSpPr>
          <p:nvPr/>
        </p:nvSpPr>
        <p:spPr bwMode="auto">
          <a:xfrm flipH="1">
            <a:off x="3657600" y="1905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89" name="Line 94"/>
          <p:cNvSpPr>
            <a:spLocks noChangeShapeType="1"/>
          </p:cNvSpPr>
          <p:nvPr/>
        </p:nvSpPr>
        <p:spPr bwMode="auto">
          <a:xfrm flipH="1">
            <a:off x="22098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90" name="Line 95"/>
          <p:cNvSpPr>
            <a:spLocks noChangeShapeType="1"/>
          </p:cNvSpPr>
          <p:nvPr/>
        </p:nvSpPr>
        <p:spPr bwMode="auto">
          <a:xfrm flipH="1">
            <a:off x="10668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91" name="Line 96"/>
          <p:cNvSpPr>
            <a:spLocks noChangeShapeType="1"/>
          </p:cNvSpPr>
          <p:nvPr/>
        </p:nvSpPr>
        <p:spPr bwMode="auto">
          <a:xfrm>
            <a:off x="6705600" y="1905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92" name="Line 97"/>
          <p:cNvSpPr>
            <a:spLocks noChangeShapeType="1"/>
          </p:cNvSpPr>
          <p:nvPr/>
        </p:nvSpPr>
        <p:spPr bwMode="auto">
          <a:xfrm>
            <a:off x="80010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93" name="Text Box 100"/>
          <p:cNvSpPr txBox="1">
            <a:spLocks noChangeArrowheads="1"/>
          </p:cNvSpPr>
          <p:nvPr/>
        </p:nvSpPr>
        <p:spPr bwMode="auto">
          <a:xfrm>
            <a:off x="2501900" y="4022725"/>
            <a:ext cx="11318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DIF.ENFOQUES</a:t>
            </a:r>
          </a:p>
          <a:p>
            <a:pPr algn="ctr"/>
            <a:r>
              <a:rPr lang="es-ES_tradnl" sz="1000" b="1"/>
              <a:t>DE LA ORG.</a:t>
            </a:r>
          </a:p>
        </p:txBody>
      </p:sp>
      <p:sp>
        <p:nvSpPr>
          <p:cNvPr id="5194" name="Text Box 102"/>
          <p:cNvSpPr txBox="1">
            <a:spLocks noChangeArrowheads="1"/>
          </p:cNvSpPr>
          <p:nvPr/>
        </p:nvSpPr>
        <p:spPr bwMode="auto">
          <a:xfrm>
            <a:off x="5422900" y="4038600"/>
            <a:ext cx="1054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DIF.. NIVELES</a:t>
            </a:r>
          </a:p>
          <a:p>
            <a:pPr algn="ctr"/>
            <a:r>
              <a:rPr lang="es-ES_tradnl" sz="1000" b="1"/>
              <a:t>DE LA ORG.</a:t>
            </a:r>
          </a:p>
        </p:txBody>
      </p:sp>
      <p:sp>
        <p:nvSpPr>
          <p:cNvPr id="5195" name="Text Box 103"/>
          <p:cNvSpPr txBox="1">
            <a:spLocks noChangeArrowheads="1"/>
          </p:cNvSpPr>
          <p:nvPr/>
        </p:nvSpPr>
        <p:spPr bwMode="auto">
          <a:xfrm>
            <a:off x="6477000" y="4022725"/>
            <a:ext cx="1235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_tradnl" sz="1000" b="1"/>
              <a:t>MOD.RACION. </a:t>
            </a:r>
          </a:p>
          <a:p>
            <a:pPr algn="ctr"/>
            <a:r>
              <a:rPr lang="es-ES_tradnl" sz="1000" b="1"/>
              <a:t>DE  LA ORG.</a:t>
            </a:r>
          </a:p>
        </p:txBody>
      </p:sp>
      <p:sp>
        <p:nvSpPr>
          <p:cNvPr id="5196" name="Text Box 104"/>
          <p:cNvSpPr txBox="1">
            <a:spLocks noChangeArrowheads="1"/>
          </p:cNvSpPr>
          <p:nvPr/>
        </p:nvSpPr>
        <p:spPr bwMode="auto">
          <a:xfrm>
            <a:off x="7696200" y="4038600"/>
            <a:ext cx="1187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MOD. NATURAL</a:t>
            </a:r>
          </a:p>
          <a:p>
            <a:pPr algn="ctr"/>
            <a:r>
              <a:rPr lang="es-ES_tradnl" sz="1000" b="1"/>
              <a:t>DE LA ORG.</a:t>
            </a:r>
          </a:p>
        </p:txBody>
      </p:sp>
      <p:sp>
        <p:nvSpPr>
          <p:cNvPr id="5197" name="Line 105"/>
          <p:cNvSpPr>
            <a:spLocks noChangeShapeType="1"/>
          </p:cNvSpPr>
          <p:nvPr/>
        </p:nvSpPr>
        <p:spPr bwMode="auto">
          <a:xfrm>
            <a:off x="7010400" y="5029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198" name="Rectangle 106"/>
          <p:cNvSpPr>
            <a:spLocks noChangeArrowheads="1"/>
          </p:cNvSpPr>
          <p:nvPr/>
        </p:nvSpPr>
        <p:spPr bwMode="auto">
          <a:xfrm>
            <a:off x="7467600" y="4876800"/>
            <a:ext cx="1066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b="1"/>
              <a:t>BLAU Y SCOTT</a:t>
            </a:r>
            <a:endParaRPr lang="es-ES_tradnl"/>
          </a:p>
        </p:txBody>
      </p:sp>
      <p:sp>
        <p:nvSpPr>
          <p:cNvPr id="5199" name="Line 109"/>
          <p:cNvSpPr>
            <a:spLocks noChangeShapeType="1"/>
          </p:cNvSpPr>
          <p:nvPr/>
        </p:nvSpPr>
        <p:spPr bwMode="auto">
          <a:xfrm>
            <a:off x="5562600" y="4724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200" name="Line 110"/>
          <p:cNvSpPr>
            <a:spLocks noChangeShapeType="1"/>
          </p:cNvSpPr>
          <p:nvPr/>
        </p:nvSpPr>
        <p:spPr bwMode="auto">
          <a:xfrm>
            <a:off x="6400800" y="4724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201" name="Line 111"/>
          <p:cNvSpPr>
            <a:spLocks noChangeShapeType="1"/>
          </p:cNvSpPr>
          <p:nvPr/>
        </p:nvSpPr>
        <p:spPr bwMode="auto">
          <a:xfrm>
            <a:off x="8077200" y="4724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202" name="Line 112"/>
          <p:cNvSpPr>
            <a:spLocks noChangeShapeType="1"/>
          </p:cNvSpPr>
          <p:nvPr/>
        </p:nvSpPr>
        <p:spPr bwMode="auto">
          <a:xfrm flipH="1">
            <a:off x="1676400" y="51054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203" name="Line 113"/>
          <p:cNvSpPr>
            <a:spLocks noChangeShapeType="1"/>
          </p:cNvSpPr>
          <p:nvPr/>
        </p:nvSpPr>
        <p:spPr bwMode="auto">
          <a:xfrm>
            <a:off x="1676400" y="5105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204" name="Rectangle 114"/>
          <p:cNvSpPr>
            <a:spLocks noChangeArrowheads="1"/>
          </p:cNvSpPr>
          <p:nvPr/>
        </p:nvSpPr>
        <p:spPr bwMode="auto">
          <a:xfrm>
            <a:off x="990600" y="5638800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5205" name="Text Box 115"/>
          <p:cNvSpPr txBox="1">
            <a:spLocks noChangeArrowheads="1"/>
          </p:cNvSpPr>
          <p:nvPr/>
        </p:nvSpPr>
        <p:spPr bwMode="auto">
          <a:xfrm>
            <a:off x="1050925" y="5775325"/>
            <a:ext cx="1173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1000" b="1"/>
              <a:t>PARALELO</a:t>
            </a:r>
          </a:p>
          <a:p>
            <a:pPr algn="ctr"/>
            <a:r>
              <a:rPr lang="es-ES_tradnl" sz="1000" b="1"/>
              <a:t>COMPARATIVO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TEORIA ESTRUCTURALISTA</a:t>
            </a:r>
            <a:endParaRPr lang="es-ES" b="1" smtClean="0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81000" y="2286000"/>
            <a:ext cx="8539163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ENFOCA SU ATENCION HACIA LA ORGANIZACION </a:t>
            </a:r>
          </a:p>
          <a:p>
            <a:pPr algn="ctr"/>
            <a:r>
              <a:rPr lang="en-US" b="1"/>
              <a:t>DESDE EL PUNTO DE VISTA DE SU ESTRUCTURA DE</a:t>
            </a:r>
          </a:p>
          <a:p>
            <a:pPr algn="ctr"/>
            <a:r>
              <a:rPr lang="en-US" b="1"/>
              <a:t>SU FUNCIONAMIENTO Y DE LOS MEDIOS QUE UTILIZA </a:t>
            </a:r>
          </a:p>
          <a:p>
            <a:pPr algn="ctr"/>
            <a:r>
              <a:rPr lang="en-US" b="1"/>
              <a:t>PARA LOGRAR SUS OJETIVOS.</a:t>
            </a:r>
          </a:p>
          <a:p>
            <a:pPr algn="ctr"/>
            <a:endParaRPr lang="en-US" b="1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20663" y="4210050"/>
            <a:ext cx="8923337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/>
              <a:t>REPRESENTA UN VERDADERO DESDOBLAMIENTO DE</a:t>
            </a:r>
          </a:p>
          <a:p>
            <a:pPr algn="ctr"/>
            <a:r>
              <a:rPr lang="en-US" b="1"/>
              <a:t>LA TEORIA DE LA BUROCRACIA Y UNA LEVE APROXI-</a:t>
            </a:r>
          </a:p>
          <a:p>
            <a:pPr algn="ctr"/>
            <a:r>
              <a:rPr lang="en-US" b="1"/>
              <a:t>MACION A LA TEORIA DE LAS RELACIONES HUMANAS</a:t>
            </a:r>
          </a:p>
          <a:p>
            <a:pPr algn="ctr"/>
            <a:r>
              <a:rPr lang="en-US" b="1"/>
              <a:t>CON UNA VISION CRITICA DE LA ORGNIZACION FORMAL</a:t>
            </a:r>
          </a:p>
          <a:p>
            <a:pPr algn="ctr"/>
            <a:endParaRPr lang="en-US" b="1"/>
          </a:p>
          <a:p>
            <a:pPr algn="ctr"/>
            <a:endParaRPr lang="es-ES" b="1"/>
          </a:p>
          <a:p>
            <a:pPr algn="ctr"/>
            <a:endParaRPr lang="es-ES_tradnl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autoUpdateAnimBg="0"/>
      <p:bldP spid="266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066800"/>
          </a:xfrm>
        </p:spPr>
        <p:txBody>
          <a:bodyPr/>
          <a:lstStyle/>
          <a:p>
            <a:pPr eaLnBrk="1" hangingPunct="1"/>
            <a:r>
              <a:rPr lang="en-US" b="1" smtClean="0"/>
              <a:t>ORIGENES</a:t>
            </a:r>
            <a:endParaRPr lang="es-ES" b="1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447800"/>
            <a:ext cx="3429000" cy="198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000" b="1" smtClean="0"/>
              <a:t>OPOSICION SURGIDA ENTRE LA TEORIA TRADICIONAL Y LA TEORIA DE LAS RELACIONES HUMANAS.</a:t>
            </a:r>
          </a:p>
        </p:txBody>
      </p:sp>
      <p:pic>
        <p:nvPicPr>
          <p:cNvPr id="3079" name="Picture 7" descr="BD06990_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420938"/>
            <a:ext cx="3810000" cy="3235325"/>
          </a:xfrm>
        </p:spPr>
      </p:pic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5181600" y="3352800"/>
            <a:ext cx="3962400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2000" b="1"/>
              <a:t>NECESIDAD DE CONSIDERAR </a:t>
            </a:r>
          </a:p>
          <a:p>
            <a:pPr>
              <a:lnSpc>
                <a:spcPct val="90000"/>
              </a:lnSpc>
            </a:pPr>
            <a:r>
              <a:rPr lang="en-US" sz="2000" b="1"/>
              <a:t>"LA ORGANIZACION COMO UNA UNIDAD SOCIAL GRANDE Y COMPLEJA DONDE INTERACTUAN  MUCHOS GRUPOS SOCIALES QUE COMPARTEN LOS OBJETIVOS DE LA ORGANIZACION</a:t>
            </a:r>
            <a:endParaRPr lang="es-ES" sz="2000" b="1"/>
          </a:p>
          <a:p>
            <a:pPr>
              <a:buFontTx/>
              <a:buChar char="•"/>
            </a:pPr>
            <a:endParaRPr lang="es-ES_tradnl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utoUpdateAnimBg="0"/>
      <p:bldP spid="3076" grpId="0" build="p" autoUpdateAnimBg="0"/>
      <p:bldP spid="308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81200"/>
            <a:ext cx="3810000" cy="2133600"/>
          </a:xfrm>
        </p:spPr>
        <p:txBody>
          <a:bodyPr/>
          <a:lstStyle/>
          <a:p>
            <a:pPr eaLnBrk="1" hangingPunct="1"/>
            <a:r>
              <a:rPr lang="es-MX" sz="2000" b="1" smtClean="0"/>
              <a:t>LA INFLUENCIA DEL ESTRUCTURALISMO EN LAS CIENCIAS SOCIALES Y LA REPERCUSION DE ESTAS EN EL ESTUDIO DE LAS ORGANIZACIONES.</a:t>
            </a:r>
          </a:p>
          <a:p>
            <a:pPr eaLnBrk="1" hangingPunct="1"/>
            <a:endParaRPr lang="es-MX" sz="2000" b="1" smtClean="0"/>
          </a:p>
          <a:p>
            <a:pPr eaLnBrk="1" hangingPunct="1"/>
            <a:endParaRPr lang="es-ES" sz="2000" b="1" smtClean="0"/>
          </a:p>
        </p:txBody>
      </p:sp>
      <p:pic>
        <p:nvPicPr>
          <p:cNvPr id="10246" name="Picture 6" descr="BD06990_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420938"/>
            <a:ext cx="3810000" cy="3235325"/>
          </a:xfrm>
          <a:noFill/>
        </p:spPr>
      </p:pic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4953000" y="4457700"/>
            <a:ext cx="30511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s-MX" sz="2000" b="1"/>
              <a:t>POR EL NUEVO CONCEPTO </a:t>
            </a:r>
          </a:p>
          <a:p>
            <a:r>
              <a:rPr lang="es-MX" sz="2000" b="1"/>
              <a:t>DE ESTRUCTURA</a:t>
            </a:r>
            <a:endParaRPr lang="es-ES_tradnl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  <p:bldP spid="1024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smtClean="0"/>
              <a:t>OTRAS CARACTERISTICAS DEL ESTRUCTURALISMO </a:t>
            </a:r>
            <a:endParaRPr lang="es-ES" b="1" smtClean="0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04800" y="1981200"/>
            <a:ext cx="8458200" cy="1951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u"/>
            </a:pPr>
            <a:r>
              <a:rPr lang="en-US" b="1" dirty="0"/>
              <a:t>SE DISTINGUE DE OTRAS ESCUELAS POR QUE TRATADE COMBINAR LA ESTRUCTURA FORMAL CON ASPECTOS DEL COMPORTAMIENTO HUMANO Y LA CONEXION DE LA ORGANIZACION CON TODO EL SISTEMA SOCIAL.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41325" y="4267200"/>
            <a:ext cx="87026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b="1" dirty="0">
                <a:solidFill>
                  <a:schemeClr val="tx2"/>
                </a:solidFill>
              </a:rPr>
              <a:t>ANALIZA LOS CONFLICTOS QUE SE GENEREN POR LAS CONTRACCIONES PROPIAS DE LA ESTRUCTURA Y EL DISFUNCIONAMIENTO, CLASIFICANDOLOS PARA FACILITAR SU MANEJO</a:t>
            </a:r>
            <a:r>
              <a:rPr lang="en-US" b="1" dirty="0">
                <a:solidFill>
                  <a:srgbClr val="FF33CC"/>
                </a:solidFill>
              </a:rPr>
              <a:t>.</a:t>
            </a:r>
            <a:endParaRPr lang="es-ES_tradnl" b="1" dirty="0">
              <a:solidFill>
                <a:srgbClr val="FF33CC"/>
              </a:solidFill>
            </a:endParaRP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41325" y="6137275"/>
            <a:ext cx="835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b="1"/>
              <a:t>ANALISIS</a:t>
            </a:r>
            <a:r>
              <a:rPr lang="en-US" b="1">
                <a:solidFill>
                  <a:srgbClr val="FF33CC"/>
                </a:solidFill>
              </a:rPr>
              <a:t> </a:t>
            </a:r>
            <a:r>
              <a:rPr lang="en-US" b="1"/>
              <a:t>DE LOS OBJETIVOS ORGANIZACIONALES.</a:t>
            </a:r>
            <a:endParaRPr lang="es-ES_tradnl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6" grpId="0" autoUpdateAnimBg="0"/>
      <p:bldP spid="512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1026" descr="BD06662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066800"/>
            <a:ext cx="6705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Text Box 1027"/>
          <p:cNvSpPr txBox="1">
            <a:spLocks noChangeArrowheads="1"/>
          </p:cNvSpPr>
          <p:nvPr/>
        </p:nvSpPr>
        <p:spPr bwMode="auto">
          <a:xfrm>
            <a:off x="762000" y="2209800"/>
            <a:ext cx="801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v"/>
            </a:pPr>
            <a:r>
              <a:rPr lang="es-MX">
                <a:solidFill>
                  <a:srgbClr val="FF3300"/>
                </a:solidFill>
              </a:rPr>
              <a:t> </a:t>
            </a:r>
            <a:r>
              <a:rPr lang="es-MX" b="1"/>
              <a:t>ETAPA DE LA NATURALEZA.</a:t>
            </a:r>
            <a:endParaRPr lang="es-ES" b="1"/>
          </a:p>
        </p:txBody>
      </p:sp>
      <p:sp>
        <p:nvSpPr>
          <p:cNvPr id="41988" name="Text Box 1028"/>
          <p:cNvSpPr txBox="1">
            <a:spLocks noChangeArrowheads="1"/>
          </p:cNvSpPr>
          <p:nvPr/>
        </p:nvSpPr>
        <p:spPr bwMode="auto">
          <a:xfrm>
            <a:off x="1851025" y="100013"/>
            <a:ext cx="554037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4400" b="1"/>
              <a:t>UNA SOCIEDAD DE</a:t>
            </a:r>
          </a:p>
          <a:p>
            <a:r>
              <a:rPr lang="es-MX" sz="4400" b="1"/>
              <a:t> ORGANIZACIONES</a:t>
            </a:r>
            <a:endParaRPr lang="es-ES" sz="4400" b="1"/>
          </a:p>
        </p:txBody>
      </p:sp>
      <p:sp>
        <p:nvSpPr>
          <p:cNvPr id="41989" name="Text Box 1029"/>
          <p:cNvSpPr txBox="1">
            <a:spLocks noChangeArrowheads="1"/>
          </p:cNvSpPr>
          <p:nvPr/>
        </p:nvSpPr>
        <p:spPr bwMode="auto">
          <a:xfrm>
            <a:off x="822325" y="3013075"/>
            <a:ext cx="3802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b="1"/>
              <a:t>ETAPA DEL TRABAJO.</a:t>
            </a:r>
            <a:endParaRPr lang="es-ES_tradnl" b="1"/>
          </a:p>
        </p:txBody>
      </p:sp>
      <p:sp>
        <p:nvSpPr>
          <p:cNvPr id="41990" name="Text Box 1030"/>
          <p:cNvSpPr txBox="1">
            <a:spLocks noChangeArrowheads="1"/>
          </p:cNvSpPr>
          <p:nvPr/>
        </p:nvSpPr>
        <p:spPr bwMode="auto">
          <a:xfrm>
            <a:off x="898525" y="3851275"/>
            <a:ext cx="3717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b="1"/>
              <a:t>ETAPA DEL CAPITAL.</a:t>
            </a:r>
            <a:endParaRPr lang="es-ES_tradnl"/>
          </a:p>
        </p:txBody>
      </p:sp>
      <p:sp>
        <p:nvSpPr>
          <p:cNvPr id="41991" name="Text Box 1031"/>
          <p:cNvSpPr txBox="1">
            <a:spLocks noChangeArrowheads="1"/>
          </p:cNvSpPr>
          <p:nvPr/>
        </p:nvSpPr>
        <p:spPr bwMode="auto">
          <a:xfrm>
            <a:off x="898525" y="4765675"/>
            <a:ext cx="5116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b="1"/>
              <a:t>ETAPA DE LA ORGANIZACIÓN.</a:t>
            </a:r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41988" grpId="0" autoUpdateAnimBg="0"/>
      <p:bldP spid="41989" grpId="0" autoUpdateAnimBg="0"/>
      <p:bldP spid="41990" grpId="0" autoUpdateAnimBg="0"/>
      <p:bldP spid="4199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ChangeArrowheads="1"/>
          </p:cNvSpPr>
          <p:nvPr/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s-MX" sz="4400" b="1">
                <a:solidFill>
                  <a:schemeClr val="tx2"/>
                </a:solidFill>
              </a:rPr>
              <a:t>LAS ORGANIZACIONES</a:t>
            </a:r>
            <a:endParaRPr lang="es-ES" sz="4400" b="1">
              <a:solidFill>
                <a:schemeClr val="tx2"/>
              </a:solidFill>
            </a:endParaRPr>
          </a:p>
        </p:txBody>
      </p:sp>
      <p:sp>
        <p:nvSpPr>
          <p:cNvPr id="48131" name="Text Box 1027"/>
          <p:cNvSpPr txBox="1">
            <a:spLocks noChangeArrowheads="1"/>
          </p:cNvSpPr>
          <p:nvPr/>
        </p:nvSpPr>
        <p:spPr bwMode="auto">
          <a:xfrm>
            <a:off x="228600" y="1600200"/>
            <a:ext cx="86868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b="1"/>
              <a:t>LA TEORIA ESTRUCTURALISTA SE CONCENTRA  EN EL ESTUDIO DE LAS ORGANIZACIONES, PRINCIPALMENTE</a:t>
            </a:r>
          </a:p>
          <a:p>
            <a:r>
              <a:rPr lang="es-MX" b="1"/>
              <a:t>EN SU ESTRUCTURA INTERNA Y EN SU INTERACCION </a:t>
            </a:r>
          </a:p>
          <a:p>
            <a:r>
              <a:rPr lang="es-MX" b="1"/>
              <a:t>CON OTRAS ORGANIZACIONES CON EL FIN DE ALCANZAR OBJETIVOS ESPECIFICOS.</a:t>
            </a:r>
          </a:p>
          <a:p>
            <a:endParaRPr lang="es-MX" b="1"/>
          </a:p>
          <a:p>
            <a:endParaRPr lang="es-MX" b="1"/>
          </a:p>
          <a:p>
            <a:r>
              <a:rPr lang="es-MX" b="1"/>
              <a:t>UN TIPO ESPECIFICO DE ORGANIZACIONES SON LAS FORMALES LAS CUALES CONSTITUYEN UNA FORMA DE  AGRUPAMIENTO SOCIAL QUE SE ESTABLECE CON EL PROPOSITO DE ALCANZAR UN OBJETIVO.</a:t>
            </a:r>
          </a:p>
          <a:p>
            <a:endParaRPr lang="es-MX" b="1"/>
          </a:p>
          <a:p>
            <a:endParaRPr lang="es-E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BD05584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76400"/>
            <a:ext cx="6019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s-MX" b="1" smtClean="0"/>
              <a:t>EL HOMBRE ORGANIZACIONAL</a:t>
            </a:r>
            <a:endParaRPr lang="es-ES" b="1" smtClean="0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669925" y="2276475"/>
            <a:ext cx="3138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/>
              <a:t> </a:t>
            </a:r>
            <a:r>
              <a:rPr lang="es-MX" sz="2800" b="1"/>
              <a:t>FLEXIBILIDAD</a:t>
            </a:r>
            <a:endParaRPr lang="es-ES" sz="2800" b="1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69925" y="2886075"/>
            <a:ext cx="2517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sz="2800" b="1"/>
              <a:t>PACIENCIA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688975" y="3595688"/>
            <a:ext cx="7845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sz="2800" b="1"/>
              <a:t>CAPACIDAD DIFERIR LAS RECOMPENSAS</a:t>
            </a:r>
            <a:endParaRPr lang="es-ES_tradnl"/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685800" y="4410075"/>
            <a:ext cx="75422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sz="2800" b="1"/>
              <a:t>PERMANENTE DESEO DE REALIZACION</a:t>
            </a:r>
            <a:endParaRPr lang="es-ES_tradnl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49" grpId="0" autoUpdateAnimBg="0"/>
      <p:bldP spid="6151" grpId="0" autoUpdateAnimBg="0"/>
      <p:bldP spid="615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 descr="PE01561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295400"/>
            <a:ext cx="5715000" cy="513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ANALISIS DE LAS ORGANIZACIONES</a:t>
            </a:r>
            <a:endParaRPr lang="es-ES" b="1" smtClean="0"/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457200" y="2438400"/>
            <a:ext cx="83994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>
                <a:solidFill>
                  <a:srgbClr val="FF00FF"/>
                </a:solidFill>
              </a:rPr>
              <a:t> </a:t>
            </a:r>
            <a:r>
              <a:rPr lang="en-US" sz="2800" b="1">
                <a:solidFill>
                  <a:srgbClr val="FF00FF"/>
                </a:solidFill>
              </a:rPr>
              <a:t>ORGANIZACION FORMAL E INFORMAL.</a:t>
            </a:r>
            <a:endParaRPr lang="es-ES" sz="2800" b="1">
              <a:solidFill>
                <a:srgbClr val="FF00FF"/>
              </a:solidFill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57200" y="3048000"/>
            <a:ext cx="78787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>
                <a:solidFill>
                  <a:srgbClr val="FF00FF"/>
                </a:solidFill>
              </a:rPr>
              <a:t>  </a:t>
            </a:r>
            <a:r>
              <a:rPr lang="en-US" sz="2800" b="1">
                <a:solidFill>
                  <a:srgbClr val="FF00FF"/>
                </a:solidFill>
              </a:rPr>
              <a:t>RECOMPESAS MATERIALES Y SOCIALES.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17525" y="3571875"/>
            <a:ext cx="832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b="1">
                <a:solidFill>
                  <a:srgbClr val="FF00FF"/>
                </a:solidFill>
              </a:rPr>
              <a:t>LOS DIFERENTES ENFOQUES Y DIFERENTES</a:t>
            </a:r>
          </a:p>
          <a:p>
            <a:pPr>
              <a:buFont typeface="Wingdings" pitchFamily="2" charset="2"/>
              <a:buNone/>
            </a:pPr>
            <a:r>
              <a:rPr lang="en-US" sz="2800" b="1">
                <a:solidFill>
                  <a:srgbClr val="FF00FF"/>
                </a:solidFill>
              </a:rPr>
              <a:t>    NIVELES DE LA ORGANIZACION</a:t>
            </a:r>
            <a:endParaRPr lang="es-ES_tradnl" sz="2800" b="1">
              <a:solidFill>
                <a:srgbClr val="FF00FF"/>
              </a:solidFill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517525" y="4714875"/>
            <a:ext cx="8248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>
                <a:solidFill>
                  <a:srgbClr val="FF00FF"/>
                </a:solidFill>
              </a:rPr>
              <a:t>MODELO RACIONAL DE LA ORGANIZACION</a:t>
            </a:r>
            <a:endParaRPr lang="es-ES_tradnl" b="1">
              <a:solidFill>
                <a:srgbClr val="FF00FF"/>
              </a:solidFill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517525" y="5476875"/>
            <a:ext cx="8070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>
                <a:solidFill>
                  <a:srgbClr val="FF00FF"/>
                </a:solidFill>
              </a:rPr>
              <a:t>MODELO NATURAL DE LA ORGANIZACION</a:t>
            </a:r>
            <a:endParaRPr lang="es-ES_tradnl" b="1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8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8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3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8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0" grpId="0" autoUpdateAnimBg="0"/>
      <p:bldP spid="9222" grpId="0" autoUpdateAnimBg="0"/>
      <p:bldP spid="9223" grpId="0" autoUpdateAnimBg="0"/>
      <p:bldP spid="922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47" name="Group 83"/>
          <p:cNvGraphicFramePr>
            <a:graphicFrameLocks noGrp="1"/>
          </p:cNvGraphicFramePr>
          <p:nvPr/>
        </p:nvGraphicFramePr>
        <p:xfrm>
          <a:off x="685800" y="1447800"/>
          <a:ext cx="7467600" cy="5015103"/>
        </p:xfrm>
        <a:graphic>
          <a:graphicData uri="http://schemas.openxmlformats.org/drawingml/2006/table">
            <a:tbl>
              <a:tblPr/>
              <a:tblGrid>
                <a:gridCol w="1752600"/>
                <a:gridCol w="1219200"/>
                <a:gridCol w="2209800"/>
                <a:gridCol w="22860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MODELO DE ORGANIZACIÓN</a:t>
                      </a:r>
                      <a:endParaRPr kumimoji="0" lang="es-E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LOGICA UTILIZADA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CARACTERISTICAS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ENFOQUES TIPICOS</a:t>
                      </a:r>
                      <a:endParaRPr kumimoji="0" lang="es-E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2700000" scaled="1"/>
                    </a:gradFill>
                  </a:tcPr>
                </a:tc>
              </a:tr>
              <a:tr h="2362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RACIONAL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SISTEMA CERRADO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VISION CENTRADA SOLO EN LOS ASPECTOS INTERNOS DEL SISTEMA CON ENFASIS EN LAPLANEACION Y EL CONTROL.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EXPECTATIVA DE CERTEZA Y PREVISIBILIDAD.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ADMINISTRACION CIENTIFICA DE TAYLOR.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s-MX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TEORIA CLASICA DE FAYOL.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s-MX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TEORIA DE LA BUROCRACIA DE WEBER.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9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NATURAL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SISTEMA ABIERTO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VISION CENTRADA EN EL SISTEMA Y SU INTERDEPENDENCIA CON EL AMBIENTE.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EXPECTATIVA DE IMPREVISIBILIDAD</a:t>
                      </a:r>
                      <a:endParaRPr kumimoji="0" lang="es-E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MODERNAS TEORIAS DE LA ADMINISTRACION, BASADAS EN LA TEORIA DE SISTEMAS.</a:t>
                      </a:r>
                      <a:endParaRPr kumimoji="0" lang="es-E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990600" y="2057400"/>
            <a:ext cx="6629400" cy="3581400"/>
          </a:xfrm>
          <a:prstGeom prst="flowChartExtra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s-ES_tradnl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593725" y="1676400"/>
            <a:ext cx="40227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s-MX" b="1"/>
              <a:t> </a:t>
            </a:r>
          </a:p>
          <a:p>
            <a:pPr>
              <a:buFont typeface="Wingdings" pitchFamily="2" charset="2"/>
              <a:buChar char="v"/>
            </a:pPr>
            <a:endParaRPr lang="es-MX" b="1"/>
          </a:p>
          <a:p>
            <a:pPr>
              <a:buFont typeface="Wingdings" pitchFamily="2" charset="2"/>
              <a:buChar char="Ø"/>
            </a:pPr>
            <a:r>
              <a:rPr lang="es-MX" b="1"/>
              <a:t> NIVEL INSTITUCIONAL</a:t>
            </a:r>
            <a:endParaRPr lang="es-ES" b="1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3276600" y="2971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2362200" y="39624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1447800" y="228600"/>
            <a:ext cx="6629400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s-MX" sz="4400" b="1"/>
              <a:t> DIFERENTES NIVELES </a:t>
            </a:r>
          </a:p>
          <a:p>
            <a:pPr algn="ctr">
              <a:buFont typeface="Wingdings" pitchFamily="2" charset="2"/>
              <a:buNone/>
            </a:pPr>
            <a:r>
              <a:rPr lang="es-MX" sz="4400" b="1"/>
              <a:t>DE LA ORGANIZACIÓN</a:t>
            </a:r>
          </a:p>
          <a:p>
            <a:pPr algn="ctr"/>
            <a:endParaRPr lang="es-ES_tradnl" sz="4400" b="1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669925" y="3276600"/>
            <a:ext cx="3317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s-MX" b="1"/>
              <a:t>NIVEL GERENCIAL</a:t>
            </a:r>
            <a:endParaRPr lang="es-ES_tradnl" b="1"/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746125" y="4537075"/>
            <a:ext cx="289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s-MX" b="1"/>
              <a:t>NIVEL TECNICO</a:t>
            </a:r>
            <a:endParaRPr lang="es-ES_tradnl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 autoUpdateAnimBg="0"/>
      <p:bldP spid="14339" grpId="0" autoUpdateAnimBg="0"/>
      <p:bldP spid="14346" grpId="0" animBg="1"/>
      <p:bldP spid="14348" grpId="0" animBg="1"/>
      <p:bldP spid="14350" grpId="0" autoUpdateAnimBg="0"/>
      <p:bldP spid="14352" grpId="0" autoUpdateAnimBg="0"/>
      <p:bldP spid="1435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990600" y="990600"/>
            <a:ext cx="69342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b="1"/>
              <a:t>DIVERSIDAD DE LAS ORGANIZACI ONES:</a:t>
            </a:r>
          </a:p>
          <a:p>
            <a:pPr>
              <a:buFont typeface="Wingdings" pitchFamily="2" charset="2"/>
              <a:buNone/>
            </a:pPr>
            <a:endParaRPr lang="es-MX" b="1"/>
          </a:p>
          <a:p>
            <a:pPr>
              <a:buFont typeface="Wingdings" pitchFamily="2" charset="2"/>
              <a:buNone/>
            </a:pPr>
            <a:r>
              <a:rPr lang="es-MX" sz="2000" b="1"/>
              <a:t>ANALISIS DE ORGANIZACIONES PEQUEÑAS, MEDIANAS Y GRANDES, PUBLICAS Y PRIVADAS.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62000" y="3048000"/>
            <a:ext cx="8351838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b="1"/>
              <a:t>ANALISIS INTERORGANIZACIONAL</a:t>
            </a:r>
          </a:p>
          <a:p>
            <a:pPr>
              <a:buFont typeface="Wingdings" pitchFamily="2" charset="2"/>
              <a:buNone/>
            </a:pPr>
            <a:endParaRPr lang="es-MX" b="1"/>
          </a:p>
          <a:p>
            <a:pPr>
              <a:buFont typeface="Wingdings" pitchFamily="2" charset="2"/>
              <a:buNone/>
            </a:pPr>
            <a:r>
              <a:rPr lang="es-MX" sz="2000" b="1"/>
              <a:t>SE TUVO EN CUENTA LOS FENOMENOS QUE OCURRIAN </a:t>
            </a:r>
          </a:p>
          <a:p>
            <a:pPr>
              <a:buFont typeface="Wingdings" pitchFamily="2" charset="2"/>
              <a:buNone/>
            </a:pPr>
            <a:r>
              <a:rPr lang="es-MX" sz="2000" b="1"/>
              <a:t>EXTERNAMENTE EN LAS ORGANIZACIONES, Y QUE AFECTABAN</a:t>
            </a:r>
          </a:p>
          <a:p>
            <a:pPr>
              <a:buFont typeface="Wingdings" pitchFamily="2" charset="2"/>
              <a:buNone/>
            </a:pPr>
            <a:r>
              <a:rPr lang="es-MX" sz="2000" b="1"/>
              <a:t> LO QUE OCURRIAN DENTRO DE  ELLA.</a:t>
            </a:r>
          </a:p>
          <a:p>
            <a:pPr>
              <a:buFont typeface="Wingdings" pitchFamily="2" charset="2"/>
              <a:buChar char="v"/>
            </a:pPr>
            <a:endParaRPr lang="es-ES" sz="2000" b="1"/>
          </a:p>
          <a:p>
            <a:endParaRPr lang="es-ES_tradnl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BD06784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905000"/>
            <a:ext cx="6248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676400" y="152400"/>
            <a:ext cx="6008688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4400" b="1"/>
              <a:t>TIPOLOGIAS DE LAS </a:t>
            </a:r>
          </a:p>
          <a:p>
            <a:pPr algn="ctr"/>
            <a:r>
              <a:rPr lang="es-MX" sz="4400" b="1"/>
              <a:t>ORGANIZACIONES</a:t>
            </a:r>
            <a:endParaRPr lang="es-ES" sz="4400" b="1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65125" y="1971675"/>
            <a:ext cx="4606925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sz="2800" b="1"/>
              <a:t>TIPOLOGIA DE ETZION</a:t>
            </a:r>
            <a:endParaRPr lang="es-ES" sz="1800" b="1"/>
          </a:p>
          <a:p>
            <a:endParaRPr lang="es-ES_tradnl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65125" y="2628900"/>
            <a:ext cx="4200525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s-MX" sz="1800" b="1"/>
              <a:t>ORGANIACIONES COERCITIVAS</a:t>
            </a:r>
          </a:p>
          <a:p>
            <a:pPr>
              <a:buFont typeface="Wingdings" pitchFamily="2" charset="2"/>
              <a:buChar char="Ø"/>
            </a:pPr>
            <a:r>
              <a:rPr lang="es-MX" sz="1800" b="1"/>
              <a:t>ORGANIZACIONES UTILITARIAS</a:t>
            </a:r>
          </a:p>
          <a:p>
            <a:pPr>
              <a:buFont typeface="Wingdings" pitchFamily="2" charset="2"/>
              <a:buChar char="Ø"/>
            </a:pPr>
            <a:r>
              <a:rPr lang="es-MX" sz="1800" b="1"/>
              <a:t> ORGANIZACIONES NORMATIVAS</a:t>
            </a:r>
          </a:p>
          <a:p>
            <a:endParaRPr lang="es-ES_tradnl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441325" y="3800475"/>
            <a:ext cx="5853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s-MX" sz="2800" b="1"/>
              <a:t>TIPOLOGIA DE BLAU Y SCOTT</a:t>
            </a:r>
            <a:endParaRPr lang="es-ES_tradnl"/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441325" y="4610100"/>
            <a:ext cx="64928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s-MX" sz="1800" b="1"/>
              <a:t>MIEMBROS DE LA ORGANIZACIÓN</a:t>
            </a:r>
          </a:p>
          <a:p>
            <a:pPr>
              <a:buFont typeface="Wingdings" pitchFamily="2" charset="2"/>
              <a:buChar char="Ø"/>
            </a:pPr>
            <a:r>
              <a:rPr lang="es-MX" sz="1800" b="1"/>
              <a:t>PROPIETARIOS O DIRIGENTES DE LA ORGANIZACIÓN</a:t>
            </a:r>
          </a:p>
          <a:p>
            <a:pPr>
              <a:buFont typeface="Wingdings" pitchFamily="2" charset="2"/>
              <a:buChar char="Ø"/>
            </a:pPr>
            <a:r>
              <a:rPr lang="es-MX" sz="1800" b="1"/>
              <a:t> CLIENTES DE LA ORGANIZACIÓN</a:t>
            </a:r>
          </a:p>
          <a:p>
            <a:pPr>
              <a:buFont typeface="Wingdings" pitchFamily="2" charset="2"/>
              <a:buChar char="Ø"/>
            </a:pPr>
            <a:r>
              <a:rPr lang="es-MX" sz="1800" b="1"/>
              <a:t> PUBLICO GENERAL</a:t>
            </a:r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13" grpId="0" autoUpdateAnimBg="0"/>
      <p:bldP spid="17414" grpId="0" autoUpdateAnimBg="0"/>
      <p:bldP spid="17415" grpId="0" autoUpdateAnimBg="0"/>
      <p:bldP spid="174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 descr="BS02064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295400"/>
            <a:ext cx="6400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533400" y="2044700"/>
            <a:ext cx="87804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s-MX" b="1"/>
              <a:t> UN OBJETIVO ORGANIZACIONAL ES UNA SITUACION</a:t>
            </a:r>
          </a:p>
          <a:p>
            <a:r>
              <a:rPr lang="es-MX" b="1"/>
              <a:t>DESEADA QUE LA ORGANIZACIÓN INTENTA ALCANZAR.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600200" y="0"/>
            <a:ext cx="6176963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4400" b="1"/>
              <a:t>OBJETIVOS </a:t>
            </a:r>
          </a:p>
          <a:p>
            <a:pPr algn="ctr"/>
            <a:r>
              <a:rPr lang="es-MX" sz="4400" b="1"/>
              <a:t>ORGANIZACIONALES</a:t>
            </a:r>
          </a:p>
          <a:p>
            <a:pPr algn="ctr"/>
            <a:endParaRPr lang="es-ES_tradnl" sz="4400" b="1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93725" y="2936875"/>
            <a:ext cx="83661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s-MX" b="1"/>
              <a:t>ES UNA IMAGEN QUE LA ORGANIZACIÓN PRETENDE </a:t>
            </a:r>
          </a:p>
          <a:p>
            <a:r>
              <a:rPr lang="es-MX" b="1"/>
              <a:t>PARA SU FUTURO.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69925" y="3748088"/>
            <a:ext cx="4079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s-MX" sz="2000" b="1"/>
              <a:t>OBJETIVOS DE LA SOCIEDAD</a:t>
            </a:r>
            <a:endParaRPr lang="es-ES_tradnl"/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669925" y="4281488"/>
            <a:ext cx="40719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s-MX" sz="2000" b="1"/>
              <a:t>OBJETIVOS DE PRODUCCION</a:t>
            </a:r>
            <a:endParaRPr lang="es-ES_tradnl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746125" y="4662488"/>
            <a:ext cx="3605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s-MX" sz="2000" b="1"/>
              <a:t>OBJETIVOS DE SISTEMAS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746125" y="5119688"/>
            <a:ext cx="3916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s-MX" sz="2000" b="1"/>
              <a:t>OBJETIVOS DE PRODUCTOS</a:t>
            </a:r>
            <a:endParaRPr lang="es-ES_tradnl"/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746125" y="5500688"/>
            <a:ext cx="342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s-MX" sz="2000" b="1"/>
              <a:t>OBJETIVOS DERIVADOS</a:t>
            </a:r>
            <a:endParaRPr lang="es-ES_tradnl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6" grpId="0" autoUpdateAnimBg="0"/>
      <p:bldP spid="18437" grpId="0" autoUpdateAnimBg="0"/>
      <p:bldP spid="18438" grpId="0" autoUpdateAnimBg="0"/>
      <p:bldP spid="18439" grpId="0" autoUpdateAnimBg="0"/>
      <p:bldP spid="18440" grpId="0" autoUpdateAnimBg="0"/>
      <p:bldP spid="18441" grpId="0" autoUpdateAnimBg="0"/>
      <p:bldP spid="1844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 descr="BD04937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704975"/>
            <a:ext cx="6248400" cy="456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57200" y="727075"/>
            <a:ext cx="78486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4400" b="1"/>
              <a:t>AMBIENTE ORGANIZACIONAL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04800" y="3111500"/>
            <a:ext cx="8977313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b="1"/>
              <a:t>AMBIENTE ES TODO LO QUE ENVUELVE EXTERNAMENTE</a:t>
            </a:r>
          </a:p>
          <a:p>
            <a:r>
              <a:rPr lang="es-MX" b="1"/>
              <a:t>UNA ORGANIZACIÓN. PARA LOS ESTRUCTURALISTAS,</a:t>
            </a:r>
          </a:p>
          <a:p>
            <a:r>
              <a:rPr lang="es-MX" b="1"/>
              <a:t>EL AMBIENTE ESTA CONSTITUIDO POR LAS OTRAS </a:t>
            </a:r>
          </a:p>
          <a:p>
            <a:r>
              <a:rPr lang="es-MX" b="1"/>
              <a:t>ORGANIZACIONES QUE FORMAN LA SOCIEDAD. </a:t>
            </a:r>
            <a:endParaRPr lang="es-ES" b="1"/>
          </a:p>
          <a:p>
            <a:endParaRPr lang="es-ES_tradnl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6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752600" y="457200"/>
            <a:ext cx="6176963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4400" b="1"/>
              <a:t>CONFLICTOS </a:t>
            </a:r>
          </a:p>
          <a:p>
            <a:pPr algn="ctr"/>
            <a:r>
              <a:rPr lang="es-ES_tradnl" sz="4400" b="1"/>
              <a:t>ORGANIZACIONALES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85775" y="3384550"/>
            <a:ext cx="794226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b="1"/>
              <a:t>SIGNIFICA EXISTENCIA DE IDEAS, SENTIMIENTOS, </a:t>
            </a:r>
          </a:p>
          <a:p>
            <a:pPr algn="ctr"/>
            <a:r>
              <a:rPr lang="es-ES_tradnl" b="1"/>
              <a:t>ACTITUDES O INTERESES ANTAGÓNICOS</a:t>
            </a:r>
          </a:p>
          <a:p>
            <a:pPr algn="ctr"/>
            <a:r>
              <a:rPr lang="es-ES_tradnl" b="1"/>
              <a:t>Y ENFRENTADOS QUE PUEDEN CHOCAR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514725" y="2174875"/>
            <a:ext cx="2030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b="1"/>
              <a:t>CONFLICTO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autoUpdateAnimBg="0"/>
      <p:bldP spid="2765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989013" y="328613"/>
            <a:ext cx="6935787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4400" b="1"/>
              <a:t>SITUACIONES QUE </a:t>
            </a:r>
          </a:p>
          <a:p>
            <a:pPr algn="ctr"/>
            <a:r>
              <a:rPr lang="es-ES_tradnl" sz="4400" b="1"/>
              <a:t>PROVOCAN CONFLICTO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76200" y="2165350"/>
            <a:ext cx="90424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S Outlook" pitchFamily="2" charset="2"/>
              <a:buChar char="E"/>
            </a:pPr>
            <a:r>
              <a:rPr lang="es-ES_tradnl"/>
              <a:t> </a:t>
            </a:r>
            <a:r>
              <a:rPr lang="es-ES_tradnl" b="1"/>
              <a:t>CONFLICTO ENTRE LA AUTORIDAD DEL ESPECIALISTA</a:t>
            </a:r>
          </a:p>
          <a:p>
            <a:pPr>
              <a:buFont typeface="MS Outlook" pitchFamily="2" charset="2"/>
              <a:buNone/>
            </a:pPr>
            <a:r>
              <a:rPr lang="es-ES_tradnl" b="1"/>
              <a:t>     (CONOCIMIENTO) Y LA AUTORIDAD ADMINISTRATIVA</a:t>
            </a:r>
          </a:p>
          <a:p>
            <a:pPr>
              <a:buFont typeface="MS Outlook" pitchFamily="2" charset="2"/>
              <a:buNone/>
            </a:pPr>
            <a:r>
              <a:rPr lang="es-ES_tradnl" b="1"/>
              <a:t>     (JERARQUIA)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76200" y="3581400"/>
            <a:ext cx="9101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S Outlook" pitchFamily="2" charset="2"/>
              <a:buChar char="E"/>
            </a:pPr>
            <a:r>
              <a:rPr lang="es-ES_tradnl"/>
              <a:t> </a:t>
            </a:r>
            <a:r>
              <a:rPr lang="es-ES_tradnl" b="1"/>
              <a:t>DILEMAS DE LA ORGANIZACIÓN, SEGÚN BLAU Y SCOTT</a:t>
            </a:r>
            <a:endParaRPr lang="es-ES_tradnl"/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6200" y="4267200"/>
            <a:ext cx="671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S Outlook" pitchFamily="2" charset="2"/>
              <a:buChar char="E"/>
            </a:pPr>
            <a:r>
              <a:rPr lang="es-ES_tradnl"/>
              <a:t> </a:t>
            </a:r>
            <a:r>
              <a:rPr lang="es-ES_tradnl" b="1"/>
              <a:t>CONFLICTOS ENTRE LÍNEA Y ASESORÍA</a:t>
            </a:r>
            <a:endParaRPr lang="es-ES_tradnl"/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52400" y="5029200"/>
            <a:ext cx="7431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MS Outlook" pitchFamily="2" charset="2"/>
              <a:buChar char="E"/>
            </a:pPr>
            <a:r>
              <a:rPr lang="es-ES_tradnl"/>
              <a:t> </a:t>
            </a:r>
            <a:r>
              <a:rPr lang="es-ES_tradnl" b="1"/>
              <a:t>MAQUIAVELISMO EN LAS ORGANIZACIONES</a:t>
            </a:r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autoUpdateAnimBg="0"/>
      <p:bldP spid="37892" grpId="0" autoUpdateAnimBg="0"/>
      <p:bldP spid="37893" grpId="0" autoUpdateAnimBg="0"/>
      <p:bldP spid="3789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3413125" y="685800"/>
            <a:ext cx="248126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4400" b="1"/>
              <a:t>DILEMA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577850" y="1905000"/>
            <a:ext cx="7953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/>
              <a:t>ES UNA SITUACIÓN EN LA QUE SE DESEA ATENDERA </a:t>
            </a:r>
          </a:p>
          <a:p>
            <a:pPr algn="ctr"/>
            <a:r>
              <a:rPr lang="es-ES_tradnl"/>
              <a:t>DOS INTERESES INCOMPATIBLES ENTRE SÍ</a:t>
            </a:r>
          </a:p>
        </p:txBody>
      </p:sp>
      <p:graphicFrame>
        <p:nvGraphicFramePr>
          <p:cNvPr id="54272" name="Object 0"/>
          <p:cNvGraphicFramePr>
            <a:graphicFrameLocks noChangeAspect="1"/>
          </p:cNvGraphicFramePr>
          <p:nvPr/>
        </p:nvGraphicFramePr>
        <p:xfrm>
          <a:off x="5791200" y="2895600"/>
          <a:ext cx="2209800" cy="3273425"/>
        </p:xfrm>
        <a:graphic>
          <a:graphicData uri="http://schemas.openxmlformats.org/presentationml/2006/ole">
            <p:oleObj spid="_x0000_s1026" name="Clip" r:id="rId3" imgW="3848040" imgH="54781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5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093913" y="152400"/>
            <a:ext cx="4764087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4400" b="1"/>
              <a:t>DILEMAS DE LA </a:t>
            </a:r>
          </a:p>
          <a:p>
            <a:r>
              <a:rPr lang="es-ES_tradnl" sz="4400" b="1"/>
              <a:t>ORGANIZACIÓN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143000" y="1905000"/>
            <a:ext cx="70866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127125" y="2209800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Coordinación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470525" y="2209800"/>
            <a:ext cx="2625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/>
              <a:t>Libre comunicación</a:t>
            </a:r>
          </a:p>
        </p:txBody>
      </p:sp>
      <p:sp>
        <p:nvSpPr>
          <p:cNvPr id="22534" name="AutoShape 6"/>
          <p:cNvSpPr>
            <a:spLocks noChangeArrowheads="1"/>
          </p:cNvSpPr>
          <p:nvPr/>
        </p:nvSpPr>
        <p:spPr bwMode="auto">
          <a:xfrm>
            <a:off x="3048000" y="2286000"/>
            <a:ext cx="2286000" cy="304800"/>
          </a:xfrm>
          <a:prstGeom prst="leftRight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203325" y="3140075"/>
            <a:ext cx="1603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/>
              <a:t>Disciplina</a:t>
            </a:r>
          </a:p>
          <a:p>
            <a:pPr algn="ctr"/>
            <a:r>
              <a:rPr lang="es-ES_tradnl"/>
              <a:t>Burocrática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5680075" y="3063875"/>
            <a:ext cx="20923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/>
              <a:t>Especialización</a:t>
            </a:r>
          </a:p>
          <a:p>
            <a:pPr algn="ctr"/>
            <a:r>
              <a:rPr lang="es-ES_tradnl"/>
              <a:t>Profesional</a:t>
            </a:r>
          </a:p>
        </p:txBody>
      </p:sp>
      <p:sp>
        <p:nvSpPr>
          <p:cNvPr id="22537" name="AutoShape 9"/>
          <p:cNvSpPr>
            <a:spLocks noChangeArrowheads="1"/>
          </p:cNvSpPr>
          <p:nvPr/>
        </p:nvSpPr>
        <p:spPr bwMode="auto">
          <a:xfrm>
            <a:off x="3124200" y="3352800"/>
            <a:ext cx="2286000" cy="304800"/>
          </a:xfrm>
          <a:prstGeom prst="leftRight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1279525" y="4283075"/>
            <a:ext cx="17208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/>
              <a:t>Planeación</a:t>
            </a:r>
          </a:p>
          <a:p>
            <a:pPr algn="ctr"/>
            <a:r>
              <a:rPr lang="es-ES_tradnl"/>
              <a:t>Centralizada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6032500" y="4206875"/>
            <a:ext cx="1435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/>
              <a:t>Iniciativa</a:t>
            </a:r>
          </a:p>
          <a:p>
            <a:pPr algn="ctr"/>
            <a:r>
              <a:rPr lang="es-ES_tradnl"/>
              <a:t>Individual</a:t>
            </a:r>
          </a:p>
        </p:txBody>
      </p:sp>
      <p:sp>
        <p:nvSpPr>
          <p:cNvPr id="22540" name="AutoShape 12"/>
          <p:cNvSpPr>
            <a:spLocks noChangeArrowheads="1"/>
          </p:cNvSpPr>
          <p:nvPr/>
        </p:nvSpPr>
        <p:spPr bwMode="auto">
          <a:xfrm>
            <a:off x="3276600" y="4495800"/>
            <a:ext cx="2286000" cy="304800"/>
          </a:xfrm>
          <a:prstGeom prst="leftRight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8" grpId="0" autoUpdateAnimBg="0"/>
      <p:bldP spid="31749" grpId="0" autoUpdateAnimBg="0"/>
      <p:bldP spid="31751" grpId="0" autoUpdateAnimBg="0"/>
      <p:bldP spid="31752" grpId="0" autoUpdateAnimBg="0"/>
      <p:bldP spid="31754" grpId="0" autoUpdateAnimBg="0"/>
      <p:bldP spid="3175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990600" y="168275"/>
            <a:ext cx="7326313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4400" b="1"/>
              <a:t>EVALUACIÓN CRÍTICA</a:t>
            </a:r>
          </a:p>
          <a:p>
            <a:pPr algn="ctr"/>
            <a:r>
              <a:rPr lang="es-ES_tradnl" sz="4400" b="1"/>
              <a:t> DEL ESTRUCTURALISMO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669925" y="1981200"/>
            <a:ext cx="65468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CONVERGENCIA DE VARIOS ENFOQUES </a:t>
            </a:r>
          </a:p>
          <a:p>
            <a:pPr>
              <a:buFont typeface="Wingdings" pitchFamily="2" charset="2"/>
              <a:buNone/>
            </a:pPr>
            <a:r>
              <a:rPr lang="es-ES_tradnl" b="1"/>
              <a:t>    DIVERGENTES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669925" y="2895600"/>
            <a:ext cx="4730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AMPLIACIÓN DEL ENFOQUE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69925" y="3429000"/>
            <a:ext cx="4886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DOBLE TENDENCIA TEORICA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685800" y="4114800"/>
            <a:ext cx="7116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ANÁLISIS ORGANIZACIONAL MÁS EXTENSO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685800" y="4724400"/>
            <a:ext cx="61071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INADECUACIÓN DE LAS TIPOLOGÍAS </a:t>
            </a:r>
          </a:p>
          <a:p>
            <a:pPr>
              <a:buFont typeface="Wingdings" pitchFamily="2" charset="2"/>
              <a:buNone/>
            </a:pPr>
            <a:r>
              <a:rPr lang="es-ES_tradnl" b="1"/>
              <a:t>   ORGANIZACIONALES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685800" y="5638800"/>
            <a:ext cx="3709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TEORÍA DE LA CRISIS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685800" y="6213475"/>
            <a:ext cx="630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t"/>
            </a:pPr>
            <a:r>
              <a:rPr lang="es-ES_tradnl" b="1"/>
              <a:t>TEORÍA DE TRANSICIÓN Y DE CAMBIO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5" grpId="0" autoUpdateAnimBg="0"/>
      <p:bldP spid="33796" grpId="0" autoUpdateAnimBg="0"/>
      <p:bldP spid="33797" grpId="0" autoUpdateAnimBg="0"/>
      <p:bldP spid="33798" grpId="0" autoUpdateAnimBg="0"/>
      <p:bldP spid="33799" grpId="0" autoUpdateAnimBg="0"/>
      <p:bldP spid="33800" grpId="0" autoUpdateAnimBg="0"/>
      <p:bldP spid="3380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685800" y="0"/>
            <a:ext cx="8077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s-MX" sz="4400" b="1">
                <a:solidFill>
                  <a:schemeClr val="tx2"/>
                </a:solidFill>
              </a:rPr>
              <a:t>PARALELO COMPARATIVO</a:t>
            </a:r>
            <a:endParaRPr lang="es-ES" sz="4400" b="1">
              <a:solidFill>
                <a:schemeClr val="tx2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4800" y="609600"/>
            <a:ext cx="8534400" cy="6096000"/>
            <a:chOff x="192" y="384"/>
            <a:chExt cx="5376" cy="3840"/>
          </a:xfrm>
        </p:grpSpPr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3625" y="4000"/>
              <a:ext cx="1943" cy="224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Eficiencia y eficacia.</a:t>
              </a:r>
              <a:endParaRPr lang="es-ES" sz="1600"/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1811" y="4000"/>
              <a:ext cx="1814" cy="224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Eficiencia máxima.</a:t>
              </a:r>
              <a:endParaRPr lang="es-ES" sz="1600"/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192" y="4000"/>
              <a:ext cx="1619" cy="224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Preocupación </a:t>
              </a:r>
              <a:endParaRPr lang="es-ES" sz="1600"/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3625" y="3142"/>
              <a:ext cx="1943" cy="85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Equilibrio entre objetivos organizacionales e individuales.</a:t>
              </a:r>
            </a:p>
            <a:p>
              <a:pPr>
                <a:spcBef>
                  <a:spcPct val="20000"/>
                </a:spcBef>
              </a:pPr>
              <a:r>
                <a:rPr lang="es-MX" sz="1600"/>
                <a:t>Conflictos inevitables y hasta deseables, pues llevan al cambio y a la innovación.</a:t>
              </a:r>
              <a:endParaRPr lang="es-ES" sz="1600"/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1811" y="3142"/>
              <a:ext cx="1814" cy="85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Predominio de los objetivos organizacionales. No hay conflicto perceptible entre objetivos organizacionales e individuales.</a:t>
              </a:r>
              <a:endParaRPr lang="es-ES" sz="1600"/>
            </a:p>
          </p:txBody>
        </p:sp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192" y="3142"/>
              <a:ext cx="1619" cy="85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Relacion entre objetivos</a:t>
              </a:r>
              <a:endParaRPr lang="es-ES" sz="1600"/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3625" y="2931"/>
              <a:ext cx="1943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Hombre organizacional.</a:t>
              </a:r>
              <a:endParaRPr lang="es-ES" sz="1600"/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1811" y="2931"/>
              <a:ext cx="1814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Hombre organizacional.</a:t>
              </a:r>
              <a:endParaRPr lang="es-ES" sz="1600"/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192" y="2931"/>
              <a:ext cx="1619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Concepcion del hombre</a:t>
              </a:r>
              <a:endParaRPr lang="es-ES" sz="1600"/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3625" y="2412"/>
              <a:ext cx="1943" cy="519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Ser social que desempeña roles dentro de varias organizaciones.</a:t>
              </a:r>
              <a:endParaRPr lang="es-ES" sz="1600"/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1811" y="2412"/>
              <a:ext cx="1814" cy="519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Ser aislado que reacciona como ocupante de un cargo o de una posicion jerarquica.</a:t>
              </a:r>
              <a:endParaRPr lang="es-ES" sz="1600"/>
            </a:p>
          </p:txBody>
        </p:sp>
        <p:sp>
          <p:nvSpPr>
            <p:cNvPr id="24591" name="Rectangle 15"/>
            <p:cNvSpPr>
              <a:spLocks noChangeArrowheads="1"/>
            </p:cNvSpPr>
            <p:nvPr/>
          </p:nvSpPr>
          <p:spPr bwMode="auto">
            <a:xfrm>
              <a:off x="192" y="2412"/>
              <a:ext cx="1619" cy="519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Comportamiento humano</a:t>
              </a:r>
              <a:endParaRPr lang="es-ES" sz="1600"/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3625" y="1862"/>
              <a:ext cx="1943" cy="550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Sociología organizacional.</a:t>
              </a:r>
            </a:p>
            <a:p>
              <a:pPr>
                <a:spcBef>
                  <a:spcPct val="20000"/>
                </a:spcBef>
              </a:pPr>
              <a:r>
                <a:rPr lang="es-MX" sz="1600"/>
                <a:t>Sociedad de organizaciones y enfoque   múltiple.</a:t>
              </a:r>
              <a:endParaRPr lang="es-ES" sz="1600"/>
            </a:p>
          </p:txBody>
        </p:sp>
        <p:sp>
          <p:nvSpPr>
            <p:cNvPr id="24593" name="Rectangle 17"/>
            <p:cNvSpPr>
              <a:spLocks noChangeArrowheads="1"/>
            </p:cNvSpPr>
            <p:nvPr/>
          </p:nvSpPr>
          <p:spPr bwMode="auto">
            <a:xfrm>
              <a:off x="1811" y="1862"/>
              <a:ext cx="1814" cy="550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Sociología de la burocracia.</a:t>
              </a:r>
            </a:p>
            <a:p>
              <a:pPr>
                <a:spcBef>
                  <a:spcPct val="20000"/>
                </a:spcBef>
              </a:pPr>
              <a:r>
                <a:rPr lang="es-MX" sz="1600"/>
                <a:t>enfoque simplista</a:t>
              </a:r>
              <a:endParaRPr lang="es-ES" sz="1600"/>
            </a:p>
          </p:txBody>
        </p:sp>
        <p:sp>
          <p:nvSpPr>
            <p:cNvPr id="24594" name="Rectangle 18"/>
            <p:cNvSpPr>
              <a:spLocks noChangeArrowheads="1"/>
            </p:cNvSpPr>
            <p:nvPr/>
          </p:nvSpPr>
          <p:spPr bwMode="auto">
            <a:xfrm>
              <a:off x="192" y="1862"/>
              <a:ext cx="1619" cy="550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Carácter de la administracion</a:t>
              </a:r>
              <a:endParaRPr lang="es-ES" sz="1600"/>
            </a:p>
          </p:txBody>
        </p:sp>
        <p:sp>
          <p:nvSpPr>
            <p:cNvPr id="24595" name="Rectangle 19"/>
            <p:cNvSpPr>
              <a:spLocks noChangeArrowheads="1"/>
            </p:cNvSpPr>
            <p:nvPr/>
          </p:nvSpPr>
          <p:spPr bwMode="auto">
            <a:xfrm>
              <a:off x="3625" y="1343"/>
              <a:ext cx="1943" cy="519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Sistema social intencionalmente construido y reconstruido para alcanzar objetivos</a:t>
              </a:r>
              <a:endParaRPr lang="es-ES" sz="1600"/>
            </a:p>
          </p:txBody>
        </p:sp>
        <p:sp>
          <p:nvSpPr>
            <p:cNvPr id="24596" name="Rectangle 20"/>
            <p:cNvSpPr>
              <a:spLocks noChangeArrowheads="1"/>
            </p:cNvSpPr>
            <p:nvPr/>
          </p:nvSpPr>
          <p:spPr bwMode="auto">
            <a:xfrm>
              <a:off x="1811" y="1343"/>
              <a:ext cx="1814" cy="519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Sistema social como conjunto de funciones oficiales</a:t>
              </a:r>
              <a:endParaRPr lang="es-ES" sz="1600"/>
            </a:p>
          </p:txBody>
        </p:sp>
        <p:sp>
          <p:nvSpPr>
            <p:cNvPr id="24597" name="Rectangle 21"/>
            <p:cNvSpPr>
              <a:spLocks noChangeArrowheads="1"/>
            </p:cNvSpPr>
            <p:nvPr/>
          </p:nvSpPr>
          <p:spPr bwMode="auto">
            <a:xfrm>
              <a:off x="192" y="1343"/>
              <a:ext cx="1619" cy="519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Concepto de la organización</a:t>
              </a:r>
              <a:endParaRPr lang="es-ES" sz="1600"/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3625" y="1132"/>
              <a:ext cx="1943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Sistema abierto</a:t>
              </a:r>
              <a:endParaRPr lang="es-ES" sz="1600"/>
            </a:p>
          </p:txBody>
        </p:sp>
        <p:sp>
          <p:nvSpPr>
            <p:cNvPr id="24599" name="Rectangle 23"/>
            <p:cNvSpPr>
              <a:spLocks noChangeArrowheads="1"/>
            </p:cNvSpPr>
            <p:nvPr/>
          </p:nvSpPr>
          <p:spPr bwMode="auto">
            <a:xfrm>
              <a:off x="1811" y="1132"/>
              <a:ext cx="1814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Sistema cerrado</a:t>
              </a:r>
              <a:endParaRPr lang="es-ES" sz="1600"/>
            </a:p>
          </p:txBody>
        </p:sp>
        <p:sp>
          <p:nvSpPr>
            <p:cNvPr id="24600" name="Rectangle 24"/>
            <p:cNvSpPr>
              <a:spLocks noChangeArrowheads="1"/>
            </p:cNvSpPr>
            <p:nvPr/>
          </p:nvSpPr>
          <p:spPr bwMode="auto">
            <a:xfrm>
              <a:off x="192" y="1132"/>
              <a:ext cx="1619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Enfoque</a:t>
              </a:r>
              <a:endParaRPr lang="es-ES" sz="1600"/>
            </a:p>
          </p:txBody>
        </p:sp>
        <p:sp>
          <p:nvSpPr>
            <p:cNvPr id="24601" name="Rectangle 25"/>
            <p:cNvSpPr>
              <a:spLocks noChangeArrowheads="1"/>
            </p:cNvSpPr>
            <p:nvPr/>
          </p:nvSpPr>
          <p:spPr bwMode="auto">
            <a:xfrm>
              <a:off x="3625" y="921"/>
              <a:ext cx="1943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Organización formal e informal</a:t>
              </a:r>
              <a:endParaRPr lang="es-ES" sz="1600"/>
            </a:p>
          </p:txBody>
        </p:sp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>
              <a:off x="1811" y="921"/>
              <a:ext cx="1814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Organización formal</a:t>
              </a:r>
              <a:endParaRPr lang="es-ES" sz="1600"/>
            </a:p>
          </p:txBody>
        </p:sp>
        <p:sp>
          <p:nvSpPr>
            <p:cNvPr id="24603" name="Rectangle 27"/>
            <p:cNvSpPr>
              <a:spLocks noChangeArrowheads="1"/>
            </p:cNvSpPr>
            <p:nvPr/>
          </p:nvSpPr>
          <p:spPr bwMode="auto">
            <a:xfrm>
              <a:off x="192" y="921"/>
              <a:ext cx="1619" cy="21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Enfoque de la organización</a:t>
              </a:r>
              <a:endParaRPr lang="es-ES" sz="1600"/>
            </a:p>
          </p:txBody>
        </p:sp>
        <p:sp>
          <p:nvSpPr>
            <p:cNvPr id="24604" name="Rectangle 28"/>
            <p:cNvSpPr>
              <a:spLocks noChangeArrowheads="1"/>
            </p:cNvSpPr>
            <p:nvPr/>
          </p:nvSpPr>
          <p:spPr bwMode="auto">
            <a:xfrm>
              <a:off x="3625" y="556"/>
              <a:ext cx="1943" cy="36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En la estructura organizacional en las personas y en el ambiente</a:t>
              </a:r>
              <a:endParaRPr lang="es-ES" sz="1600"/>
            </a:p>
          </p:txBody>
        </p:sp>
        <p:sp>
          <p:nvSpPr>
            <p:cNvPr id="24605" name="Rectangle 29"/>
            <p:cNvSpPr>
              <a:spLocks noChangeArrowheads="1"/>
            </p:cNvSpPr>
            <p:nvPr/>
          </p:nvSpPr>
          <p:spPr bwMode="auto">
            <a:xfrm>
              <a:off x="1811" y="556"/>
              <a:ext cx="1814" cy="36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Sòlo en la estructura organizacional</a:t>
              </a:r>
              <a:endParaRPr lang="es-ES" sz="1600"/>
            </a:p>
          </p:txBody>
        </p:sp>
        <p:sp>
          <p:nvSpPr>
            <p:cNvPr id="24606" name="Rectangle 30"/>
            <p:cNvSpPr>
              <a:spLocks noChangeArrowheads="1"/>
            </p:cNvSpPr>
            <p:nvPr/>
          </p:nvSpPr>
          <p:spPr bwMode="auto">
            <a:xfrm>
              <a:off x="192" y="556"/>
              <a:ext cx="1619" cy="36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s-MX" sz="1600"/>
                <a:t>Ènfasis</a:t>
              </a:r>
              <a:endParaRPr lang="es-ES" sz="1600"/>
            </a:p>
          </p:txBody>
        </p:sp>
        <p:sp>
          <p:nvSpPr>
            <p:cNvPr id="24607" name="Rectangle 31"/>
            <p:cNvSpPr>
              <a:spLocks noChangeArrowheads="1"/>
            </p:cNvSpPr>
            <p:nvPr/>
          </p:nvSpPr>
          <p:spPr bwMode="auto">
            <a:xfrm>
              <a:off x="3625" y="384"/>
              <a:ext cx="1943" cy="172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s-MX" sz="1200" b="1"/>
                <a:t>TEORIA ESTRUCTURALISTA</a:t>
              </a:r>
              <a:endParaRPr lang="es-ES" sz="1200" b="1"/>
            </a:p>
          </p:txBody>
        </p:sp>
        <p:sp>
          <p:nvSpPr>
            <p:cNvPr id="24608" name="Rectangle 32"/>
            <p:cNvSpPr>
              <a:spLocks noChangeArrowheads="1"/>
            </p:cNvSpPr>
            <p:nvPr/>
          </p:nvSpPr>
          <p:spPr bwMode="auto">
            <a:xfrm>
              <a:off x="1811" y="384"/>
              <a:ext cx="1814" cy="172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s-MX" sz="1200" b="1"/>
                <a:t>TEORIA DE LA BUROCRACIA</a:t>
              </a:r>
              <a:endParaRPr lang="es-ES" sz="1200" b="1"/>
            </a:p>
          </p:txBody>
        </p:sp>
        <p:sp>
          <p:nvSpPr>
            <p:cNvPr id="24609" name="Rectangle 33"/>
            <p:cNvSpPr>
              <a:spLocks noChangeArrowheads="1"/>
            </p:cNvSpPr>
            <p:nvPr/>
          </p:nvSpPr>
          <p:spPr bwMode="auto">
            <a:xfrm>
              <a:off x="192" y="384"/>
              <a:ext cx="1619" cy="172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s-MX" sz="1200" b="1"/>
                <a:t>ASPECTOS</a:t>
              </a:r>
              <a:endParaRPr lang="es-ES" sz="1200" b="1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>
              <a:off x="192" y="384"/>
              <a:ext cx="53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>
              <a:off x="192" y="556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2" name="Line 36"/>
            <p:cNvSpPr>
              <a:spLocks noChangeShapeType="1"/>
            </p:cNvSpPr>
            <p:nvPr/>
          </p:nvSpPr>
          <p:spPr bwMode="auto">
            <a:xfrm>
              <a:off x="192" y="921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3" name="Line 37"/>
            <p:cNvSpPr>
              <a:spLocks noChangeShapeType="1"/>
            </p:cNvSpPr>
            <p:nvPr/>
          </p:nvSpPr>
          <p:spPr bwMode="auto">
            <a:xfrm>
              <a:off x="192" y="1132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>
              <a:off x="192" y="1343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5" name="Line 39"/>
            <p:cNvSpPr>
              <a:spLocks noChangeShapeType="1"/>
            </p:cNvSpPr>
            <p:nvPr/>
          </p:nvSpPr>
          <p:spPr bwMode="auto">
            <a:xfrm>
              <a:off x="192" y="1862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>
              <a:off x="192" y="2412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>
              <a:off x="192" y="2931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>
              <a:off x="192" y="3142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19" name="Line 43"/>
            <p:cNvSpPr>
              <a:spLocks noChangeShapeType="1"/>
            </p:cNvSpPr>
            <p:nvPr/>
          </p:nvSpPr>
          <p:spPr bwMode="auto">
            <a:xfrm>
              <a:off x="192" y="4000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20" name="Line 44"/>
            <p:cNvSpPr>
              <a:spLocks noChangeShapeType="1"/>
            </p:cNvSpPr>
            <p:nvPr/>
          </p:nvSpPr>
          <p:spPr bwMode="auto">
            <a:xfrm>
              <a:off x="192" y="4224"/>
              <a:ext cx="53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21" name="Line 45"/>
            <p:cNvSpPr>
              <a:spLocks noChangeShapeType="1"/>
            </p:cNvSpPr>
            <p:nvPr/>
          </p:nvSpPr>
          <p:spPr bwMode="auto">
            <a:xfrm>
              <a:off x="192" y="384"/>
              <a:ext cx="0" cy="38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22" name="Line 46"/>
            <p:cNvSpPr>
              <a:spLocks noChangeShapeType="1"/>
            </p:cNvSpPr>
            <p:nvPr/>
          </p:nvSpPr>
          <p:spPr bwMode="auto">
            <a:xfrm>
              <a:off x="1811" y="384"/>
              <a:ext cx="0" cy="3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23" name="Line 47"/>
            <p:cNvSpPr>
              <a:spLocks noChangeShapeType="1"/>
            </p:cNvSpPr>
            <p:nvPr/>
          </p:nvSpPr>
          <p:spPr bwMode="auto">
            <a:xfrm>
              <a:off x="3625" y="384"/>
              <a:ext cx="0" cy="3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24" name="Line 48"/>
            <p:cNvSpPr>
              <a:spLocks noChangeShapeType="1"/>
            </p:cNvSpPr>
            <p:nvPr/>
          </p:nvSpPr>
          <p:spPr bwMode="auto">
            <a:xfrm>
              <a:off x="5568" y="384"/>
              <a:ext cx="0" cy="38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609600" y="4953000"/>
            <a:ext cx="741997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_tradnl" sz="4400" b="1">
                <a:latin typeface="Arial" charset="0"/>
              </a:rPr>
              <a:t>¡GRACIAS POR SU </a:t>
            </a:r>
          </a:p>
          <a:p>
            <a:pPr algn="ctr"/>
            <a:r>
              <a:rPr lang="es-ES_tradnl" sz="4400" b="1">
                <a:latin typeface="Arial" charset="0"/>
              </a:rPr>
              <a:t>ATENCIÒN!</a:t>
            </a:r>
          </a:p>
        </p:txBody>
      </p:sp>
      <p:graphicFrame>
        <p:nvGraphicFramePr>
          <p:cNvPr id="2050" name="Object 0"/>
          <p:cNvGraphicFramePr>
            <a:graphicFrameLocks noChangeAspect="1"/>
          </p:cNvGraphicFramePr>
          <p:nvPr/>
        </p:nvGraphicFramePr>
        <p:xfrm>
          <a:off x="2819400" y="1219200"/>
          <a:ext cx="3657600" cy="3429000"/>
        </p:xfrm>
        <a:graphic>
          <a:graphicData uri="http://schemas.openxmlformats.org/presentationml/2006/ole">
            <p:oleObj spid="_x0000_s2050" name="Imagen" r:id="rId4" imgW="4663440" imgH="3390840" progId="">
              <p:embed/>
            </p:oleObj>
          </a:graphicData>
        </a:graphic>
      </p:graphicFrame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413125" y="11842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_tradnl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2057400" y="381000"/>
            <a:ext cx="47688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3200">
                <a:solidFill>
                  <a:srgbClr val="FF3300"/>
                </a:solidFill>
                <a:latin typeface="Arial" charset="0"/>
              </a:rPr>
              <a:t>FIN DE LA EXPOSICIÓN</a:t>
            </a:r>
            <a:endParaRPr lang="es-ES_tradnl" sz="2000">
              <a:solidFill>
                <a:srgbClr val="FF33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LAUS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1180</Words>
  <Application>Microsoft Office PowerPoint</Application>
  <PresentationFormat>Presentación en pantalla (4:3)</PresentationFormat>
  <Paragraphs>300</Paragraphs>
  <Slides>23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Diseño predeterminado</vt:lpstr>
      <vt:lpstr>Clip</vt:lpstr>
      <vt:lpstr>Imagen</vt:lpstr>
      <vt:lpstr>Diapositiva 1</vt:lpstr>
      <vt:lpstr>MAPA CONCEPTUAL</vt:lpstr>
      <vt:lpstr>TEORIA ESTRUCTURALISTA</vt:lpstr>
      <vt:lpstr>ORIGENES</vt:lpstr>
      <vt:lpstr>Diapositiva 5</vt:lpstr>
      <vt:lpstr>OTRAS CARACTERISTICAS DEL ESTRUCTURALISMO </vt:lpstr>
      <vt:lpstr>Diapositiva 7</vt:lpstr>
      <vt:lpstr>Diapositiva 8</vt:lpstr>
      <vt:lpstr>EL HOMBRE ORGANIZACIONAL</vt:lpstr>
      <vt:lpstr>ANALISIS DE LAS ORGANIZACIONES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</vt:vector>
  </TitlesOfParts>
  <Company>INDISA S.A.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ESTRUCTURALISTA</dc:title>
  <dc:creator>INDISA S.A.</dc:creator>
  <cp:lastModifiedBy>jorge lopez</cp:lastModifiedBy>
  <cp:revision>50</cp:revision>
  <dcterms:created xsi:type="dcterms:W3CDTF">2000-09-26T18:16:18Z</dcterms:created>
  <dcterms:modified xsi:type="dcterms:W3CDTF">2011-04-25T22:15:19Z</dcterms:modified>
</cp:coreProperties>
</file>