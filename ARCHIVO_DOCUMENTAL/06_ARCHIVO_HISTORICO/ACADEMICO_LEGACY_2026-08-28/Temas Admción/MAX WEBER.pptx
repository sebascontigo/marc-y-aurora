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46"/>
  </p:notesMasterIdLst>
  <p:sldIdLst>
    <p:sldId id="256" r:id="rId2"/>
    <p:sldId id="258" r:id="rId3"/>
    <p:sldId id="286" r:id="rId4"/>
    <p:sldId id="287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62" r:id="rId14"/>
    <p:sldId id="263" r:id="rId15"/>
    <p:sldId id="265" r:id="rId16"/>
    <p:sldId id="267" r:id="rId17"/>
    <p:sldId id="268" r:id="rId18"/>
    <p:sldId id="269" r:id="rId19"/>
    <p:sldId id="284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8" r:id="rId29"/>
    <p:sldId id="296" r:id="rId30"/>
    <p:sldId id="307" r:id="rId31"/>
    <p:sldId id="308" r:id="rId32"/>
    <p:sldId id="309" r:id="rId33"/>
    <p:sldId id="310" r:id="rId34"/>
    <p:sldId id="270" r:id="rId35"/>
    <p:sldId id="297" r:id="rId36"/>
    <p:sldId id="271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B8B95-E024-42E4-9D64-630F49F6C074}" type="datetimeFigureOut">
              <a:rPr lang="es-CO" smtClean="0"/>
              <a:pPr/>
              <a:t>07/03/2010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1B5D9-8CF6-4F3C-81F1-9265EB97E25C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1B5D9-8CF6-4F3C-81F1-9265EB97E25C}" type="slidenum">
              <a:rPr lang="es-CO" smtClean="0"/>
              <a:pPr/>
              <a:t>10</a:t>
            </a:fld>
            <a:endParaRPr lang="es-C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1B5D9-8CF6-4F3C-81F1-9265EB97E25C}" type="slidenum">
              <a:rPr lang="es-CO" smtClean="0"/>
              <a:pPr/>
              <a:t>19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E00C-ABB0-4D46-8C58-EA5D6244F973}" type="datetime1">
              <a:rPr lang="es-CO" smtClean="0"/>
              <a:t>07/03/2010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D9E-6CCC-4FDA-B374-F1DE81E0FC12}" type="datetime1">
              <a:rPr lang="es-CO" smtClean="0"/>
              <a:t>07/03/2010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B84-DFCE-4E07-9312-780067A3C285}" type="datetime1">
              <a:rPr lang="es-CO" smtClean="0"/>
              <a:t>07/03/2010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4114A-4A93-45A3-8A61-FA2F92C02C8E}" type="datetime1">
              <a:rPr lang="es-CO" smtClean="0"/>
              <a:t>07/03/2010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8B4E-8EFD-48DB-8A94-933DA7F4EBDC}" type="datetime1">
              <a:rPr lang="es-CO" smtClean="0"/>
              <a:t>07/03/2010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DA8C-B79A-4C08-A025-96B4C8C315FA}" type="datetime1">
              <a:rPr lang="es-CO" smtClean="0"/>
              <a:t>07/03/2010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4C3A9-40D5-4E42-91E4-3EAAE4DA0D8D}" type="datetime1">
              <a:rPr lang="es-CO" smtClean="0"/>
              <a:t>07/03/2010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35C32-0E23-4EC0-97AE-90D05C98C576}" type="datetime1">
              <a:rPr lang="es-CO" smtClean="0"/>
              <a:t>07/03/2010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C7E1-0828-4313-8FE7-84EFB1AA30B5}" type="datetime1">
              <a:rPr lang="es-CO" smtClean="0"/>
              <a:t>07/03/2010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331B-75FF-4A04-A3E3-67B1939A79D2}" type="datetime1">
              <a:rPr lang="es-CO" smtClean="0"/>
              <a:t>07/03/2010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31C32-9A44-46A6-B9CE-4D2FA1EAF253}" type="datetime1">
              <a:rPr lang="es-CO" smtClean="0"/>
              <a:t>07/03/2010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FAA5517-5FE5-4F31-BB48-FCE659BBD0A5}" type="datetime1">
              <a:rPr lang="es-CO" smtClean="0"/>
              <a:t>07/03/2010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b="1" dirty="0" smtClean="0"/>
              <a:t>LA BUROCRACIA</a:t>
            </a:r>
            <a:endParaRPr lang="es-CO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WEBER</a:t>
            </a:r>
            <a:r>
              <a:rPr lang="es-CO" sz="5900" b="1" dirty="0" smtClean="0"/>
              <a:t/>
            </a:r>
            <a:br>
              <a:rPr lang="es-CO" sz="5900" b="1" dirty="0" smtClean="0"/>
            </a:br>
            <a:r>
              <a:rPr lang="es-CO" sz="3100" dirty="0" smtClean="0"/>
              <a:t>(1864-1920)</a:t>
            </a:r>
            <a:r>
              <a:rPr lang="es-CO" sz="5900" b="1" dirty="0" smtClean="0"/>
              <a:t/>
            </a:r>
            <a:br>
              <a:rPr lang="es-CO" sz="5900" b="1" dirty="0" smtClean="0"/>
            </a:br>
            <a:endParaRPr lang="es-CO" sz="5900" b="1" dirty="0"/>
          </a:p>
        </p:txBody>
      </p:sp>
      <p:pic>
        <p:nvPicPr>
          <p:cNvPr id="5" name="4 Imagen" descr="web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15074" y="3786190"/>
            <a:ext cx="2533593" cy="2786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BIOGRAFÍA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6707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Nace el 21 de abril de 1864 en Erfurt, Alemania.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filósofo</a:t>
            </a:r>
            <a:r>
              <a:rPr lang="es-CO" dirty="0" smtClean="0"/>
              <a:t>, economista, jurista, historiador, politólogo y sociólogo alemán.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Su vida estuvo sujeta a la mente burocrática de du padre y a la religiosidad de su madre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Regula su vida con el reloj.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Muere </a:t>
            </a:r>
            <a:r>
              <a:rPr lang="es-CO" dirty="0" smtClean="0"/>
              <a:t>en Munich el 14 de junio de 1920.</a:t>
            </a:r>
          </a:p>
          <a:p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ORIGENES DE LA TEORIA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r>
              <a:rPr lang="es-CO" dirty="0" smtClean="0">
                <a:solidFill>
                  <a:schemeClr val="tx2"/>
                </a:solidFill>
              </a:rPr>
              <a:t>Se desarrolla alrededor de la década de 1940, por los siguientes aspectos:</a:t>
            </a:r>
          </a:p>
          <a:p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u="sng" dirty="0" smtClean="0">
                <a:solidFill>
                  <a:schemeClr val="tx2"/>
                </a:solidFill>
              </a:rPr>
              <a:t> </a:t>
            </a:r>
            <a:r>
              <a:rPr lang="es-CO" dirty="0" smtClean="0">
                <a:solidFill>
                  <a:schemeClr val="tx2"/>
                </a:solidFill>
              </a:rPr>
              <a:t>LA FRAGILIDAD Y LA PARCIALIDAD DE LA TEORÍA CLÁSICA Y DE LA TEORÍA DE LAS RELACIONES HUMANAS:  Ambas </a:t>
            </a:r>
            <a:r>
              <a:rPr lang="es-CO" dirty="0" smtClean="0">
                <a:solidFill>
                  <a:schemeClr val="tx2"/>
                </a:solidFill>
              </a:rPr>
              <a:t>son extremistas e incompletas sobre la organización.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 </a:t>
            </a:r>
            <a:r>
              <a:rPr lang="es-CO" dirty="0" smtClean="0">
                <a:solidFill>
                  <a:schemeClr val="tx2"/>
                </a:solidFill>
              </a:rPr>
              <a:t>LA NECESIDAD DE UN MODELO DE ORGANIZACIÓN RACIONAL: Capaz </a:t>
            </a:r>
            <a:r>
              <a:rPr lang="es-CO" dirty="0" smtClean="0">
                <a:solidFill>
                  <a:schemeClr val="tx2"/>
                </a:solidFill>
              </a:rPr>
              <a:t>de caracterizar las variables involucradas.</a:t>
            </a:r>
          </a:p>
          <a:p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 </a:t>
            </a:r>
            <a:r>
              <a:rPr lang="es-CO" dirty="0" smtClean="0">
                <a:solidFill>
                  <a:schemeClr val="tx2"/>
                </a:solidFill>
              </a:rPr>
              <a:t>EL CRECIENTE TAMAÑO Y COMPLEJIDAD DE LA EMPRESA: </a:t>
            </a:r>
            <a:r>
              <a:rPr lang="es-CO" dirty="0" smtClean="0">
                <a:solidFill>
                  <a:schemeClr val="tx2"/>
                </a:solidFill>
              </a:rPr>
              <a:t>Se exigieron modelos organizacionales mucho mas definidos.</a:t>
            </a:r>
          </a:p>
          <a:p>
            <a:pPr>
              <a:buFont typeface="Arial" pitchFamily="34" charset="0"/>
              <a:buChar char="•"/>
            </a:pPr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EL RESURGIMIENTO DE LA SOCIOLOGÍA DE LA BUROCRACIA: Se </a:t>
            </a:r>
            <a:r>
              <a:rPr lang="es-CO" dirty="0" smtClean="0">
                <a:solidFill>
                  <a:schemeClr val="tx2"/>
                </a:solidFill>
              </a:rPr>
              <a:t>propone un modelo de organización.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WEBER Y LA TEORÍA BUROCRÁTICA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b="1" dirty="0" smtClean="0"/>
              <a:t>SOCIEDAD </a:t>
            </a:r>
            <a:r>
              <a:rPr lang="es-CO" b="1" dirty="0" smtClean="0"/>
              <a:t>TRADICIONAL: </a:t>
            </a:r>
            <a:r>
              <a:rPr lang="es-CO" dirty="0" smtClean="0"/>
              <a:t>Predominan características patriarcales y patrimoniales</a:t>
            </a:r>
            <a:r>
              <a:rPr lang="es-CO" dirty="0" smtClean="0"/>
              <a:t>.</a:t>
            </a:r>
            <a:endParaRPr lang="es-CO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s-CO" b="1" dirty="0" smtClean="0"/>
              <a:t>SOCIEDAD CARISMÁTICA: </a:t>
            </a:r>
            <a:r>
              <a:rPr lang="es-CO" dirty="0" smtClean="0"/>
              <a:t>Predominan características místicas, arbitrarias y de personalidad</a:t>
            </a:r>
            <a:r>
              <a:rPr lang="es-CO" dirty="0" smtClean="0"/>
              <a:t>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s-CO" b="1" dirty="0" smtClean="0"/>
              <a:t>SOCIEDAD LEGAL, RACIONAL O BUROCRÁTICA: </a:t>
            </a:r>
            <a:r>
              <a:rPr lang="es-CO" dirty="0" smtClean="0"/>
              <a:t>Predominan  normas impersonales</a:t>
            </a:r>
            <a:endParaRPr lang="es-CO" dirty="0" smtClean="0"/>
          </a:p>
          <a:p>
            <a:endParaRPr lang="es-CO" dirty="0" smtClean="0"/>
          </a:p>
          <a:p>
            <a:pPr>
              <a:buNone/>
            </a:pPr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endParaRPr lang="es-CO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s-CO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578358" indent="-514350">
              <a:buNone/>
            </a:pPr>
            <a:endParaRPr lang="es-CO" dirty="0" smtClean="0"/>
          </a:p>
          <a:p>
            <a:pPr marL="578358" indent="-514350"/>
            <a:endParaRPr lang="es-CO" dirty="0" smtClean="0"/>
          </a:p>
          <a:p>
            <a:pPr marL="578358" indent="-514350"/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600" dirty="0" smtClean="0"/>
              <a:t>A CADA TIPO DE SOCIEDAD CORRESPONDE UNO DE AUTORIDAD:</a:t>
            </a:r>
            <a:endParaRPr lang="es-CO" sz="3600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>
            <a:noAutofit/>
          </a:bodyPr>
          <a:lstStyle/>
          <a:p>
            <a:pPr>
              <a:buNone/>
            </a:pPr>
            <a:endParaRPr lang="es-CO" b="1" dirty="0" smtClean="0"/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AUTORIDAD TRADICIONAL</a:t>
            </a:r>
          </a:p>
          <a:p>
            <a:endParaRPr lang="es-CO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AUTORIDAD CARISMÁTICA</a:t>
            </a:r>
          </a:p>
          <a:p>
            <a:pPr>
              <a:buNone/>
            </a:pPr>
            <a:endParaRPr lang="es-CO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AUTORIDAD LEGAL, RACIONAL O BUROCRÁTICA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TRADICIONAL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4310062"/>
          </a:xfrm>
        </p:spPr>
        <p:txBody>
          <a:bodyPr>
            <a:noAutofit/>
          </a:bodyPr>
          <a:lstStyle/>
          <a:p>
            <a:r>
              <a:rPr lang="es-CO" dirty="0" smtClean="0"/>
              <a:t>Los </a:t>
            </a:r>
            <a:r>
              <a:rPr lang="es-CO" dirty="0" smtClean="0"/>
              <a:t>subordinados aceptan ordenes de superiores como justificadas porque así siempre se han hecho las cosas</a:t>
            </a:r>
            <a:r>
              <a:rPr lang="es-CO" dirty="0" smtClean="0"/>
              <a:t>.</a:t>
            </a: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Puede </a:t>
            </a:r>
            <a:r>
              <a:rPr lang="es-CO" dirty="0" smtClean="0"/>
              <a:t>asumir dos formas de aparato administrativo</a:t>
            </a:r>
            <a:r>
              <a:rPr lang="es-CO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</a:t>
            </a:r>
            <a:r>
              <a:rPr lang="es-CO" b="1" dirty="0" smtClean="0"/>
              <a:t> FORMA PATRIMONIAL:</a:t>
            </a:r>
            <a:r>
              <a:rPr lang="es-CO" dirty="0" smtClean="0"/>
              <a:t> </a:t>
            </a:r>
            <a:r>
              <a:rPr lang="es-CO" dirty="0" smtClean="0"/>
              <a:t>los servidores personales dependen económicamente del </a:t>
            </a:r>
            <a:r>
              <a:rPr lang="es-CO" dirty="0" smtClean="0"/>
              <a:t>señor</a:t>
            </a:r>
            <a:r>
              <a:rPr lang="es-CO" dirty="0" smtClean="0"/>
              <a:t>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 </a:t>
            </a:r>
            <a:r>
              <a:rPr lang="es-CO" b="1" dirty="0" smtClean="0"/>
              <a:t>FORMA FEUDAL</a:t>
            </a:r>
            <a:r>
              <a:rPr lang="es-CO" b="1" u="sng" dirty="0" smtClean="0"/>
              <a:t>:</a:t>
            </a:r>
            <a:r>
              <a:rPr lang="es-CO" dirty="0" smtClean="0"/>
              <a:t> </a:t>
            </a:r>
            <a:r>
              <a:rPr lang="es-CO" dirty="0" smtClean="0"/>
              <a:t>Mayor grado de autonomía del servidor.</a:t>
            </a:r>
            <a:endParaRPr lang="es-CO" u="sng" dirty="0" smtClean="0"/>
          </a:p>
          <a:p>
            <a:pPr>
              <a:buNone/>
            </a:pPr>
            <a:r>
              <a:rPr lang="es-CO" dirty="0" smtClean="0"/>
              <a:t>   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CARISMÁTICA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810020"/>
          </a:xfrm>
        </p:spPr>
        <p:txBody>
          <a:bodyPr>
            <a:noAutofit/>
          </a:bodyPr>
          <a:lstStyle/>
          <a:p>
            <a:r>
              <a:rPr lang="es-CO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Los </a:t>
            </a:r>
            <a:r>
              <a:rPr lang="es-CO" dirty="0" smtClean="0"/>
              <a:t>subordinados aceptan las ordenes del superior como justificadas, por la influencia de la personalidad y del liderazgo del superior con el cual se identifican.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Es un poder sin base racional, es inestable y puede adquirir características revolucionarias. 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LEGAL, RACIONAL O BUROCRÁTICA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Los </a:t>
            </a:r>
            <a:r>
              <a:rPr lang="es-CO" dirty="0" smtClean="0"/>
              <a:t>subordinados aceptan las ordenes de los superiores como</a:t>
            </a:r>
          </a:p>
          <a:p>
            <a:pPr>
              <a:buNone/>
            </a:pPr>
            <a:r>
              <a:rPr lang="es-CO" dirty="0" smtClean="0"/>
              <a:t> </a:t>
            </a:r>
            <a:r>
              <a:rPr lang="es-CO" dirty="0" smtClean="0"/>
              <a:t>justificadas</a:t>
            </a:r>
            <a:r>
              <a:rPr lang="es-CO" dirty="0" smtClean="0"/>
              <a:t>, porque están deacuerdo con las normas que </a:t>
            </a:r>
          </a:p>
          <a:p>
            <a:pPr>
              <a:buNone/>
            </a:pPr>
            <a:r>
              <a:rPr lang="es-CO" dirty="0" smtClean="0"/>
              <a:t> </a:t>
            </a:r>
            <a:r>
              <a:rPr lang="es-CO" dirty="0" smtClean="0"/>
              <a:t>consideran </a:t>
            </a:r>
            <a:r>
              <a:rPr lang="es-CO" dirty="0" smtClean="0"/>
              <a:t>legítimas y del cual se deriva el comando.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</a:t>
            </a:r>
            <a:r>
              <a:rPr lang="es-CO" dirty="0" smtClean="0"/>
              <a:t>Se </a:t>
            </a:r>
            <a:r>
              <a:rPr lang="es-CO" dirty="0" smtClean="0"/>
              <a:t>basa en normas legales definidas racionalmente.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</a:t>
            </a:r>
            <a:r>
              <a:rPr lang="es-CO" dirty="0" smtClean="0"/>
              <a:t>El </a:t>
            </a:r>
            <a:r>
              <a:rPr lang="es-CO" dirty="0" smtClean="0"/>
              <a:t>aparato administrativo es la burocracia, se basa en las leyes y en el orden legal.</a:t>
            </a: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Autofit/>
          </a:bodyPr>
          <a:lstStyle/>
          <a:p>
            <a:r>
              <a:rPr lang="es-CO" dirty="0" smtClean="0"/>
              <a:t> </a:t>
            </a:r>
            <a:endParaRPr lang="es-CO" dirty="0" smtClean="0"/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DESARROLLO DE LA ECONOMÍA MONETARIA: </a:t>
            </a:r>
            <a:r>
              <a:rPr lang="es-CO" dirty="0" smtClean="0"/>
              <a:t>La moneda racionaliza las transacciones económicas.</a:t>
            </a:r>
          </a:p>
          <a:p>
            <a:endParaRPr lang="es-CO" dirty="0" smtClean="0"/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endParaRPr lang="es-CO" dirty="0" smtClean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73831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CRECIMIENTO </a:t>
            </a:r>
            <a:r>
              <a:rPr lang="es-CO" dirty="0" smtClean="0"/>
              <a:t>CUANTITATIVO Y CUALITATIVO DE LAS TAREAS ADMINISTRATIVAS DEL ESTADO MODERNO: Solo el tipo burocrático soporta la complejidad y tamaño de las tareas.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524004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SUPERIORIDAD </a:t>
            </a:r>
            <a:r>
              <a:rPr lang="es-CO" dirty="0" smtClean="0"/>
              <a:t>TÉCNICA DEL MODELO BUROCRÁTICO: Fuerza interna autónoma.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LA ÉTICA PROTESTANTE Y EL ESPÍRITU DEL CAPITALISMO.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881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CO" dirty="0" smtClean="0"/>
              <a:t> </a:t>
            </a:r>
            <a:endParaRPr lang="es-CO" dirty="0" smtClean="0"/>
          </a:p>
          <a:p>
            <a:pPr>
              <a:buNone/>
            </a:pPr>
            <a:r>
              <a:rPr lang="es-CO" sz="2800" dirty="0" smtClean="0"/>
              <a:t>El </a:t>
            </a:r>
            <a:r>
              <a:rPr lang="es-CO" sz="2800" dirty="0" smtClean="0"/>
              <a:t>objetivo de su investigación era descubrir si el origen del capitalismo europeo podía ser explicado desde bases diferentes a la economía.</a:t>
            </a:r>
            <a:endParaRPr lang="es-CO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ÉTICA PROTESTANTE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309822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Capitalismo Europeo          </a:t>
            </a:r>
            <a:r>
              <a:rPr lang="es-CO" dirty="0" smtClean="0"/>
              <a:t> formas </a:t>
            </a:r>
            <a:r>
              <a:rPr lang="es-CO" dirty="0" smtClean="0"/>
              <a:t>religiosas “ascéticas” del calvinismo y el puritanismo.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Superando la parsimonia tradicionalista el capitalismo exige: profesión.</a:t>
            </a:r>
          </a:p>
          <a:p>
            <a:r>
              <a:rPr lang="es-CO" dirty="0" smtClean="0"/>
              <a:t>El capitalismo necesita de ciertos factores y requisitos culturales.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5" name="4 Flecha izquierda y derecha"/>
          <p:cNvSpPr/>
          <p:nvPr/>
        </p:nvSpPr>
        <p:spPr>
          <a:xfrm>
            <a:off x="3286116" y="2643182"/>
            <a:ext cx="571504" cy="2857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ESPÍRITU DEL CAPITALISMO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24202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“espíritu del capitalismo”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Piensa que el tiempo es dinero.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Mentalidad tradicional pre-capitalista.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Parentesco entre manifestaciones por rasgos puramente religiosos.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Siempre ha existido el capitalismo debido al afán de lucro y tendencia a enriquecerse, sin embargo existen otras formas del mismo. 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LAS CATEGORIAS FUNDAMENTALES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381392"/>
          </a:xfrm>
        </p:spPr>
        <p:txBody>
          <a:bodyPr>
            <a:noAutofit/>
          </a:bodyPr>
          <a:lstStyle/>
          <a:p>
            <a:pPr marL="578358" indent="-514350"/>
            <a:r>
              <a:rPr lang="es-CO" b="1" dirty="0" smtClean="0"/>
              <a:t>Un ejercicio continuado sujeto a la ley de las de las funciones dentro de una competencia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Un </a:t>
            </a:r>
            <a:r>
              <a:rPr lang="es-CO" dirty="0" smtClean="0"/>
              <a:t>ámbito de deberes y servicios objetivamente limitado.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Principio de jerarquía administrativa.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Técnicas o normas, su aplicación se exige en ambos casos.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Rige el principio de separación entre </a:t>
            </a:r>
            <a:r>
              <a:rPr lang="es-CO" dirty="0" smtClean="0"/>
              <a:t>el </a:t>
            </a:r>
            <a:r>
              <a:rPr lang="es-CO" dirty="0" smtClean="0"/>
              <a:t>cuadro administrativo y los medio de administración y producción.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73831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En el caso racional no existe apropiación de cargos por quien lo ejerce.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Rige el principio administrativo de atenerse al expediente.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La dominación legal adopta formas distintas.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IDEAL DE LA DIRECCION ADMINISTARTIVA BUROCRATICA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595574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El </a:t>
            </a:r>
            <a:r>
              <a:rPr lang="es-CO" dirty="0" smtClean="0"/>
              <a:t>tipo mas puro de dominación legal es aquel que se ejerce por medio de un cuadro administrativo burocrático</a:t>
            </a:r>
            <a:r>
              <a:rPr lang="es-CO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Solo el dirigente de la asociación posee su posición de imperio, ya sea por apropiación, elección o designación de su predecesor.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9564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CO" dirty="0" smtClean="0"/>
              <a:t>CARÁCTER LEGAL DE LAS NORMAS Y REGLAMENTOS:</a:t>
            </a:r>
          </a:p>
          <a:p>
            <a:pPr marL="457200" indent="-457200"/>
            <a:endParaRPr lang="es-CO" dirty="0" smtClean="0"/>
          </a:p>
          <a:p>
            <a:pPr marL="457200" indent="-457200"/>
            <a:r>
              <a:rPr lang="es-CO" dirty="0" smtClean="0"/>
              <a:t>       Es una organización basada en leyes propias, con todas las norma y reglamentos que abarcan las aéreas de la organización   y se puede decir entonces, que es una estructura social legalmente organizada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CARÁCTER FOMAL DE LAS COMUNICACIONES:</a:t>
            </a:r>
          </a:p>
          <a:p>
            <a:pPr marL="457200" indent="-457200">
              <a:buFont typeface="+mj-lt"/>
              <a:buAutoNum type="arabicPeriod" startAt="2"/>
            </a:pPr>
            <a:endParaRPr lang="es-CO" dirty="0" smtClean="0"/>
          </a:p>
          <a:p>
            <a:pPr marL="457200" indent="-457200"/>
            <a:r>
              <a:rPr lang="es-CO" dirty="0" smtClean="0"/>
              <a:t> </a:t>
            </a:r>
            <a:r>
              <a:rPr lang="es-CO" dirty="0" smtClean="0"/>
              <a:t>      El carácter formal se origina porque todos los documentos y procedimientos, al igual que las leyes y acciones son formuladas, registradas y por lo tanto requieren comprobación por escrito.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5283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CARÁCTER RACIONAL Y DIVISION DEL TRABAJO</a:t>
            </a:r>
          </a:p>
          <a:p>
            <a:pPr marL="457200" indent="-457200"/>
            <a:endParaRPr lang="es-CO" dirty="0" smtClean="0"/>
          </a:p>
          <a:p>
            <a:pPr marL="457200" indent="-457200"/>
            <a:r>
              <a:rPr lang="es-CO" dirty="0" smtClean="0"/>
              <a:t> </a:t>
            </a:r>
            <a:r>
              <a:rPr lang="es-CO" dirty="0" smtClean="0"/>
              <a:t>      División sistemática del trabajo buscando eficiencia en la organización. De allí el aspecto racional de la organización.</a:t>
            </a: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s-CO" dirty="0" smtClean="0"/>
              <a:t>IMPERSONALIDAD EN LAS RELACIONES </a:t>
            </a:r>
          </a:p>
          <a:p>
            <a:pPr marL="457200" indent="-457200">
              <a:buFont typeface="+mj-lt"/>
              <a:buAutoNum type="arabicPeriod" startAt="4"/>
            </a:pPr>
            <a:endParaRPr lang="es-CO" dirty="0" smtClean="0"/>
          </a:p>
          <a:p>
            <a:pPr marL="457200" indent="-457200"/>
            <a:r>
              <a:rPr lang="es-CO" dirty="0" smtClean="0"/>
              <a:t>       La administración de la burocracia se realiza si considerar las personas como personas, sino como ocupantes de cargos y funciones.</a:t>
            </a:r>
          </a:p>
          <a:p>
            <a:pPr marL="457200" indent="-457200">
              <a:buFont typeface="+mj-lt"/>
              <a:buAutoNum type="arabicPeriod" startAt="4"/>
            </a:pPr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s-CO" dirty="0" smtClean="0"/>
              <a:t>JERARQUIA DE LA AUTORIDAD</a:t>
            </a:r>
          </a:p>
          <a:p>
            <a:pPr marL="457200" indent="-457200">
              <a:buFont typeface="+mj-lt"/>
              <a:buAutoNum type="arabicPeriod" startAt="5"/>
            </a:pPr>
            <a:endParaRPr lang="es-CO" dirty="0" smtClean="0"/>
          </a:p>
          <a:p>
            <a:pPr marL="457200" indent="-457200"/>
            <a:r>
              <a:rPr lang="es-CO" dirty="0" smtClean="0"/>
              <a:t>       Todos los cargos están en una pirámide jerárquica que involucra beneficios y obligaciones.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s-CO" dirty="0" smtClean="0"/>
              <a:t>RUTINAS Y PROCEDIMIENTOS ESTANDARIZADOS</a:t>
            </a:r>
          </a:p>
          <a:p>
            <a:pPr marL="457200" indent="-457200">
              <a:buFont typeface="+mj-lt"/>
              <a:buAutoNum type="arabicPeriod" startAt="6"/>
            </a:pPr>
            <a:endParaRPr lang="es-CO" dirty="0" smtClean="0"/>
          </a:p>
          <a:p>
            <a:pPr marL="457200" indent="-457200"/>
            <a:r>
              <a:rPr lang="es-CO" dirty="0" smtClean="0"/>
              <a:t>       Disciplina y desempeño, a través de las normas garantizan el ajuste del empleado a las exigencias del cargo y de la organización.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COMPETENCIAS TÉCNICA Y MERITOCRACIA</a:t>
            </a:r>
          </a:p>
          <a:p>
            <a:pPr marL="457200" indent="-457200">
              <a:buFont typeface="+mj-lt"/>
              <a:buAutoNum type="arabicPeriod" startAt="7"/>
            </a:pPr>
            <a:endParaRPr lang="es-CO" dirty="0" smtClean="0"/>
          </a:p>
          <a:p>
            <a:pPr marL="457200" indent="-457200"/>
            <a:r>
              <a:rPr lang="es-CO" dirty="0" smtClean="0"/>
              <a:t>       elección de personas por mérito y no por preferencias personales.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s-CO" dirty="0" smtClean="0"/>
              <a:t>ESPECIALIZACIÓN DE LA ADMINISTRACIÓN</a:t>
            </a:r>
          </a:p>
          <a:p>
            <a:pPr marL="457200" indent="-457200">
              <a:buFont typeface="+mj-lt"/>
              <a:buAutoNum type="arabicPeriod" startAt="8"/>
            </a:pPr>
            <a:endParaRPr lang="es-CO" dirty="0" smtClean="0"/>
          </a:p>
          <a:p>
            <a:pPr marL="457200" indent="-457200"/>
            <a:r>
              <a:rPr lang="es-CO" dirty="0" smtClean="0"/>
              <a:t>       El administrador de la burocracia no es necesariamente un dueño, accionista o propietario, es mas un profesional especializado en la administración.</a:t>
            </a:r>
          </a:p>
          <a:p>
            <a:pPr marL="457200" indent="-457200"/>
            <a:endParaRPr lang="es-CO" dirty="0" smtClean="0"/>
          </a:p>
          <a:p>
            <a:pPr marL="457200" indent="-457200">
              <a:buFont typeface="+mj-lt"/>
              <a:buAutoNum type="arabicPeriod" startAt="8"/>
            </a:pPr>
            <a:endParaRPr lang="es-CO" dirty="0" smtClean="0"/>
          </a:p>
          <a:p>
            <a:pPr marL="457200" indent="-457200"/>
            <a:r>
              <a:rPr lang="es-CO" dirty="0" smtClean="0"/>
              <a:t>       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s-CO" dirty="0" smtClean="0"/>
              <a:t>PROFESIONALIZACION DE LOS PARTICIPANTES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Es un especialista.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Es asalariado.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Ocupa un cargo.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Su superior jerárquico.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Su mandato es por tiempo indeterminado.</a:t>
            </a:r>
          </a:p>
          <a:p>
            <a:pPr marL="457200" indent="-457200">
              <a:buFont typeface="Arial" pitchFamily="34" charset="0"/>
              <a:buChar char="•"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52830"/>
          </a:xfrm>
        </p:spPr>
        <p:txBody>
          <a:bodyPr/>
          <a:lstStyle/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Hacer carrera dentro de la organización.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No posee la propiedad de los medios de producción y administración</a:t>
            </a:r>
            <a:r>
              <a:rPr lang="es-CO" dirty="0" smtClean="0"/>
              <a:t>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Es fiel al cargo y se identifica con los objetivos de la empresa.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El administrador profesional tiende a controlar cada vez mas las Burocracias.</a:t>
            </a:r>
          </a:p>
          <a:p>
            <a:pPr marL="457200" indent="-457200">
              <a:buFont typeface="Arial" pitchFamily="34" charset="0"/>
              <a:buChar char="•"/>
            </a:pPr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667144"/>
          </a:xfrm>
        </p:spPr>
        <p:txBody>
          <a:bodyPr/>
          <a:lstStyle/>
          <a:p>
            <a:pPr marL="457200" indent="-457200">
              <a:buFont typeface="+mj-lt"/>
              <a:buAutoNum type="arabicPeriod" startAt="10"/>
            </a:pPr>
            <a:r>
              <a:rPr lang="es-CO" dirty="0" smtClean="0"/>
              <a:t>COMPLETA PREVISION DEL FUNCIONAMIENTO</a:t>
            </a:r>
          </a:p>
          <a:p>
            <a:pPr marL="457200" indent="-457200">
              <a:buFont typeface="+mj-lt"/>
              <a:buAutoNum type="arabicPeriod" startAt="10"/>
            </a:pPr>
            <a:endParaRPr lang="es-CO" dirty="0" smtClean="0"/>
          </a:p>
          <a:p>
            <a:pPr marL="457200" indent="-457200"/>
            <a:r>
              <a:rPr lang="es-CO" dirty="0" smtClean="0"/>
              <a:t>       esta es la consecuencia deseada de la burocracia. Consiste en que todos se comporten de acuerdo a las reglas para lograr la mayor eficiencia posible. 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RACIONALIDAD BUROCRATICA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La racionalidad implica adecuación de los medios a los fines, es decir, eficiencia.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Se seleccionan los medios mas eficientes para la concesión de metas.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Se tienen en cuenta las metas colectivas de la organización  y no las de sus miembros individuales.</a:t>
            </a:r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RACIONALIDAD BUROCRATICA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/>
          <a:lstStyle/>
          <a:p>
            <a:r>
              <a:rPr lang="es-CO" dirty="0" smtClean="0"/>
              <a:t> </a:t>
            </a: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Entre </a:t>
            </a:r>
            <a:r>
              <a:rPr lang="es-CO" dirty="0" smtClean="0"/>
              <a:t>mas racional sea una organización, las personas se transforman en simples engranajes de una máquina.</a:t>
            </a:r>
          </a:p>
          <a:p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La racionalidad funcional se alcanza por la elaboración de reglas que sirven para dirigir, partiendo de arriba todo comportamiento de encuentro a la eficiencia.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DILEMAS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r>
              <a:rPr lang="es-CO" dirty="0" smtClean="0"/>
              <a:t>Enfrenta  dilemas típicos: </a:t>
            </a:r>
          </a:p>
          <a:p>
            <a:r>
              <a:rPr lang="es-CO" dirty="0" smtClean="0"/>
              <a:t> </a:t>
            </a:r>
          </a:p>
          <a:p>
            <a:r>
              <a:rPr lang="es-CO" dirty="0" smtClean="0"/>
              <a:t>De un lado, existen presiones exteriores para motivar al burócrata a seguir normas diferentes de las organizaciones y, de otro lado, el compromiso de los subordinados con las reglas burocráticas tiende a debilitarse poco a poco.</a:t>
            </a:r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DILEMAS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La existencia de jefes no burocráticos , que nombran en ocasiones sus propias normas, indican y nombran a sus empleados , resuelven objetivos que deberán alcanzarse y son electos o heredan su posición, un ejemplo de ello son los presidentes, directores y reyes.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VENTAJAS DE LA BUROCRACIA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6707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dirty="0" smtClean="0"/>
              <a:t>Racionalidad.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Precisión en la definición del cargo y de la operación.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Rapidez en las decisiones.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Precisión en las decisiones.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Uniformidad de rutinas y procedimientos</a:t>
            </a:r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VENTAJAS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381392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s-CO" dirty="0" smtClean="0"/>
              <a:t>Continuidad de la organización</a:t>
            </a:r>
            <a:r>
              <a:rPr lang="es-CO" dirty="0" smtClean="0"/>
              <a:t>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Reducción </a:t>
            </a:r>
            <a:r>
              <a:rPr lang="es-CO" dirty="0" smtClean="0"/>
              <a:t>de la fricción entre las personas</a:t>
            </a:r>
            <a:r>
              <a:rPr lang="es-CO" dirty="0" smtClean="0"/>
              <a:t>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Constancia.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Confiabilidad.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Beneficios para las personas.</a:t>
            </a:r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CRITICAS A LA BUROCRACIA DE  WEBER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52830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Inadaptabilidad </a:t>
            </a:r>
            <a:r>
              <a:rPr lang="es-CO" dirty="0" smtClean="0"/>
              <a:t>(porque ahoga a la humanidad de empleados).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Desconoce sentimientos y vivencias de los trabajadores.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No reconocimiento a la organización informal por parte de la administración burocrática.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La burocracia puede trasladar la lucha de clases de la sociedad a la </a:t>
            </a:r>
            <a:r>
              <a:rPr lang="es-CO" dirty="0" smtClean="0"/>
              <a:t>organización.</a:t>
            </a: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Excesivo </a:t>
            </a:r>
            <a:r>
              <a:rPr lang="es-CO" dirty="0" smtClean="0"/>
              <a:t>énfasis en los títulos profesionales.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Estricto apego a las leyes.</a:t>
            </a:r>
          </a:p>
          <a:p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</a:t>
            </a:r>
            <a:r>
              <a:rPr lang="es-CO" dirty="0" smtClean="0"/>
              <a:t>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>
            <a:normAutofit/>
          </a:bodyPr>
          <a:lstStyle/>
          <a:p>
            <a:r>
              <a:rPr lang="es-CO" dirty="0" smtClean="0"/>
              <a:t>Cada disfunción es una consecuencia no prevista por el método weberiano y </a:t>
            </a:r>
            <a:r>
              <a:rPr lang="es-CO" dirty="0" smtClean="0"/>
              <a:t> según Merton son</a:t>
            </a:r>
            <a:r>
              <a:rPr lang="es-CO" dirty="0" smtClean="0"/>
              <a:t>: </a:t>
            </a:r>
          </a:p>
          <a:p>
            <a:endParaRPr lang="es-CO" dirty="0" smtClean="0"/>
          </a:p>
          <a:p>
            <a:pPr marL="457200" indent="-457200"/>
            <a:r>
              <a:rPr lang="es-CO" b="1" dirty="0" smtClean="0"/>
              <a:t>       1</a:t>
            </a:r>
            <a:r>
              <a:rPr lang="es-CO" b="1" dirty="0" smtClean="0"/>
              <a:t>. Internalización de las reglas y apego a los </a:t>
            </a:r>
            <a:r>
              <a:rPr lang="es-CO" b="1" dirty="0" smtClean="0"/>
              <a:t>reglamentos:  </a:t>
            </a:r>
            <a:r>
              <a:rPr lang="es-CO" dirty="0" smtClean="0"/>
              <a:t>Los </a:t>
            </a:r>
            <a:r>
              <a:rPr lang="es-CO" dirty="0" smtClean="0"/>
              <a:t>reglamentos pasan de ser medios a ser los principales objetivos del burócrata.</a:t>
            </a:r>
          </a:p>
          <a:p>
            <a:pPr marL="457200" indent="-457200">
              <a:buAutoNum type="arabicPeriod"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24202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2</a:t>
            </a:r>
            <a:r>
              <a:rPr lang="es-CO" b="1" dirty="0" smtClean="0"/>
              <a:t>. Exceso de formalismo y papeleo:  </a:t>
            </a:r>
            <a:r>
              <a:rPr lang="es-CO" dirty="0" smtClean="0"/>
              <a:t>Saturación de información y papeles que pueden llegar a tornasen confusas.</a:t>
            </a:r>
            <a:endParaRPr lang="es-CO" b="1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 marL="457200" indent="-457200"/>
            <a:endParaRPr lang="es-CO" dirty="0" smtClean="0"/>
          </a:p>
          <a:p>
            <a:pPr marL="457200" indent="-457200"/>
            <a:r>
              <a:rPr lang="es-CO" b="1" dirty="0" smtClean="0"/>
              <a:t>      3</a:t>
            </a:r>
            <a:r>
              <a:rPr lang="es-CO" b="1" dirty="0" smtClean="0"/>
              <a:t>. Resistencia a los cambios: </a:t>
            </a:r>
            <a:r>
              <a:rPr lang="es-CO" dirty="0" smtClean="0"/>
              <a:t>El empleado se transforma en </a:t>
            </a:r>
            <a:r>
              <a:rPr lang="es-CO" dirty="0" smtClean="0"/>
              <a:t>un ejecutor </a:t>
            </a:r>
            <a:r>
              <a:rPr lang="es-CO" dirty="0" smtClean="0"/>
              <a:t>de rutinas y procedimientos, por ello cuando surge una nueva labor se resiste a adaptarse.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667012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4</a:t>
            </a:r>
            <a:r>
              <a:rPr lang="es-CO" b="1" dirty="0" smtClean="0"/>
              <a:t>.  Despersonalización de la relación: </a:t>
            </a:r>
            <a:r>
              <a:rPr lang="es-CO" dirty="0" smtClean="0"/>
              <a:t>No hay relación de personas sino de cargos.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r>
              <a:rPr lang="es-CO" dirty="0" smtClean="0"/>
              <a:t>5</a:t>
            </a:r>
            <a:r>
              <a:rPr lang="es-CO" dirty="0" smtClean="0"/>
              <a:t>. </a:t>
            </a:r>
            <a:r>
              <a:rPr lang="es-CO" b="1" dirty="0" smtClean="0"/>
              <a:t>Categorización como base del proceso decisorio: </a:t>
            </a:r>
            <a:r>
              <a:rPr lang="es-CO" dirty="0" smtClean="0"/>
              <a:t>Quien decide siempre es aquel que ocupa el puesto jerárquico mas alto, aunque no sepa nada del tema.</a:t>
            </a:r>
          </a:p>
          <a:p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738450"/>
          </a:xfrm>
        </p:spPr>
        <p:txBody>
          <a:bodyPr>
            <a:normAutofit/>
          </a:bodyPr>
          <a:lstStyle/>
          <a:p>
            <a:endParaRPr lang="es-CO" dirty="0" smtClean="0"/>
          </a:p>
          <a:p>
            <a:r>
              <a:rPr lang="es-CO" dirty="0" smtClean="0"/>
              <a:t>6</a:t>
            </a:r>
            <a:r>
              <a:rPr lang="es-CO" dirty="0" smtClean="0"/>
              <a:t>. </a:t>
            </a:r>
            <a:r>
              <a:rPr lang="es-CO" b="1" dirty="0" smtClean="0"/>
              <a:t>Súper-conformidad </a:t>
            </a:r>
            <a:r>
              <a:rPr lang="es-CO" b="1" dirty="0" smtClean="0"/>
              <a:t>a las rutinas y a los procedimientos: </a:t>
            </a:r>
            <a:r>
              <a:rPr lang="es-CO" dirty="0" smtClean="0"/>
              <a:t>Apego absoluto, que provoca profunda limitación en su libertad, espontaneidad personal, iniciativa, creatividad e innovación. 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r>
              <a:rPr lang="es-CO" dirty="0" smtClean="0"/>
              <a:t>7</a:t>
            </a:r>
            <a:r>
              <a:rPr lang="es-CO" dirty="0" smtClean="0"/>
              <a:t>. </a:t>
            </a:r>
            <a:r>
              <a:rPr lang="es-CO" b="1" dirty="0" smtClean="0"/>
              <a:t>Exhibición de señales de autoridad:  </a:t>
            </a:r>
            <a:r>
              <a:rPr lang="es-CO" dirty="0" smtClean="0"/>
              <a:t>Se genera la utilización intensiva de símbolos o señales para demostrar la posición jerárquica de los empleados.</a:t>
            </a:r>
          </a:p>
          <a:p>
            <a:endParaRPr lang="es-CO" b="1" dirty="0" smtClean="0"/>
          </a:p>
          <a:p>
            <a:endParaRPr lang="es-CO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95640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8</a:t>
            </a:r>
            <a:r>
              <a:rPr lang="es-CO" b="1" dirty="0" smtClean="0"/>
              <a:t>. Dificultad en la atención a clientes y conflictos con el público:  </a:t>
            </a:r>
            <a:r>
              <a:rPr lang="es-CO" dirty="0" smtClean="0"/>
              <a:t>Todos los clientes son atendidos de forma estandarizada, produciendo irritación en ellos por la poca atención.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861</TotalTime>
  <Words>1894</Words>
  <Application>Microsoft Office PowerPoint</Application>
  <PresentationFormat>Presentación en pantalla (4:3)</PresentationFormat>
  <Paragraphs>269</Paragraphs>
  <Slides>44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5" baseType="lpstr">
      <vt:lpstr>Equidad</vt:lpstr>
      <vt:lpstr> MAX WEBER (1864-1920) </vt:lpstr>
      <vt:lpstr>BIOGRAFÍA</vt:lpstr>
      <vt:lpstr>ORIGENES DE LA TEORIA DE LA BUROCRACIA</vt:lpstr>
      <vt:lpstr>Diapositiva 4</vt:lpstr>
      <vt:lpstr>WEBER Y LA TEORÍA BUROCRÁTICA</vt:lpstr>
      <vt:lpstr>A CADA TIPO DE SOCIEDAD CORRESPONDE UNO DE AUTORIDAD:</vt:lpstr>
      <vt:lpstr>AUTORIDAD TRADICIONAL</vt:lpstr>
      <vt:lpstr>AUTORIDAD CARISMÁTICA</vt:lpstr>
      <vt:lpstr>AUTORIDAD LEGAL, RACIONAL O BUROCRÁTICA</vt:lpstr>
      <vt:lpstr>FACTORES EN EL DESARROLLO DE LA BUROCRACIA</vt:lpstr>
      <vt:lpstr>FACTORES EN EL DESARROLLO DE LA BUROCRACIA</vt:lpstr>
      <vt:lpstr>FACTORES EN EL DESARROLLO DE LA BUROCRACIA</vt:lpstr>
      <vt:lpstr>LA ÉTICA PROTESTANTE Y EL ESPÍRITU DEL CAPITALISMO.</vt:lpstr>
      <vt:lpstr>LA ÉTICA PROTESTANTE</vt:lpstr>
      <vt:lpstr>EL ESPÍRITU DEL CAPITALISMO</vt:lpstr>
      <vt:lpstr>LAS CATEGORIAS FUNDAMENTALES</vt:lpstr>
      <vt:lpstr>Diapositiva 17</vt:lpstr>
      <vt:lpstr>EL IDEAL DE LA DIRECCION ADMINISTARTIVA BUROCRATICA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RACIONALIDAD BUROCRATICA</vt:lpstr>
      <vt:lpstr>RACIONALIDAD BUROCRATICA</vt:lpstr>
      <vt:lpstr>DILEMAS DE LA BUROCRACIA</vt:lpstr>
      <vt:lpstr>DILEMAS DE LA BUROCRACIA</vt:lpstr>
      <vt:lpstr>VENTAJAS DE LA BUROCRACIA</vt:lpstr>
      <vt:lpstr>VENTAJAS DE LA BUROCRACIA</vt:lpstr>
      <vt:lpstr>CRITICAS A LA BUROCRACIA DE  WEBER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WEBER</dc:title>
  <dc:creator>PERSONAL</dc:creator>
  <cp:lastModifiedBy>PERSONAL</cp:lastModifiedBy>
  <cp:revision>88</cp:revision>
  <dcterms:created xsi:type="dcterms:W3CDTF">2010-03-01T19:17:01Z</dcterms:created>
  <dcterms:modified xsi:type="dcterms:W3CDTF">2010-03-08T01:36:26Z</dcterms:modified>
</cp:coreProperties>
</file>