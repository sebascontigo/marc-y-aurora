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42"/>
  </p:notesMasterIdLst>
  <p:sldIdLst>
    <p:sldId id="361" r:id="rId2"/>
    <p:sldId id="378" r:id="rId3"/>
    <p:sldId id="364" r:id="rId4"/>
    <p:sldId id="365" r:id="rId5"/>
    <p:sldId id="379" r:id="rId6"/>
    <p:sldId id="366" r:id="rId7"/>
    <p:sldId id="367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63" r:id="rId19"/>
    <p:sldId id="380" r:id="rId20"/>
    <p:sldId id="381" r:id="rId21"/>
    <p:sldId id="382" r:id="rId22"/>
    <p:sldId id="383" r:id="rId23"/>
    <p:sldId id="384" r:id="rId24"/>
    <p:sldId id="385" r:id="rId25"/>
    <p:sldId id="386" r:id="rId26"/>
    <p:sldId id="387" r:id="rId27"/>
    <p:sldId id="388" r:id="rId28"/>
    <p:sldId id="389" r:id="rId29"/>
    <p:sldId id="390" r:id="rId30"/>
    <p:sldId id="391" r:id="rId31"/>
    <p:sldId id="392" r:id="rId32"/>
    <p:sldId id="393" r:id="rId33"/>
    <p:sldId id="394" r:id="rId34"/>
    <p:sldId id="395" r:id="rId35"/>
    <p:sldId id="396" r:id="rId36"/>
    <p:sldId id="397" r:id="rId37"/>
    <p:sldId id="398" r:id="rId38"/>
    <p:sldId id="399" r:id="rId39"/>
    <p:sldId id="400" r:id="rId40"/>
    <p:sldId id="401" r:id="rId41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993366"/>
    <a:srgbClr val="9900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2142" y="-9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216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BFE10D76-88AF-4D0D-8D0D-65F24AC3544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G0" fmla="+- 12083 0 0"/>
                <a:gd name="G1" fmla="+- -3200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44083" y="2368"/>
                </a:cxn>
                <a:cxn ang="0">
                  <a:pos x="64000" y="32000"/>
                </a:cxn>
                <a:cxn ang="0">
                  <a:pos x="44083" y="61631"/>
                </a:cxn>
                <a:cxn ang="0">
                  <a:pos x="44083" y="61631"/>
                </a:cxn>
                <a:cxn ang="0">
                  <a:pos x="44082" y="61631"/>
                </a:cxn>
                <a:cxn ang="0">
                  <a:pos x="44083" y="61632"/>
                </a:cxn>
                <a:cxn ang="0">
                  <a:pos x="44083" y="2368"/>
                </a:cxn>
                <a:cxn ang="0">
                  <a:pos x="44082" y="2368"/>
                </a:cxn>
                <a:cxn ang="0">
                  <a:pos x="44083" y="2368"/>
                </a:cxn>
              </a:cxnLst>
              <a:rect l="T13" t="T15" r="T17" b="T19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_tradnl" sz="2400">
                <a:latin typeface="Times New Roman" pitchFamily="18" charset="0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_tradnl">
                <a:latin typeface="Arial" charset="0"/>
              </a:endParaRPr>
            </a:p>
          </p:txBody>
        </p:sp>
      </p:grpSp>
      <p:sp>
        <p:nvSpPr>
          <p:cNvPr id="4199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cambiar el estilo de título	</a:t>
            </a:r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AD6FD-AE24-4D74-B3D4-19729CA7709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648FE-82B1-4FEF-AF35-90EEDF7F162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1A7BB-A5A2-46D9-A903-DEFAD6E8CEA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159A3D-016E-40F0-A75D-F39355A7E43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1FDE61-8A0B-4F78-AA3B-855F9678E2B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B9875B-786E-4D86-A086-7AA8D5DADD9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2B893-D4B2-47C8-9660-94DC2409D61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40D588-75C6-455B-97BF-7061A65A59C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69B3A5-400D-458C-A11C-0E0C93A8EDC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F3A1E-928E-4150-8F47-DA05AA884D6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64BA-C601-4485-BF92-FA24F9E77E3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40963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G0" fmla="+- 18296 0 0"/>
                <a:gd name="G1" fmla="+- -30880 0 0"/>
                <a:gd name="G2" fmla="+- 31512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296" y="5746"/>
                </a:cxn>
                <a:cxn ang="0">
                  <a:pos x="64000" y="32000"/>
                </a:cxn>
                <a:cxn ang="0">
                  <a:pos x="50296" y="58253"/>
                </a:cxn>
                <a:cxn ang="0">
                  <a:pos x="50296" y="58253"/>
                </a:cxn>
                <a:cxn ang="0">
                  <a:pos x="50295" y="58253"/>
                </a:cxn>
                <a:cxn ang="0">
                  <a:pos x="50296" y="58254"/>
                </a:cxn>
                <a:cxn ang="0">
                  <a:pos x="50296" y="5746"/>
                </a:cxn>
                <a:cxn ang="0">
                  <a:pos x="50295" y="5746"/>
                </a:cxn>
                <a:cxn ang="0">
                  <a:pos x="50296" y="5746"/>
                </a:cxn>
              </a:cxnLst>
              <a:rect l="T13" t="T15" r="T17" b="T19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_tradnl" sz="2400">
                <a:latin typeface="Times New Roman" pitchFamily="18" charset="0"/>
              </a:endParaRPr>
            </a:p>
          </p:txBody>
        </p:sp>
        <p:sp>
          <p:nvSpPr>
            <p:cNvPr id="40964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G0" fmla="+- 18077 0 0"/>
                <a:gd name="G1" fmla="+- -3088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077" y="5595"/>
                </a:cxn>
                <a:cxn ang="0">
                  <a:pos x="64000" y="32000"/>
                </a:cxn>
                <a:cxn ang="0">
                  <a:pos x="50077" y="58404"/>
                </a:cxn>
                <a:cxn ang="0">
                  <a:pos x="50077" y="58404"/>
                </a:cxn>
                <a:cxn ang="0">
                  <a:pos x="50076" y="58404"/>
                </a:cxn>
                <a:cxn ang="0">
                  <a:pos x="50077" y="58405"/>
                </a:cxn>
                <a:cxn ang="0">
                  <a:pos x="50077" y="5595"/>
                </a:cxn>
                <a:cxn ang="0">
                  <a:pos x="50076" y="5595"/>
                </a:cxn>
                <a:cxn ang="0">
                  <a:pos x="50077" y="5595"/>
                </a:cxn>
              </a:cxnLst>
              <a:rect l="T13" t="T15" r="T17" b="T19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ES_tradnl">
                <a:latin typeface="Arial" charset="0"/>
              </a:endParaRPr>
            </a:p>
          </p:txBody>
        </p:sp>
        <p:sp>
          <p:nvSpPr>
            <p:cNvPr id="40965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4096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096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097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97097B-99F2-4E3C-AF46-276689953C9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370013" y="1827212"/>
            <a:ext cx="7313612" cy="4316431"/>
          </a:xfrm>
        </p:spPr>
        <p:txBody>
          <a:bodyPr/>
          <a:lstStyle/>
          <a:p>
            <a:pPr>
              <a:buNone/>
            </a:pPr>
            <a:r>
              <a:rPr lang="es-CO" dirty="0" smtClean="0"/>
              <a:t>ADMINISTRACIÓN Y LIDERAZGO SON EQUIVALENTES?</a:t>
            </a:r>
          </a:p>
          <a:p>
            <a:pPr>
              <a:buNone/>
            </a:pPr>
            <a:endParaRPr lang="es-CO" dirty="0" smtClean="0"/>
          </a:p>
          <a:p>
            <a:r>
              <a:rPr lang="es-CO" dirty="0" smtClean="0"/>
              <a:t>ADMINISTRACIÓN:</a:t>
            </a:r>
          </a:p>
          <a:p>
            <a:pPr lvl="1"/>
            <a:r>
              <a:rPr lang="es-CO" dirty="0" smtClean="0"/>
              <a:t>Proceso Administrativo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ES_tradn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LIDERAZGO:</a:t>
            </a:r>
          </a:p>
          <a:p>
            <a:pPr lvl="1"/>
            <a:r>
              <a:rPr lang="es-CO" dirty="0" smtClean="0"/>
              <a:t>Afrontar el cambio</a:t>
            </a:r>
          </a:p>
          <a:p>
            <a:pPr lvl="1"/>
            <a:r>
              <a:rPr lang="es-CO" dirty="0" smtClean="0"/>
              <a:t>Define cursos para afrontar el futuro.</a:t>
            </a:r>
          </a:p>
          <a:p>
            <a:pPr lvl="1"/>
            <a:r>
              <a:rPr lang="es-CO" dirty="0" smtClean="0"/>
              <a:t>Compromete a la Organización, para seguir  el camino escogido.</a:t>
            </a:r>
          </a:p>
          <a:p>
            <a:endParaRPr lang="es-ES_tradn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2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NO TODO LIDER ES UN ADMINISTRADOR O GERENTE.</a:t>
            </a:r>
          </a:p>
          <a:p>
            <a:r>
              <a:rPr lang="es-CO" dirty="0" smtClean="0"/>
              <a:t>PERO SI TODO ADMINISTRADOR DEBE SER UN LÍDER.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3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El administrador fundamenta el poder en su autoridad  y en su posición.</a:t>
            </a:r>
          </a:p>
          <a:p>
            <a:r>
              <a:rPr lang="es-CO" dirty="0" smtClean="0"/>
              <a:t>El líder se fundamenta en sus cualidades personales.</a:t>
            </a:r>
          </a:p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4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ES_tradn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smtClean="0"/>
              <a:t>Para ser un Ejecutivo Exitoso, no basta con ser un Administrador, se debe ser un verdadero Líder.</a:t>
            </a:r>
            <a:endParaRPr lang="es-ES_tradn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5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CARACTERÍSTICAS DEL ADMINISTRADOR:</a:t>
            </a:r>
          </a:p>
          <a:p>
            <a:pPr lvl="1"/>
            <a:r>
              <a:rPr lang="es-CO" dirty="0" smtClean="0"/>
              <a:t>Sigue modelos establecidos</a:t>
            </a:r>
          </a:p>
          <a:p>
            <a:pPr lvl="1"/>
            <a:r>
              <a:rPr lang="es-CO" dirty="0" smtClean="0"/>
              <a:t>Se enfoca a los procesos y la estructura</a:t>
            </a:r>
          </a:p>
          <a:p>
            <a:pPr lvl="1"/>
            <a:r>
              <a:rPr lang="es-CO" dirty="0" smtClean="0"/>
              <a:t>Se  basa en el control</a:t>
            </a:r>
          </a:p>
          <a:p>
            <a:pPr lvl="1"/>
            <a:r>
              <a:rPr lang="es-CO" dirty="0" smtClean="0"/>
              <a:t>Imita</a:t>
            </a:r>
          </a:p>
          <a:p>
            <a:pPr lvl="1"/>
            <a:r>
              <a:rPr lang="es-CO" dirty="0" smtClean="0"/>
              <a:t>No corre riesgos</a:t>
            </a:r>
          </a:p>
          <a:p>
            <a:pPr lvl="1"/>
            <a:r>
              <a:rPr lang="es-CO" dirty="0" smtClean="0"/>
              <a:t>Visión Cortoplacista</a:t>
            </a:r>
          </a:p>
          <a:p>
            <a:pPr lvl="1"/>
            <a:r>
              <a:rPr lang="es-CO" dirty="0" smtClean="0"/>
              <a:t>Dirigir a las personas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6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CARACTERÍSTICAS DEL  LÍDER:</a:t>
            </a:r>
          </a:p>
          <a:p>
            <a:pPr lvl="1"/>
            <a:r>
              <a:rPr lang="es-CO" dirty="0" smtClean="0"/>
              <a:t>Es original</a:t>
            </a:r>
          </a:p>
          <a:p>
            <a:pPr lvl="1"/>
            <a:r>
              <a:rPr lang="es-CO" dirty="0" smtClean="0"/>
              <a:t>Se enfoca a las personas</a:t>
            </a:r>
          </a:p>
          <a:p>
            <a:pPr lvl="1"/>
            <a:r>
              <a:rPr lang="es-CO" dirty="0" smtClean="0"/>
              <a:t>Se basa en la confianza</a:t>
            </a:r>
          </a:p>
          <a:p>
            <a:pPr lvl="1"/>
            <a:r>
              <a:rPr lang="es-CO" dirty="0" smtClean="0"/>
              <a:t>Es innovador</a:t>
            </a:r>
          </a:p>
          <a:p>
            <a:pPr lvl="1"/>
            <a:r>
              <a:rPr lang="es-CO" dirty="0" smtClean="0"/>
              <a:t>Es arriesgado y desafía lo establecido</a:t>
            </a:r>
          </a:p>
          <a:p>
            <a:pPr lvl="1"/>
            <a:r>
              <a:rPr lang="es-CO" dirty="0" smtClean="0"/>
              <a:t>Perspectivas a largo plazo</a:t>
            </a:r>
          </a:p>
          <a:p>
            <a:pPr lvl="1"/>
            <a:r>
              <a:rPr lang="es-CO" dirty="0" smtClean="0"/>
              <a:t>Servir a las personas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7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O" dirty="0" smtClean="0"/>
              <a:t>Las cosas pueden ser administradas: los recursos, los procesos etc.</a:t>
            </a:r>
          </a:p>
          <a:p>
            <a:pPr algn="just"/>
            <a:r>
              <a:rPr lang="es-CO" dirty="0" smtClean="0"/>
              <a:t>Las personas deben ser lideradas: sus valores, sus actitudes, su creatividad.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8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LIDERAZGO ES ACCIÓN, Y NO POSICIÓN. POR LO TANTO NO TODO ADMINISTRADOR ES UN LÍDER.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9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EL LIDERAZGO ES UN ESTADO DE ÁNIMO, Y NO UNA POSICIÓN EN UN ORGANIGRAMA.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10</a:t>
            </a:fld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A LA MAYORÍA DE LAS PERSONAS LES GUSTA ESTAR DIRIGIDOS POR LÍDERES Y NO POR SIMPLES ADMINISTRADORES.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11</a:t>
            </a:fld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El Líder: orienta, guía, persuade</a:t>
            </a:r>
          </a:p>
          <a:p>
            <a:r>
              <a:rPr lang="es-CO" dirty="0" smtClean="0"/>
              <a:t>El Administrador: controla, manipula, maneja. Muchas Compañías considera las personas: como recursos humanos, que deben ser administrados.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12</a:t>
            </a:fld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POR LO TANTO: LAS PERSONAS SE LIDERAN, Y “LAS COSAS” SE ADMINISTRAN.</a:t>
            </a:r>
          </a:p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13</a:t>
            </a:fld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LA POLÍTICA:</a:t>
            </a:r>
          </a:p>
          <a:p>
            <a:r>
              <a:rPr lang="es-CO" dirty="0" smtClean="0"/>
              <a:t>Aplicar el poder y la autoridad, para alcanzar unos objetivos.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14</a:t>
            </a:fld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En las Organizaciones se hace uso del poder (Política), para influir en los procesos de decisión, o en el comportamiento de las personas.</a:t>
            </a:r>
          </a:p>
          <a:p>
            <a:r>
              <a:rPr lang="es-CO" dirty="0" smtClean="0"/>
              <a:t>Sobretodo cuando no hay acuerdo en las opciones, o existe incertidumbre.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15</a:t>
            </a:fld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La Política en las Organizaciones no es algo formal, pero es palpable.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16</a:t>
            </a:fld>
            <a:endParaRPr lang="es-E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TIPOS DE COMPORTAMIENTOS POLÍTICOS EN LA EMPRESA:</a:t>
            </a:r>
          </a:p>
          <a:p>
            <a:r>
              <a:rPr lang="es-CO" dirty="0" smtClean="0"/>
              <a:t>Retener información clave.</a:t>
            </a:r>
          </a:p>
          <a:p>
            <a:r>
              <a:rPr lang="es-CO" dirty="0" smtClean="0"/>
              <a:t>Dar informes sobre los compañeros.</a:t>
            </a:r>
          </a:p>
          <a:p>
            <a:r>
              <a:rPr lang="es-CO" dirty="0" smtClean="0"/>
              <a:t>Difundir información confidencial.</a:t>
            </a:r>
          </a:p>
          <a:p>
            <a:r>
              <a:rPr lang="es-CO" dirty="0" smtClean="0"/>
              <a:t>Intercambiar favores.</a:t>
            </a:r>
          </a:p>
          <a:p>
            <a:r>
              <a:rPr lang="es-CO" dirty="0" smtClean="0"/>
              <a:t>“Cabildear” o hacer </a:t>
            </a:r>
            <a:r>
              <a:rPr lang="es-CO" dirty="0" err="1" smtClean="0"/>
              <a:t>loby</a:t>
            </a:r>
            <a:r>
              <a:rPr lang="es-CO" dirty="0" smtClean="0"/>
              <a:t>, a favor de alguna decisión.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17</a:t>
            </a:fld>
            <a:endParaRPr lang="es-E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CONCEPTO DE LIDERAZGO:</a:t>
            </a:r>
          </a:p>
          <a:p>
            <a:r>
              <a:rPr lang="es-CO" dirty="0" smtClean="0"/>
              <a:t>Es la influencia interpersonal que se ejerce en una situación dada, por medio del proceso de comunicación, con el fin de alcanzar </a:t>
            </a:r>
            <a:r>
              <a:rPr lang="es-CO" smtClean="0"/>
              <a:t>unos objetivos.</a:t>
            </a:r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18</a:t>
            </a:fld>
            <a:endParaRPr lang="es-E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TEORÍAS SOBRE EL LIDERAZGO</a:t>
            </a:r>
          </a:p>
          <a:p>
            <a:pPr lvl="1"/>
            <a:r>
              <a:rPr lang="es-CO" dirty="0" smtClean="0"/>
              <a:t>T. de los rasgos de personalidad.</a:t>
            </a:r>
          </a:p>
          <a:p>
            <a:pPr lvl="1"/>
            <a:r>
              <a:rPr lang="es-CO" dirty="0" smtClean="0"/>
              <a:t>T. de los estilos  de Liderazgo</a:t>
            </a:r>
          </a:p>
          <a:p>
            <a:pPr lvl="1"/>
            <a:r>
              <a:rPr lang="es-CO" dirty="0" smtClean="0"/>
              <a:t>T. situacionales del Liderazgo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19</a:t>
            </a:fld>
            <a:endParaRPr lang="es-E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T. de los rasgos de Personalidad:</a:t>
            </a:r>
          </a:p>
          <a:p>
            <a:pPr lvl="1"/>
            <a:r>
              <a:rPr lang="es-CO" dirty="0" smtClean="0"/>
              <a:t>Hace énfasis en las características distintivas que posee un líder, que lo distinguen de las demás personas, y que le permiten influir en el comportamiento de sus semejantes.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20</a:t>
            </a:fld>
            <a:endParaRPr lang="es-E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T. de los estilos de Liderazgo:</a:t>
            </a:r>
          </a:p>
          <a:p>
            <a:pPr lvl="1" algn="just"/>
            <a:r>
              <a:rPr lang="es-CO" dirty="0" smtClean="0"/>
              <a:t>Hace énfasis en los estilos o comportamientos adoptados por el líder.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21</a:t>
            </a:fld>
            <a:endParaRPr lang="es-E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T. situacionales del Liderazgo</a:t>
            </a:r>
          </a:p>
          <a:p>
            <a:pPr lvl="1"/>
            <a:r>
              <a:rPr lang="es-CO" dirty="0" smtClean="0"/>
              <a:t>Se presenta una adecuación del comportamiento del líder, a las circunstancias de la situación.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22</a:t>
            </a:fld>
            <a:endParaRPr lang="es-E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T. de los rasgos de Personalidad:</a:t>
            </a:r>
          </a:p>
          <a:p>
            <a:pPr lvl="1"/>
            <a:r>
              <a:rPr lang="es-CO" dirty="0" smtClean="0"/>
              <a:t>Se especifican algunos rasgos  característicos de la personalidad del líder:	</a:t>
            </a:r>
          </a:p>
          <a:p>
            <a:pPr lvl="1"/>
            <a:r>
              <a:rPr lang="es-CO" dirty="0" smtClean="0"/>
              <a:t>Rasgos Físicos: </a:t>
            </a:r>
            <a:r>
              <a:rPr lang="es-CO" dirty="0" smtClean="0"/>
              <a:t>apariencia</a:t>
            </a:r>
            <a:r>
              <a:rPr lang="es-CO" dirty="0" smtClean="0"/>
              <a:t>, estatura</a:t>
            </a:r>
            <a:r>
              <a:rPr lang="es-CO" dirty="0" smtClean="0"/>
              <a:t>, peso, </a:t>
            </a:r>
            <a:r>
              <a:rPr lang="es-CO" dirty="0" smtClean="0"/>
              <a:t>etc.</a:t>
            </a:r>
          </a:p>
          <a:p>
            <a:pPr lvl="1"/>
            <a:r>
              <a:rPr lang="es-CO" dirty="0" smtClean="0"/>
              <a:t>Rasgos emocionales: </a:t>
            </a:r>
            <a:r>
              <a:rPr lang="es-CO" dirty="0" smtClean="0"/>
              <a:t>oratoria</a:t>
            </a:r>
            <a:r>
              <a:rPr lang="es-CO" dirty="0" smtClean="0"/>
              <a:t>, energía, liderazgo</a:t>
            </a:r>
            <a:r>
              <a:rPr lang="es-CO" dirty="0" smtClean="0"/>
              <a:t>, combatividad</a:t>
            </a:r>
            <a:r>
              <a:rPr lang="es-CO" dirty="0" smtClean="0"/>
              <a:t>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23</a:t>
            </a:fld>
            <a:endParaRPr lang="es-E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370012" y="1827213"/>
            <a:ext cx="7450459" cy="4114800"/>
          </a:xfrm>
        </p:spPr>
        <p:txBody>
          <a:bodyPr/>
          <a:lstStyle/>
          <a:p>
            <a:pPr algn="just"/>
            <a:r>
              <a:rPr lang="es-CO" dirty="0" smtClean="0"/>
              <a:t>T. de los rasgos de Personalidad:</a:t>
            </a:r>
          </a:p>
          <a:p>
            <a:pPr lvl="1" algn="just"/>
            <a:r>
              <a:rPr lang="es-CO" dirty="0" smtClean="0"/>
              <a:t>Rasgos Intelectuales: capacidad de análisis, </a:t>
            </a:r>
            <a:r>
              <a:rPr lang="es-CO" dirty="0" smtClean="0"/>
              <a:t>iniciativa, toma de decisiones.</a:t>
            </a:r>
            <a:endParaRPr lang="es-CO" dirty="0" smtClean="0"/>
          </a:p>
          <a:p>
            <a:pPr lvl="1" algn="just"/>
            <a:r>
              <a:rPr lang="es-CO" dirty="0" smtClean="0"/>
              <a:t>Rasgos Sociales: Solidaridad, carisma, facilidad para interactuar.</a:t>
            </a:r>
          </a:p>
          <a:p>
            <a:pPr lvl="1" algn="just"/>
            <a:r>
              <a:rPr lang="es-CO" dirty="0" smtClean="0"/>
              <a:t>Rasgos respecto al Trabajo: </a:t>
            </a:r>
            <a:r>
              <a:rPr lang="es-CO" dirty="0" smtClean="0"/>
              <a:t>dedicación,     persistencia, profundidad</a:t>
            </a:r>
            <a:r>
              <a:rPr lang="es-CO" dirty="0" smtClean="0"/>
              <a:t>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24</a:t>
            </a:fld>
            <a:endParaRPr lang="es-E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Limitaciones de esta Teoría:</a:t>
            </a:r>
          </a:p>
          <a:p>
            <a:pPr lvl="1"/>
            <a:r>
              <a:rPr lang="es-CO" dirty="0" smtClean="0"/>
              <a:t>No ponderan importancia relativa de cada característica.</a:t>
            </a:r>
          </a:p>
          <a:p>
            <a:pPr lvl="1"/>
            <a:r>
              <a:rPr lang="es-CO" dirty="0" smtClean="0"/>
              <a:t>No determina rasgos pertinentes, para objetivos específicos.</a:t>
            </a:r>
          </a:p>
          <a:p>
            <a:pPr lvl="1"/>
            <a:r>
              <a:rPr lang="es-CO" dirty="0" smtClean="0"/>
              <a:t>Para situaciones críticas, no aplica </a:t>
            </a:r>
            <a:r>
              <a:rPr lang="es-CO" dirty="0" smtClean="0"/>
              <a:t>mucho.</a:t>
            </a:r>
          </a:p>
          <a:p>
            <a:pPr lvl="1"/>
            <a:r>
              <a:rPr lang="es-CO" dirty="0" smtClean="0"/>
              <a:t>Dificultad para su medición.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25</a:t>
            </a:fld>
            <a:endParaRPr lang="es-E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O" dirty="0" smtClean="0"/>
              <a:t>Se ha reemplazado la T. de Rasgos de la Personalidad, por Competencias del líder:</a:t>
            </a:r>
          </a:p>
          <a:p>
            <a:pPr lvl="1" algn="just"/>
            <a:r>
              <a:rPr lang="es-CO" dirty="0" smtClean="0"/>
              <a:t>Integridad: Poder transformar las palabras y los deseos en ACCIONES.</a:t>
            </a:r>
          </a:p>
          <a:p>
            <a:pPr lvl="1" algn="just"/>
            <a:r>
              <a:rPr lang="es-CO" dirty="0" smtClean="0"/>
              <a:t>Motivación para liderar: La capacidad de poder influir y convencer a los demás.</a:t>
            </a:r>
          </a:p>
          <a:p>
            <a:pPr algn="just"/>
            <a:endParaRPr lang="es-CO" dirty="0" smtClean="0"/>
          </a:p>
          <a:p>
            <a:pPr algn="just">
              <a:buNone/>
            </a:pPr>
            <a:r>
              <a:rPr lang="es-CO" dirty="0" smtClean="0"/>
              <a:t>		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26</a:t>
            </a:fld>
            <a:endParaRPr lang="es-E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 smtClean="0"/>
          </a:p>
          <a:p>
            <a:r>
              <a:rPr lang="es-CO" dirty="0" smtClean="0"/>
              <a:t>Seguridad en si mismo</a:t>
            </a:r>
          </a:p>
          <a:p>
            <a:r>
              <a:rPr lang="es-CO" dirty="0" smtClean="0"/>
              <a:t>Conocimiento del negocio</a:t>
            </a:r>
          </a:p>
          <a:p>
            <a:pPr algn="just"/>
            <a:r>
              <a:rPr lang="es-CO" dirty="0" smtClean="0"/>
              <a:t>Inteligencia Racional: Poder procesar y analizar información, ofrecer soluciones</a:t>
            </a:r>
          </a:p>
          <a:p>
            <a:pPr>
              <a:buNone/>
            </a:pP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27</a:t>
            </a:fld>
            <a:endParaRPr lang="es-E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O" dirty="0" smtClean="0"/>
              <a:t>Inteligencia Emocional: Autocontrol, sensibilidad para entender situaciones, y adaptarse a diferentes circunstancias</a:t>
            </a:r>
            <a:r>
              <a:rPr lang="es-CO" dirty="0" smtClean="0"/>
              <a:t>.</a:t>
            </a:r>
          </a:p>
          <a:p>
            <a:pPr algn="just"/>
            <a:r>
              <a:rPr lang="es-CO" dirty="0" smtClean="0"/>
              <a:t>Habilidades para comunicarse: Ya sea en forma: oral, escrita o no verbal. </a:t>
            </a:r>
            <a:endParaRPr lang="es-CO" dirty="0" smtClean="0"/>
          </a:p>
          <a:p>
            <a:pPr algn="just">
              <a:buNone/>
            </a:pP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28</a:t>
            </a:fld>
            <a:endParaRPr lang="es-E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Creatividad: Tanto a nivel personal, como contagiarla a los miembros del grupo.</a:t>
            </a:r>
          </a:p>
          <a:p>
            <a:r>
              <a:rPr lang="es-CO" dirty="0" smtClean="0"/>
              <a:t>Aprendizaje continuo: Estamos en la era del conocimiento y la competitividad global.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29</a:t>
            </a:fld>
            <a:endParaRPr lang="es-E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En encuesta a más de 400 líderes muy eficaces, señalaron las siguientes Habilidades de un Líder:</a:t>
            </a:r>
          </a:p>
          <a:p>
            <a:pPr lvl="1"/>
            <a:r>
              <a:rPr lang="es-CO" dirty="0" smtClean="0"/>
              <a:t>Poder administrar el estrés y el tiempo.</a:t>
            </a:r>
          </a:p>
          <a:p>
            <a:pPr lvl="1"/>
            <a:r>
              <a:rPr lang="es-CO" dirty="0" smtClean="0"/>
              <a:t>Escuchar a las personas y comunicarse verbalmente.</a:t>
            </a:r>
          </a:p>
          <a:p>
            <a:pPr lvl="1"/>
            <a:r>
              <a:rPr lang="es-CO" dirty="0" smtClean="0"/>
              <a:t>Entender, reconocer y resolver problemas.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30</a:t>
            </a:fld>
            <a:endParaRPr lang="es-E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370012" y="1827213"/>
            <a:ext cx="7450459" cy="4114800"/>
          </a:xfrm>
        </p:spPr>
        <p:txBody>
          <a:bodyPr/>
          <a:lstStyle/>
          <a:p>
            <a:r>
              <a:rPr lang="es-CO" dirty="0" smtClean="0"/>
              <a:t>En encuesta a más de 400 líderes muy eficaces, señalaron las siguientes Habilidades de un Líder</a:t>
            </a:r>
            <a:endParaRPr lang="es-CO" dirty="0" smtClean="0"/>
          </a:p>
          <a:p>
            <a:pPr lvl="1"/>
            <a:r>
              <a:rPr lang="es-CO" dirty="0" smtClean="0"/>
              <a:t>Poder motivar e influir en los demás.</a:t>
            </a:r>
          </a:p>
          <a:p>
            <a:pPr lvl="1"/>
            <a:r>
              <a:rPr lang="es-CO" dirty="0" smtClean="0"/>
              <a:t>Delegar a los subalternos.</a:t>
            </a:r>
          </a:p>
          <a:p>
            <a:pPr lvl="1"/>
            <a:r>
              <a:rPr lang="es-CO" dirty="0" smtClean="0"/>
              <a:t>Definir Objetivos y una visión global.</a:t>
            </a:r>
          </a:p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31</a:t>
            </a:fld>
            <a:endParaRPr lang="es-E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En encuesta a más de 400 líderes muy eficaces, señalaron las siguientes Habilidades de un Líder</a:t>
            </a:r>
          </a:p>
          <a:p>
            <a:pPr lvl="1"/>
            <a:r>
              <a:rPr lang="es-CO" dirty="0" smtClean="0"/>
              <a:t>Formar y construir equipos de trabajo.</a:t>
            </a:r>
          </a:p>
          <a:p>
            <a:pPr lvl="1"/>
            <a:r>
              <a:rPr lang="es-CO" dirty="0" smtClean="0"/>
              <a:t>Administrara conflictos</a:t>
            </a:r>
          </a:p>
          <a:p>
            <a:pPr lvl="1"/>
            <a:r>
              <a:rPr lang="es-CO" dirty="0" smtClean="0"/>
              <a:t>Ser Previsor.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32</a:t>
            </a:fld>
            <a:endParaRPr lang="es-E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CARACTERÍSTICAS DE LAS HABILIDADES DEL LÍDER</a:t>
            </a:r>
          </a:p>
          <a:p>
            <a:pPr lvl="1"/>
            <a:r>
              <a:rPr lang="es-CO" dirty="0" smtClean="0"/>
              <a:t>Las habilidades están interrelacionadas y se ejecutan </a:t>
            </a:r>
            <a:r>
              <a:rPr lang="es-CO" dirty="0" err="1" smtClean="0"/>
              <a:t>simultaneamente</a:t>
            </a:r>
            <a:r>
              <a:rPr lang="es-CO" dirty="0" smtClean="0"/>
              <a:t>.</a:t>
            </a:r>
          </a:p>
          <a:p>
            <a:pPr lvl="1"/>
            <a:r>
              <a:rPr lang="es-CO" dirty="0" smtClean="0"/>
              <a:t>No obedecen sólo a rasgos o estilos, sino a  conductas o acciones que se ejecutan y que producen resultados.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33</a:t>
            </a:fld>
            <a:endParaRPr lang="es-E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CARACTERÍSTICAS DE LAS HABILIDADES DEL LÍDER</a:t>
            </a:r>
          </a:p>
          <a:p>
            <a:pPr lvl="1"/>
            <a:r>
              <a:rPr lang="es-CO" dirty="0" smtClean="0"/>
              <a:t>Son polifacéticas, y pueden parecer a veces contradictorias.</a:t>
            </a:r>
          </a:p>
          <a:p>
            <a:pPr lvl="1"/>
            <a:r>
              <a:rPr lang="es-CO" dirty="0" smtClean="0"/>
              <a:t>Se establecen prioridades. </a:t>
            </a:r>
          </a:p>
          <a:p>
            <a:pPr lvl="1"/>
            <a:r>
              <a:rPr lang="es-CO" dirty="0" smtClean="0"/>
              <a:t>Al ser consideradas en conjunto, se da mayor fuerza al liderazgo.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34</a:t>
            </a:fld>
            <a:endParaRPr lang="es-E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¿QUÉ LOGRA EL LÍDER AL PONER EN PRÁCTICA SUS HABILIDADES?</a:t>
            </a:r>
          </a:p>
          <a:p>
            <a:pPr lvl="1"/>
            <a:endParaRPr lang="es-CO" dirty="0" smtClean="0"/>
          </a:p>
          <a:p>
            <a:pPr lvl="1"/>
            <a:r>
              <a:rPr lang="es-CO" dirty="0" smtClean="0"/>
              <a:t>Solucionar y administrar conflictos</a:t>
            </a:r>
          </a:p>
          <a:p>
            <a:pPr lvl="1"/>
            <a:r>
              <a:rPr lang="es-CO" dirty="0" smtClean="0"/>
              <a:t>Ganar poder e influencia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35</a:t>
            </a:fld>
            <a:endParaRPr lang="es-E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¿QUÉ LOGRA EL LÍDER AL PONER EN PRÁCTICA SUS HABILIDADES?</a:t>
            </a:r>
          </a:p>
          <a:p>
            <a:pPr lvl="1"/>
            <a:r>
              <a:rPr lang="es-CO" dirty="0" smtClean="0"/>
              <a:t>Mejora de los procesos de comunicación</a:t>
            </a:r>
          </a:p>
          <a:p>
            <a:pPr lvl="1"/>
            <a:r>
              <a:rPr lang="es-CO" dirty="0" smtClean="0"/>
              <a:t>Administrar las tensiones diarias: Estableciendo un sentido de la </a:t>
            </a:r>
            <a:r>
              <a:rPr lang="es-CO" dirty="0" smtClean="0"/>
              <a:t>urgencia</a:t>
            </a:r>
            <a:endParaRPr lang="es-CO" dirty="0" smtClean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36</a:t>
            </a:fld>
            <a:endParaRPr lang="es-E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¿QUÉ LOGRA EL LÍDER AL PONER EN PRÁCTICA SUS HABILIDADES</a:t>
            </a:r>
            <a:r>
              <a:rPr lang="es-CO" dirty="0" smtClean="0"/>
              <a:t>?</a:t>
            </a:r>
          </a:p>
          <a:p>
            <a:pPr lvl="1"/>
            <a:r>
              <a:rPr lang="es-CO" dirty="0" smtClean="0"/>
              <a:t>Desarrollar la creatividad propia y de su equipo.</a:t>
            </a:r>
          </a:p>
          <a:p>
            <a:pPr lvl="1"/>
            <a:r>
              <a:rPr lang="es-CO" dirty="0" smtClean="0"/>
              <a:t>En síntesis: Lograr la Motivación y el buen desempeño de sus compañeros.</a:t>
            </a:r>
            <a:endParaRPr lang="es-CO" dirty="0" smtClean="0"/>
          </a:p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37</a:t>
            </a:fld>
            <a:endParaRPr lang="es-E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¿CÓMO PUEDE EL LÍDER DE UNA CÍA. FORMAR NUEVOS LÍDERES?</a:t>
            </a:r>
          </a:p>
          <a:p>
            <a:pPr lvl="1" algn="just"/>
            <a:r>
              <a:rPr lang="es-CO" dirty="0" smtClean="0"/>
              <a:t>Colocar a las personas en primer lugar.</a:t>
            </a:r>
          </a:p>
          <a:p>
            <a:pPr lvl="1" algn="just"/>
            <a:r>
              <a:rPr lang="es-CO" dirty="0" smtClean="0"/>
              <a:t>Depositar plena confianza en ellas.</a:t>
            </a:r>
          </a:p>
          <a:p>
            <a:pPr lvl="1" algn="just"/>
            <a:r>
              <a:rPr lang="es-CO" dirty="0" smtClean="0"/>
              <a:t>Construya un ambiente interno de desarrollo personal, de  aprendizaje e </a:t>
            </a:r>
            <a:r>
              <a:rPr lang="es-CO" dirty="0" err="1" smtClean="0"/>
              <a:t>innovacción</a:t>
            </a:r>
            <a:r>
              <a:rPr lang="es-CO" dirty="0" smtClean="0"/>
              <a:t>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38</a:t>
            </a:fld>
            <a:endParaRPr lang="es-E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¿CÓMO PUEDE EL LÍDER DE UNA CÍA. FORMAR NUEVOS LÍDERES?</a:t>
            </a:r>
          </a:p>
          <a:p>
            <a:pPr lvl="1"/>
            <a:r>
              <a:rPr lang="es-CO" dirty="0" smtClean="0"/>
              <a:t>Identifique las carencias y necesidades de la Cía. Busque los recursos para suplirlos.</a:t>
            </a:r>
          </a:p>
          <a:p>
            <a:pPr lvl="1"/>
            <a:r>
              <a:rPr lang="es-CO" dirty="0" smtClean="0"/>
              <a:t>Identifique los líderes potenciales y  </a:t>
            </a:r>
            <a:r>
              <a:rPr lang="es-CO" dirty="0" err="1" smtClean="0"/>
              <a:t>apoyelos</a:t>
            </a:r>
            <a:r>
              <a:rPr lang="es-CO" dirty="0" smtClean="0"/>
              <a:t>.</a:t>
            </a:r>
          </a:p>
          <a:p>
            <a:pPr lvl="1"/>
            <a:r>
              <a:rPr lang="es-CO" dirty="0" smtClean="0"/>
              <a:t>Delegue e incentive la formación de equipos de trabajo. 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39</a:t>
            </a:fld>
            <a:endParaRPr lang="es-E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smtClean="0"/>
              <a:t>LIDERAZGO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0648FE-82B1-4FEF-AF35-90EEDF7F162E}" type="slidenum">
              <a:rPr lang="es-ES" smtClean="0"/>
              <a:pPr>
                <a:defRPr/>
              </a:pPr>
              <a:t>40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1709</TotalTime>
  <Words>1171</Words>
  <Application>Microsoft Office PowerPoint</Application>
  <PresentationFormat>Presentación en pantalla (4:3)</PresentationFormat>
  <Paragraphs>203</Paragraphs>
  <Slides>40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1" baseType="lpstr">
      <vt:lpstr>Eclipse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  <vt:lpstr>LIDERAZGO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EMERGENCIA DEL INDIVIDUO</dc:title>
  <dc:creator>GONZALO</dc:creator>
  <cp:lastModifiedBy>jorge lopez</cp:lastModifiedBy>
  <cp:revision>135</cp:revision>
  <dcterms:created xsi:type="dcterms:W3CDTF">2006-05-18T17:32:10Z</dcterms:created>
  <dcterms:modified xsi:type="dcterms:W3CDTF">2010-09-21T23:01:12Z</dcterms:modified>
</cp:coreProperties>
</file>