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2" r:id="rId8"/>
    <p:sldId id="323" r:id="rId9"/>
    <p:sldId id="263" r:id="rId10"/>
    <p:sldId id="324" r:id="rId11"/>
    <p:sldId id="314" r:id="rId12"/>
    <p:sldId id="325" r:id="rId13"/>
    <p:sldId id="316" r:id="rId14"/>
    <p:sldId id="317" r:id="rId15"/>
    <p:sldId id="319" r:id="rId16"/>
    <p:sldId id="318" r:id="rId17"/>
    <p:sldId id="320" r:id="rId18"/>
    <p:sldId id="331" r:id="rId19"/>
    <p:sldId id="321" r:id="rId20"/>
    <p:sldId id="332" r:id="rId21"/>
    <p:sldId id="279" r:id="rId22"/>
    <p:sldId id="327" r:id="rId23"/>
    <p:sldId id="328" r:id="rId24"/>
    <p:sldId id="329" r:id="rId25"/>
    <p:sldId id="330" r:id="rId26"/>
    <p:sldId id="280" r:id="rId27"/>
    <p:sldId id="326" r:id="rId28"/>
    <p:sldId id="333" r:id="rId29"/>
    <p:sldId id="334" r:id="rId30"/>
    <p:sldId id="335" r:id="rId31"/>
    <p:sldId id="281" r:id="rId32"/>
    <p:sldId id="282" r:id="rId33"/>
    <p:sldId id="283" r:id="rId34"/>
    <p:sldId id="336" r:id="rId35"/>
    <p:sldId id="337" r:id="rId36"/>
    <p:sldId id="338" r:id="rId37"/>
    <p:sldId id="339" r:id="rId38"/>
    <p:sldId id="340" r:id="rId39"/>
    <p:sldId id="285" r:id="rId40"/>
    <p:sldId id="341" r:id="rId41"/>
    <p:sldId id="342" r:id="rId42"/>
    <p:sldId id="286" r:id="rId4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620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 autoAdjust="0"/>
    <p:restoredTop sz="94660" autoAdjust="0"/>
  </p:normalViewPr>
  <p:slideViewPr>
    <p:cSldViewPr>
      <p:cViewPr>
        <p:scale>
          <a:sx n="66" d="100"/>
          <a:sy n="66" d="100"/>
        </p:scale>
        <p:origin x="-1692" y="-6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72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O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O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O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O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4FFD0F9-CE8B-4A7F-8B8A-FCCF46484B0E}" type="datetimeFigureOut">
              <a:rPr lang="es-CO" smtClean="0"/>
              <a:pPr/>
              <a:t>11/05/2011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595B7C1-C7E1-4D41-9A1B-A9AD8AF199F5}" type="slidenum">
              <a:rPr lang="es-CO" smtClean="0"/>
              <a:pPr/>
              <a:t>‹Nº›</a:t>
            </a:fld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14545" y="-285776"/>
            <a:ext cx="6172200" cy="1894362"/>
          </a:xfrm>
        </p:spPr>
        <p:txBody>
          <a:bodyPr/>
          <a:lstStyle/>
          <a:p>
            <a:r>
              <a:rPr lang="es-CO" dirty="0" smtClean="0">
                <a:solidFill>
                  <a:schemeClr val="tx1"/>
                </a:solidFill>
              </a:rPr>
              <a:t>Planeación</a:t>
            </a:r>
            <a:r>
              <a:rPr lang="es-CO" dirty="0" smtClean="0"/>
              <a:t> </a:t>
            </a:r>
            <a:r>
              <a:rPr lang="es-CO" dirty="0" smtClean="0">
                <a:solidFill>
                  <a:schemeClr val="tx1"/>
                </a:solidFill>
              </a:rPr>
              <a:t>Estratégica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214546" y="2357430"/>
            <a:ext cx="6386515" cy="2714644"/>
          </a:xfrm>
        </p:spPr>
        <p:txBody>
          <a:bodyPr>
            <a:noAutofit/>
          </a:bodyPr>
          <a:lstStyle/>
          <a:p>
            <a:r>
              <a:rPr lang="es-CO" sz="2000" b="0" dirty="0" smtClean="0">
                <a:solidFill>
                  <a:schemeClr val="tx1"/>
                </a:solidFill>
              </a:rPr>
              <a:t>Es el proceso mediante el  cual quienes toman decisiones en una organización obtienen, procesan y analizan información pertinente, interna y externa, con el fin de evaluar la situación presente de la empresa.</a:t>
            </a:r>
          </a:p>
          <a:p>
            <a:endParaRPr lang="es-CO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4415" y="857232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s-CO" b="1" dirty="0" smtClean="0">
                <a:solidFill>
                  <a:schemeClr val="tx1"/>
                </a:solidFill>
              </a:rPr>
              <a:t>La planeación estratégica tiene cinco componentes fundamentales: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42911" y="1984248"/>
            <a:ext cx="7467600" cy="4873752"/>
          </a:xfrm>
        </p:spPr>
        <p:txBody>
          <a:bodyPr/>
          <a:lstStyle/>
          <a:p>
            <a:pPr lvl="0"/>
            <a:endParaRPr lang="es-CO" dirty="0" smtClean="0"/>
          </a:p>
          <a:p>
            <a:pPr lvl="0"/>
            <a:r>
              <a:rPr lang="es-CO" dirty="0" smtClean="0"/>
              <a:t>Los estrategas</a:t>
            </a:r>
          </a:p>
          <a:p>
            <a:pPr lvl="0"/>
            <a:r>
              <a:rPr lang="es-CO" dirty="0" smtClean="0"/>
              <a:t>El direccionamiento.</a:t>
            </a:r>
          </a:p>
          <a:p>
            <a:pPr lvl="0"/>
            <a:r>
              <a:rPr lang="es-CO" dirty="0" smtClean="0"/>
              <a:t>El diagnostico.</a:t>
            </a:r>
          </a:p>
          <a:p>
            <a:pPr lvl="0"/>
            <a:r>
              <a:rPr lang="es-CO" dirty="0" smtClean="0"/>
              <a:t>Las opciones.</a:t>
            </a:r>
          </a:p>
          <a:p>
            <a:pPr lvl="0"/>
            <a:r>
              <a:rPr lang="es-CO" dirty="0" smtClean="0"/>
              <a:t>La formulación estratégica.</a:t>
            </a:r>
          </a:p>
          <a:p>
            <a:pPr lvl="0">
              <a:buNone/>
            </a:pPr>
            <a:endParaRPr lang="es-CO" dirty="0" smtClean="0"/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2910" y="642918"/>
            <a:ext cx="7467600" cy="1143000"/>
          </a:xfrm>
        </p:spPr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 1)Los estrategas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2000240"/>
            <a:ext cx="7467600" cy="4087934"/>
          </a:xfrm>
        </p:spPr>
        <p:txBody>
          <a:bodyPr anchor="ctr">
            <a:normAutofit/>
          </a:bodyPr>
          <a:lstStyle/>
          <a:p>
            <a:pPr algn="just">
              <a:buNone/>
            </a:pPr>
            <a:r>
              <a:rPr lang="es-CO" dirty="0" smtClean="0"/>
              <a:t>    Todas las personas o todos los funcionarios de una organización que tiene capacidad para tomar decisiones relacionadas con el  desempeño presente o futuro de la organización. 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1)Los Estrategas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2357430"/>
            <a:ext cx="7467600" cy="487375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CO" dirty="0" smtClean="0"/>
              <a:t>   La planeación estratégica, más que un mecanismo para elaborar planes, es un proceso que debe conducir a una manera de pensar estratégica, a la creación de un sistema general inspirado en una cultura estratégica.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2)El direccionamiento estratégico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42910" y="1984248"/>
            <a:ext cx="7467600" cy="4873752"/>
          </a:xfrm>
        </p:spPr>
        <p:txBody>
          <a:bodyPr>
            <a:normAutofit/>
          </a:bodyPr>
          <a:lstStyle/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   Las organizaciones para crecer, generar utilidades y permanecer en el mercado deben tener muy claro hacia donde van, es decir, haber definido su direccionamiento estratégico.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2.1)Principios</a:t>
            </a:r>
            <a:r>
              <a:rPr lang="es-CO" b="1" dirty="0" smtClean="0"/>
              <a:t> </a:t>
            </a:r>
            <a:r>
              <a:rPr lang="es-CO" b="1" dirty="0" smtClean="0">
                <a:solidFill>
                  <a:schemeClr val="tx1"/>
                </a:solidFill>
              </a:rPr>
              <a:t>Corporativos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42910" y="2484338"/>
            <a:ext cx="7467600" cy="48737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dirty="0" smtClean="0"/>
              <a:t>   Son el conjunto de valores, creencias, normas que regulan la vida de una organización. Éstos principios y valores deben ser claros y precisos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solidFill>
                  <a:schemeClr val="tx1"/>
                </a:solidFill>
              </a:rPr>
              <a:t>2.1)Principios </a:t>
            </a:r>
            <a:r>
              <a:rPr lang="es-ES" b="1" dirty="0" smtClean="0">
                <a:solidFill>
                  <a:schemeClr val="tx1"/>
                </a:solidFill>
              </a:rPr>
              <a:t>corporativos</a:t>
            </a:r>
            <a:r>
              <a:rPr lang="es-ES" b="1" dirty="0" smtClean="0">
                <a:solidFill>
                  <a:schemeClr val="tx1"/>
                </a:solidFill>
              </a:rPr>
              <a:t>.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85786" y="1984248"/>
            <a:ext cx="7467600" cy="4873752"/>
          </a:xfrm>
        </p:spPr>
        <p:txBody>
          <a:bodyPr/>
          <a:lstStyle/>
          <a:p>
            <a:r>
              <a:rPr lang="es-ES" dirty="0" smtClean="0"/>
              <a:t>Ejemplos:</a:t>
            </a:r>
          </a:p>
          <a:p>
            <a:pPr>
              <a:buNone/>
            </a:pPr>
            <a:r>
              <a:rPr lang="es-ES" dirty="0" smtClean="0"/>
              <a:t>1. Creencias en ser el mejor.</a:t>
            </a:r>
          </a:p>
          <a:p>
            <a:pPr marL="457200" indent="-457200">
              <a:buNone/>
            </a:pPr>
            <a:r>
              <a:rPr lang="es-ES" dirty="0" smtClean="0"/>
              <a:t>2.Creencias en la importancia de los detalles de la ejecución, en los frutos y el rápido progreso que produce el trabajo bien hecho.  </a:t>
            </a:r>
          </a:p>
          <a:p>
            <a:pPr marL="457200" indent="-457200">
              <a:buNone/>
            </a:pPr>
            <a:r>
              <a:rPr lang="es-ES" dirty="0" smtClean="0"/>
              <a:t>3. Creencias  en la importancia de las personas como individuos.</a:t>
            </a:r>
          </a:p>
          <a:p>
            <a:pPr marL="457200" indent="-457200">
              <a:buNone/>
            </a:pPr>
            <a:r>
              <a:rPr lang="es-ES" dirty="0" smtClean="0"/>
              <a:t>4. Creencias en </a:t>
            </a:r>
            <a:r>
              <a:rPr lang="es-ES" dirty="0" smtClean="0"/>
              <a:t>la </a:t>
            </a:r>
            <a:r>
              <a:rPr lang="es-ES" dirty="0" smtClean="0"/>
              <a:t>calidad y el servicio superior al cliente</a:t>
            </a:r>
            <a:r>
              <a:rPr lang="es-ES" dirty="0" smtClean="0"/>
              <a:t>.</a:t>
            </a:r>
          </a:p>
          <a:p>
            <a:pPr marL="457200" indent="-457200"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643050"/>
            <a:ext cx="7467600" cy="4873752"/>
          </a:xfrm>
        </p:spPr>
        <p:txBody>
          <a:bodyPr/>
          <a:lstStyle/>
          <a:p>
            <a:pPr>
              <a:buNone/>
            </a:pPr>
            <a:r>
              <a:rPr lang="es-ES" dirty="0" smtClean="0"/>
              <a:t>5. Creencias en que la mayoria  de los miembros de la organización deben ser inovadores.</a:t>
            </a:r>
          </a:p>
          <a:p>
            <a:pPr>
              <a:buNone/>
            </a:pPr>
            <a:r>
              <a:rPr lang="es-ES" dirty="0" smtClean="0"/>
              <a:t>6. Creencias en la importancia de la informalidad para </a:t>
            </a:r>
            <a:r>
              <a:rPr lang="es-ES" dirty="0" smtClean="0"/>
              <a:t>mejorar la </a:t>
            </a:r>
            <a:r>
              <a:rPr lang="es-ES" dirty="0" smtClean="0"/>
              <a:t>comunicación.</a:t>
            </a:r>
          </a:p>
          <a:p>
            <a:pPr>
              <a:buNone/>
            </a:pPr>
            <a:r>
              <a:rPr lang="es-ES" dirty="0" smtClean="0"/>
              <a:t>7. Creencias en la </a:t>
            </a:r>
            <a:r>
              <a:rPr lang="es-ES" dirty="0" smtClean="0"/>
              <a:t>importancia </a:t>
            </a:r>
            <a:r>
              <a:rPr lang="es-ES" dirty="0" smtClean="0"/>
              <a:t>del crecimiento economico y de las </a:t>
            </a:r>
            <a:r>
              <a:rPr lang="es-ES" dirty="0" smtClean="0"/>
              <a:t>utilidades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solidFill>
                  <a:schemeClr val="tx1"/>
                </a:solidFill>
              </a:rPr>
              <a:t>2.1)Principios corporativas.</a:t>
            </a:r>
            <a:endParaRPr lang="es-E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64291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2.PRINCIPIOS CORPORATIVOS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3" y="1984248"/>
            <a:ext cx="7467600" cy="4873752"/>
          </a:xfrm>
        </p:spPr>
        <p:txBody>
          <a:bodyPr/>
          <a:lstStyle/>
          <a:p>
            <a:r>
              <a:rPr lang="es-CO" b="1" dirty="0" smtClean="0"/>
              <a:t>Los valores: </a:t>
            </a:r>
            <a:r>
              <a:rPr lang="es-CO" dirty="0" smtClean="0"/>
              <a:t>administrativos guían al gerente en la selección de un propósito, una visión, una misión, unas metas y unos objetivos. siendo el código de comportamiento como la transparencia, al actuar en la organización.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Ejemplo:</a:t>
            </a:r>
          </a:p>
          <a:p>
            <a:pPr>
              <a:buNone/>
            </a:pPr>
            <a:r>
              <a:rPr lang="es-ES" dirty="0" smtClean="0"/>
              <a:t>1.etica.</a:t>
            </a:r>
          </a:p>
          <a:p>
            <a:pPr>
              <a:buNone/>
            </a:pPr>
            <a:r>
              <a:rPr lang="es-ES" dirty="0" smtClean="0"/>
              <a:t>2. Compromiso.</a:t>
            </a:r>
          </a:p>
          <a:p>
            <a:pPr>
              <a:buNone/>
            </a:pPr>
            <a:r>
              <a:rPr lang="es-ES" dirty="0" smtClean="0"/>
              <a:t>3.Rentabilidad.</a:t>
            </a:r>
          </a:p>
          <a:p>
            <a:pPr>
              <a:buNone/>
            </a:pPr>
            <a:r>
              <a:rPr lang="es-ES" dirty="0" smtClean="0"/>
              <a:t>4.Competitividad.</a:t>
            </a:r>
          </a:p>
          <a:p>
            <a:pPr>
              <a:buNone/>
            </a:pPr>
            <a:r>
              <a:rPr lang="es-ES" dirty="0" smtClean="0"/>
              <a:t>5.Talento humano.</a:t>
            </a:r>
          </a:p>
          <a:p>
            <a:pPr>
              <a:buNone/>
            </a:pPr>
            <a:r>
              <a:rPr lang="es-ES" dirty="0" smtClean="0"/>
              <a:t>6.Responsabilidad social.</a:t>
            </a:r>
            <a:endParaRPr lang="es-ES" dirty="0"/>
          </a:p>
        </p:txBody>
      </p:sp>
      <p:sp>
        <p:nvSpPr>
          <p:cNvPr id="6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Los valores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2.2 Misión</a:t>
            </a:r>
            <a:r>
              <a:rPr lang="es-CO" dirty="0" smtClean="0"/>
              <a:t>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42910" y="1984248"/>
            <a:ext cx="7467600" cy="4873752"/>
          </a:xfrm>
        </p:spPr>
        <p:txBody>
          <a:bodyPr/>
          <a:lstStyle/>
          <a:p>
            <a:r>
              <a:rPr lang="es-CO" dirty="0" smtClean="0"/>
              <a:t>Es la formulación de los propósitos de una organización que la distingue de otros negocios en cuanto al cubrimiento de sus operaciones, sus productos, los mercados y el talento humano que soporta el logro de estos propósitos.</a:t>
            </a:r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214290"/>
            <a:ext cx="7901014" cy="6259662"/>
          </a:xfrm>
        </p:spPr>
        <p:txBody>
          <a:bodyPr/>
          <a:lstStyle/>
          <a:p>
            <a:endParaRPr lang="es-ES" b="1" dirty="0"/>
          </a:p>
        </p:txBody>
      </p:sp>
      <p:sp>
        <p:nvSpPr>
          <p:cNvPr id="5" name="4 Rectángulo"/>
          <p:cNvSpPr/>
          <p:nvPr/>
        </p:nvSpPr>
        <p:spPr>
          <a:xfrm>
            <a:off x="3214678" y="2071678"/>
            <a:ext cx="2286016" cy="1143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 smtClean="0"/>
              <a:t>LA MISIÒN</a:t>
            </a:r>
            <a:endParaRPr lang="es-ES" sz="2800" dirty="0"/>
          </a:p>
        </p:txBody>
      </p:sp>
      <p:sp>
        <p:nvSpPr>
          <p:cNvPr id="13" name="12 Rectángulo"/>
          <p:cNvSpPr/>
          <p:nvPr/>
        </p:nvSpPr>
        <p:spPr>
          <a:xfrm>
            <a:off x="3428992" y="214290"/>
            <a:ext cx="2071702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¿Cuáles son los valores?</a:t>
            </a:r>
            <a:endParaRPr lang="es-ES" sz="2400" dirty="0"/>
          </a:p>
        </p:txBody>
      </p:sp>
      <p:sp>
        <p:nvSpPr>
          <p:cNvPr id="14" name="13 Rectángulo"/>
          <p:cNvSpPr/>
          <p:nvPr/>
        </p:nvSpPr>
        <p:spPr>
          <a:xfrm>
            <a:off x="285720" y="2071678"/>
            <a:ext cx="2071702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¿Para qué existe la empresa?</a:t>
            </a:r>
            <a:endParaRPr lang="es-ES" sz="2400" dirty="0"/>
          </a:p>
        </p:txBody>
      </p:sp>
      <p:sp>
        <p:nvSpPr>
          <p:cNvPr id="17" name="16 Rectángulo"/>
          <p:cNvSpPr/>
          <p:nvPr/>
        </p:nvSpPr>
        <p:spPr>
          <a:xfrm rot="21600000">
            <a:off x="285720" y="285728"/>
            <a:ext cx="2214578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¿Cuál es su negocio?</a:t>
            </a:r>
            <a:endParaRPr lang="es-ES" sz="2400" dirty="0"/>
          </a:p>
        </p:txBody>
      </p:sp>
      <p:sp>
        <p:nvSpPr>
          <p:cNvPr id="18" name="17 Rectángulo"/>
          <p:cNvSpPr/>
          <p:nvPr/>
        </p:nvSpPr>
        <p:spPr>
          <a:xfrm>
            <a:off x="6286512" y="3929066"/>
            <a:ext cx="2500330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¿Cuáles son los deberes y derechos de sus colaboradores?</a:t>
            </a:r>
            <a:endParaRPr lang="es-ES" sz="2400" dirty="0"/>
          </a:p>
        </p:txBody>
      </p:sp>
      <p:sp>
        <p:nvSpPr>
          <p:cNvPr id="19" name="18 Rectángulo"/>
          <p:cNvSpPr/>
          <p:nvPr/>
        </p:nvSpPr>
        <p:spPr>
          <a:xfrm>
            <a:off x="285720" y="3857628"/>
            <a:ext cx="1857388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¿Cuáles son sus productos y mercados?</a:t>
            </a:r>
            <a:endParaRPr lang="es-ES" sz="2400" dirty="0"/>
          </a:p>
        </p:txBody>
      </p:sp>
      <p:sp>
        <p:nvSpPr>
          <p:cNvPr id="20" name="19 Rectángulo"/>
          <p:cNvSpPr/>
          <p:nvPr/>
        </p:nvSpPr>
        <p:spPr>
          <a:xfrm>
            <a:off x="2214546" y="5715016"/>
            <a:ext cx="4500594" cy="11429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¿Cuál es su responsabilidad como ciudadano corporativo(responsabilidad social)</a:t>
            </a:r>
            <a:endParaRPr lang="es-ES" dirty="0"/>
          </a:p>
        </p:txBody>
      </p:sp>
      <p:sp>
        <p:nvSpPr>
          <p:cNvPr id="21" name="20 Rectángulo"/>
          <p:cNvSpPr/>
          <p:nvPr/>
        </p:nvSpPr>
        <p:spPr>
          <a:xfrm>
            <a:off x="3071802" y="3857628"/>
            <a:ext cx="2643206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¿Cuáles  son sus objetivos organizacionales?</a:t>
            </a:r>
            <a:endParaRPr lang="es-ES" dirty="0"/>
          </a:p>
        </p:txBody>
      </p:sp>
      <p:sp>
        <p:nvSpPr>
          <p:cNvPr id="22" name="21 Rectángulo"/>
          <p:cNvSpPr/>
          <p:nvPr/>
        </p:nvSpPr>
        <p:spPr>
          <a:xfrm>
            <a:off x="6357950" y="2143116"/>
            <a:ext cx="2143140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¿Cuál es su prioridad?</a:t>
            </a:r>
            <a:endParaRPr lang="es-ES" sz="2400" dirty="0"/>
          </a:p>
        </p:txBody>
      </p:sp>
      <p:sp>
        <p:nvSpPr>
          <p:cNvPr id="23" name="22 Rectángulo"/>
          <p:cNvSpPr/>
          <p:nvPr/>
        </p:nvSpPr>
        <p:spPr>
          <a:xfrm>
            <a:off x="6500826" y="500042"/>
            <a:ext cx="1643074" cy="1071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¿Quiénes son sus clientes?</a:t>
            </a:r>
            <a:endParaRPr lang="es-ES" sz="2400" dirty="0"/>
          </a:p>
        </p:txBody>
      </p:sp>
      <p:sp>
        <p:nvSpPr>
          <p:cNvPr id="24" name="23 Flecha arriba"/>
          <p:cNvSpPr/>
          <p:nvPr/>
        </p:nvSpPr>
        <p:spPr>
          <a:xfrm rot="8080349">
            <a:off x="2536019" y="1468749"/>
            <a:ext cx="571504" cy="7066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Flecha arriba"/>
          <p:cNvSpPr/>
          <p:nvPr/>
        </p:nvSpPr>
        <p:spPr>
          <a:xfrm rot="2806401">
            <a:off x="2297033" y="3445697"/>
            <a:ext cx="571504" cy="76212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26 Flecha arriba"/>
          <p:cNvSpPr/>
          <p:nvPr/>
        </p:nvSpPr>
        <p:spPr>
          <a:xfrm rot="5400000">
            <a:off x="2492255" y="2540344"/>
            <a:ext cx="571504" cy="6178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Flecha arriba"/>
          <p:cNvSpPr/>
          <p:nvPr/>
        </p:nvSpPr>
        <p:spPr>
          <a:xfrm rot="10800000">
            <a:off x="4135328" y="1468772"/>
            <a:ext cx="571504" cy="6178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28 Flecha arriba"/>
          <p:cNvSpPr/>
          <p:nvPr/>
        </p:nvSpPr>
        <p:spPr>
          <a:xfrm rot="3781201">
            <a:off x="5691321" y="1443180"/>
            <a:ext cx="571504" cy="6178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29 Flecha arriba"/>
          <p:cNvSpPr/>
          <p:nvPr/>
        </p:nvSpPr>
        <p:spPr>
          <a:xfrm rot="5400000">
            <a:off x="5666740" y="2262822"/>
            <a:ext cx="571504" cy="6178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30 Flecha arriba"/>
          <p:cNvSpPr/>
          <p:nvPr/>
        </p:nvSpPr>
        <p:spPr>
          <a:xfrm rot="8080349">
            <a:off x="5778402" y="3326161"/>
            <a:ext cx="571504" cy="6178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31 Flecha arriba"/>
          <p:cNvSpPr/>
          <p:nvPr/>
        </p:nvSpPr>
        <p:spPr>
          <a:xfrm rot="10800000">
            <a:off x="4143372" y="3214686"/>
            <a:ext cx="571504" cy="546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32 Flecha arriba"/>
          <p:cNvSpPr/>
          <p:nvPr/>
        </p:nvSpPr>
        <p:spPr>
          <a:xfrm rot="10800000">
            <a:off x="4286248" y="5072074"/>
            <a:ext cx="571504" cy="6178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Ejemplo de misión.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71472" y="1984248"/>
            <a:ext cx="7467600" cy="4873752"/>
          </a:xfrm>
        </p:spPr>
        <p:txBody>
          <a:bodyPr/>
          <a:lstStyle/>
          <a:p>
            <a:r>
              <a:rPr lang="es-ES" dirty="0" smtClean="0"/>
              <a:t>Somos una empresa vanguardista orientada en todo momento a   lograr que nuestros productos cuenten con la elegancia, moda, tendencia y calidad que nuestros clientes mas exigentes merecen tener.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Ejemplo de misión.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984248"/>
            <a:ext cx="7467600" cy="4873752"/>
          </a:xfrm>
        </p:spPr>
        <p:txBody>
          <a:bodyPr/>
          <a:lstStyle/>
          <a:p>
            <a:r>
              <a:rPr lang="es-ES" dirty="0" smtClean="0"/>
              <a:t>A MEDIANO PLAZO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Establecernos oficialmente como una empresa vanguardista, elegante y a la moda en la cual nuestros clientes tengan fe y gusto por nuestros productos adquiriendo así el favoritismo de estos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984248"/>
            <a:ext cx="7467600" cy="4873752"/>
          </a:xfrm>
        </p:spPr>
        <p:txBody>
          <a:bodyPr/>
          <a:lstStyle/>
          <a:p>
            <a:r>
              <a:rPr lang="es-ES" dirty="0" smtClean="0"/>
              <a:t>OBJETIVOS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A CORTO PLAZO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Atraer la atención de los más exigentes clientes, lograr una buena acreditación y reconocimiento a nivel nacionalmente  principalmente.</a:t>
            </a:r>
            <a:endParaRPr lang="en-US" dirty="0" smtClean="0"/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Ejemplo de misión.</a:t>
            </a:r>
            <a:endParaRPr lang="es-CO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A LARGO PLAZO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Ser una empresa totalmente reconocida y   competente internacionalmente,   lograr ya la identificación de un 60 %(mínimo) mundialmente, ser una empresa en la cual nuestros clientes ya estén totalmente identificados con nuestra tienda y lograr que se sientan parte de ella así como tomarla como necesidad.</a:t>
            </a:r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Ejemplo de misión.</a:t>
            </a:r>
            <a:endParaRPr lang="es-CO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64704"/>
            <a:ext cx="7467600" cy="1080120"/>
          </a:xfrm>
        </p:spPr>
        <p:txBody>
          <a:bodyPr>
            <a:normAutofit fontScale="90000"/>
          </a:bodyPr>
          <a:lstStyle/>
          <a:p>
            <a:pPr algn="ctr"/>
            <a:r>
              <a:rPr lang="es-CO" sz="4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2.3 Visión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2780928"/>
            <a:ext cx="7467600" cy="3693024"/>
          </a:xfrm>
        </p:spPr>
        <p:txBody>
          <a:bodyPr/>
          <a:lstStyle/>
          <a:p>
            <a:pPr lvl="0"/>
            <a:r>
              <a:rPr lang="es-ES" dirty="0"/>
              <a:t>La visión, es un conjunto de ideas generales, algunas de ellas abstractas, que proveen el marco de referencia de los que una empresa es y quiere ser en el futuro.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xmlns="" val="378293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solidFill>
                  <a:schemeClr val="tx1"/>
                </a:solidFill>
              </a:rPr>
              <a:t>La Visión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Utiliza elementos como:</a:t>
            </a:r>
          </a:p>
          <a:p>
            <a:pPr>
              <a:buNone/>
            </a:pPr>
            <a:endParaRPr lang="es-ES" dirty="0" smtClean="0"/>
          </a:p>
          <a:p>
            <a:r>
              <a:rPr lang="es-ES" dirty="0" smtClean="0"/>
              <a:t>La dimensión de tiempo</a:t>
            </a:r>
          </a:p>
          <a:p>
            <a:r>
              <a:rPr lang="es-ES" dirty="0" smtClean="0"/>
              <a:t>Ser positiva y alentadora</a:t>
            </a:r>
          </a:p>
          <a:p>
            <a:r>
              <a:rPr lang="es-ES" dirty="0" smtClean="0"/>
              <a:t>Consistente</a:t>
            </a:r>
          </a:p>
          <a:p>
            <a:r>
              <a:rPr lang="es-ES" dirty="0" smtClean="0"/>
              <a:t>Realista y posible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Ejemplo de visión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2276872"/>
            <a:ext cx="7467600" cy="4197080"/>
          </a:xfrm>
        </p:spPr>
        <p:txBody>
          <a:bodyPr/>
          <a:lstStyle/>
          <a:p>
            <a:pPr lvl="0"/>
            <a:r>
              <a:rPr lang="es-ES" dirty="0"/>
              <a:t>Ser una empresa reconocida, distinguida, renombrada y demandante, en el mundo textil enfocada a la elegancia y vanguardia gracias a la buena reputación   y distinción adquirida por nuestros productos de gran calidad siempre en contacto con la tendencia y moda , logrando así enfrentar mercados internacionales.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xmlns="" val="127969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2.4 objetivos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2285992"/>
            <a:ext cx="7467600" cy="4873752"/>
          </a:xfrm>
        </p:spPr>
        <p:txBody>
          <a:bodyPr/>
          <a:lstStyle/>
          <a:p>
            <a:r>
              <a:rPr lang="es-CO" dirty="0" smtClean="0"/>
              <a:t>Son el vinculo entre la misión y la visión de las organizaciones, son estos los que definen el camino para llegar ala visión.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14348" y="428604"/>
            <a:ext cx="7467600" cy="1143000"/>
          </a:xfrm>
        </p:spPr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857224" y="2500306"/>
            <a:ext cx="7467600" cy="4873752"/>
          </a:xfrm>
        </p:spPr>
        <p:txBody>
          <a:bodyPr>
            <a:normAutofit/>
          </a:bodyPr>
          <a:lstStyle/>
          <a:p>
            <a:r>
              <a:rPr lang="es-CO" dirty="0" smtClean="0"/>
              <a:t> El direccionamiento estratégico sirve  de marco de referencia para el análisis de la situación actual de la compañía, tanto internamente como frente a su entorno. Es responder a las preguntas: ¿Dónde estábamos? ¿Dónde estamos hoy?</a:t>
            </a:r>
          </a:p>
          <a:p>
            <a:endParaRPr lang="es-CO" dirty="0" smtClean="0"/>
          </a:p>
          <a:p>
            <a:pPr>
              <a:buNone/>
            </a:pP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928802"/>
            <a:ext cx="7467600" cy="4545150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Se basa: </a:t>
            </a:r>
          </a:p>
          <a:p>
            <a:pPr>
              <a:buNone/>
            </a:pPr>
            <a:endParaRPr lang="es-ES" dirty="0" smtClean="0"/>
          </a:p>
          <a:p>
            <a:r>
              <a:rPr lang="es-CO" b="1" dirty="0" smtClean="0"/>
              <a:t>Análisis externo</a:t>
            </a:r>
            <a:r>
              <a:rPr lang="es-CO" dirty="0" smtClean="0"/>
              <a:t>: se refiere a los factores que están fuera de la organización como los políticos, económicos, sociales, tecnológicos, competitivos y geográficas.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2428868"/>
            <a:ext cx="7467600" cy="4045084"/>
          </a:xfrm>
        </p:spPr>
        <p:txBody>
          <a:bodyPr/>
          <a:lstStyle/>
          <a:p>
            <a:pPr algn="just">
              <a:buNone/>
            </a:pPr>
            <a:r>
              <a:rPr lang="es-CO" dirty="0" smtClean="0"/>
              <a:t>El examen del medio es el primer paso para</a:t>
            </a:r>
          </a:p>
          <a:p>
            <a:pPr algn="just">
              <a:buNone/>
            </a:pPr>
            <a:r>
              <a:rPr lang="es-CO" dirty="0" smtClean="0"/>
              <a:t>encontrar y analizar las amenazas y oportunidades presentadas en el entorno de una empresa. Para ello utilizamos el POAM.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2071678"/>
            <a:ext cx="7467600" cy="4402274"/>
          </a:xfrm>
        </p:spPr>
        <p:txBody>
          <a:bodyPr/>
          <a:lstStyle/>
          <a:p>
            <a:r>
              <a:rPr lang="es-CO" dirty="0" smtClean="0"/>
              <a:t>POAM perfil de oportunidades y amenazas en el medio. Es el que permite identificar y valorar el desempeño de la empresas. Aprovechando las oportunidades y anticipando el efecto de las amenazas de la empresa.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142844" y="285728"/>
            <a:ext cx="2143140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9 Conector recto"/>
          <p:cNvCxnSpPr/>
          <p:nvPr/>
        </p:nvCxnSpPr>
        <p:spPr>
          <a:xfrm>
            <a:off x="0" y="214290"/>
            <a:ext cx="2285984" cy="15001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785786" y="357166"/>
            <a:ext cx="1500198" cy="2857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Calificación</a:t>
            </a:r>
            <a:endParaRPr lang="es-ES" dirty="0"/>
          </a:p>
        </p:txBody>
      </p:sp>
      <p:sp>
        <p:nvSpPr>
          <p:cNvPr id="12" name="11 Rectángulo"/>
          <p:cNvSpPr/>
          <p:nvPr/>
        </p:nvSpPr>
        <p:spPr>
          <a:xfrm>
            <a:off x="285720" y="1357298"/>
            <a:ext cx="1285884" cy="2857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Factores</a:t>
            </a:r>
            <a:endParaRPr lang="es-ES" dirty="0"/>
          </a:p>
        </p:txBody>
      </p:sp>
      <p:sp>
        <p:nvSpPr>
          <p:cNvPr id="13" name="12 Rectángulo"/>
          <p:cNvSpPr/>
          <p:nvPr/>
        </p:nvSpPr>
        <p:spPr>
          <a:xfrm>
            <a:off x="2285984" y="285728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Grado</a:t>
            </a:r>
            <a:endParaRPr lang="es-ES" dirty="0"/>
          </a:p>
        </p:txBody>
      </p:sp>
      <p:sp>
        <p:nvSpPr>
          <p:cNvPr id="15" name="14 Rectángulo"/>
          <p:cNvSpPr/>
          <p:nvPr/>
        </p:nvSpPr>
        <p:spPr>
          <a:xfrm>
            <a:off x="2285984" y="785794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Amenazas</a:t>
            </a:r>
            <a:endParaRPr lang="es-ES" dirty="0"/>
          </a:p>
        </p:txBody>
      </p:sp>
      <p:sp>
        <p:nvSpPr>
          <p:cNvPr id="16" name="15 Rectángulo"/>
          <p:cNvSpPr/>
          <p:nvPr/>
        </p:nvSpPr>
        <p:spPr>
          <a:xfrm>
            <a:off x="228598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Alto</a:t>
            </a:r>
            <a:endParaRPr lang="es-ES" dirty="0"/>
          </a:p>
        </p:txBody>
      </p:sp>
      <p:sp>
        <p:nvSpPr>
          <p:cNvPr id="17" name="16 Rectángulo"/>
          <p:cNvSpPr/>
          <p:nvPr/>
        </p:nvSpPr>
        <p:spPr>
          <a:xfrm>
            <a:off x="300036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/>
              <a:t>Medio</a:t>
            </a:r>
            <a:endParaRPr lang="es-ES" sz="1400" dirty="0"/>
          </a:p>
        </p:txBody>
      </p:sp>
      <p:sp>
        <p:nvSpPr>
          <p:cNvPr id="18" name="17 Rectángulo"/>
          <p:cNvSpPr/>
          <p:nvPr/>
        </p:nvSpPr>
        <p:spPr>
          <a:xfrm>
            <a:off x="371474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Bajo</a:t>
            </a:r>
            <a:endParaRPr lang="es-ES" dirty="0"/>
          </a:p>
        </p:txBody>
      </p:sp>
      <p:sp>
        <p:nvSpPr>
          <p:cNvPr id="20" name="19 Rectángulo"/>
          <p:cNvSpPr/>
          <p:nvPr/>
        </p:nvSpPr>
        <p:spPr>
          <a:xfrm>
            <a:off x="4429124" y="285728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Grado</a:t>
            </a:r>
            <a:endParaRPr lang="es-ES" dirty="0"/>
          </a:p>
        </p:txBody>
      </p:sp>
      <p:sp>
        <p:nvSpPr>
          <p:cNvPr id="21" name="20 Rectángulo"/>
          <p:cNvSpPr/>
          <p:nvPr/>
        </p:nvSpPr>
        <p:spPr>
          <a:xfrm>
            <a:off x="4429124" y="785794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Oportunidades</a:t>
            </a:r>
            <a:endParaRPr lang="es-ES" dirty="0"/>
          </a:p>
        </p:txBody>
      </p:sp>
      <p:sp>
        <p:nvSpPr>
          <p:cNvPr id="22" name="21 Rectángulo"/>
          <p:cNvSpPr/>
          <p:nvPr/>
        </p:nvSpPr>
        <p:spPr>
          <a:xfrm>
            <a:off x="442912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Alto</a:t>
            </a:r>
            <a:endParaRPr lang="es-ES" dirty="0"/>
          </a:p>
        </p:txBody>
      </p:sp>
      <p:sp>
        <p:nvSpPr>
          <p:cNvPr id="23" name="22 Rectángulo"/>
          <p:cNvSpPr/>
          <p:nvPr/>
        </p:nvSpPr>
        <p:spPr>
          <a:xfrm>
            <a:off x="514350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/>
              <a:t>Medio</a:t>
            </a:r>
            <a:endParaRPr lang="es-ES" sz="1400" dirty="0"/>
          </a:p>
        </p:txBody>
      </p:sp>
      <p:sp>
        <p:nvSpPr>
          <p:cNvPr id="24" name="23 Rectángulo"/>
          <p:cNvSpPr/>
          <p:nvPr/>
        </p:nvSpPr>
        <p:spPr>
          <a:xfrm>
            <a:off x="585788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Bajo</a:t>
            </a:r>
            <a:endParaRPr lang="es-ES" dirty="0"/>
          </a:p>
        </p:txBody>
      </p:sp>
      <p:sp>
        <p:nvSpPr>
          <p:cNvPr id="26" name="25 Rectángulo"/>
          <p:cNvSpPr/>
          <p:nvPr/>
        </p:nvSpPr>
        <p:spPr>
          <a:xfrm>
            <a:off x="6572264" y="285728"/>
            <a:ext cx="2143140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Impacto</a:t>
            </a:r>
            <a:endParaRPr lang="es-ES" dirty="0"/>
          </a:p>
        </p:txBody>
      </p:sp>
      <p:sp>
        <p:nvSpPr>
          <p:cNvPr id="28" name="27 Rectángulo"/>
          <p:cNvSpPr/>
          <p:nvPr/>
        </p:nvSpPr>
        <p:spPr>
          <a:xfrm>
            <a:off x="800102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Bajo</a:t>
            </a:r>
            <a:endParaRPr lang="es-ES" dirty="0"/>
          </a:p>
        </p:txBody>
      </p:sp>
      <p:sp>
        <p:nvSpPr>
          <p:cNvPr id="30" name="29 Rectángulo"/>
          <p:cNvSpPr/>
          <p:nvPr/>
        </p:nvSpPr>
        <p:spPr>
          <a:xfrm>
            <a:off x="728664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/>
              <a:t>Medio</a:t>
            </a:r>
            <a:endParaRPr lang="es-ES" sz="1400" dirty="0"/>
          </a:p>
        </p:txBody>
      </p:sp>
      <p:sp>
        <p:nvSpPr>
          <p:cNvPr id="32" name="31 Rectángulo"/>
          <p:cNvSpPr/>
          <p:nvPr/>
        </p:nvSpPr>
        <p:spPr>
          <a:xfrm>
            <a:off x="6572264" y="128586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Alto</a:t>
            </a:r>
            <a:endParaRPr lang="es-ES" dirty="0"/>
          </a:p>
        </p:txBody>
      </p:sp>
      <p:sp>
        <p:nvSpPr>
          <p:cNvPr id="33" name="32 Rectángulo"/>
          <p:cNvSpPr/>
          <p:nvPr/>
        </p:nvSpPr>
        <p:spPr>
          <a:xfrm>
            <a:off x="142844" y="1714488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Tecnológicos</a:t>
            </a:r>
            <a:endParaRPr lang="es-ES" dirty="0"/>
          </a:p>
        </p:txBody>
      </p:sp>
      <p:sp>
        <p:nvSpPr>
          <p:cNvPr id="34" name="33 Rectángulo"/>
          <p:cNvSpPr/>
          <p:nvPr/>
        </p:nvSpPr>
        <p:spPr>
          <a:xfrm>
            <a:off x="142844" y="2143116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Económicos</a:t>
            </a:r>
            <a:endParaRPr lang="es-ES" dirty="0"/>
          </a:p>
        </p:txBody>
      </p:sp>
      <p:sp>
        <p:nvSpPr>
          <p:cNvPr id="35" name="34 Rectángulo"/>
          <p:cNvSpPr/>
          <p:nvPr/>
        </p:nvSpPr>
        <p:spPr>
          <a:xfrm>
            <a:off x="142844" y="3000372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Geográficos</a:t>
            </a:r>
            <a:endParaRPr lang="es-ES" dirty="0"/>
          </a:p>
        </p:txBody>
      </p:sp>
      <p:sp>
        <p:nvSpPr>
          <p:cNvPr id="36" name="35 Rectángulo"/>
          <p:cNvSpPr/>
          <p:nvPr/>
        </p:nvSpPr>
        <p:spPr>
          <a:xfrm>
            <a:off x="142844" y="3429000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Sociales</a:t>
            </a:r>
            <a:endParaRPr lang="es-ES" dirty="0"/>
          </a:p>
        </p:txBody>
      </p:sp>
      <p:sp>
        <p:nvSpPr>
          <p:cNvPr id="37" name="36 Rectángulo"/>
          <p:cNvSpPr/>
          <p:nvPr/>
        </p:nvSpPr>
        <p:spPr>
          <a:xfrm>
            <a:off x="142844" y="2571744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Políticos</a:t>
            </a:r>
            <a:endParaRPr lang="es-ES" dirty="0"/>
          </a:p>
        </p:txBody>
      </p:sp>
      <p:sp>
        <p:nvSpPr>
          <p:cNvPr id="38" name="37 Rectángulo"/>
          <p:cNvSpPr/>
          <p:nvPr/>
        </p:nvSpPr>
        <p:spPr>
          <a:xfrm>
            <a:off x="300036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39" name="38 Rectángulo"/>
          <p:cNvSpPr/>
          <p:nvPr/>
        </p:nvSpPr>
        <p:spPr>
          <a:xfrm>
            <a:off x="514350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0" name="39 Rectángulo"/>
          <p:cNvSpPr/>
          <p:nvPr/>
        </p:nvSpPr>
        <p:spPr>
          <a:xfrm>
            <a:off x="300036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1" name="40 Rectángulo"/>
          <p:cNvSpPr/>
          <p:nvPr/>
        </p:nvSpPr>
        <p:spPr>
          <a:xfrm>
            <a:off x="371474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2" name="41 Rectángulo"/>
          <p:cNvSpPr/>
          <p:nvPr/>
        </p:nvSpPr>
        <p:spPr>
          <a:xfrm>
            <a:off x="371474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3" name="42 Rectángulo"/>
          <p:cNvSpPr/>
          <p:nvPr/>
        </p:nvSpPr>
        <p:spPr>
          <a:xfrm>
            <a:off x="728664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4" name="43 Rectángulo"/>
          <p:cNvSpPr/>
          <p:nvPr/>
        </p:nvSpPr>
        <p:spPr>
          <a:xfrm>
            <a:off x="442912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5" name="44 Rectángulo"/>
          <p:cNvSpPr/>
          <p:nvPr/>
        </p:nvSpPr>
        <p:spPr>
          <a:xfrm>
            <a:off x="800102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6" name="45 Rectángulo"/>
          <p:cNvSpPr/>
          <p:nvPr/>
        </p:nvSpPr>
        <p:spPr>
          <a:xfrm>
            <a:off x="442912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7" name="46 Rectángulo"/>
          <p:cNvSpPr/>
          <p:nvPr/>
        </p:nvSpPr>
        <p:spPr>
          <a:xfrm>
            <a:off x="585788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8" name="47 Rectángulo"/>
          <p:cNvSpPr/>
          <p:nvPr/>
        </p:nvSpPr>
        <p:spPr>
          <a:xfrm>
            <a:off x="657226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49" name="48 Rectángulo"/>
          <p:cNvSpPr/>
          <p:nvPr/>
        </p:nvSpPr>
        <p:spPr>
          <a:xfrm>
            <a:off x="728664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0" name="49 Rectángulo"/>
          <p:cNvSpPr/>
          <p:nvPr/>
        </p:nvSpPr>
        <p:spPr>
          <a:xfrm>
            <a:off x="728664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1" name="50 Rectángulo"/>
          <p:cNvSpPr/>
          <p:nvPr/>
        </p:nvSpPr>
        <p:spPr>
          <a:xfrm>
            <a:off x="728664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2" name="51 Rectángulo"/>
          <p:cNvSpPr/>
          <p:nvPr/>
        </p:nvSpPr>
        <p:spPr>
          <a:xfrm>
            <a:off x="800102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3" name="52 Rectángulo"/>
          <p:cNvSpPr/>
          <p:nvPr/>
        </p:nvSpPr>
        <p:spPr>
          <a:xfrm>
            <a:off x="800102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4" name="53 Rectángulo"/>
          <p:cNvSpPr/>
          <p:nvPr/>
        </p:nvSpPr>
        <p:spPr>
          <a:xfrm rot="21600000">
            <a:off x="585788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5" name="54 Rectángulo"/>
          <p:cNvSpPr/>
          <p:nvPr/>
        </p:nvSpPr>
        <p:spPr>
          <a:xfrm>
            <a:off x="657226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6" name="55 Rectángulo"/>
          <p:cNvSpPr/>
          <p:nvPr/>
        </p:nvSpPr>
        <p:spPr>
          <a:xfrm>
            <a:off x="514350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7" name="56 Rectángulo"/>
          <p:cNvSpPr/>
          <p:nvPr/>
        </p:nvSpPr>
        <p:spPr>
          <a:xfrm>
            <a:off x="728664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8" name="57 Rectángulo"/>
          <p:cNvSpPr/>
          <p:nvPr/>
        </p:nvSpPr>
        <p:spPr>
          <a:xfrm>
            <a:off x="800102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59" name="58 Rectángulo"/>
          <p:cNvSpPr/>
          <p:nvPr/>
        </p:nvSpPr>
        <p:spPr>
          <a:xfrm>
            <a:off x="585788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0" name="59 Rectángulo"/>
          <p:cNvSpPr/>
          <p:nvPr/>
        </p:nvSpPr>
        <p:spPr>
          <a:xfrm>
            <a:off x="657226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1" name="60 Rectángulo"/>
          <p:cNvSpPr/>
          <p:nvPr/>
        </p:nvSpPr>
        <p:spPr>
          <a:xfrm>
            <a:off x="800102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2" name="61 Rectángulo"/>
          <p:cNvSpPr/>
          <p:nvPr/>
        </p:nvSpPr>
        <p:spPr>
          <a:xfrm>
            <a:off x="657226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3" name="62 Rectángulo"/>
          <p:cNvSpPr/>
          <p:nvPr/>
        </p:nvSpPr>
        <p:spPr>
          <a:xfrm>
            <a:off x="657226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4" name="63 Rectángulo"/>
          <p:cNvSpPr/>
          <p:nvPr/>
        </p:nvSpPr>
        <p:spPr>
          <a:xfrm>
            <a:off x="371474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5" name="64 Rectángulo"/>
          <p:cNvSpPr/>
          <p:nvPr/>
        </p:nvSpPr>
        <p:spPr>
          <a:xfrm>
            <a:off x="300036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6" name="65 Rectángulo"/>
          <p:cNvSpPr/>
          <p:nvPr/>
        </p:nvSpPr>
        <p:spPr>
          <a:xfrm>
            <a:off x="300036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7" name="66 Rectángulo"/>
          <p:cNvSpPr/>
          <p:nvPr/>
        </p:nvSpPr>
        <p:spPr>
          <a:xfrm>
            <a:off x="228598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8" name="67 Rectángulo"/>
          <p:cNvSpPr/>
          <p:nvPr/>
        </p:nvSpPr>
        <p:spPr>
          <a:xfrm>
            <a:off x="228598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69" name="68 Rectángulo"/>
          <p:cNvSpPr/>
          <p:nvPr/>
        </p:nvSpPr>
        <p:spPr>
          <a:xfrm>
            <a:off x="2285984" y="2143116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0" name="69 Rectángulo"/>
          <p:cNvSpPr/>
          <p:nvPr/>
        </p:nvSpPr>
        <p:spPr>
          <a:xfrm>
            <a:off x="2285984" y="1714488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1" name="70 Rectángulo"/>
          <p:cNvSpPr/>
          <p:nvPr/>
        </p:nvSpPr>
        <p:spPr>
          <a:xfrm>
            <a:off x="585788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3" name="72 Rectángulo"/>
          <p:cNvSpPr/>
          <p:nvPr/>
        </p:nvSpPr>
        <p:spPr>
          <a:xfrm>
            <a:off x="585788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4" name="73 Rectángulo"/>
          <p:cNvSpPr/>
          <p:nvPr/>
        </p:nvSpPr>
        <p:spPr>
          <a:xfrm>
            <a:off x="514350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5" name="74 Rectángulo"/>
          <p:cNvSpPr/>
          <p:nvPr/>
        </p:nvSpPr>
        <p:spPr>
          <a:xfrm>
            <a:off x="514350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6" name="75 Rectángulo"/>
          <p:cNvSpPr/>
          <p:nvPr/>
        </p:nvSpPr>
        <p:spPr>
          <a:xfrm>
            <a:off x="442912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7" name="76 Rectángulo"/>
          <p:cNvSpPr/>
          <p:nvPr/>
        </p:nvSpPr>
        <p:spPr>
          <a:xfrm>
            <a:off x="442912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8" name="77 Rectángulo"/>
          <p:cNvSpPr/>
          <p:nvPr/>
        </p:nvSpPr>
        <p:spPr>
          <a:xfrm>
            <a:off x="371474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79" name="78 Rectángulo"/>
          <p:cNvSpPr/>
          <p:nvPr/>
        </p:nvSpPr>
        <p:spPr>
          <a:xfrm>
            <a:off x="514350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80" name="79 Rectángulo"/>
          <p:cNvSpPr/>
          <p:nvPr/>
        </p:nvSpPr>
        <p:spPr>
          <a:xfrm>
            <a:off x="3714744" y="3000372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81" name="80 Rectángulo"/>
          <p:cNvSpPr/>
          <p:nvPr/>
        </p:nvSpPr>
        <p:spPr>
          <a:xfrm>
            <a:off x="300036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82" name="81 Rectángulo"/>
          <p:cNvSpPr/>
          <p:nvPr/>
        </p:nvSpPr>
        <p:spPr>
          <a:xfrm>
            <a:off x="2285984" y="3429000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  <p:sp>
        <p:nvSpPr>
          <p:cNvPr id="83" name="82 Rectángulo"/>
          <p:cNvSpPr/>
          <p:nvPr/>
        </p:nvSpPr>
        <p:spPr>
          <a:xfrm>
            <a:off x="4429124" y="2571744"/>
            <a:ext cx="71438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x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2214554"/>
            <a:ext cx="7467600" cy="4873752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   Para ellos se realiza el análisis de oportunidades y amenazas que a de conducir al análisis DOFA, el cual permitirá a la organización definir estrategias para aprovechas sus fortalezas, revisar y prevenir  oportunamente el efecto de las amenazas.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348" y="428604"/>
            <a:ext cx="7467600" cy="1143000"/>
          </a:xfrm>
        </p:spPr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Un ejemplo seria:</a:t>
            </a:r>
          </a:p>
          <a:p>
            <a:pPr>
              <a:buNone/>
            </a:pPr>
            <a:r>
              <a:rPr lang="es-ES" dirty="0" smtClean="0"/>
              <a:t>    El análisis competitivo de la industria, este se encarga de evaluarlos factores competitivos (Rivales) de una organización, asegurando </a:t>
            </a:r>
            <a:r>
              <a:rPr lang="es-ES" dirty="0" err="1" smtClean="0"/>
              <a:t>asi</a:t>
            </a:r>
            <a:r>
              <a:rPr lang="es-ES" dirty="0" smtClean="0"/>
              <a:t> una posición financiera favorable en el. mercado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b="1" dirty="0" err="1" smtClean="0"/>
              <a:t>Analisis</a:t>
            </a:r>
            <a:r>
              <a:rPr lang="es-CO" b="1" dirty="0" smtClean="0"/>
              <a:t> Interno: </a:t>
            </a:r>
            <a:r>
              <a:rPr lang="es-CO" dirty="0" smtClean="0"/>
              <a:t>En este </a:t>
            </a:r>
            <a:r>
              <a:rPr lang="es-CO" dirty="0" err="1" smtClean="0"/>
              <a:t>analisis</a:t>
            </a:r>
            <a:r>
              <a:rPr lang="es-CO" dirty="0" smtClean="0"/>
              <a:t> se encuentra el perfil  de capacidad </a:t>
            </a:r>
            <a:r>
              <a:rPr lang="es-CO" dirty="0" err="1" smtClean="0"/>
              <a:t>institucionl</a:t>
            </a:r>
            <a:r>
              <a:rPr lang="es-CO" dirty="0" smtClean="0"/>
              <a:t> (PCI) es un medio que </a:t>
            </a:r>
            <a:r>
              <a:rPr lang="es-CO" dirty="0" err="1" smtClean="0"/>
              <a:t>evalua</a:t>
            </a:r>
            <a:r>
              <a:rPr lang="es-CO" dirty="0" smtClean="0"/>
              <a:t> las fortalezas y debilidades de la </a:t>
            </a:r>
            <a:r>
              <a:rPr lang="es-CO" dirty="0" err="1" smtClean="0"/>
              <a:t>compañia</a:t>
            </a:r>
            <a:r>
              <a:rPr lang="es-CO" dirty="0" smtClean="0"/>
              <a:t>.</a:t>
            </a:r>
            <a:endParaRPr lang="es-CO" b="1" dirty="0" smtClean="0"/>
          </a:p>
          <a:p>
            <a:pPr algn="just"/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tx1"/>
                </a:solidFill>
              </a:rPr>
              <a:t>Diagnostico estratégico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Hace relación a las oportunidades presentadas en el medio externo examina las siguientes categorías:</a:t>
            </a:r>
          </a:p>
          <a:p>
            <a:endParaRPr lang="es-CO" dirty="0" smtClean="0"/>
          </a:p>
          <a:p>
            <a:r>
              <a:rPr lang="es-CO" dirty="0" smtClean="0"/>
              <a:t>Capacidad directiva.</a:t>
            </a:r>
          </a:p>
          <a:p>
            <a:r>
              <a:rPr lang="es-CO" dirty="0" smtClean="0"/>
              <a:t>Capacidad competitiva o de mercadeo.</a:t>
            </a:r>
          </a:p>
          <a:p>
            <a:r>
              <a:rPr lang="es-CO" dirty="0" smtClean="0"/>
              <a:t>Capacidad financiera.</a:t>
            </a:r>
          </a:p>
          <a:p>
            <a:r>
              <a:rPr lang="es-CO" dirty="0" smtClean="0"/>
              <a:t>Capacidad tecnológica (producción).</a:t>
            </a:r>
          </a:p>
          <a:p>
            <a:r>
              <a:rPr lang="es-CO" dirty="0" smtClean="0"/>
              <a:t>Capacidad de talento humano.</a:t>
            </a:r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214290"/>
            <a:ext cx="7467600" cy="6259662"/>
          </a:xfrm>
        </p:spPr>
        <p:txBody>
          <a:bodyPr/>
          <a:lstStyle/>
          <a:p>
            <a:r>
              <a:rPr lang="es-CO" dirty="0" smtClean="0"/>
              <a:t>Ga</a:t>
            </a:r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214282" y="214290"/>
            <a:ext cx="2143140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"/>
          <p:cNvCxnSpPr/>
          <p:nvPr/>
        </p:nvCxnSpPr>
        <p:spPr>
          <a:xfrm>
            <a:off x="142844" y="214290"/>
            <a:ext cx="2214578" cy="1428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285720" y="1214422"/>
            <a:ext cx="1285884" cy="357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smtClean="0"/>
              <a:t>Capacidad</a:t>
            </a:r>
            <a:endParaRPr lang="es-CO" sz="1600" dirty="0"/>
          </a:p>
        </p:txBody>
      </p:sp>
      <p:sp>
        <p:nvSpPr>
          <p:cNvPr id="10" name="9 Rectángulo"/>
          <p:cNvSpPr/>
          <p:nvPr/>
        </p:nvSpPr>
        <p:spPr>
          <a:xfrm>
            <a:off x="857224" y="285728"/>
            <a:ext cx="1285884" cy="2857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smtClean="0"/>
              <a:t>Calificación</a:t>
            </a:r>
            <a:endParaRPr lang="es-CO" sz="1600" dirty="0"/>
          </a:p>
        </p:txBody>
      </p:sp>
      <p:sp>
        <p:nvSpPr>
          <p:cNvPr id="11" name="10 Rectángulo"/>
          <p:cNvSpPr/>
          <p:nvPr/>
        </p:nvSpPr>
        <p:spPr>
          <a:xfrm>
            <a:off x="2357422" y="214290"/>
            <a:ext cx="200026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Grado</a:t>
            </a:r>
            <a:endParaRPr lang="es-CO" dirty="0"/>
          </a:p>
        </p:txBody>
      </p:sp>
      <p:sp>
        <p:nvSpPr>
          <p:cNvPr id="12" name="11 Rectángulo"/>
          <p:cNvSpPr/>
          <p:nvPr/>
        </p:nvSpPr>
        <p:spPr>
          <a:xfrm>
            <a:off x="4357686" y="214290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Grado</a:t>
            </a:r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2357422" y="714356"/>
            <a:ext cx="2000264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Debilidades</a:t>
            </a:r>
            <a:endParaRPr lang="es-CO" dirty="0"/>
          </a:p>
        </p:txBody>
      </p:sp>
      <p:sp>
        <p:nvSpPr>
          <p:cNvPr id="14" name="13 Rectángulo"/>
          <p:cNvSpPr/>
          <p:nvPr/>
        </p:nvSpPr>
        <p:spPr>
          <a:xfrm>
            <a:off x="4357686" y="714356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Fortalezas</a:t>
            </a:r>
            <a:endParaRPr lang="es-CO" dirty="0"/>
          </a:p>
        </p:txBody>
      </p:sp>
      <p:sp>
        <p:nvSpPr>
          <p:cNvPr id="17" name="16 Rectángulo"/>
          <p:cNvSpPr/>
          <p:nvPr/>
        </p:nvSpPr>
        <p:spPr>
          <a:xfrm>
            <a:off x="6500826" y="214290"/>
            <a:ext cx="2071702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IMPACTO</a:t>
            </a:r>
            <a:endParaRPr lang="es-CO" dirty="0"/>
          </a:p>
        </p:txBody>
      </p:sp>
      <p:sp>
        <p:nvSpPr>
          <p:cNvPr id="19" name="18 Rectángulo"/>
          <p:cNvSpPr/>
          <p:nvPr/>
        </p:nvSpPr>
        <p:spPr>
          <a:xfrm>
            <a:off x="7858148" y="1643050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19 Rectángulo"/>
          <p:cNvSpPr/>
          <p:nvPr/>
        </p:nvSpPr>
        <p:spPr>
          <a:xfrm>
            <a:off x="214282" y="1643050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1.DIRECTIVA</a:t>
            </a:r>
            <a:endParaRPr lang="es-CO" dirty="0"/>
          </a:p>
        </p:txBody>
      </p:sp>
      <p:sp>
        <p:nvSpPr>
          <p:cNvPr id="21" name="20 Rectángulo"/>
          <p:cNvSpPr/>
          <p:nvPr/>
        </p:nvSpPr>
        <p:spPr>
          <a:xfrm>
            <a:off x="2357422" y="1643050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21 Rectángulo"/>
          <p:cNvSpPr/>
          <p:nvPr/>
        </p:nvSpPr>
        <p:spPr>
          <a:xfrm>
            <a:off x="6500826" y="1643050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22 Rectángulo"/>
          <p:cNvSpPr/>
          <p:nvPr/>
        </p:nvSpPr>
        <p:spPr>
          <a:xfrm>
            <a:off x="5715008" y="1643050"/>
            <a:ext cx="78581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23 Rectángulo"/>
          <p:cNvSpPr/>
          <p:nvPr/>
        </p:nvSpPr>
        <p:spPr>
          <a:xfrm>
            <a:off x="3000364" y="114298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Medio</a:t>
            </a:r>
            <a:endParaRPr lang="es-CO" sz="1200" dirty="0"/>
          </a:p>
        </p:txBody>
      </p:sp>
      <p:sp>
        <p:nvSpPr>
          <p:cNvPr id="25" name="24 Rectángulo"/>
          <p:cNvSpPr/>
          <p:nvPr/>
        </p:nvSpPr>
        <p:spPr>
          <a:xfrm rot="10800000">
            <a:off x="5000628" y="1643050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25 Rectángulo"/>
          <p:cNvSpPr/>
          <p:nvPr/>
        </p:nvSpPr>
        <p:spPr>
          <a:xfrm>
            <a:off x="3714744" y="1643050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26 Rectángulo"/>
          <p:cNvSpPr/>
          <p:nvPr/>
        </p:nvSpPr>
        <p:spPr>
          <a:xfrm>
            <a:off x="4357686" y="1643050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2357422" y="114298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Alto</a:t>
            </a:r>
            <a:endParaRPr lang="es-CO" sz="1200" dirty="0"/>
          </a:p>
        </p:txBody>
      </p:sp>
      <p:sp>
        <p:nvSpPr>
          <p:cNvPr id="29" name="28 Rectángulo"/>
          <p:cNvSpPr/>
          <p:nvPr/>
        </p:nvSpPr>
        <p:spPr>
          <a:xfrm>
            <a:off x="3714744" y="114298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Bajo</a:t>
            </a:r>
            <a:endParaRPr lang="es-CO" sz="1200" dirty="0"/>
          </a:p>
        </p:txBody>
      </p:sp>
      <p:sp>
        <p:nvSpPr>
          <p:cNvPr id="30" name="29 Rectángulo"/>
          <p:cNvSpPr/>
          <p:nvPr/>
        </p:nvSpPr>
        <p:spPr>
          <a:xfrm>
            <a:off x="4357686" y="114298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Alto</a:t>
            </a:r>
            <a:endParaRPr lang="es-CO" sz="1200" dirty="0"/>
          </a:p>
        </p:txBody>
      </p:sp>
      <p:sp>
        <p:nvSpPr>
          <p:cNvPr id="31" name="30 Rectángulo"/>
          <p:cNvSpPr/>
          <p:nvPr/>
        </p:nvSpPr>
        <p:spPr>
          <a:xfrm>
            <a:off x="5000628" y="114298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Medio</a:t>
            </a:r>
            <a:endParaRPr lang="es-CO" sz="1200" dirty="0"/>
          </a:p>
        </p:txBody>
      </p:sp>
      <p:sp>
        <p:nvSpPr>
          <p:cNvPr id="32" name="31 Rectángulo"/>
          <p:cNvSpPr/>
          <p:nvPr/>
        </p:nvSpPr>
        <p:spPr>
          <a:xfrm>
            <a:off x="5715008" y="1142984"/>
            <a:ext cx="78581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Bajo</a:t>
            </a:r>
            <a:endParaRPr lang="es-CO" sz="1200" dirty="0"/>
          </a:p>
        </p:txBody>
      </p:sp>
      <p:sp>
        <p:nvSpPr>
          <p:cNvPr id="33" name="32 Rectángulo"/>
          <p:cNvSpPr/>
          <p:nvPr/>
        </p:nvSpPr>
        <p:spPr>
          <a:xfrm>
            <a:off x="6500826" y="114298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Alto</a:t>
            </a:r>
            <a:endParaRPr lang="es-CO" sz="1200" dirty="0"/>
          </a:p>
        </p:txBody>
      </p:sp>
      <p:sp>
        <p:nvSpPr>
          <p:cNvPr id="34" name="33 Rectángulo"/>
          <p:cNvSpPr/>
          <p:nvPr/>
        </p:nvSpPr>
        <p:spPr>
          <a:xfrm>
            <a:off x="7143768" y="114298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Medio</a:t>
            </a:r>
            <a:endParaRPr lang="es-CO" sz="1200" dirty="0"/>
          </a:p>
        </p:txBody>
      </p:sp>
      <p:sp>
        <p:nvSpPr>
          <p:cNvPr id="35" name="34 Rectángulo"/>
          <p:cNvSpPr/>
          <p:nvPr/>
        </p:nvSpPr>
        <p:spPr>
          <a:xfrm>
            <a:off x="7858148" y="114298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smtClean="0"/>
              <a:t>Medio</a:t>
            </a:r>
            <a:endParaRPr lang="es-CO" sz="1200" dirty="0"/>
          </a:p>
        </p:txBody>
      </p:sp>
      <p:sp>
        <p:nvSpPr>
          <p:cNvPr id="36" name="35 Rectángulo"/>
          <p:cNvSpPr/>
          <p:nvPr/>
        </p:nvSpPr>
        <p:spPr>
          <a:xfrm>
            <a:off x="214282" y="2143116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2.COMPETITIVA</a:t>
            </a:r>
            <a:endParaRPr lang="es-CO" dirty="0"/>
          </a:p>
        </p:txBody>
      </p:sp>
      <p:sp>
        <p:nvSpPr>
          <p:cNvPr id="37" name="36 Rectángulo"/>
          <p:cNvSpPr/>
          <p:nvPr/>
        </p:nvSpPr>
        <p:spPr>
          <a:xfrm>
            <a:off x="214282" y="2643182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3.FINANCIERA</a:t>
            </a:r>
            <a:endParaRPr lang="es-CO" dirty="0"/>
          </a:p>
        </p:txBody>
      </p:sp>
      <p:sp>
        <p:nvSpPr>
          <p:cNvPr id="38" name="37 Rectángulo"/>
          <p:cNvSpPr/>
          <p:nvPr/>
        </p:nvSpPr>
        <p:spPr>
          <a:xfrm>
            <a:off x="214282" y="3143248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smtClean="0"/>
              <a:t>4.TECNOLOGICA</a:t>
            </a:r>
            <a:endParaRPr lang="es-CO" sz="1600" dirty="0"/>
          </a:p>
        </p:txBody>
      </p:sp>
      <p:sp>
        <p:nvSpPr>
          <p:cNvPr id="39" name="38 Rectángulo"/>
          <p:cNvSpPr/>
          <p:nvPr/>
        </p:nvSpPr>
        <p:spPr>
          <a:xfrm>
            <a:off x="214282" y="3643314"/>
            <a:ext cx="214314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5.TALENTO HUMANO</a:t>
            </a:r>
            <a:endParaRPr lang="es-CO" dirty="0"/>
          </a:p>
        </p:txBody>
      </p:sp>
      <p:sp>
        <p:nvSpPr>
          <p:cNvPr id="40" name="39 Rectángulo"/>
          <p:cNvSpPr/>
          <p:nvPr/>
        </p:nvSpPr>
        <p:spPr>
          <a:xfrm>
            <a:off x="3000364" y="1643050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53 Rectángulo"/>
          <p:cNvSpPr/>
          <p:nvPr/>
        </p:nvSpPr>
        <p:spPr>
          <a:xfrm>
            <a:off x="7143768" y="1643050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54 Rectángulo"/>
          <p:cNvSpPr/>
          <p:nvPr/>
        </p:nvSpPr>
        <p:spPr>
          <a:xfrm>
            <a:off x="2357422" y="2143116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" name="55 Rectángulo"/>
          <p:cNvSpPr/>
          <p:nvPr/>
        </p:nvSpPr>
        <p:spPr>
          <a:xfrm>
            <a:off x="2357422" y="2643182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7" name="56 Rectángulo"/>
          <p:cNvSpPr/>
          <p:nvPr/>
        </p:nvSpPr>
        <p:spPr>
          <a:xfrm>
            <a:off x="2357422" y="3143248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" name="57 Rectángulo"/>
          <p:cNvSpPr/>
          <p:nvPr/>
        </p:nvSpPr>
        <p:spPr>
          <a:xfrm>
            <a:off x="2357422" y="364331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58 Rectángulo"/>
          <p:cNvSpPr/>
          <p:nvPr/>
        </p:nvSpPr>
        <p:spPr>
          <a:xfrm>
            <a:off x="3000364" y="2143116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59 Rectángulo"/>
          <p:cNvSpPr/>
          <p:nvPr/>
        </p:nvSpPr>
        <p:spPr>
          <a:xfrm>
            <a:off x="3000364" y="2643182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" name="60 Rectángulo"/>
          <p:cNvSpPr/>
          <p:nvPr/>
        </p:nvSpPr>
        <p:spPr>
          <a:xfrm>
            <a:off x="3000364" y="3143248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61 Rectángulo"/>
          <p:cNvSpPr/>
          <p:nvPr/>
        </p:nvSpPr>
        <p:spPr>
          <a:xfrm>
            <a:off x="3000364" y="364331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62 Rectángulo"/>
          <p:cNvSpPr/>
          <p:nvPr/>
        </p:nvSpPr>
        <p:spPr>
          <a:xfrm>
            <a:off x="3714744" y="2143116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63 Rectángulo"/>
          <p:cNvSpPr/>
          <p:nvPr/>
        </p:nvSpPr>
        <p:spPr>
          <a:xfrm>
            <a:off x="3714744" y="2643182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64 Rectángulo"/>
          <p:cNvSpPr/>
          <p:nvPr/>
        </p:nvSpPr>
        <p:spPr>
          <a:xfrm>
            <a:off x="3714744" y="3143248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" name="65 Rectángulo"/>
          <p:cNvSpPr/>
          <p:nvPr/>
        </p:nvSpPr>
        <p:spPr>
          <a:xfrm>
            <a:off x="3714744" y="364331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66 Rectángulo"/>
          <p:cNvSpPr/>
          <p:nvPr/>
        </p:nvSpPr>
        <p:spPr>
          <a:xfrm>
            <a:off x="4357686" y="2143116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" name="67 Rectángulo"/>
          <p:cNvSpPr/>
          <p:nvPr/>
        </p:nvSpPr>
        <p:spPr>
          <a:xfrm>
            <a:off x="4357686" y="2643182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" name="68 Rectángulo"/>
          <p:cNvSpPr/>
          <p:nvPr/>
        </p:nvSpPr>
        <p:spPr>
          <a:xfrm>
            <a:off x="4357686" y="3143248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" name="69 Rectángulo"/>
          <p:cNvSpPr/>
          <p:nvPr/>
        </p:nvSpPr>
        <p:spPr>
          <a:xfrm>
            <a:off x="4357686" y="364331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" name="70 Rectángulo"/>
          <p:cNvSpPr/>
          <p:nvPr/>
        </p:nvSpPr>
        <p:spPr>
          <a:xfrm rot="10800000">
            <a:off x="5000628" y="2143116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" name="71 Rectángulo"/>
          <p:cNvSpPr/>
          <p:nvPr/>
        </p:nvSpPr>
        <p:spPr>
          <a:xfrm rot="10800000">
            <a:off x="5000628" y="2643182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" name="72 Rectángulo"/>
          <p:cNvSpPr/>
          <p:nvPr/>
        </p:nvSpPr>
        <p:spPr>
          <a:xfrm rot="10800000">
            <a:off x="5000628" y="3143248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" name="73 Rectángulo"/>
          <p:cNvSpPr/>
          <p:nvPr/>
        </p:nvSpPr>
        <p:spPr>
          <a:xfrm rot="10800000">
            <a:off x="5000628" y="364331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" name="74 Rectángulo"/>
          <p:cNvSpPr/>
          <p:nvPr/>
        </p:nvSpPr>
        <p:spPr>
          <a:xfrm>
            <a:off x="5715008" y="2143116"/>
            <a:ext cx="78581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75 Rectángulo"/>
          <p:cNvSpPr/>
          <p:nvPr/>
        </p:nvSpPr>
        <p:spPr>
          <a:xfrm>
            <a:off x="5715008" y="2643182"/>
            <a:ext cx="78581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76 Rectángulo"/>
          <p:cNvSpPr/>
          <p:nvPr/>
        </p:nvSpPr>
        <p:spPr>
          <a:xfrm>
            <a:off x="5715008" y="3143248"/>
            <a:ext cx="78581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77 Rectángulo"/>
          <p:cNvSpPr/>
          <p:nvPr/>
        </p:nvSpPr>
        <p:spPr>
          <a:xfrm>
            <a:off x="5715008" y="3643314"/>
            <a:ext cx="78581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" name="78 Rectángulo"/>
          <p:cNvSpPr/>
          <p:nvPr/>
        </p:nvSpPr>
        <p:spPr>
          <a:xfrm>
            <a:off x="6500826" y="2143116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79 Rectángulo"/>
          <p:cNvSpPr/>
          <p:nvPr/>
        </p:nvSpPr>
        <p:spPr>
          <a:xfrm>
            <a:off x="6500826" y="2643182"/>
            <a:ext cx="642942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80 Rectángulo"/>
          <p:cNvSpPr/>
          <p:nvPr/>
        </p:nvSpPr>
        <p:spPr>
          <a:xfrm>
            <a:off x="6500826" y="3143248"/>
            <a:ext cx="642942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81 Rectángulo"/>
          <p:cNvSpPr/>
          <p:nvPr/>
        </p:nvSpPr>
        <p:spPr>
          <a:xfrm>
            <a:off x="6500826" y="3643314"/>
            <a:ext cx="64294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82 Rectángulo"/>
          <p:cNvSpPr/>
          <p:nvPr/>
        </p:nvSpPr>
        <p:spPr>
          <a:xfrm>
            <a:off x="7143768" y="2143116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83 Rectángulo"/>
          <p:cNvSpPr/>
          <p:nvPr/>
        </p:nvSpPr>
        <p:spPr>
          <a:xfrm>
            <a:off x="7143768" y="2643182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84 Rectángulo"/>
          <p:cNvSpPr/>
          <p:nvPr/>
        </p:nvSpPr>
        <p:spPr>
          <a:xfrm>
            <a:off x="7143768" y="3143248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85 Rectángulo"/>
          <p:cNvSpPr/>
          <p:nvPr/>
        </p:nvSpPr>
        <p:spPr>
          <a:xfrm>
            <a:off x="7143768" y="364331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86 Rectángulo"/>
          <p:cNvSpPr/>
          <p:nvPr/>
        </p:nvSpPr>
        <p:spPr>
          <a:xfrm>
            <a:off x="7858148" y="2143116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8" name="87 Rectángulo"/>
          <p:cNvSpPr/>
          <p:nvPr/>
        </p:nvSpPr>
        <p:spPr>
          <a:xfrm>
            <a:off x="7858148" y="2643182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9" name="88 Rectángulo"/>
          <p:cNvSpPr/>
          <p:nvPr/>
        </p:nvSpPr>
        <p:spPr>
          <a:xfrm>
            <a:off x="7858148" y="3143248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89 Rectángulo"/>
          <p:cNvSpPr/>
          <p:nvPr/>
        </p:nvSpPr>
        <p:spPr>
          <a:xfrm rot="21600000">
            <a:off x="7858148" y="3643314"/>
            <a:ext cx="71438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2214554"/>
            <a:ext cx="7467600" cy="4873752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   DOFA, Su nombre proviene de las siglas: Debilidades, Oportunidades, Fortalezas y Amenazas.  Es una herramienta utilizada para la formulación y evaluación de estrategia. Generalmente es utilizada para empresas, pero igualmente puede aplicarse a personas, países, etc.</a:t>
            </a:r>
            <a:br>
              <a:rPr lang="es-CO" dirty="0" smtClean="0"/>
            </a:br>
            <a:endParaRPr lang="es-CO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714348" y="357166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Diagnostico estratégico</a:t>
            </a:r>
            <a:endParaRPr kumimoji="0" lang="es-CO" sz="30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214290"/>
            <a:ext cx="7572428" cy="6215106"/>
          </a:xfrm>
        </p:spPr>
        <p:txBody>
          <a:bodyPr/>
          <a:lstStyle/>
          <a:p>
            <a:pPr>
              <a:buNone/>
            </a:pPr>
            <a:endParaRPr lang="es-CO" dirty="0"/>
          </a:p>
        </p:txBody>
      </p:sp>
      <p:sp>
        <p:nvSpPr>
          <p:cNvPr id="4" name="3 Elipse"/>
          <p:cNvSpPr/>
          <p:nvPr/>
        </p:nvSpPr>
        <p:spPr>
          <a:xfrm>
            <a:off x="857224" y="285728"/>
            <a:ext cx="2714644" cy="1214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Auditoria Interna</a:t>
            </a:r>
            <a:endParaRPr lang="es-AR" dirty="0"/>
          </a:p>
        </p:txBody>
      </p:sp>
      <p:sp>
        <p:nvSpPr>
          <p:cNvPr id="5" name="4 Elipse"/>
          <p:cNvSpPr/>
          <p:nvPr/>
        </p:nvSpPr>
        <p:spPr>
          <a:xfrm>
            <a:off x="4286248" y="285728"/>
            <a:ext cx="2928958" cy="1214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Auditoria Externa Entorno</a:t>
            </a:r>
            <a:endParaRPr lang="es-AR" dirty="0"/>
          </a:p>
        </p:txBody>
      </p:sp>
      <p:sp>
        <p:nvSpPr>
          <p:cNvPr id="6" name="5 Rectángulo"/>
          <p:cNvSpPr/>
          <p:nvPr/>
        </p:nvSpPr>
        <p:spPr>
          <a:xfrm>
            <a:off x="1071538" y="1571612"/>
            <a:ext cx="2357454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Fortalezas</a:t>
            </a:r>
            <a:endParaRPr lang="es-AR" dirty="0"/>
          </a:p>
        </p:txBody>
      </p:sp>
      <p:sp>
        <p:nvSpPr>
          <p:cNvPr id="7" name="6 Rectángulo"/>
          <p:cNvSpPr/>
          <p:nvPr/>
        </p:nvSpPr>
        <p:spPr>
          <a:xfrm>
            <a:off x="4714876" y="1571612"/>
            <a:ext cx="242889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Oportunidades</a:t>
            </a:r>
            <a:endParaRPr lang="es-AR" dirty="0"/>
          </a:p>
        </p:txBody>
      </p:sp>
      <p:sp>
        <p:nvSpPr>
          <p:cNvPr id="8" name="7 Rectángulo"/>
          <p:cNvSpPr/>
          <p:nvPr/>
        </p:nvSpPr>
        <p:spPr>
          <a:xfrm>
            <a:off x="3214678" y="2214554"/>
            <a:ext cx="2000264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Diagnostico Estratégico</a:t>
            </a:r>
            <a:endParaRPr lang="es-AR" dirty="0"/>
          </a:p>
        </p:txBody>
      </p:sp>
      <p:sp>
        <p:nvSpPr>
          <p:cNvPr id="9" name="8 Rectángulo"/>
          <p:cNvSpPr/>
          <p:nvPr/>
        </p:nvSpPr>
        <p:spPr>
          <a:xfrm>
            <a:off x="1071538" y="3214686"/>
            <a:ext cx="2428892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Debilidades</a:t>
            </a:r>
            <a:endParaRPr lang="es-AR" dirty="0"/>
          </a:p>
        </p:txBody>
      </p:sp>
      <p:sp>
        <p:nvSpPr>
          <p:cNvPr id="10" name="9 Rectángulo"/>
          <p:cNvSpPr/>
          <p:nvPr/>
        </p:nvSpPr>
        <p:spPr>
          <a:xfrm>
            <a:off x="4786314" y="3214686"/>
            <a:ext cx="2428892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Amenazas</a:t>
            </a:r>
            <a:endParaRPr lang="es-AR" dirty="0"/>
          </a:p>
        </p:txBody>
      </p:sp>
      <p:sp>
        <p:nvSpPr>
          <p:cNvPr id="11" name="10 Elipse"/>
          <p:cNvSpPr/>
          <p:nvPr/>
        </p:nvSpPr>
        <p:spPr>
          <a:xfrm>
            <a:off x="1142976" y="4000504"/>
            <a:ext cx="2214578" cy="1143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Competencia</a:t>
            </a:r>
          </a:p>
          <a:p>
            <a:pPr algn="ctr"/>
            <a:r>
              <a:rPr lang="es-AR" dirty="0" smtClean="0"/>
              <a:t>(Inteligencia</a:t>
            </a:r>
          </a:p>
          <a:p>
            <a:pPr algn="ctr"/>
            <a:r>
              <a:rPr lang="es-AR" dirty="0" smtClean="0"/>
              <a:t>Comercial)</a:t>
            </a:r>
            <a:endParaRPr lang="es-AR" dirty="0"/>
          </a:p>
        </p:txBody>
      </p:sp>
      <p:sp>
        <p:nvSpPr>
          <p:cNvPr id="12" name="11 Elipse"/>
          <p:cNvSpPr/>
          <p:nvPr/>
        </p:nvSpPr>
        <p:spPr>
          <a:xfrm>
            <a:off x="4643438" y="3929066"/>
            <a:ext cx="2786082" cy="1285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Cultura</a:t>
            </a:r>
          </a:p>
          <a:p>
            <a:pPr algn="ctr"/>
            <a:r>
              <a:rPr lang="es-AR" dirty="0" smtClean="0"/>
              <a:t>Corporativa</a:t>
            </a:r>
          </a:p>
          <a:p>
            <a:pPr algn="ctr"/>
            <a:r>
              <a:rPr lang="es-AR" dirty="0" smtClean="0"/>
              <a:t>( valores, misión, visión)</a:t>
            </a:r>
            <a:endParaRPr lang="es-AR" dirty="0"/>
          </a:p>
        </p:txBody>
      </p:sp>
      <p:sp>
        <p:nvSpPr>
          <p:cNvPr id="13" name="12 Rectángulo"/>
          <p:cNvSpPr/>
          <p:nvPr/>
        </p:nvSpPr>
        <p:spPr>
          <a:xfrm>
            <a:off x="1928794" y="5357826"/>
            <a:ext cx="464347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Competencias Y Capacidades Organizacionales</a:t>
            </a:r>
            <a:endParaRPr lang="es-AR" dirty="0"/>
          </a:p>
        </p:txBody>
      </p:sp>
      <p:sp>
        <p:nvSpPr>
          <p:cNvPr id="14" name="13 Rectángulo"/>
          <p:cNvSpPr/>
          <p:nvPr/>
        </p:nvSpPr>
        <p:spPr>
          <a:xfrm>
            <a:off x="2000232" y="6000768"/>
            <a:ext cx="457203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Análisis De Vulnerabilidad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500042"/>
            <a:ext cx="7467600" cy="1143000"/>
          </a:xfrm>
        </p:spPr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Opciones Estratégicas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CO" dirty="0" smtClean="0"/>
              <a:t> </a:t>
            </a:r>
          </a:p>
          <a:p>
            <a:pPr algn="just">
              <a:buNone/>
            </a:pPr>
            <a:r>
              <a:rPr lang="es-CO" dirty="0" smtClean="0"/>
              <a:t>    Son alternativas que consisten en buscar diferentes caminos de cómo lograr los objetivos de una organización.</a:t>
            </a:r>
          </a:p>
          <a:p>
            <a:pPr>
              <a:buNone/>
            </a:pPr>
            <a:endParaRPr lang="es-CO" dirty="0" smtClean="0"/>
          </a:p>
          <a:p>
            <a:pPr algn="just">
              <a:buNone/>
            </a:pPr>
            <a:r>
              <a:rPr lang="es-CO" dirty="0" smtClean="0"/>
              <a:t>Entre estas se encuentran alternativas </a:t>
            </a:r>
            <a:r>
              <a:rPr lang="es-CO" dirty="0" err="1" smtClean="0"/>
              <a:t>estrategicas</a:t>
            </a:r>
            <a:r>
              <a:rPr lang="es-CO" dirty="0" smtClean="0"/>
              <a:t> como:</a:t>
            </a:r>
          </a:p>
          <a:p>
            <a:r>
              <a:rPr lang="es-CO" dirty="0" smtClean="0"/>
              <a:t>Ofensivas.</a:t>
            </a:r>
          </a:p>
          <a:p>
            <a:r>
              <a:rPr lang="es-CO" dirty="0" smtClean="0"/>
              <a:t>Defensivas.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CO" b="1" dirty="0" smtClean="0"/>
              <a:t>Ofensivas o de crecimiento:</a:t>
            </a:r>
            <a:r>
              <a:rPr lang="es-CO" dirty="0" smtClean="0"/>
              <a:t> buscan la consolidación de una empresa en su mercado.</a:t>
            </a:r>
          </a:p>
          <a:p>
            <a:pPr>
              <a:buNone/>
            </a:pPr>
            <a:endParaRPr lang="es-CO" b="1" dirty="0" smtClean="0"/>
          </a:p>
          <a:p>
            <a:r>
              <a:rPr lang="es-CO" dirty="0" smtClean="0"/>
              <a:t>Concentración: cuando un empresa decide especializarse en producir, vender o comercializar un solo producto </a:t>
            </a:r>
          </a:p>
          <a:p>
            <a:pPr>
              <a:buNone/>
            </a:pPr>
            <a:r>
              <a:rPr lang="es-CO" dirty="0" smtClean="0"/>
              <a:t>Ejemplo: una empresa que solo produce camperos o software de negocios.</a:t>
            </a:r>
          </a:p>
          <a:p>
            <a:pPr>
              <a:buNone/>
            </a:pP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Opciones Estratégicas</a:t>
            </a:r>
            <a:br>
              <a:rPr lang="es-CO" b="1" dirty="0" smtClean="0">
                <a:solidFill>
                  <a:schemeClr val="tx1"/>
                </a:solidFill>
              </a:rPr>
            </a:b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Adquisiciones: es la compra que una compañía hace de otra, pero deja que la firma adquirida opere como empresa independiente de la adquiriente.</a:t>
            </a:r>
          </a:p>
          <a:p>
            <a:pPr>
              <a:buNone/>
            </a:pPr>
            <a:r>
              <a:rPr lang="es-CO" dirty="0" smtClean="0"/>
              <a:t>Ejemplo: la adquisición de </a:t>
            </a:r>
            <a:r>
              <a:rPr lang="es-CO" dirty="0" err="1" smtClean="0"/>
              <a:t>pilsen</a:t>
            </a:r>
            <a:r>
              <a:rPr lang="es-CO" dirty="0" smtClean="0"/>
              <a:t> y del banco comercial antioqueño por el grupo santo domingo.</a:t>
            </a:r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Opciones Estratégicas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Innovación: búsqueda permanente de nuevos mercados, nuevos productos.</a:t>
            </a:r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>Ejemplo: la marca Toyota que perfecciona cada ves mas sus vehículos.</a:t>
            </a:r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Opciones Estratégicas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CO" b="1" dirty="0" smtClean="0"/>
              <a:t>Estrategias defensivas: </a:t>
            </a:r>
            <a:r>
              <a:rPr lang="es-CO" dirty="0" smtClean="0"/>
              <a:t>se aplican en una empresa para anticipar los problemas que puedan afectar ala organización.</a:t>
            </a:r>
          </a:p>
          <a:p>
            <a:pPr>
              <a:buNone/>
            </a:pPr>
            <a:endParaRPr lang="es-CO" b="1" dirty="0" smtClean="0"/>
          </a:p>
          <a:p>
            <a:r>
              <a:rPr lang="es-CO" dirty="0" smtClean="0"/>
              <a:t>Desinversión:  cuando una organización cierra o vende parte de su operación para concentrarse en  las tareas básicas derivadas de su misión.</a:t>
            </a:r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Opciones Estratégicas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Reducción: consiste en disminuir el numero o tamaña de las operaciones o de las actividades de un una empresa para mejorar su productividad.</a:t>
            </a:r>
          </a:p>
          <a:p>
            <a:pPr>
              <a:buNone/>
            </a:pPr>
            <a:r>
              <a:rPr lang="es-CO" dirty="0" smtClean="0"/>
              <a:t>Un ejemplo puede ser cuando se reduce costos o personal dentro del mercado.</a:t>
            </a:r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Opciones Estratégicas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Formulación Estratégica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2643182"/>
            <a:ext cx="7467600" cy="4873752"/>
          </a:xfrm>
        </p:spPr>
        <p:txBody>
          <a:bodyPr/>
          <a:lstStyle/>
          <a:p>
            <a:r>
              <a:rPr lang="es-CO" dirty="0" smtClean="0"/>
              <a:t>Consiste en seleccionar los proyectos o áreas estratégicas para analizar sus opiniones y  darles prioridad a una de ellas, logrando los objetivos y por ende la misión y visión.</a:t>
            </a:r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La formulación de estos proyectos deben ser:</a:t>
            </a:r>
          </a:p>
          <a:p>
            <a:endParaRPr lang="es-CO" dirty="0" smtClean="0"/>
          </a:p>
          <a:p>
            <a:r>
              <a:rPr lang="es-CO" dirty="0" smtClean="0"/>
              <a:t>-</a:t>
            </a:r>
            <a:r>
              <a:rPr lang="es-CO" dirty="0" err="1" smtClean="0"/>
              <a:t>Explicitos:En</a:t>
            </a:r>
            <a:r>
              <a:rPr lang="es-CO" dirty="0" smtClean="0"/>
              <a:t> cuanto a la </a:t>
            </a:r>
            <a:r>
              <a:rPr lang="es-CO" dirty="0" err="1" smtClean="0"/>
              <a:t>consolidacion</a:t>
            </a:r>
            <a:r>
              <a:rPr lang="es-CO" dirty="0" smtClean="0"/>
              <a:t> de las </a:t>
            </a:r>
            <a:r>
              <a:rPr lang="es-CO" dirty="0" err="1" smtClean="0"/>
              <a:t>fotalezas</a:t>
            </a:r>
            <a:r>
              <a:rPr lang="es-CO" dirty="0" smtClean="0"/>
              <a:t>, atacar las debilidades, aprovechar oportunidades y anticipar el efecto de las amenazas.</a:t>
            </a:r>
          </a:p>
          <a:p>
            <a:r>
              <a:rPr lang="es-CO" dirty="0" smtClean="0"/>
              <a:t>-Consistentes: Con los objetivos globales y la misión para llegar hacia la visión.</a:t>
            </a:r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Formulación Estratégica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-</a:t>
            </a:r>
            <a:r>
              <a:rPr lang="es-CO" dirty="0" err="1" smtClean="0"/>
              <a:t>Dinamicos</a:t>
            </a:r>
            <a:r>
              <a:rPr lang="es-CO" dirty="0" smtClean="0"/>
              <a:t>: Porque deben conducir a la acción y por tanto deben empezar con la palabra “debemos” o “</a:t>
            </a:r>
            <a:r>
              <a:rPr lang="es-CO" smtClean="0"/>
              <a:t>necesitamos”</a:t>
            </a:r>
          </a:p>
          <a:p>
            <a:endParaRPr lang="es-CO" dirty="0" smtClean="0"/>
          </a:p>
          <a:p>
            <a:r>
              <a:rPr lang="es-CO" dirty="0" smtClean="0"/>
              <a:t>Ejemplo:</a:t>
            </a:r>
          </a:p>
          <a:p>
            <a:r>
              <a:rPr lang="es-CO" dirty="0" smtClean="0"/>
              <a:t>-Debemos modernizando tecnológicamente</a:t>
            </a:r>
          </a:p>
          <a:p>
            <a:r>
              <a:rPr lang="es-CO" dirty="0" smtClean="0"/>
              <a:t>-Necesitamos mejorar la calidad del producto</a:t>
            </a:r>
          </a:p>
          <a:p>
            <a:endParaRPr lang="es-CO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solidFill>
                  <a:schemeClr val="tx1"/>
                </a:solidFill>
              </a:rPr>
              <a:t>Formulación Estratégica</a:t>
            </a:r>
            <a:endParaRPr lang="es-CO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857232"/>
            <a:ext cx="7467600" cy="5572164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214446"/>
          </a:xfrm>
        </p:spPr>
        <p:txBody>
          <a:bodyPr/>
          <a:lstStyle/>
          <a:p>
            <a:pPr algn="ctr"/>
            <a:r>
              <a:rPr lang="es-AR" b="1" dirty="0" smtClean="0">
                <a:solidFill>
                  <a:schemeClr val="tx1"/>
                </a:solidFill>
              </a:rPr>
              <a:t>Formulación Estratégica</a:t>
            </a:r>
            <a:br>
              <a:rPr lang="es-AR" b="1" dirty="0" smtClean="0">
                <a:solidFill>
                  <a:schemeClr val="tx1"/>
                </a:solidFill>
              </a:rPr>
            </a:br>
            <a:r>
              <a:rPr lang="es-AR" sz="2000" dirty="0" smtClean="0">
                <a:solidFill>
                  <a:schemeClr val="tx1"/>
                </a:solidFill>
              </a:rPr>
              <a:t>Proyección estratégica</a:t>
            </a:r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5" name="4 Flecha abajo"/>
          <p:cNvSpPr/>
          <p:nvPr/>
        </p:nvSpPr>
        <p:spPr>
          <a:xfrm>
            <a:off x="4071934" y="1000108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5 Rectángulo redondeado"/>
          <p:cNvSpPr/>
          <p:nvPr/>
        </p:nvSpPr>
        <p:spPr>
          <a:xfrm>
            <a:off x="3071802" y="1571612"/>
            <a:ext cx="2428892" cy="1000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Formulación estratégica</a:t>
            </a:r>
            <a:endParaRPr lang="es-AR" dirty="0"/>
          </a:p>
        </p:txBody>
      </p:sp>
      <p:sp>
        <p:nvSpPr>
          <p:cNvPr id="7" name="6 Rectángulo redondeado"/>
          <p:cNvSpPr/>
          <p:nvPr/>
        </p:nvSpPr>
        <p:spPr>
          <a:xfrm>
            <a:off x="3428992" y="3429000"/>
            <a:ext cx="1785950" cy="1071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Planes de acción</a:t>
            </a:r>
            <a:endParaRPr lang="es-AR" dirty="0"/>
          </a:p>
        </p:txBody>
      </p:sp>
      <p:sp>
        <p:nvSpPr>
          <p:cNvPr id="8" name="7 Rectángulo redondeado"/>
          <p:cNvSpPr/>
          <p:nvPr/>
        </p:nvSpPr>
        <p:spPr>
          <a:xfrm>
            <a:off x="2928926" y="5500702"/>
            <a:ext cx="292895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Presupuesto estratégico</a:t>
            </a:r>
            <a:endParaRPr lang="es-AR" dirty="0"/>
          </a:p>
        </p:txBody>
      </p:sp>
      <p:sp>
        <p:nvSpPr>
          <p:cNvPr id="9" name="8 Rectángulo redondeado"/>
          <p:cNvSpPr/>
          <p:nvPr/>
        </p:nvSpPr>
        <p:spPr>
          <a:xfrm>
            <a:off x="5643570" y="3500438"/>
            <a:ext cx="178595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Estrategias funcionales</a:t>
            </a:r>
            <a:endParaRPr lang="es-A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714348" y="3500438"/>
            <a:ext cx="178595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Objetivos funcionales</a:t>
            </a:r>
            <a:endParaRPr lang="es-AR" dirty="0"/>
          </a:p>
        </p:txBody>
      </p:sp>
      <p:sp>
        <p:nvSpPr>
          <p:cNvPr id="11" name="10 Flecha arriba"/>
          <p:cNvSpPr/>
          <p:nvPr/>
        </p:nvSpPr>
        <p:spPr>
          <a:xfrm rot="13121518">
            <a:off x="2447169" y="2458056"/>
            <a:ext cx="531228" cy="93075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Flecha arriba"/>
          <p:cNvSpPr/>
          <p:nvPr/>
        </p:nvSpPr>
        <p:spPr>
          <a:xfrm rot="10800000">
            <a:off x="4000496" y="2643182"/>
            <a:ext cx="531228" cy="7947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12 Flecha arriba"/>
          <p:cNvSpPr/>
          <p:nvPr/>
        </p:nvSpPr>
        <p:spPr>
          <a:xfrm rot="8191634">
            <a:off x="5476495" y="2507695"/>
            <a:ext cx="531228" cy="7947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4" name="13 Flecha arriba"/>
          <p:cNvSpPr/>
          <p:nvPr/>
        </p:nvSpPr>
        <p:spPr>
          <a:xfrm rot="10800000">
            <a:off x="4071934" y="4643446"/>
            <a:ext cx="531228" cy="7947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945</TotalTime>
  <Words>1462</Words>
  <Application>Microsoft Office PowerPoint</Application>
  <PresentationFormat>Presentación en pantalla (4:3)</PresentationFormat>
  <Paragraphs>249</Paragraphs>
  <Slides>42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3" baseType="lpstr">
      <vt:lpstr>Mirador</vt:lpstr>
      <vt:lpstr>Planeación Estratégica</vt:lpstr>
      <vt:lpstr>La planeación estratégica tiene cinco componentes fundamentales: </vt:lpstr>
      <vt:lpstr> 1)Los estrategas</vt:lpstr>
      <vt:lpstr>1)Los Estrategas</vt:lpstr>
      <vt:lpstr>2)El direccionamiento estratégico</vt:lpstr>
      <vt:lpstr>2.1)Principios Corporativos</vt:lpstr>
      <vt:lpstr>2.1)Principios corporativos.</vt:lpstr>
      <vt:lpstr>2.1)Principios corporativas.</vt:lpstr>
      <vt:lpstr>2.PRINCIPIOS CORPORATIVOS </vt:lpstr>
      <vt:lpstr>Los valores </vt:lpstr>
      <vt:lpstr>2.2 Misión </vt:lpstr>
      <vt:lpstr>Diapositiva 12</vt:lpstr>
      <vt:lpstr>Ejemplo de misión.</vt:lpstr>
      <vt:lpstr>Ejemplo de misión.</vt:lpstr>
      <vt:lpstr>Ejemplo de misión.</vt:lpstr>
      <vt:lpstr>Ejemplo de misión.</vt:lpstr>
      <vt:lpstr>2.3 Visión </vt:lpstr>
      <vt:lpstr>La Visión</vt:lpstr>
      <vt:lpstr>Ejemplo de visión</vt:lpstr>
      <vt:lpstr>2.4 objetivos</vt:lpstr>
      <vt:lpstr>Diagnostico estratégico</vt:lpstr>
      <vt:lpstr>Diagnostico estratégico</vt:lpstr>
      <vt:lpstr>Diagnostico estratégico</vt:lpstr>
      <vt:lpstr>Diagnostico estratégico</vt:lpstr>
      <vt:lpstr>Diapositiva 25</vt:lpstr>
      <vt:lpstr>Diagnostico estratégico</vt:lpstr>
      <vt:lpstr>Diagnostico estratégico</vt:lpstr>
      <vt:lpstr>Diagnostico estratégico</vt:lpstr>
      <vt:lpstr>Diagnostico estratégico</vt:lpstr>
      <vt:lpstr>Diapositiva 30</vt:lpstr>
      <vt:lpstr>Diapositiva 31</vt:lpstr>
      <vt:lpstr>Diapositiva 32</vt:lpstr>
      <vt:lpstr>Opciones Estratégicas</vt:lpstr>
      <vt:lpstr>Opciones Estratégicas </vt:lpstr>
      <vt:lpstr>Opciones Estratégicas</vt:lpstr>
      <vt:lpstr>Opciones Estratégicas</vt:lpstr>
      <vt:lpstr>Opciones Estratégicas</vt:lpstr>
      <vt:lpstr>Opciones Estratégicas</vt:lpstr>
      <vt:lpstr>Formulación Estratégica</vt:lpstr>
      <vt:lpstr>Formulación Estratégica</vt:lpstr>
      <vt:lpstr>Formulación Estratégica</vt:lpstr>
      <vt:lpstr>Formulación Estratégica Proyección estratégica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Planeación Estratégica</dc:title>
  <dc:creator>COMPUTECA</dc:creator>
  <cp:lastModifiedBy>VANESSA</cp:lastModifiedBy>
  <cp:revision>131</cp:revision>
  <dcterms:created xsi:type="dcterms:W3CDTF">2011-05-03T18:57:17Z</dcterms:created>
  <dcterms:modified xsi:type="dcterms:W3CDTF">2011-05-12T00:56:53Z</dcterms:modified>
</cp:coreProperties>
</file>