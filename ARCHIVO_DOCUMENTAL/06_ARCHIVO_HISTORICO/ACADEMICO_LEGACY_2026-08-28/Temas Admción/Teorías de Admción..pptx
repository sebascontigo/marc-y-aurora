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76"/>
  </p:notesMasterIdLst>
  <p:handoutMasterIdLst>
    <p:handoutMasterId r:id="rId77"/>
  </p:handoutMasterIdLst>
  <p:sldIdLst>
    <p:sldId id="256" r:id="rId2"/>
    <p:sldId id="265" r:id="rId3"/>
    <p:sldId id="257" r:id="rId4"/>
    <p:sldId id="258" r:id="rId5"/>
    <p:sldId id="259" r:id="rId6"/>
    <p:sldId id="260" r:id="rId7"/>
    <p:sldId id="272" r:id="rId8"/>
    <p:sldId id="261" r:id="rId9"/>
    <p:sldId id="266" r:id="rId10"/>
    <p:sldId id="267" r:id="rId11"/>
    <p:sldId id="268" r:id="rId12"/>
    <p:sldId id="283" r:id="rId13"/>
    <p:sldId id="271" r:id="rId14"/>
    <p:sldId id="284" r:id="rId15"/>
    <p:sldId id="273" r:id="rId16"/>
    <p:sldId id="282" r:id="rId17"/>
    <p:sldId id="274" r:id="rId18"/>
    <p:sldId id="285" r:id="rId19"/>
    <p:sldId id="286" r:id="rId20"/>
    <p:sldId id="287" r:id="rId21"/>
    <p:sldId id="288" r:id="rId22"/>
    <p:sldId id="289" r:id="rId23"/>
    <p:sldId id="335" r:id="rId24"/>
    <p:sldId id="326" r:id="rId25"/>
    <p:sldId id="336" r:id="rId26"/>
    <p:sldId id="327" r:id="rId27"/>
    <p:sldId id="328" r:id="rId28"/>
    <p:sldId id="329" r:id="rId29"/>
    <p:sldId id="330" r:id="rId30"/>
    <p:sldId id="331" r:id="rId31"/>
    <p:sldId id="332" r:id="rId32"/>
    <p:sldId id="333" r:id="rId33"/>
    <p:sldId id="334" r:id="rId34"/>
    <p:sldId id="290" r:id="rId35"/>
    <p:sldId id="341" r:id="rId36"/>
    <p:sldId id="342" r:id="rId37"/>
    <p:sldId id="343" r:id="rId38"/>
    <p:sldId id="344" r:id="rId39"/>
    <p:sldId id="345" r:id="rId40"/>
    <p:sldId id="346" r:id="rId41"/>
    <p:sldId id="348" r:id="rId42"/>
    <p:sldId id="349" r:id="rId43"/>
    <p:sldId id="350" r:id="rId44"/>
    <p:sldId id="351" r:id="rId45"/>
    <p:sldId id="292" r:id="rId46"/>
    <p:sldId id="352" r:id="rId47"/>
    <p:sldId id="353" r:id="rId48"/>
    <p:sldId id="293" r:id="rId49"/>
    <p:sldId id="354" r:id="rId50"/>
    <p:sldId id="294" r:id="rId51"/>
    <p:sldId id="355" r:id="rId52"/>
    <p:sldId id="356" r:id="rId53"/>
    <p:sldId id="357" r:id="rId54"/>
    <p:sldId id="358" r:id="rId55"/>
    <p:sldId id="359" r:id="rId56"/>
    <p:sldId id="361" r:id="rId57"/>
    <p:sldId id="362" r:id="rId58"/>
    <p:sldId id="363" r:id="rId59"/>
    <p:sldId id="364" r:id="rId60"/>
    <p:sldId id="365" r:id="rId61"/>
    <p:sldId id="366" r:id="rId62"/>
    <p:sldId id="367" r:id="rId63"/>
    <p:sldId id="368" r:id="rId64"/>
    <p:sldId id="369" r:id="rId65"/>
    <p:sldId id="370" r:id="rId66"/>
    <p:sldId id="371" r:id="rId67"/>
    <p:sldId id="372" r:id="rId68"/>
    <p:sldId id="373" r:id="rId69"/>
    <p:sldId id="374" r:id="rId70"/>
    <p:sldId id="375" r:id="rId71"/>
    <p:sldId id="376" r:id="rId72"/>
    <p:sldId id="377" r:id="rId73"/>
    <p:sldId id="378" r:id="rId74"/>
    <p:sldId id="379" r:id="rId75"/>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showPr>
  <p:clrMru>
    <a:srgbClr val="003399"/>
    <a:srgbClr val="336699"/>
    <a:srgbClr val="008080"/>
    <a:srgbClr val="009999"/>
    <a:srgbClr val="FF99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21900" autoAdjust="0"/>
    <p:restoredTop sz="90929"/>
  </p:normalViewPr>
  <p:slideViewPr>
    <p:cSldViewPr>
      <p:cViewPr varScale="1">
        <p:scale>
          <a:sx n="99" d="100"/>
          <a:sy n="99" d="100"/>
        </p:scale>
        <p:origin x="-84" y="-330"/>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dirty="0">
                <a:latin typeface="Times New Roman" charset="0"/>
              </a:defRPr>
            </a:lvl1pPr>
          </a:lstStyle>
          <a:p>
            <a:pPr>
              <a:defRPr/>
            </a:pPr>
            <a:endParaRPr lang="es-ES"/>
          </a:p>
        </p:txBody>
      </p:sp>
      <p:sp>
        <p:nvSpPr>
          <p:cNvPr id="1741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dirty="0">
                <a:latin typeface="Times New Roman" charset="0"/>
              </a:defRPr>
            </a:lvl1pPr>
          </a:lstStyle>
          <a:p>
            <a:pPr>
              <a:defRPr/>
            </a:pPr>
            <a:endParaRPr lang="es-ES"/>
          </a:p>
        </p:txBody>
      </p:sp>
      <p:sp>
        <p:nvSpPr>
          <p:cNvPr id="1741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dirty="0">
                <a:latin typeface="Times New Roman" charset="0"/>
              </a:defRPr>
            </a:lvl1pPr>
          </a:lstStyle>
          <a:p>
            <a:pPr>
              <a:defRPr/>
            </a:pPr>
            <a:endParaRPr lang="es-ES"/>
          </a:p>
        </p:txBody>
      </p:sp>
      <p:sp>
        <p:nvSpPr>
          <p:cNvPr id="1741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charset="0"/>
              </a:defRPr>
            </a:lvl1pPr>
          </a:lstStyle>
          <a:p>
            <a:pPr>
              <a:defRPr/>
            </a:pPr>
            <a:fld id="{B89E41E3-DE1E-4B4A-BCC8-96783AAC7498}" type="slidenum">
              <a:rPr lang="es-ES"/>
              <a:pPr>
                <a:defRPr/>
              </a:pPr>
              <a:t>‹Nº›</a:t>
            </a:fld>
            <a:endParaRPr lang="es-E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dirty="0">
                <a:latin typeface="Times New Roman" charset="0"/>
              </a:defRPr>
            </a:lvl1pPr>
          </a:lstStyle>
          <a:p>
            <a:pPr>
              <a:defRPr/>
            </a:pPr>
            <a:endParaRPr lang="es-E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dirty="0">
                <a:latin typeface="Times New Roman" charset="0"/>
              </a:defRPr>
            </a:lvl1pPr>
          </a:lstStyle>
          <a:p>
            <a:pPr>
              <a:defRPr/>
            </a:pPr>
            <a:endParaRPr lang="es-E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noProof="0" smtClean="0"/>
              <a:t>Haga clic para modificar el estilo de texto del patrón</a:t>
            </a:r>
          </a:p>
          <a:p>
            <a:pPr lvl="1"/>
            <a:r>
              <a:rPr lang="es-ES" noProof="0" smtClean="0"/>
              <a:t>Segundo nivel</a:t>
            </a:r>
          </a:p>
          <a:p>
            <a:pPr lvl="2"/>
            <a:r>
              <a:rPr lang="es-ES" noProof="0" smtClean="0"/>
              <a:t>Tercer nivel</a:t>
            </a:r>
          </a:p>
          <a:p>
            <a:pPr lvl="3"/>
            <a:r>
              <a:rPr lang="es-ES" noProof="0" smtClean="0"/>
              <a:t>Cuarto nivel</a:t>
            </a:r>
          </a:p>
          <a:p>
            <a:pPr lvl="4"/>
            <a:r>
              <a:rPr lang="es-ES" noProof="0" smtClean="0"/>
              <a:t>Quinto nivel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dirty="0">
                <a:latin typeface="Times New Roman" charset="0"/>
              </a:defRPr>
            </a:lvl1pPr>
          </a:lstStyle>
          <a:p>
            <a:pPr>
              <a:defRPr/>
            </a:pPr>
            <a:endParaRPr lang="es-ES"/>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charset="0"/>
              </a:defRPr>
            </a:lvl1pPr>
          </a:lstStyle>
          <a:p>
            <a:pPr>
              <a:defRPr/>
            </a:pPr>
            <a:fld id="{EA3CFD17-05A9-4B8C-B5B6-D9002372836A}" type="slidenum">
              <a:rPr lang="es-ES"/>
              <a:pPr>
                <a:defRPr/>
              </a:pPr>
              <a:t>‹Nº›</a:t>
            </a:fld>
            <a:endParaRPr lang="es-E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p:spPr>
        <p:txBody>
          <a:bodyPr/>
          <a:lstStyle/>
          <a:p>
            <a:fld id="{EACB64FF-CB5F-4702-A309-FA2457A68FD0}" type="slidenum">
              <a:rPr lang="es-ES" smtClean="0">
                <a:latin typeface="Times New Roman" pitchFamily="18" charset="0"/>
              </a:rPr>
              <a:pPr/>
              <a:t>1</a:t>
            </a:fld>
            <a:endParaRPr lang="es-ES" smtClean="0">
              <a:latin typeface="Times New Roman" pitchFamily="18" charset="0"/>
            </a:endParaRPr>
          </a:p>
        </p:txBody>
      </p:sp>
      <p:sp>
        <p:nvSpPr>
          <p:cNvPr id="16386" name="Rectangle 1026"/>
          <p:cNvSpPr>
            <a:spLocks noGrp="1" noRot="1" noChangeAspect="1" noChangeArrowheads="1" noTextEdit="1"/>
          </p:cNvSpPr>
          <p:nvPr>
            <p:ph type="sldImg"/>
          </p:nvPr>
        </p:nvSpPr>
        <p:spPr>
          <a:ln/>
        </p:spPr>
      </p:sp>
      <p:sp>
        <p:nvSpPr>
          <p:cNvPr id="16387" name="Rectangle 1027"/>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a:spLocks noGrp="1" noChangeArrowheads="1"/>
          </p:cNvSpPr>
          <p:nvPr>
            <p:ph type="sldNum" sz="quarter" idx="5"/>
          </p:nvPr>
        </p:nvSpPr>
        <p:spPr>
          <a:noFill/>
        </p:spPr>
        <p:txBody>
          <a:bodyPr/>
          <a:lstStyle/>
          <a:p>
            <a:fld id="{6E97FDD2-4103-4FB6-8347-07270C1F3FA6}" type="slidenum">
              <a:rPr lang="es-ES" smtClean="0">
                <a:latin typeface="Times New Roman" pitchFamily="18" charset="0"/>
              </a:rPr>
              <a:pPr/>
              <a:t>3</a:t>
            </a:fld>
            <a:endParaRPr lang="es-ES" smtClean="0">
              <a:latin typeface="Times New Roman" pitchFamily="18" charset="0"/>
            </a:endParaRPr>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a:spLocks noGrp="1" noChangeArrowheads="1"/>
          </p:cNvSpPr>
          <p:nvPr>
            <p:ph type="sldNum" sz="quarter" idx="5"/>
          </p:nvPr>
        </p:nvSpPr>
        <p:spPr>
          <a:noFill/>
        </p:spPr>
        <p:txBody>
          <a:bodyPr/>
          <a:lstStyle/>
          <a:p>
            <a:fld id="{923B4D7A-762D-4F96-BD25-2F721A789A75}" type="slidenum">
              <a:rPr lang="es-ES" smtClean="0">
                <a:latin typeface="Times New Roman" pitchFamily="18" charset="0"/>
              </a:rPr>
              <a:pPr/>
              <a:t>4</a:t>
            </a:fld>
            <a:endParaRPr lang="es-ES" smtClean="0">
              <a:latin typeface="Times New Roman" pitchFamily="18" charset="0"/>
            </a:endParaRPr>
          </a:p>
        </p:txBody>
      </p:sp>
      <p:sp>
        <p:nvSpPr>
          <p:cNvPr id="21506" name="Rectangle 1026"/>
          <p:cNvSpPr>
            <a:spLocks noGrp="1" noRot="1" noChangeAspect="1" noChangeArrowheads="1" noTextEdit="1"/>
          </p:cNvSpPr>
          <p:nvPr>
            <p:ph type="sldImg"/>
          </p:nvPr>
        </p:nvSpPr>
        <p:spPr>
          <a:ln/>
        </p:spPr>
      </p:sp>
      <p:sp>
        <p:nvSpPr>
          <p:cNvPr id="21507" name="Rectangle 1027"/>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p:spPr>
        <p:txBody>
          <a:bodyPr/>
          <a:lstStyle/>
          <a:p>
            <a:fld id="{10718192-3E3B-4BB4-BB46-CAC3FDBB5E5E}" type="slidenum">
              <a:rPr lang="es-ES" smtClean="0">
                <a:latin typeface="Times New Roman" pitchFamily="18" charset="0"/>
              </a:rPr>
              <a:pPr/>
              <a:t>5</a:t>
            </a:fld>
            <a:endParaRPr lang="es-ES" smtClean="0">
              <a:latin typeface="Times New Roman" pitchFamily="18" charset="0"/>
            </a:endParaRPr>
          </a:p>
        </p:txBody>
      </p:sp>
      <p:sp>
        <p:nvSpPr>
          <p:cNvPr id="23554" name="Rectangle 5122"/>
          <p:cNvSpPr>
            <a:spLocks noGrp="1" noRot="1" noChangeAspect="1" noChangeArrowheads="1" noTextEdit="1"/>
          </p:cNvSpPr>
          <p:nvPr>
            <p:ph type="sldImg"/>
          </p:nvPr>
        </p:nvSpPr>
        <p:spPr>
          <a:ln/>
        </p:spPr>
      </p:sp>
      <p:sp>
        <p:nvSpPr>
          <p:cNvPr id="23555" name="Rectangle 5123"/>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a:spLocks noGrp="1" noChangeArrowheads="1"/>
          </p:cNvSpPr>
          <p:nvPr>
            <p:ph type="sldNum" sz="quarter" idx="5"/>
          </p:nvPr>
        </p:nvSpPr>
        <p:spPr>
          <a:noFill/>
        </p:spPr>
        <p:txBody>
          <a:bodyPr/>
          <a:lstStyle/>
          <a:p>
            <a:fld id="{88D3E61E-4AC4-419F-B2BD-EACC970CFDD5}" type="slidenum">
              <a:rPr lang="es-ES" smtClean="0">
                <a:latin typeface="Times New Roman" pitchFamily="18" charset="0"/>
              </a:rPr>
              <a:pPr/>
              <a:t>6</a:t>
            </a:fld>
            <a:endParaRPr lang="es-ES" smtClean="0">
              <a:latin typeface="Times New Roman" pitchFamily="18" charset="0"/>
            </a:endParaRPr>
          </a:p>
        </p:txBody>
      </p:sp>
      <p:sp>
        <p:nvSpPr>
          <p:cNvPr id="25602" name="Rectangle 1026"/>
          <p:cNvSpPr>
            <a:spLocks noGrp="1" noRot="1" noChangeAspect="1" noChangeArrowheads="1" noTextEdit="1"/>
          </p:cNvSpPr>
          <p:nvPr>
            <p:ph type="sldImg"/>
          </p:nvPr>
        </p:nvSpPr>
        <p:spPr>
          <a:ln/>
        </p:spPr>
      </p:sp>
      <p:sp>
        <p:nvSpPr>
          <p:cNvPr id="25603" name="Rectangle 1027"/>
          <p:cNvSpPr>
            <a:spLocks noGrp="1" noChangeArrowheads="1"/>
          </p:cNvSpPr>
          <p:nvPr>
            <p:ph type="body" idx="1"/>
          </p:nvPr>
        </p:nvSpPr>
        <p:spPr>
          <a:noFill/>
          <a:ln/>
        </p:spPr>
        <p:txBody>
          <a:bodyPr/>
          <a:lstStyle/>
          <a:p>
            <a:endParaRPr lang="es-E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p:spPr>
        <p:txBody>
          <a:bodyPr/>
          <a:lstStyle/>
          <a:p>
            <a:fld id="{6661BAB8-00EA-4270-B0FA-662A5BC19B65}" type="slidenum">
              <a:rPr lang="es-ES" smtClean="0">
                <a:latin typeface="Times New Roman" pitchFamily="18" charset="0"/>
              </a:rPr>
              <a:pPr/>
              <a:t>8</a:t>
            </a:fld>
            <a:endParaRPr lang="es-ES" smtClean="0">
              <a:latin typeface="Times New Roman" pitchFamily="18" charset="0"/>
            </a:endParaRPr>
          </a:p>
        </p:txBody>
      </p:sp>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endParaRPr lang="es-E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 name="Group 2"/>
          <p:cNvGrpSpPr>
            <a:grpSpLocks/>
          </p:cNvGrpSpPr>
          <p:nvPr/>
        </p:nvGrpSpPr>
        <p:grpSpPr bwMode="auto">
          <a:xfrm>
            <a:off x="-1035050" y="1552575"/>
            <a:ext cx="10179050" cy="5305425"/>
            <a:chOff x="-652" y="978"/>
            <a:chExt cx="6412" cy="3342"/>
          </a:xfrm>
        </p:grpSpPr>
        <p:sp>
          <p:nvSpPr>
            <p:cNvPr id="5" name="Freeform 3"/>
            <p:cNvSpPr>
              <a:spLocks/>
            </p:cNvSpPr>
            <p:nvPr/>
          </p:nvSpPr>
          <p:spPr bwMode="auto">
            <a:xfrm>
              <a:off x="2061" y="1707"/>
              <a:ext cx="3699" cy="2613"/>
            </a:xfrm>
            <a:custGeom>
              <a:avLst/>
              <a:gdLst/>
              <a:ahLst/>
              <a:cxnLst>
                <a:cxn ang="0">
                  <a:pos x="1523" y="2611"/>
                </a:cxn>
                <a:cxn ang="0">
                  <a:pos x="3698" y="2612"/>
                </a:cxn>
                <a:cxn ang="0">
                  <a:pos x="3698" y="2228"/>
                </a:cxn>
                <a:cxn ang="0">
                  <a:pos x="0" y="0"/>
                </a:cxn>
                <a:cxn ang="0">
                  <a:pos x="160" y="118"/>
                </a:cxn>
                <a:cxn ang="0">
                  <a:pos x="292" y="219"/>
                </a:cxn>
                <a:cxn ang="0">
                  <a:pos x="441" y="347"/>
                </a:cxn>
                <a:cxn ang="0">
                  <a:pos x="585" y="482"/>
                </a:cxn>
                <a:cxn ang="0">
                  <a:pos x="796" y="711"/>
                </a:cxn>
                <a:cxn ang="0">
                  <a:pos x="983" y="955"/>
                </a:cxn>
                <a:cxn ang="0">
                  <a:pos x="1119" y="1168"/>
                </a:cxn>
                <a:cxn ang="0">
                  <a:pos x="1238" y="1388"/>
                </a:cxn>
                <a:cxn ang="0">
                  <a:pos x="1331" y="1608"/>
                </a:cxn>
                <a:cxn ang="0">
                  <a:pos x="1400" y="1809"/>
                </a:cxn>
                <a:cxn ang="0">
                  <a:pos x="1447" y="1979"/>
                </a:cxn>
                <a:cxn ang="0">
                  <a:pos x="1490" y="2190"/>
                </a:cxn>
                <a:cxn ang="0">
                  <a:pos x="1511" y="2374"/>
                </a:cxn>
                <a:cxn ang="0">
                  <a:pos x="1523" y="2611"/>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w="9525" cap="rnd">
              <a:noFill/>
              <a:round/>
              <a:headEnd/>
              <a:tailEnd/>
            </a:ln>
            <a:effectLst/>
          </p:spPr>
          <p:txBody>
            <a:bodyPr/>
            <a:lstStyle/>
            <a:p>
              <a:pPr>
                <a:defRPr/>
              </a:pPr>
              <a:endParaRPr lang="es-ES" dirty="0">
                <a:latin typeface="Times New Roman" charset="0"/>
              </a:endParaRPr>
            </a:p>
          </p:txBody>
        </p:sp>
        <p:sp>
          <p:nvSpPr>
            <p:cNvPr id="6" name="Arc 4"/>
            <p:cNvSpPr>
              <a:spLocks/>
            </p:cNvSpPr>
            <p:nvPr/>
          </p:nvSpPr>
          <p:spPr bwMode="auto">
            <a:xfrm>
              <a:off x="-652" y="978"/>
              <a:ext cx="4237" cy="3342"/>
            </a:xfrm>
            <a:custGeom>
              <a:avLst/>
              <a:gdLst>
                <a:gd name="G0" fmla="+- 0 0 0"/>
                <a:gd name="G1" fmla="+- 21231 0 0"/>
                <a:gd name="G2" fmla="+- 21600 0 0"/>
                <a:gd name="T0" fmla="*/ 3977 w 21600"/>
                <a:gd name="T1" fmla="*/ 0 h 21231"/>
                <a:gd name="T2" fmla="*/ 21600 w 21600"/>
                <a:gd name="T3" fmla="*/ 21231 h 21231"/>
                <a:gd name="T4" fmla="*/ 0 w 21600"/>
                <a:gd name="T5" fmla="*/ 21231 h 21231"/>
              </a:gdLst>
              <a:ahLst/>
              <a:cxnLst>
                <a:cxn ang="0">
                  <a:pos x="T0" y="T1"/>
                </a:cxn>
                <a:cxn ang="0">
                  <a:pos x="T2" y="T3"/>
                </a:cxn>
                <a:cxn ang="0">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close/>
                </a:path>
              </a:pathLst>
            </a:custGeom>
            <a:noFill/>
            <a:ln w="12700" cap="rnd">
              <a:solidFill>
                <a:schemeClr val="accent2"/>
              </a:solidFill>
              <a:round/>
              <a:headEnd type="none" w="sm" len="sm"/>
              <a:tailEnd type="none" w="sm" len="sm"/>
            </a:ln>
            <a:effectLst/>
          </p:spPr>
          <p:txBody>
            <a:bodyPr wrap="none" anchor="ctr"/>
            <a:lstStyle/>
            <a:p>
              <a:pPr>
                <a:defRPr/>
              </a:pPr>
              <a:endParaRPr lang="es-ES" dirty="0">
                <a:latin typeface="Times New Roman" charset="0"/>
              </a:endParaRPr>
            </a:p>
          </p:txBody>
        </p:sp>
      </p:grpSp>
      <p:sp>
        <p:nvSpPr>
          <p:cNvPr id="34821" name="Rectangle 5"/>
          <p:cNvSpPr>
            <a:spLocks noGrp="1" noChangeArrowheads="1"/>
          </p:cNvSpPr>
          <p:nvPr>
            <p:ph type="ctrTitle" sz="quarter"/>
          </p:nvPr>
        </p:nvSpPr>
        <p:spPr>
          <a:xfrm>
            <a:off x="1293813" y="762000"/>
            <a:ext cx="7772400" cy="1143000"/>
          </a:xfrm>
        </p:spPr>
        <p:txBody>
          <a:bodyPr anchor="b"/>
          <a:lstStyle>
            <a:lvl1pPr>
              <a:defRPr/>
            </a:lvl1pPr>
          </a:lstStyle>
          <a:p>
            <a:r>
              <a:rPr lang="es-ES"/>
              <a:t>Haga clic para modificar el estilo de título del patrón</a:t>
            </a:r>
          </a:p>
        </p:txBody>
      </p:sp>
      <p:sp>
        <p:nvSpPr>
          <p:cNvPr id="34822"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 typeface="Wingdings" pitchFamily="2" charset="2"/>
              <a:buNone/>
              <a:defRPr/>
            </a:lvl1pPr>
          </a:lstStyle>
          <a:p>
            <a:r>
              <a:rPr lang="es-ES"/>
              <a:t>Haga clic para modificar el estilo de subtítulo del patrón</a:t>
            </a:r>
          </a:p>
        </p:txBody>
      </p:sp>
      <p:sp>
        <p:nvSpPr>
          <p:cNvPr id="7" name="Rectangle 7"/>
          <p:cNvSpPr>
            <a:spLocks noGrp="1" noChangeArrowheads="1"/>
          </p:cNvSpPr>
          <p:nvPr>
            <p:ph type="dt" sz="quarter" idx="10"/>
          </p:nvPr>
        </p:nvSpPr>
        <p:spPr/>
        <p:txBody>
          <a:bodyPr/>
          <a:lstStyle>
            <a:lvl1pPr>
              <a:defRPr/>
            </a:lvl1pPr>
          </a:lstStyle>
          <a:p>
            <a:pPr>
              <a:defRPr/>
            </a:pPr>
            <a:fld id="{A0BAD025-50A7-4962-A7AC-AEB7B76A9ACC}" type="datetime1">
              <a:rPr lang="es-ES"/>
              <a:pPr>
                <a:defRPr/>
              </a:pPr>
              <a:t>14/08/2009</a:t>
            </a:fld>
            <a:endParaRPr lang="es-ES" dirty="0"/>
          </a:p>
        </p:txBody>
      </p:sp>
      <p:sp>
        <p:nvSpPr>
          <p:cNvPr id="8" name="Rectangle 8"/>
          <p:cNvSpPr>
            <a:spLocks noGrp="1" noChangeArrowheads="1"/>
          </p:cNvSpPr>
          <p:nvPr>
            <p:ph type="ftr" sz="quarter" idx="11"/>
          </p:nvPr>
        </p:nvSpPr>
        <p:spPr/>
        <p:txBody>
          <a:bodyPr/>
          <a:lstStyle>
            <a:lvl1pPr>
              <a:defRPr dirty="0"/>
            </a:lvl1pPr>
          </a:lstStyle>
          <a:p>
            <a:pPr>
              <a:defRPr/>
            </a:pPr>
            <a:endParaRPr lang="es-ES"/>
          </a:p>
        </p:txBody>
      </p:sp>
      <p:sp>
        <p:nvSpPr>
          <p:cNvPr id="9" name="Rectangle 9"/>
          <p:cNvSpPr>
            <a:spLocks noGrp="1" noChangeArrowheads="1"/>
          </p:cNvSpPr>
          <p:nvPr>
            <p:ph type="sldNum" sz="quarter" idx="12"/>
          </p:nvPr>
        </p:nvSpPr>
        <p:spPr/>
        <p:txBody>
          <a:bodyPr/>
          <a:lstStyle>
            <a:lvl1pPr>
              <a:defRPr/>
            </a:lvl1pPr>
          </a:lstStyle>
          <a:p>
            <a:pPr>
              <a:defRPr/>
            </a:pPr>
            <a:fld id="{75132289-C0C1-4540-A56C-E300748A08B4}" type="slidenum">
              <a:rPr lang="es-ES"/>
              <a:pPr>
                <a:defRPr/>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6"/>
          <p:cNvSpPr>
            <a:spLocks noGrp="1" noChangeArrowheads="1"/>
          </p:cNvSpPr>
          <p:nvPr>
            <p:ph type="dt" sz="half" idx="10"/>
          </p:nvPr>
        </p:nvSpPr>
        <p:spPr>
          <a:ln/>
        </p:spPr>
        <p:txBody>
          <a:bodyPr/>
          <a:lstStyle>
            <a:lvl1pPr>
              <a:defRPr/>
            </a:lvl1pPr>
          </a:lstStyle>
          <a:p>
            <a:pPr>
              <a:defRPr/>
            </a:pPr>
            <a:fld id="{FAFBBDDF-DD0F-42DE-87BE-5C4B85DEFC2C}" type="datetime1">
              <a:rPr lang="es-ES"/>
              <a:pPr>
                <a:defRPr/>
              </a:pPr>
              <a:t>14/08/2009</a:t>
            </a:fld>
            <a:endParaRPr lang="es-ES" dirty="0"/>
          </a:p>
        </p:txBody>
      </p:sp>
      <p:sp>
        <p:nvSpPr>
          <p:cNvPr id="5" name="Rectangle 7"/>
          <p:cNvSpPr>
            <a:spLocks noGrp="1" noChangeArrowheads="1"/>
          </p:cNvSpPr>
          <p:nvPr>
            <p:ph type="ftr" sz="quarter" idx="11"/>
          </p:nvPr>
        </p:nvSpPr>
        <p:spPr>
          <a:ln/>
        </p:spPr>
        <p:txBody>
          <a:bodyPr/>
          <a:lstStyle>
            <a:lvl1pPr>
              <a:defRPr/>
            </a:lvl1pPr>
          </a:lstStyle>
          <a:p>
            <a:pPr>
              <a:defRPr/>
            </a:pPr>
            <a:endParaRPr lang="es-ES"/>
          </a:p>
        </p:txBody>
      </p:sp>
      <p:sp>
        <p:nvSpPr>
          <p:cNvPr id="6" name="Rectangle 8"/>
          <p:cNvSpPr>
            <a:spLocks noGrp="1" noChangeArrowheads="1"/>
          </p:cNvSpPr>
          <p:nvPr>
            <p:ph type="sldNum" sz="quarter" idx="12"/>
          </p:nvPr>
        </p:nvSpPr>
        <p:spPr>
          <a:ln/>
        </p:spPr>
        <p:txBody>
          <a:bodyPr/>
          <a:lstStyle>
            <a:lvl1pPr>
              <a:defRPr/>
            </a:lvl1pPr>
          </a:lstStyle>
          <a:p>
            <a:pPr>
              <a:defRPr/>
            </a:pPr>
            <a:fld id="{518F14F9-DFB2-4B2F-8C4C-E113EF828451}" type="slidenum">
              <a:rPr lang="es-ES"/>
              <a:pPr>
                <a:defRPr/>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smtClean="0"/>
              <a:t>Haga clic para modificar el estilo de texto del patrón</a:t>
            </a:r>
          </a:p>
        </p:txBody>
      </p:sp>
      <p:sp>
        <p:nvSpPr>
          <p:cNvPr id="4" name="Rectangle 6"/>
          <p:cNvSpPr>
            <a:spLocks noGrp="1" noChangeArrowheads="1"/>
          </p:cNvSpPr>
          <p:nvPr>
            <p:ph type="dt" sz="half" idx="10"/>
          </p:nvPr>
        </p:nvSpPr>
        <p:spPr>
          <a:ln/>
        </p:spPr>
        <p:txBody>
          <a:bodyPr/>
          <a:lstStyle>
            <a:lvl1pPr>
              <a:defRPr/>
            </a:lvl1pPr>
          </a:lstStyle>
          <a:p>
            <a:pPr>
              <a:defRPr/>
            </a:pPr>
            <a:fld id="{7DA07FE1-B901-4967-906A-D9F3D31A9295}" type="datetime1">
              <a:rPr lang="es-ES"/>
              <a:pPr>
                <a:defRPr/>
              </a:pPr>
              <a:t>14/08/2009</a:t>
            </a:fld>
            <a:endParaRPr lang="es-ES" dirty="0"/>
          </a:p>
        </p:txBody>
      </p:sp>
      <p:sp>
        <p:nvSpPr>
          <p:cNvPr id="5" name="Rectangle 7"/>
          <p:cNvSpPr>
            <a:spLocks noGrp="1" noChangeArrowheads="1"/>
          </p:cNvSpPr>
          <p:nvPr>
            <p:ph type="ftr" sz="quarter" idx="11"/>
          </p:nvPr>
        </p:nvSpPr>
        <p:spPr>
          <a:ln/>
        </p:spPr>
        <p:txBody>
          <a:bodyPr/>
          <a:lstStyle>
            <a:lvl1pPr>
              <a:defRPr/>
            </a:lvl1pPr>
          </a:lstStyle>
          <a:p>
            <a:pPr>
              <a:defRPr/>
            </a:pPr>
            <a:endParaRPr lang="es-ES"/>
          </a:p>
        </p:txBody>
      </p:sp>
      <p:sp>
        <p:nvSpPr>
          <p:cNvPr id="6" name="Rectangle 8"/>
          <p:cNvSpPr>
            <a:spLocks noGrp="1" noChangeArrowheads="1"/>
          </p:cNvSpPr>
          <p:nvPr>
            <p:ph type="sldNum" sz="quarter" idx="12"/>
          </p:nvPr>
        </p:nvSpPr>
        <p:spPr>
          <a:ln/>
        </p:spPr>
        <p:txBody>
          <a:bodyPr/>
          <a:lstStyle>
            <a:lvl1pPr>
              <a:defRPr/>
            </a:lvl1pPr>
          </a:lstStyle>
          <a:p>
            <a:pPr>
              <a:defRPr/>
            </a:pPr>
            <a:fld id="{FF9613F6-96A7-4828-BEB9-693CE1398144}" type="slidenum">
              <a:rPr lang="es-ES"/>
              <a:pPr>
                <a:defRPr/>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Rectangle 6"/>
          <p:cNvSpPr>
            <a:spLocks noGrp="1" noChangeArrowheads="1"/>
          </p:cNvSpPr>
          <p:nvPr>
            <p:ph type="dt" sz="half" idx="10"/>
          </p:nvPr>
        </p:nvSpPr>
        <p:spPr>
          <a:ln/>
        </p:spPr>
        <p:txBody>
          <a:bodyPr/>
          <a:lstStyle>
            <a:lvl1pPr>
              <a:defRPr/>
            </a:lvl1pPr>
          </a:lstStyle>
          <a:p>
            <a:pPr>
              <a:defRPr/>
            </a:pPr>
            <a:fld id="{1A69A676-64E4-40F9-A5AE-52327FA205DC}" type="datetime1">
              <a:rPr lang="es-ES"/>
              <a:pPr>
                <a:defRPr/>
              </a:pPr>
              <a:t>14/08/2009</a:t>
            </a:fld>
            <a:endParaRPr lang="es-ES" dirty="0"/>
          </a:p>
        </p:txBody>
      </p:sp>
      <p:sp>
        <p:nvSpPr>
          <p:cNvPr id="6" name="Rectangle 7"/>
          <p:cNvSpPr>
            <a:spLocks noGrp="1" noChangeArrowheads="1"/>
          </p:cNvSpPr>
          <p:nvPr>
            <p:ph type="ftr" sz="quarter" idx="11"/>
          </p:nvPr>
        </p:nvSpPr>
        <p:spPr>
          <a:ln/>
        </p:spPr>
        <p:txBody>
          <a:bodyPr/>
          <a:lstStyle>
            <a:lvl1pPr>
              <a:defRPr/>
            </a:lvl1pPr>
          </a:lstStyle>
          <a:p>
            <a:pPr>
              <a:defRPr/>
            </a:pPr>
            <a:endParaRPr lang="es-ES"/>
          </a:p>
        </p:txBody>
      </p:sp>
      <p:sp>
        <p:nvSpPr>
          <p:cNvPr id="7" name="Rectangle 8"/>
          <p:cNvSpPr>
            <a:spLocks noGrp="1" noChangeArrowheads="1"/>
          </p:cNvSpPr>
          <p:nvPr>
            <p:ph type="sldNum" sz="quarter" idx="12"/>
          </p:nvPr>
        </p:nvSpPr>
        <p:spPr>
          <a:ln/>
        </p:spPr>
        <p:txBody>
          <a:bodyPr/>
          <a:lstStyle>
            <a:lvl1pPr>
              <a:defRPr/>
            </a:lvl1pPr>
          </a:lstStyle>
          <a:p>
            <a:pPr>
              <a:defRPr/>
            </a:pPr>
            <a:fld id="{6F9D048F-8098-4A59-B56F-6B2EF5F1B3D6}" type="slidenum">
              <a:rPr lang="es-ES"/>
              <a:pPr>
                <a:defRPr/>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Rectangle 6"/>
          <p:cNvSpPr>
            <a:spLocks noGrp="1" noChangeArrowheads="1"/>
          </p:cNvSpPr>
          <p:nvPr>
            <p:ph type="dt" sz="half" idx="10"/>
          </p:nvPr>
        </p:nvSpPr>
        <p:spPr>
          <a:ln/>
        </p:spPr>
        <p:txBody>
          <a:bodyPr/>
          <a:lstStyle>
            <a:lvl1pPr>
              <a:defRPr/>
            </a:lvl1pPr>
          </a:lstStyle>
          <a:p>
            <a:pPr>
              <a:defRPr/>
            </a:pPr>
            <a:fld id="{627F4E55-C7EA-40BE-BFEE-9BF2B4698B5E}" type="datetime1">
              <a:rPr lang="es-ES"/>
              <a:pPr>
                <a:defRPr/>
              </a:pPr>
              <a:t>14/08/2009</a:t>
            </a:fld>
            <a:endParaRPr lang="es-ES" dirty="0"/>
          </a:p>
        </p:txBody>
      </p:sp>
      <p:sp>
        <p:nvSpPr>
          <p:cNvPr id="8" name="Rectangle 7"/>
          <p:cNvSpPr>
            <a:spLocks noGrp="1" noChangeArrowheads="1"/>
          </p:cNvSpPr>
          <p:nvPr>
            <p:ph type="ftr" sz="quarter" idx="11"/>
          </p:nvPr>
        </p:nvSpPr>
        <p:spPr>
          <a:ln/>
        </p:spPr>
        <p:txBody>
          <a:bodyPr/>
          <a:lstStyle>
            <a:lvl1pPr>
              <a:defRPr/>
            </a:lvl1pPr>
          </a:lstStyle>
          <a:p>
            <a:pPr>
              <a:defRPr/>
            </a:pPr>
            <a:endParaRPr lang="es-ES"/>
          </a:p>
        </p:txBody>
      </p:sp>
      <p:sp>
        <p:nvSpPr>
          <p:cNvPr id="9" name="Rectangle 8"/>
          <p:cNvSpPr>
            <a:spLocks noGrp="1" noChangeArrowheads="1"/>
          </p:cNvSpPr>
          <p:nvPr>
            <p:ph type="sldNum" sz="quarter" idx="12"/>
          </p:nvPr>
        </p:nvSpPr>
        <p:spPr>
          <a:ln/>
        </p:spPr>
        <p:txBody>
          <a:bodyPr/>
          <a:lstStyle>
            <a:lvl1pPr>
              <a:defRPr/>
            </a:lvl1pPr>
          </a:lstStyle>
          <a:p>
            <a:pPr>
              <a:defRPr/>
            </a:pPr>
            <a:fld id="{DE889B7A-8080-421F-ABFF-01E9B5941C08}" type="slidenum">
              <a:rPr lang="es-ES"/>
              <a:pPr>
                <a:defRPr/>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Rectangle 6"/>
          <p:cNvSpPr>
            <a:spLocks noGrp="1" noChangeArrowheads="1"/>
          </p:cNvSpPr>
          <p:nvPr>
            <p:ph type="dt" sz="half" idx="10"/>
          </p:nvPr>
        </p:nvSpPr>
        <p:spPr>
          <a:ln/>
        </p:spPr>
        <p:txBody>
          <a:bodyPr/>
          <a:lstStyle>
            <a:lvl1pPr>
              <a:defRPr/>
            </a:lvl1pPr>
          </a:lstStyle>
          <a:p>
            <a:pPr>
              <a:defRPr/>
            </a:pPr>
            <a:fld id="{A57BA931-A60C-448B-9E0B-FEE1F6F9E6D1}" type="datetime1">
              <a:rPr lang="es-ES"/>
              <a:pPr>
                <a:defRPr/>
              </a:pPr>
              <a:t>14/08/2009</a:t>
            </a:fld>
            <a:endParaRPr lang="es-ES" dirty="0"/>
          </a:p>
        </p:txBody>
      </p:sp>
      <p:sp>
        <p:nvSpPr>
          <p:cNvPr id="4" name="Rectangle 7"/>
          <p:cNvSpPr>
            <a:spLocks noGrp="1" noChangeArrowheads="1"/>
          </p:cNvSpPr>
          <p:nvPr>
            <p:ph type="ftr" sz="quarter" idx="11"/>
          </p:nvPr>
        </p:nvSpPr>
        <p:spPr>
          <a:ln/>
        </p:spPr>
        <p:txBody>
          <a:bodyPr/>
          <a:lstStyle>
            <a:lvl1pPr>
              <a:defRPr/>
            </a:lvl1pPr>
          </a:lstStyle>
          <a:p>
            <a:pPr>
              <a:defRPr/>
            </a:pPr>
            <a:endParaRPr lang="es-ES"/>
          </a:p>
        </p:txBody>
      </p:sp>
      <p:sp>
        <p:nvSpPr>
          <p:cNvPr id="5" name="Rectangle 8"/>
          <p:cNvSpPr>
            <a:spLocks noGrp="1" noChangeArrowheads="1"/>
          </p:cNvSpPr>
          <p:nvPr>
            <p:ph type="sldNum" sz="quarter" idx="12"/>
          </p:nvPr>
        </p:nvSpPr>
        <p:spPr>
          <a:ln/>
        </p:spPr>
        <p:txBody>
          <a:bodyPr/>
          <a:lstStyle>
            <a:lvl1pPr>
              <a:defRPr/>
            </a:lvl1pPr>
          </a:lstStyle>
          <a:p>
            <a:pPr>
              <a:defRPr/>
            </a:pPr>
            <a:fld id="{0252274D-8E94-4DF9-9DF8-BD20FE025C09}" type="slidenum">
              <a:rPr lang="es-ES"/>
              <a:pPr>
                <a:defRPr/>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820F7F3F-ED90-4DB7-B4C2-CDC6E3D209DF}" type="datetime1">
              <a:rPr lang="es-ES"/>
              <a:pPr>
                <a:defRPr/>
              </a:pPr>
              <a:t>14/08/2009</a:t>
            </a:fld>
            <a:endParaRPr lang="es-ES" dirty="0"/>
          </a:p>
        </p:txBody>
      </p:sp>
      <p:sp>
        <p:nvSpPr>
          <p:cNvPr id="3" name="Rectangle 7"/>
          <p:cNvSpPr>
            <a:spLocks noGrp="1" noChangeArrowheads="1"/>
          </p:cNvSpPr>
          <p:nvPr>
            <p:ph type="ftr" sz="quarter" idx="11"/>
          </p:nvPr>
        </p:nvSpPr>
        <p:spPr>
          <a:ln/>
        </p:spPr>
        <p:txBody>
          <a:bodyPr/>
          <a:lstStyle>
            <a:lvl1pPr>
              <a:defRPr/>
            </a:lvl1pPr>
          </a:lstStyle>
          <a:p>
            <a:pPr>
              <a:defRPr/>
            </a:pPr>
            <a:endParaRPr lang="es-ES"/>
          </a:p>
        </p:txBody>
      </p:sp>
      <p:sp>
        <p:nvSpPr>
          <p:cNvPr id="4" name="Rectangle 8"/>
          <p:cNvSpPr>
            <a:spLocks noGrp="1" noChangeArrowheads="1"/>
          </p:cNvSpPr>
          <p:nvPr>
            <p:ph type="sldNum" sz="quarter" idx="12"/>
          </p:nvPr>
        </p:nvSpPr>
        <p:spPr>
          <a:ln/>
        </p:spPr>
        <p:txBody>
          <a:bodyPr/>
          <a:lstStyle>
            <a:lvl1pPr>
              <a:defRPr/>
            </a:lvl1pPr>
          </a:lstStyle>
          <a:p>
            <a:pPr>
              <a:defRPr/>
            </a:pPr>
            <a:fld id="{B7225363-D412-4BDE-911B-C6D0F2FFD0B2}" type="slidenum">
              <a:rPr lang="es-ES"/>
              <a:pPr>
                <a:defRPr/>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6"/>
          <p:cNvSpPr>
            <a:spLocks noGrp="1" noChangeArrowheads="1"/>
          </p:cNvSpPr>
          <p:nvPr>
            <p:ph type="dt" sz="half" idx="10"/>
          </p:nvPr>
        </p:nvSpPr>
        <p:spPr>
          <a:ln/>
        </p:spPr>
        <p:txBody>
          <a:bodyPr/>
          <a:lstStyle>
            <a:lvl1pPr>
              <a:defRPr/>
            </a:lvl1pPr>
          </a:lstStyle>
          <a:p>
            <a:pPr>
              <a:defRPr/>
            </a:pPr>
            <a:fld id="{66B7EC81-8C05-475F-9A83-556C02B2067D}" type="datetime1">
              <a:rPr lang="es-ES"/>
              <a:pPr>
                <a:defRPr/>
              </a:pPr>
              <a:t>14/08/2009</a:t>
            </a:fld>
            <a:endParaRPr lang="es-ES" dirty="0"/>
          </a:p>
        </p:txBody>
      </p:sp>
      <p:sp>
        <p:nvSpPr>
          <p:cNvPr id="6" name="Rectangle 7"/>
          <p:cNvSpPr>
            <a:spLocks noGrp="1" noChangeArrowheads="1"/>
          </p:cNvSpPr>
          <p:nvPr>
            <p:ph type="ftr" sz="quarter" idx="11"/>
          </p:nvPr>
        </p:nvSpPr>
        <p:spPr>
          <a:ln/>
        </p:spPr>
        <p:txBody>
          <a:bodyPr/>
          <a:lstStyle>
            <a:lvl1pPr>
              <a:defRPr/>
            </a:lvl1pPr>
          </a:lstStyle>
          <a:p>
            <a:pPr>
              <a:defRPr/>
            </a:pPr>
            <a:endParaRPr lang="es-ES"/>
          </a:p>
        </p:txBody>
      </p:sp>
      <p:sp>
        <p:nvSpPr>
          <p:cNvPr id="7" name="Rectangle 8"/>
          <p:cNvSpPr>
            <a:spLocks noGrp="1" noChangeArrowheads="1"/>
          </p:cNvSpPr>
          <p:nvPr>
            <p:ph type="sldNum" sz="quarter" idx="12"/>
          </p:nvPr>
        </p:nvSpPr>
        <p:spPr>
          <a:ln/>
        </p:spPr>
        <p:txBody>
          <a:bodyPr/>
          <a:lstStyle>
            <a:lvl1pPr>
              <a:defRPr/>
            </a:lvl1pPr>
          </a:lstStyle>
          <a:p>
            <a:pPr>
              <a:defRPr/>
            </a:pPr>
            <a:fld id="{8B19F6BA-9AFC-45E2-81B5-D3918BFD6C86}" type="slidenum">
              <a:rPr lang="es-ES"/>
              <a:pPr>
                <a:defRPr/>
              </a:pPr>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Rectangle 6"/>
          <p:cNvSpPr>
            <a:spLocks noGrp="1" noChangeArrowheads="1"/>
          </p:cNvSpPr>
          <p:nvPr>
            <p:ph type="dt" sz="half" idx="10"/>
          </p:nvPr>
        </p:nvSpPr>
        <p:spPr>
          <a:ln/>
        </p:spPr>
        <p:txBody>
          <a:bodyPr/>
          <a:lstStyle>
            <a:lvl1pPr>
              <a:defRPr/>
            </a:lvl1pPr>
          </a:lstStyle>
          <a:p>
            <a:pPr>
              <a:defRPr/>
            </a:pPr>
            <a:fld id="{D1B1E080-A398-48D8-8330-60677B809DD1}" type="datetime1">
              <a:rPr lang="es-ES"/>
              <a:pPr>
                <a:defRPr/>
              </a:pPr>
              <a:t>14/08/2009</a:t>
            </a:fld>
            <a:endParaRPr lang="es-ES" dirty="0"/>
          </a:p>
        </p:txBody>
      </p:sp>
      <p:sp>
        <p:nvSpPr>
          <p:cNvPr id="6" name="Rectangle 7"/>
          <p:cNvSpPr>
            <a:spLocks noGrp="1" noChangeArrowheads="1"/>
          </p:cNvSpPr>
          <p:nvPr>
            <p:ph type="ftr" sz="quarter" idx="11"/>
          </p:nvPr>
        </p:nvSpPr>
        <p:spPr>
          <a:ln/>
        </p:spPr>
        <p:txBody>
          <a:bodyPr/>
          <a:lstStyle>
            <a:lvl1pPr>
              <a:defRPr/>
            </a:lvl1pPr>
          </a:lstStyle>
          <a:p>
            <a:pPr>
              <a:defRPr/>
            </a:pPr>
            <a:endParaRPr lang="es-ES"/>
          </a:p>
        </p:txBody>
      </p:sp>
      <p:sp>
        <p:nvSpPr>
          <p:cNvPr id="7" name="Rectangle 8"/>
          <p:cNvSpPr>
            <a:spLocks noGrp="1" noChangeArrowheads="1"/>
          </p:cNvSpPr>
          <p:nvPr>
            <p:ph type="sldNum" sz="quarter" idx="12"/>
          </p:nvPr>
        </p:nvSpPr>
        <p:spPr>
          <a:ln/>
        </p:spPr>
        <p:txBody>
          <a:bodyPr/>
          <a:lstStyle>
            <a:lvl1pPr>
              <a:defRPr/>
            </a:lvl1pPr>
          </a:lstStyle>
          <a:p>
            <a:pPr>
              <a:defRPr/>
            </a:pPr>
            <a:fld id="{572F8651-2656-449D-A614-D8DFCDA71CDF}" type="slidenum">
              <a:rPr lang="es-ES"/>
              <a:pPr>
                <a:defRPr/>
              </a:pPr>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6"/>
          <p:cNvSpPr>
            <a:spLocks noGrp="1" noChangeArrowheads="1"/>
          </p:cNvSpPr>
          <p:nvPr>
            <p:ph type="dt" sz="half" idx="10"/>
          </p:nvPr>
        </p:nvSpPr>
        <p:spPr>
          <a:ln/>
        </p:spPr>
        <p:txBody>
          <a:bodyPr/>
          <a:lstStyle>
            <a:lvl1pPr>
              <a:defRPr/>
            </a:lvl1pPr>
          </a:lstStyle>
          <a:p>
            <a:pPr>
              <a:defRPr/>
            </a:pPr>
            <a:fld id="{19C63BCE-F7B3-433B-B3F4-AED6934C5681}" type="datetime1">
              <a:rPr lang="es-ES"/>
              <a:pPr>
                <a:defRPr/>
              </a:pPr>
              <a:t>14/08/2009</a:t>
            </a:fld>
            <a:endParaRPr lang="es-ES" dirty="0"/>
          </a:p>
        </p:txBody>
      </p:sp>
      <p:sp>
        <p:nvSpPr>
          <p:cNvPr id="5" name="Rectangle 7"/>
          <p:cNvSpPr>
            <a:spLocks noGrp="1" noChangeArrowheads="1"/>
          </p:cNvSpPr>
          <p:nvPr>
            <p:ph type="ftr" sz="quarter" idx="11"/>
          </p:nvPr>
        </p:nvSpPr>
        <p:spPr>
          <a:ln/>
        </p:spPr>
        <p:txBody>
          <a:bodyPr/>
          <a:lstStyle>
            <a:lvl1pPr>
              <a:defRPr/>
            </a:lvl1pPr>
          </a:lstStyle>
          <a:p>
            <a:pPr>
              <a:defRPr/>
            </a:pPr>
            <a:endParaRPr lang="es-ES"/>
          </a:p>
        </p:txBody>
      </p:sp>
      <p:sp>
        <p:nvSpPr>
          <p:cNvPr id="6" name="Rectangle 8"/>
          <p:cNvSpPr>
            <a:spLocks noGrp="1" noChangeArrowheads="1"/>
          </p:cNvSpPr>
          <p:nvPr>
            <p:ph type="sldNum" sz="quarter" idx="12"/>
          </p:nvPr>
        </p:nvSpPr>
        <p:spPr>
          <a:ln/>
        </p:spPr>
        <p:txBody>
          <a:bodyPr/>
          <a:lstStyle>
            <a:lvl1pPr>
              <a:defRPr/>
            </a:lvl1pPr>
          </a:lstStyle>
          <a:p>
            <a:pPr>
              <a:defRPr/>
            </a:pPr>
            <a:fld id="{8AD6E17E-DD0F-48F4-A7FC-0F91A247ED00}" type="slidenum">
              <a:rPr lang="es-ES"/>
              <a:pPr>
                <a:defRPr/>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515100" y="609600"/>
            <a:ext cx="1943100" cy="5486400"/>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685800" y="609600"/>
            <a:ext cx="5676900" cy="548640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Rectangle 6"/>
          <p:cNvSpPr>
            <a:spLocks noGrp="1" noChangeArrowheads="1"/>
          </p:cNvSpPr>
          <p:nvPr>
            <p:ph type="dt" sz="half" idx="10"/>
          </p:nvPr>
        </p:nvSpPr>
        <p:spPr>
          <a:ln/>
        </p:spPr>
        <p:txBody>
          <a:bodyPr/>
          <a:lstStyle>
            <a:lvl1pPr>
              <a:defRPr/>
            </a:lvl1pPr>
          </a:lstStyle>
          <a:p>
            <a:pPr>
              <a:defRPr/>
            </a:pPr>
            <a:fld id="{3D44F3D9-5897-4667-8B57-824FE38BC7C3}" type="datetime1">
              <a:rPr lang="es-ES"/>
              <a:pPr>
                <a:defRPr/>
              </a:pPr>
              <a:t>14/08/2009</a:t>
            </a:fld>
            <a:endParaRPr lang="es-ES" dirty="0"/>
          </a:p>
        </p:txBody>
      </p:sp>
      <p:sp>
        <p:nvSpPr>
          <p:cNvPr id="5" name="Rectangle 7"/>
          <p:cNvSpPr>
            <a:spLocks noGrp="1" noChangeArrowheads="1"/>
          </p:cNvSpPr>
          <p:nvPr>
            <p:ph type="ftr" sz="quarter" idx="11"/>
          </p:nvPr>
        </p:nvSpPr>
        <p:spPr>
          <a:ln/>
        </p:spPr>
        <p:txBody>
          <a:bodyPr/>
          <a:lstStyle>
            <a:lvl1pPr>
              <a:defRPr/>
            </a:lvl1pPr>
          </a:lstStyle>
          <a:p>
            <a:pPr>
              <a:defRPr/>
            </a:pPr>
            <a:endParaRPr lang="es-ES"/>
          </a:p>
        </p:txBody>
      </p:sp>
      <p:sp>
        <p:nvSpPr>
          <p:cNvPr id="6" name="Rectangle 8"/>
          <p:cNvSpPr>
            <a:spLocks noGrp="1" noChangeArrowheads="1"/>
          </p:cNvSpPr>
          <p:nvPr>
            <p:ph type="sldNum" sz="quarter" idx="12"/>
          </p:nvPr>
        </p:nvSpPr>
        <p:spPr>
          <a:ln/>
        </p:spPr>
        <p:txBody>
          <a:bodyPr/>
          <a:lstStyle>
            <a:lvl1pPr>
              <a:defRPr/>
            </a:lvl1pPr>
          </a:lstStyle>
          <a:p>
            <a:pPr>
              <a:defRPr/>
            </a:pPr>
            <a:fld id="{16E617C3-DC01-494C-B7BC-6373D8705C8F}" type="slidenum">
              <a:rPr lang="es-ES"/>
              <a:pPr>
                <a:defRPr/>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1588"/>
            <a:ext cx="9132888" cy="6845300"/>
            <a:chOff x="0" y="1"/>
            <a:chExt cx="5753" cy="4312"/>
          </a:xfrm>
        </p:grpSpPr>
        <p:sp>
          <p:nvSpPr>
            <p:cNvPr id="33795" name="Freeform 3"/>
            <p:cNvSpPr>
              <a:spLocks/>
            </p:cNvSpPr>
            <p:nvPr/>
          </p:nvSpPr>
          <p:spPr bwMode="auto">
            <a:xfrm>
              <a:off x="3394" y="999"/>
              <a:ext cx="2359" cy="3314"/>
            </a:xfrm>
            <a:custGeom>
              <a:avLst/>
              <a:gdLst/>
              <a:ahLst/>
              <a:cxnLst>
                <a:cxn ang="0">
                  <a:pos x="1905" y="3312"/>
                </a:cxn>
                <a:cxn ang="0">
                  <a:pos x="2358" y="3313"/>
                </a:cxn>
                <a:cxn ang="0">
                  <a:pos x="2358" y="1437"/>
                </a:cxn>
                <a:cxn ang="0">
                  <a:pos x="0" y="0"/>
                </a:cxn>
                <a:cxn ang="0">
                  <a:pos x="201" y="150"/>
                </a:cxn>
                <a:cxn ang="0">
                  <a:pos x="366" y="279"/>
                </a:cxn>
                <a:cxn ang="0">
                  <a:pos x="552" y="441"/>
                </a:cxn>
                <a:cxn ang="0">
                  <a:pos x="732" y="612"/>
                </a:cxn>
                <a:cxn ang="0">
                  <a:pos x="996" y="903"/>
                </a:cxn>
                <a:cxn ang="0">
                  <a:pos x="1230" y="1212"/>
                </a:cxn>
                <a:cxn ang="0">
                  <a:pos x="1400" y="1482"/>
                </a:cxn>
                <a:cxn ang="0">
                  <a:pos x="1548" y="1761"/>
                </a:cxn>
                <a:cxn ang="0">
                  <a:pos x="1665" y="2040"/>
                </a:cxn>
                <a:cxn ang="0">
                  <a:pos x="1751" y="2295"/>
                </a:cxn>
                <a:cxn ang="0">
                  <a:pos x="1809" y="2511"/>
                </a:cxn>
                <a:cxn ang="0">
                  <a:pos x="1863" y="2778"/>
                </a:cxn>
                <a:cxn ang="0">
                  <a:pos x="1890" y="3012"/>
                </a:cxn>
                <a:cxn ang="0">
                  <a:pos x="1905" y="3312"/>
                </a:cxn>
              </a:cxnLst>
              <a:rect l="0" t="0" r="r" b="b"/>
              <a:pathLst>
                <a:path w="2359" h="3314">
                  <a:moveTo>
                    <a:pt x="1905" y="3312"/>
                  </a:moveTo>
                  <a:lnTo>
                    <a:pt x="2358" y="3313"/>
                  </a:lnTo>
                  <a:lnTo>
                    <a:pt x="2358" y="1437"/>
                  </a:lnTo>
                  <a:lnTo>
                    <a:pt x="0" y="0"/>
                  </a:lnTo>
                  <a:lnTo>
                    <a:pt x="201" y="150"/>
                  </a:lnTo>
                  <a:lnTo>
                    <a:pt x="366" y="279"/>
                  </a:lnTo>
                  <a:lnTo>
                    <a:pt x="552" y="441"/>
                  </a:lnTo>
                  <a:lnTo>
                    <a:pt x="732" y="612"/>
                  </a:lnTo>
                  <a:lnTo>
                    <a:pt x="996" y="903"/>
                  </a:lnTo>
                  <a:lnTo>
                    <a:pt x="1230" y="1212"/>
                  </a:lnTo>
                  <a:lnTo>
                    <a:pt x="1400" y="1482"/>
                  </a:lnTo>
                  <a:lnTo>
                    <a:pt x="1548" y="1761"/>
                  </a:lnTo>
                  <a:lnTo>
                    <a:pt x="1665" y="2040"/>
                  </a:lnTo>
                  <a:lnTo>
                    <a:pt x="1751" y="2295"/>
                  </a:lnTo>
                  <a:lnTo>
                    <a:pt x="1809" y="2511"/>
                  </a:lnTo>
                  <a:lnTo>
                    <a:pt x="1863" y="2778"/>
                  </a:lnTo>
                  <a:lnTo>
                    <a:pt x="1890" y="3012"/>
                  </a:lnTo>
                  <a:lnTo>
                    <a:pt x="1905" y="3312"/>
                  </a:lnTo>
                </a:path>
              </a:pathLst>
            </a:custGeom>
            <a:gradFill rotWithShape="0">
              <a:gsLst>
                <a:gs pos="0">
                  <a:schemeClr val="accent2">
                    <a:gamma/>
                    <a:shade val="46275"/>
                    <a:invGamma/>
                  </a:schemeClr>
                </a:gs>
                <a:gs pos="100000">
                  <a:schemeClr val="accent2"/>
                </a:gs>
              </a:gsLst>
              <a:lin ang="0" scaled="1"/>
            </a:gradFill>
            <a:ln w="9525" cap="rnd">
              <a:noFill/>
              <a:round/>
              <a:headEnd/>
              <a:tailEnd/>
            </a:ln>
            <a:effectLst/>
          </p:spPr>
          <p:txBody>
            <a:bodyPr/>
            <a:lstStyle/>
            <a:p>
              <a:pPr>
                <a:defRPr/>
              </a:pPr>
              <a:endParaRPr lang="es-ES" dirty="0">
                <a:latin typeface="Times New Roman" charset="0"/>
              </a:endParaRPr>
            </a:p>
          </p:txBody>
        </p:sp>
        <p:sp>
          <p:nvSpPr>
            <p:cNvPr id="33796" name="Arc 4"/>
            <p:cNvSpPr>
              <a:spLocks/>
            </p:cNvSpPr>
            <p:nvPr/>
          </p:nvSpPr>
          <p:spPr bwMode="auto">
            <a:xfrm>
              <a:off x="0" y="1"/>
              <a:ext cx="5298" cy="431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cap="rnd">
              <a:solidFill>
                <a:schemeClr val="accent2"/>
              </a:solidFill>
              <a:round/>
              <a:headEnd type="none" w="sm" len="sm"/>
              <a:tailEnd type="none" w="sm" len="sm"/>
            </a:ln>
            <a:effectLst/>
          </p:spPr>
          <p:txBody>
            <a:bodyPr wrap="none" anchor="ctr"/>
            <a:lstStyle/>
            <a:p>
              <a:pPr>
                <a:defRPr/>
              </a:pPr>
              <a:endParaRPr lang="es-ES" dirty="0">
                <a:latin typeface="Times New Roman" charset="0"/>
              </a:endParaRPr>
            </a:p>
          </p:txBody>
        </p:sp>
      </p:grpSp>
      <p:sp>
        <p:nvSpPr>
          <p:cNvPr id="33797" name="Rectangle 5"/>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es-ES" smtClean="0"/>
              <a:t>Haga clic para modificar el estilo de título del patrón</a:t>
            </a:r>
          </a:p>
        </p:txBody>
      </p:sp>
      <p:sp>
        <p:nvSpPr>
          <p:cNvPr id="33798" name="Rectangle 6"/>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defRPr sz="1400">
                <a:latin typeface="Times New Roman" charset="0"/>
              </a:defRPr>
            </a:lvl1pPr>
          </a:lstStyle>
          <a:p>
            <a:pPr>
              <a:defRPr/>
            </a:pPr>
            <a:fld id="{19087E26-5A11-48A0-A11D-B48D302AD75B}" type="datetime1">
              <a:rPr lang="es-ES"/>
              <a:pPr>
                <a:defRPr/>
              </a:pPr>
              <a:t>14/08/2009</a:t>
            </a:fld>
            <a:endParaRPr lang="es-ES" dirty="0"/>
          </a:p>
        </p:txBody>
      </p:sp>
      <p:sp>
        <p:nvSpPr>
          <p:cNvPr id="33799" name="Rectangle 7"/>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ctr">
              <a:defRPr sz="1400" dirty="0">
                <a:latin typeface="Times New Roman" charset="0"/>
              </a:defRPr>
            </a:lvl1pPr>
          </a:lstStyle>
          <a:p>
            <a:pPr>
              <a:defRPr/>
            </a:pPr>
            <a:endParaRPr lang="es-ES"/>
          </a:p>
        </p:txBody>
      </p:sp>
      <p:sp>
        <p:nvSpPr>
          <p:cNvPr id="33800" name="Rectangle 8"/>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lvl1pPr algn="r">
              <a:defRPr sz="1400">
                <a:latin typeface="Times New Roman" charset="0"/>
              </a:defRPr>
            </a:lvl1pPr>
          </a:lstStyle>
          <a:p>
            <a:pPr>
              <a:defRPr/>
            </a:pPr>
            <a:fld id="{CC6C9B8A-F298-4583-89F4-6AD855FEBBFF}" type="slidenum">
              <a:rPr lang="es-ES"/>
              <a:pPr>
                <a:defRPr/>
              </a:pPr>
              <a:t>‹Nº›</a:t>
            </a:fld>
            <a:endParaRPr lang="es-ES" dirty="0"/>
          </a:p>
        </p:txBody>
      </p:sp>
      <p:sp>
        <p:nvSpPr>
          <p:cNvPr id="1031" name="Rectangle 9"/>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Tree>
  </p:cSld>
  <p:clrMap bg1="dk2" tx1="lt1" bg2="dk1" tx2="lt2" accent1="accent1" accent2="accent2" accent3="accent3" accent4="accent4" accent5="accent5" accent6="accent6" hlink="hlink" folHlink="folHlink"/>
  <p:sldLayoutIdLst>
    <p:sldLayoutId id="2147483662" r:id="rId1"/>
    <p:sldLayoutId id="2147483661" r:id="rId2"/>
    <p:sldLayoutId id="2147483660" r:id="rId3"/>
    <p:sldLayoutId id="2147483659" r:id="rId4"/>
    <p:sldLayoutId id="2147483658" r:id="rId5"/>
    <p:sldLayoutId id="2147483657" r:id="rId6"/>
    <p:sldLayoutId id="2147483656" r:id="rId7"/>
    <p:sldLayoutId id="2147483655" r:id="rId8"/>
    <p:sldLayoutId id="2147483654" r:id="rId9"/>
    <p:sldLayoutId id="2147483653" r:id="rId10"/>
    <p:sldLayoutId id="2147483652" r:id="rId11"/>
  </p:sldLayoutIdLst>
  <p:hf hdr="0" ft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onstantia" pitchFamily="18"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onstantia" pitchFamily="18"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onstantia" pitchFamily="18"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Constantia" pitchFamily="18"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accent2"/>
        </a:buClr>
        <a:buSzPct val="80000"/>
        <a:buFont typeface="Wingdings"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sz="2800">
          <a:solidFill>
            <a:schemeClr val="tx1"/>
          </a:solidFill>
          <a:latin typeface="+mn-lt"/>
        </a:defRPr>
      </a:lvl2pPr>
      <a:lvl3pPr marL="1143000" indent="-228600" algn="l" rtl="0" eaLnBrk="0" fontAlgn="base" hangingPunct="0">
        <a:spcBef>
          <a:spcPct val="20000"/>
        </a:spcBef>
        <a:spcAft>
          <a:spcPct val="0"/>
        </a:spcAft>
        <a:buClr>
          <a:schemeClr val="accent1"/>
        </a:buClr>
        <a:buSzPct val="60000"/>
        <a:buFont typeface="Wingdings" pitchFamily="2" charset="2"/>
        <a:buChar char="l"/>
        <a:defRPr sz="2400">
          <a:solidFill>
            <a:schemeClr val="tx1"/>
          </a:solidFill>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mn-lt"/>
        </a:defRPr>
      </a:lvl5pPr>
      <a:lvl6pPr marL="2514600" indent="-228600" algn="l" rtl="0" fontAlgn="base">
        <a:spcBef>
          <a:spcPct val="20000"/>
        </a:spcBef>
        <a:spcAft>
          <a:spcPct val="0"/>
        </a:spcAft>
        <a:buClr>
          <a:schemeClr val="accent1"/>
        </a:buClr>
        <a:buChar char="•"/>
        <a:defRPr sz="2000">
          <a:solidFill>
            <a:schemeClr val="tx1"/>
          </a:solidFill>
          <a:latin typeface="+mn-lt"/>
        </a:defRPr>
      </a:lvl6pPr>
      <a:lvl7pPr marL="2971800" indent="-228600" algn="l" rtl="0" fontAlgn="base">
        <a:spcBef>
          <a:spcPct val="20000"/>
        </a:spcBef>
        <a:spcAft>
          <a:spcPct val="0"/>
        </a:spcAft>
        <a:buClr>
          <a:schemeClr val="accent1"/>
        </a:buClr>
        <a:buChar char="•"/>
        <a:defRPr sz="2000">
          <a:solidFill>
            <a:schemeClr val="tx1"/>
          </a:solidFill>
          <a:latin typeface="+mn-lt"/>
        </a:defRPr>
      </a:lvl7pPr>
      <a:lvl8pPr marL="3429000" indent="-228600" algn="l" rtl="0" fontAlgn="base">
        <a:spcBef>
          <a:spcPct val="20000"/>
        </a:spcBef>
        <a:spcAft>
          <a:spcPct val="0"/>
        </a:spcAft>
        <a:buClr>
          <a:schemeClr val="accent1"/>
        </a:buClr>
        <a:buChar char="•"/>
        <a:defRPr sz="2000">
          <a:solidFill>
            <a:schemeClr val="tx1"/>
          </a:solidFill>
          <a:latin typeface="+mn-lt"/>
        </a:defRPr>
      </a:lvl8pPr>
      <a:lvl9pPr marL="3886200" indent="-228600" algn="l" rtl="0" fontAlgn="base">
        <a:spcBef>
          <a:spcPct val="20000"/>
        </a:spcBef>
        <a:spcAft>
          <a:spcPct val="0"/>
        </a:spcAft>
        <a:buClr>
          <a:schemeClr val="accent1"/>
        </a:buClr>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6"/>
          <p:cNvSpPr>
            <a:spLocks noGrp="1" noChangeArrowheads="1"/>
          </p:cNvSpPr>
          <p:nvPr>
            <p:ph type="ctrTitle" sz="quarter"/>
          </p:nvPr>
        </p:nvSpPr>
        <p:spPr/>
        <p:txBody>
          <a:bodyPr/>
          <a:lstStyle/>
          <a:p>
            <a:pPr eaLnBrk="1" hangingPunct="1">
              <a:defRPr/>
            </a:pPr>
            <a:r>
              <a:rPr lang="es-ES_tradnl" sz="3600" dirty="0"/>
              <a:t>FUNDAMENTOS DE PENSAMIENTO ADMINISTRATIVO</a:t>
            </a:r>
            <a:endParaRPr lang="es-ES" sz="3600" dirty="0"/>
          </a:p>
        </p:txBody>
      </p:sp>
      <p:sp>
        <p:nvSpPr>
          <p:cNvPr id="15362" name="Rectangle 7"/>
          <p:cNvSpPr>
            <a:spLocks noGrp="1" noChangeArrowheads="1"/>
          </p:cNvSpPr>
          <p:nvPr>
            <p:ph type="subTitle" sz="quarter" idx="1"/>
          </p:nvPr>
        </p:nvSpPr>
        <p:spPr>
          <a:xfrm>
            <a:off x="1785938" y="2643188"/>
            <a:ext cx="6400800" cy="1752600"/>
          </a:xfrm>
        </p:spPr>
        <p:txBody>
          <a:bodyPr/>
          <a:lstStyle/>
          <a:p>
            <a:pPr eaLnBrk="1" hangingPunct="1"/>
            <a:r>
              <a:rPr lang="es-ES_tradnl" smtClean="0">
                <a:latin typeface="Arial Black" pitchFamily="34" charset="0"/>
              </a:rPr>
              <a:t>TEORIAS Y CONCEPTOS SOBRE ADMINISTRACION</a:t>
            </a:r>
            <a:endParaRPr lang="es-ES" smtClean="0">
              <a:latin typeface="Arial Black" pitchFamily="34" charset="0"/>
            </a:endParaRPr>
          </a:p>
        </p:txBody>
      </p:sp>
      <p:sp>
        <p:nvSpPr>
          <p:cNvPr id="15363" name="Rectangle 9"/>
          <p:cNvSpPr>
            <a:spLocks noGrp="1" noChangeArrowheads="1"/>
          </p:cNvSpPr>
          <p:nvPr>
            <p:ph type="sldNum" sz="quarter" idx="12"/>
          </p:nvPr>
        </p:nvSpPr>
        <p:spPr>
          <a:noFill/>
        </p:spPr>
        <p:txBody>
          <a:bodyPr/>
          <a:lstStyle/>
          <a:p>
            <a:fld id="{D79F1055-BADF-451E-B357-94969396D3E3}" type="slidenum">
              <a:rPr lang="es-ES" smtClean="0">
                <a:latin typeface="Times New Roman" pitchFamily="18" charset="0"/>
              </a:rPr>
              <a:pPr/>
              <a:t>1</a:t>
            </a:fld>
            <a:endParaRPr lang="es-ES" smtClean="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785813" y="642938"/>
            <a:ext cx="7772400" cy="1143000"/>
          </a:xfrm>
        </p:spPr>
        <p:txBody>
          <a:bodyPr/>
          <a:lstStyle/>
          <a:p>
            <a:pPr eaLnBrk="1" hangingPunct="1">
              <a:defRPr/>
            </a:pPr>
            <a:r>
              <a:rPr lang="es-ES_tradnl" dirty="0"/>
              <a:t>Origen de la Administración</a:t>
            </a:r>
            <a:endParaRPr lang="es-ES" dirty="0"/>
          </a:p>
        </p:txBody>
      </p:sp>
      <p:sp>
        <p:nvSpPr>
          <p:cNvPr id="17410" name="Rectangle 3"/>
          <p:cNvSpPr>
            <a:spLocks noGrp="1" noChangeArrowheads="1"/>
          </p:cNvSpPr>
          <p:nvPr>
            <p:ph idx="1"/>
          </p:nvPr>
        </p:nvSpPr>
        <p:spPr/>
        <p:txBody>
          <a:bodyPr/>
          <a:lstStyle/>
          <a:p>
            <a:pPr algn="just" eaLnBrk="1" hangingPunct="1"/>
            <a:r>
              <a:rPr lang="es-ES_tradnl" smtClean="0"/>
              <a:t>Nace de la necesidad humana de cumplir metas, haciendo un uso racional y concienzudo de los recursos disponibles.</a:t>
            </a:r>
          </a:p>
          <a:p>
            <a:pPr eaLnBrk="1" hangingPunct="1"/>
            <a:endParaRPr lang="es-ES_tradnl" smtClean="0"/>
          </a:p>
          <a:p>
            <a:pPr algn="just" eaLnBrk="1" hangingPunct="1"/>
            <a:r>
              <a:rPr lang="es-ES_tradnl" smtClean="0"/>
              <a:t>Se puede afirmar entonces que desde siempre el ser humano a procurado este fin.</a:t>
            </a:r>
            <a:endParaRPr lang="es-ES" smtClean="0"/>
          </a:p>
        </p:txBody>
      </p:sp>
      <p:sp>
        <p:nvSpPr>
          <p:cNvPr id="17411" name="5 Marcador de número de diapositiva"/>
          <p:cNvSpPr>
            <a:spLocks noGrp="1"/>
          </p:cNvSpPr>
          <p:nvPr>
            <p:ph type="sldNum" sz="quarter" idx="12"/>
          </p:nvPr>
        </p:nvSpPr>
        <p:spPr>
          <a:noFill/>
        </p:spPr>
        <p:txBody>
          <a:bodyPr/>
          <a:lstStyle/>
          <a:p>
            <a:fld id="{E0BA9781-EF67-43C9-8C1D-F6626AF0E095}" type="slidenum">
              <a:rPr lang="es-ES" smtClean="0">
                <a:latin typeface="Times New Roman" pitchFamily="18" charset="0"/>
              </a:rPr>
              <a:pPr/>
              <a:t>2</a:t>
            </a:fld>
            <a:endParaRPr lang="es-ES" smtClean="0">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6"/>
          <p:cNvSpPr>
            <a:spLocks noGrp="1" noChangeArrowheads="1"/>
          </p:cNvSpPr>
          <p:nvPr>
            <p:ph type="title"/>
          </p:nvPr>
        </p:nvSpPr>
        <p:spPr/>
        <p:txBody>
          <a:bodyPr/>
          <a:lstStyle/>
          <a:p>
            <a:pPr eaLnBrk="1" hangingPunct="1">
              <a:defRPr/>
            </a:pPr>
            <a:r>
              <a:rPr lang="es-ES_tradnl" dirty="0">
                <a:solidFill>
                  <a:schemeClr val="bg2"/>
                </a:solidFill>
                <a:effectLst>
                  <a:outerShdw blurRad="38100" dist="38100" dir="2700000" algn="tl">
                    <a:srgbClr val="FFFFFF"/>
                  </a:outerShdw>
                </a:effectLst>
              </a:rPr>
              <a:t>Época primitiva</a:t>
            </a:r>
            <a:endParaRPr lang="es-ES" dirty="0">
              <a:solidFill>
                <a:schemeClr val="bg2"/>
              </a:solidFill>
              <a:effectLst>
                <a:outerShdw blurRad="38100" dist="38100" dir="2700000" algn="tl">
                  <a:srgbClr val="FFFFFF"/>
                </a:outerShdw>
              </a:effectLst>
            </a:endParaRPr>
          </a:p>
        </p:txBody>
      </p:sp>
      <p:sp>
        <p:nvSpPr>
          <p:cNvPr id="5127" name="Rectangle 7"/>
          <p:cNvSpPr>
            <a:spLocks noGrp="1" noChangeArrowheads="1"/>
          </p:cNvSpPr>
          <p:nvPr>
            <p:ph idx="1"/>
          </p:nvPr>
        </p:nvSpPr>
        <p:spPr/>
        <p:txBody>
          <a:bodyPr/>
          <a:lstStyle/>
          <a:p>
            <a:pPr algn="just" eaLnBrk="1" hangingPunct="1">
              <a:lnSpc>
                <a:spcPct val="90000"/>
              </a:lnSpc>
              <a:defRPr/>
            </a:pPr>
            <a:r>
              <a:rPr lang="es-ES_tradnl" dirty="0"/>
              <a:t>Cuando el hombre empezó a trabajar en  grupo surgió la administración como una asociación</a:t>
            </a:r>
            <a:r>
              <a:rPr lang="es-ES_tradnl" sz="2800" dirty="0"/>
              <a:t>.</a:t>
            </a:r>
          </a:p>
          <a:p>
            <a:pPr eaLnBrk="1" hangingPunct="1">
              <a:lnSpc>
                <a:spcPct val="90000"/>
              </a:lnSpc>
              <a:defRPr/>
            </a:pPr>
            <a:r>
              <a:rPr lang="es-ES_tradnl" sz="2800" dirty="0"/>
              <a:t>                                           		     				</a:t>
            </a:r>
            <a:r>
              <a:rPr lang="es-ES_tradnl" sz="4400" dirty="0">
                <a:solidFill>
                  <a:schemeClr val="bg2"/>
                </a:solidFill>
                <a:latin typeface="+mj-lt"/>
              </a:rPr>
              <a:t>Periodo   Agrícola</a:t>
            </a:r>
          </a:p>
          <a:p>
            <a:pPr eaLnBrk="1" hangingPunct="1">
              <a:lnSpc>
                <a:spcPct val="90000"/>
              </a:lnSpc>
              <a:defRPr/>
            </a:pPr>
            <a:endParaRPr lang="es-ES_tradnl" sz="4000" dirty="0">
              <a:solidFill>
                <a:schemeClr val="bg2"/>
              </a:solidFill>
            </a:endParaRPr>
          </a:p>
          <a:p>
            <a:pPr algn="just" eaLnBrk="1" hangingPunct="1">
              <a:lnSpc>
                <a:spcPct val="90000"/>
              </a:lnSpc>
              <a:defRPr/>
            </a:pPr>
            <a:r>
              <a:rPr lang="es-ES_tradnl" sz="4000" dirty="0"/>
              <a:t>La organización social de tipo patriarcal se acentuó.</a:t>
            </a:r>
            <a:endParaRPr lang="es-ES" sz="4000" dirty="0"/>
          </a:p>
        </p:txBody>
      </p:sp>
      <p:sp>
        <p:nvSpPr>
          <p:cNvPr id="18435" name="5 Marcador de número de diapositiva"/>
          <p:cNvSpPr>
            <a:spLocks noGrp="1"/>
          </p:cNvSpPr>
          <p:nvPr>
            <p:ph type="sldNum" sz="quarter" idx="12"/>
          </p:nvPr>
        </p:nvSpPr>
        <p:spPr>
          <a:noFill/>
        </p:spPr>
        <p:txBody>
          <a:bodyPr/>
          <a:lstStyle/>
          <a:p>
            <a:fld id="{793D78D1-1144-4ADE-B2DE-AD3A359F14D2}" type="slidenum">
              <a:rPr lang="es-ES" smtClean="0">
                <a:latin typeface="Times New Roman" pitchFamily="18" charset="0"/>
              </a:rPr>
              <a:pPr/>
              <a:t>3</a:t>
            </a:fld>
            <a:endParaRPr lang="es-ES" smtClean="0">
              <a:latin typeface="Times New Roman" pitchFamily="18" charset="0"/>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Rectangle 6"/>
          <p:cNvSpPr>
            <a:spLocks noGrp="1" noChangeArrowheads="1"/>
          </p:cNvSpPr>
          <p:nvPr>
            <p:ph type="title"/>
          </p:nvPr>
        </p:nvSpPr>
        <p:spPr/>
        <p:txBody>
          <a:bodyPr/>
          <a:lstStyle/>
          <a:p>
            <a:pPr eaLnBrk="1" hangingPunct="1">
              <a:defRPr/>
            </a:pPr>
            <a:r>
              <a:rPr lang="es-ES_tradnl" dirty="0">
                <a:solidFill>
                  <a:schemeClr val="bg2"/>
                </a:solidFill>
                <a:effectLst>
                  <a:outerShdw blurRad="38100" dist="38100" dir="2700000" algn="tl">
                    <a:srgbClr val="FFFFFF"/>
                  </a:outerShdw>
                </a:effectLst>
              </a:rPr>
              <a:t>Antigüedad grecolatina</a:t>
            </a:r>
            <a:endParaRPr lang="es-ES" dirty="0">
              <a:solidFill>
                <a:schemeClr val="bg2"/>
              </a:solidFill>
              <a:effectLst>
                <a:outerShdw blurRad="38100" dist="38100" dir="2700000" algn="tl">
                  <a:srgbClr val="FFFFFF"/>
                </a:outerShdw>
              </a:effectLst>
            </a:endParaRPr>
          </a:p>
        </p:txBody>
      </p:sp>
      <p:sp>
        <p:nvSpPr>
          <p:cNvPr id="6151" name="Rectangle 7"/>
          <p:cNvSpPr>
            <a:spLocks noGrp="1" noChangeArrowheads="1"/>
          </p:cNvSpPr>
          <p:nvPr>
            <p:ph idx="1"/>
          </p:nvPr>
        </p:nvSpPr>
        <p:spPr/>
        <p:txBody>
          <a:bodyPr/>
          <a:lstStyle/>
          <a:p>
            <a:pPr eaLnBrk="1" hangingPunct="1">
              <a:lnSpc>
                <a:spcPct val="90000"/>
              </a:lnSpc>
              <a:defRPr/>
            </a:pPr>
            <a:r>
              <a:rPr lang="es-ES_tradnl" dirty="0"/>
              <a:t>Esta forma de organización fue en gran parte la caída del imperio romano.</a:t>
            </a:r>
          </a:p>
          <a:p>
            <a:pPr eaLnBrk="1" hangingPunct="1">
              <a:lnSpc>
                <a:spcPct val="90000"/>
              </a:lnSpc>
              <a:defRPr/>
            </a:pPr>
            <a:endParaRPr lang="es-ES_tradnl" sz="2800" dirty="0"/>
          </a:p>
          <a:p>
            <a:pPr lvl="4" eaLnBrk="1" hangingPunct="1">
              <a:lnSpc>
                <a:spcPct val="90000"/>
              </a:lnSpc>
              <a:buFontTx/>
              <a:buNone/>
              <a:defRPr/>
            </a:pPr>
            <a:r>
              <a:rPr lang="es-ES_tradnl" sz="4000" dirty="0"/>
              <a:t>	</a:t>
            </a:r>
            <a:r>
              <a:rPr lang="es-ES_tradnl" sz="4400" dirty="0">
                <a:solidFill>
                  <a:schemeClr val="bg2"/>
                </a:solidFill>
                <a:latin typeface="+mj-lt"/>
              </a:rPr>
              <a:t>Época feudal</a:t>
            </a:r>
          </a:p>
          <a:p>
            <a:pPr lvl="4" eaLnBrk="1" hangingPunct="1">
              <a:lnSpc>
                <a:spcPct val="90000"/>
              </a:lnSpc>
              <a:buFontTx/>
              <a:buNone/>
              <a:defRPr/>
            </a:pPr>
            <a:endParaRPr lang="es-ES_tradnl" sz="4400" dirty="0">
              <a:solidFill>
                <a:schemeClr val="bg2"/>
              </a:solidFill>
            </a:endParaRPr>
          </a:p>
          <a:p>
            <a:pPr lvl="4" algn="r" eaLnBrk="1" hangingPunct="1">
              <a:lnSpc>
                <a:spcPct val="90000"/>
              </a:lnSpc>
              <a:buFontTx/>
              <a:buNone/>
              <a:defRPr/>
            </a:pPr>
            <a:r>
              <a:rPr lang="es-ES_tradnl" sz="3200" dirty="0"/>
              <a:t>La administración estaba sujeta al criterio del señor  feudal</a:t>
            </a:r>
          </a:p>
          <a:p>
            <a:pPr lvl="4" eaLnBrk="1" hangingPunct="1">
              <a:lnSpc>
                <a:spcPct val="90000"/>
              </a:lnSpc>
              <a:buFontTx/>
              <a:buNone/>
              <a:defRPr/>
            </a:pPr>
            <a:endParaRPr lang="es-ES" sz="3200" dirty="0"/>
          </a:p>
        </p:txBody>
      </p:sp>
      <p:sp>
        <p:nvSpPr>
          <p:cNvPr id="20483" name="5 Marcador de número de diapositiva"/>
          <p:cNvSpPr>
            <a:spLocks noGrp="1"/>
          </p:cNvSpPr>
          <p:nvPr>
            <p:ph type="sldNum" sz="quarter" idx="12"/>
          </p:nvPr>
        </p:nvSpPr>
        <p:spPr>
          <a:noFill/>
        </p:spPr>
        <p:txBody>
          <a:bodyPr/>
          <a:lstStyle/>
          <a:p>
            <a:fld id="{DFF6F5EB-9151-4914-BD40-5FC157486417}" type="slidenum">
              <a:rPr lang="es-ES" smtClean="0">
                <a:latin typeface="Times New Roman" pitchFamily="18" charset="0"/>
              </a:rPr>
              <a:pPr/>
              <a:t>4</a:t>
            </a:fld>
            <a:endParaRPr lang="es-ES" smtClean="0">
              <a:latin typeface="Times New Roman" pitchFamily="18" charset="0"/>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Rectangle 6"/>
          <p:cNvSpPr>
            <a:spLocks noGrp="1" noChangeArrowheads="1"/>
          </p:cNvSpPr>
          <p:nvPr>
            <p:ph type="title"/>
          </p:nvPr>
        </p:nvSpPr>
        <p:spPr/>
        <p:txBody>
          <a:bodyPr/>
          <a:lstStyle/>
          <a:p>
            <a:pPr eaLnBrk="1" hangingPunct="1">
              <a:defRPr/>
            </a:pPr>
            <a:r>
              <a:rPr lang="es-ES_tradnl" dirty="0">
                <a:solidFill>
                  <a:schemeClr val="bg2"/>
                </a:solidFill>
                <a:effectLst>
                  <a:outerShdw blurRad="38100" dist="38100" dir="2700000" algn="tl">
                    <a:srgbClr val="FFFFFF"/>
                  </a:outerShdw>
                </a:effectLst>
              </a:rPr>
              <a:t>Revolución industrial</a:t>
            </a:r>
            <a:endParaRPr lang="es-ES" dirty="0">
              <a:solidFill>
                <a:schemeClr val="bg2"/>
              </a:solidFill>
              <a:effectLst>
                <a:outerShdw blurRad="38100" dist="38100" dir="2700000" algn="tl">
                  <a:srgbClr val="FFFFFF"/>
                </a:outerShdw>
              </a:effectLst>
            </a:endParaRPr>
          </a:p>
        </p:txBody>
      </p:sp>
      <p:sp>
        <p:nvSpPr>
          <p:cNvPr id="7175" name="Rectangle 7"/>
          <p:cNvSpPr>
            <a:spLocks noGrp="1" noChangeArrowheads="1"/>
          </p:cNvSpPr>
          <p:nvPr>
            <p:ph idx="1"/>
          </p:nvPr>
        </p:nvSpPr>
        <p:spPr/>
        <p:txBody>
          <a:bodyPr/>
          <a:lstStyle/>
          <a:p>
            <a:pPr algn="just" eaLnBrk="1" hangingPunct="1">
              <a:defRPr/>
            </a:pPr>
            <a:r>
              <a:rPr lang="es-ES_tradnl" dirty="0"/>
              <a:t>Surge la especialización y la producción en serie.</a:t>
            </a:r>
          </a:p>
          <a:p>
            <a:pPr eaLnBrk="1" hangingPunct="1">
              <a:defRPr/>
            </a:pPr>
            <a:r>
              <a:rPr lang="es-ES_tradnl" sz="4400" dirty="0">
                <a:latin typeface="+mj-lt"/>
              </a:rPr>
              <a:t>                      </a:t>
            </a:r>
            <a:r>
              <a:rPr lang="es-ES_tradnl" sz="4400" dirty="0">
                <a:solidFill>
                  <a:schemeClr val="bg2"/>
                </a:solidFill>
                <a:latin typeface="+mj-lt"/>
              </a:rPr>
              <a:t>Siglo XX</a:t>
            </a:r>
          </a:p>
          <a:p>
            <a:pPr algn="just" eaLnBrk="1" hangingPunct="1">
              <a:defRPr/>
            </a:pPr>
            <a:r>
              <a:rPr lang="es-ES_tradnl" sz="3600" dirty="0"/>
              <a:t>La administración se torna indispensable en el manejo de cualquier empresa</a:t>
            </a:r>
          </a:p>
          <a:p>
            <a:pPr eaLnBrk="1" hangingPunct="1">
              <a:defRPr/>
            </a:pPr>
            <a:endParaRPr lang="es-ES" sz="3600" dirty="0"/>
          </a:p>
        </p:txBody>
      </p:sp>
      <p:sp>
        <p:nvSpPr>
          <p:cNvPr id="22531" name="5 Marcador de número de diapositiva"/>
          <p:cNvSpPr>
            <a:spLocks noGrp="1"/>
          </p:cNvSpPr>
          <p:nvPr>
            <p:ph type="sldNum" sz="quarter" idx="12"/>
          </p:nvPr>
        </p:nvSpPr>
        <p:spPr>
          <a:noFill/>
        </p:spPr>
        <p:txBody>
          <a:bodyPr/>
          <a:lstStyle/>
          <a:p>
            <a:fld id="{894267A8-013A-44FB-B743-8779DB615F2D}" type="slidenum">
              <a:rPr lang="es-ES" smtClean="0">
                <a:latin typeface="Times New Roman" pitchFamily="18" charset="0"/>
              </a:rPr>
              <a:pPr/>
              <a:t>5</a:t>
            </a:fld>
            <a:endParaRPr lang="es-ES" smtClean="0">
              <a:latin typeface="Times New Roman" pitchFamily="18" charset="0"/>
            </a:endParaRP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Rectangle 6"/>
          <p:cNvSpPr>
            <a:spLocks noGrp="1" noChangeArrowheads="1"/>
          </p:cNvSpPr>
          <p:nvPr>
            <p:ph type="title"/>
          </p:nvPr>
        </p:nvSpPr>
        <p:spPr/>
        <p:txBody>
          <a:bodyPr/>
          <a:lstStyle/>
          <a:p>
            <a:pPr eaLnBrk="1" hangingPunct="1">
              <a:defRPr/>
            </a:pPr>
            <a:r>
              <a:rPr lang="es-ES_tradnl" dirty="0" smtClean="0"/>
              <a:t>ADMINISTRACIÓN</a:t>
            </a:r>
            <a:endParaRPr lang="es-ES" dirty="0"/>
          </a:p>
        </p:txBody>
      </p:sp>
      <p:sp>
        <p:nvSpPr>
          <p:cNvPr id="24578" name="Rectangle 7"/>
          <p:cNvSpPr>
            <a:spLocks noGrp="1" noChangeArrowheads="1"/>
          </p:cNvSpPr>
          <p:nvPr>
            <p:ph idx="1"/>
          </p:nvPr>
        </p:nvSpPr>
        <p:spPr/>
        <p:txBody>
          <a:bodyPr/>
          <a:lstStyle/>
          <a:p>
            <a:pPr algn="ctr" eaLnBrk="1" hangingPunct="1">
              <a:buFont typeface="Wingdings" pitchFamily="2" charset="2"/>
              <a:buNone/>
            </a:pPr>
            <a:endParaRPr lang="es-ES_tradnl" smtClean="0"/>
          </a:p>
          <a:p>
            <a:pPr algn="ctr" eaLnBrk="1" hangingPunct="1">
              <a:buFont typeface="Wingdings" pitchFamily="2" charset="2"/>
              <a:buNone/>
            </a:pPr>
            <a:r>
              <a:rPr lang="es-ES_tradnl" smtClean="0"/>
              <a:t>Es el proceso de trabajar en grupo con</a:t>
            </a:r>
          </a:p>
          <a:p>
            <a:pPr algn="ctr" eaLnBrk="1" hangingPunct="1">
              <a:buFont typeface="Wingdings" pitchFamily="2" charset="2"/>
              <a:buNone/>
            </a:pPr>
            <a:r>
              <a:rPr lang="es-ES_tradnl" smtClean="0"/>
              <a:t>gente y recursos para alcanzar las metas</a:t>
            </a:r>
          </a:p>
          <a:p>
            <a:pPr algn="ctr" eaLnBrk="1" hangingPunct="1">
              <a:buFont typeface="Wingdings" pitchFamily="2" charset="2"/>
              <a:buNone/>
            </a:pPr>
            <a:r>
              <a:rPr lang="es-ES_tradnl" smtClean="0"/>
              <a:t>de la organización.</a:t>
            </a:r>
          </a:p>
          <a:p>
            <a:pPr eaLnBrk="1" hangingPunct="1">
              <a:buFont typeface="Wingdings" pitchFamily="2" charset="2"/>
              <a:buNone/>
            </a:pPr>
            <a:endParaRPr lang="es-ES_tradnl" smtClean="0"/>
          </a:p>
          <a:p>
            <a:pPr eaLnBrk="1" hangingPunct="1">
              <a:buFont typeface="Wingdings" pitchFamily="2" charset="2"/>
              <a:buNone/>
            </a:pPr>
            <a:endParaRPr lang="es-ES" smtClean="0"/>
          </a:p>
        </p:txBody>
      </p:sp>
      <p:sp>
        <p:nvSpPr>
          <p:cNvPr id="24579" name="5 Marcador de número de diapositiva"/>
          <p:cNvSpPr>
            <a:spLocks noGrp="1"/>
          </p:cNvSpPr>
          <p:nvPr>
            <p:ph type="sldNum" sz="quarter" idx="12"/>
          </p:nvPr>
        </p:nvSpPr>
        <p:spPr>
          <a:noFill/>
        </p:spPr>
        <p:txBody>
          <a:bodyPr/>
          <a:lstStyle/>
          <a:p>
            <a:fld id="{09AF196C-A674-4EB1-987E-6F617E9322D6}" type="slidenum">
              <a:rPr lang="es-ES" smtClean="0">
                <a:latin typeface="Times New Roman" pitchFamily="18" charset="0"/>
              </a:rPr>
              <a:pPr/>
              <a:t>6</a:t>
            </a:fld>
            <a:endParaRPr lang="es-ES" smtClean="0">
              <a:latin typeface="Times New Roman" pitchFamily="18" charset="0"/>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es-MX" sz="3600" dirty="0" smtClean="0"/>
              <a:t>IMPORTANCIA DE LA ADMINISTRACIÓN</a:t>
            </a:r>
            <a:endParaRPr lang="es-ES" sz="3600" dirty="0"/>
          </a:p>
        </p:txBody>
      </p:sp>
      <p:sp>
        <p:nvSpPr>
          <p:cNvPr id="26626" name="Rectangle 3"/>
          <p:cNvSpPr>
            <a:spLocks noGrp="1" noChangeArrowheads="1"/>
          </p:cNvSpPr>
          <p:nvPr>
            <p:ph idx="1"/>
          </p:nvPr>
        </p:nvSpPr>
        <p:spPr/>
        <p:txBody>
          <a:bodyPr/>
          <a:lstStyle/>
          <a:p>
            <a:pPr algn="just" eaLnBrk="1" hangingPunct="1"/>
            <a:r>
              <a:rPr lang="es-MX" smtClean="0"/>
              <a:t>La Administración es importante porque se aplica en cualquier tipo de organización con deseos de aumentar su productividad y lograr el éxito.</a:t>
            </a:r>
            <a:endParaRPr lang="es-ES" smtClean="0"/>
          </a:p>
          <a:p>
            <a:pPr algn="just" eaLnBrk="1" hangingPunct="1"/>
            <a:r>
              <a:rPr lang="es-MX" smtClean="0"/>
              <a:t>Ayuda a obtener mejor personal, equipo, materiales, dinero y relaciones humanas.</a:t>
            </a:r>
            <a:endParaRPr lang="es-ES" smtClean="0"/>
          </a:p>
          <a:p>
            <a:pPr algn="ctr" eaLnBrk="1" hangingPunct="1">
              <a:buFont typeface="Wingdings" pitchFamily="2" charset="2"/>
              <a:buNone/>
            </a:pPr>
            <a:endParaRPr lang="es-ES" smtClean="0"/>
          </a:p>
        </p:txBody>
      </p:sp>
      <p:sp>
        <p:nvSpPr>
          <p:cNvPr id="26627" name="5 Marcador de número de diapositiva"/>
          <p:cNvSpPr>
            <a:spLocks noGrp="1"/>
          </p:cNvSpPr>
          <p:nvPr>
            <p:ph type="sldNum" sz="quarter" idx="12"/>
          </p:nvPr>
        </p:nvSpPr>
        <p:spPr>
          <a:noFill/>
        </p:spPr>
        <p:txBody>
          <a:bodyPr/>
          <a:lstStyle/>
          <a:p>
            <a:fld id="{BDEA7E59-B002-447A-A4AE-F74D6047C48D}" type="slidenum">
              <a:rPr lang="es-ES" smtClean="0">
                <a:latin typeface="Times New Roman" pitchFamily="18" charset="0"/>
              </a:rPr>
              <a:pPr/>
              <a:t>7</a:t>
            </a:fld>
            <a:endParaRPr lang="es-ES" smtClean="0">
              <a:latin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6"/>
          <p:cNvSpPr>
            <a:spLocks noGrp="1" noChangeArrowheads="1"/>
          </p:cNvSpPr>
          <p:nvPr>
            <p:ph type="title"/>
          </p:nvPr>
        </p:nvSpPr>
        <p:spPr/>
        <p:txBody>
          <a:bodyPr/>
          <a:lstStyle/>
          <a:p>
            <a:pPr eaLnBrk="1" hangingPunct="1">
              <a:defRPr/>
            </a:pPr>
            <a:r>
              <a:rPr lang="es-ES_tradnl" dirty="0"/>
              <a:t>Conceptos de autores</a:t>
            </a:r>
            <a:br>
              <a:rPr lang="es-ES_tradnl" dirty="0"/>
            </a:br>
            <a:r>
              <a:rPr lang="es-ES_tradnl" dirty="0"/>
              <a:t>Contemporáneos</a:t>
            </a:r>
            <a:endParaRPr lang="es-ES" dirty="0"/>
          </a:p>
        </p:txBody>
      </p:sp>
      <p:sp>
        <p:nvSpPr>
          <p:cNvPr id="9223" name="Rectangle 7"/>
          <p:cNvSpPr>
            <a:spLocks noGrp="1" noChangeArrowheads="1"/>
          </p:cNvSpPr>
          <p:nvPr>
            <p:ph idx="1"/>
          </p:nvPr>
        </p:nvSpPr>
        <p:spPr>
          <a:xfrm>
            <a:off x="571500" y="1928813"/>
            <a:ext cx="7772400" cy="4114800"/>
          </a:xfrm>
        </p:spPr>
        <p:txBody>
          <a:bodyPr/>
          <a:lstStyle/>
          <a:p>
            <a:pPr eaLnBrk="1" hangingPunct="1">
              <a:buFont typeface="Wingdings" pitchFamily="2" charset="2"/>
              <a:buNone/>
              <a:defRPr/>
            </a:pPr>
            <a:r>
              <a:rPr lang="es-ES_tradnl" dirty="0">
                <a:solidFill>
                  <a:schemeClr val="accent1">
                    <a:lumMod val="75000"/>
                  </a:schemeClr>
                </a:solidFill>
              </a:rPr>
              <a:t>George Terry : </a:t>
            </a:r>
            <a:endParaRPr lang="es-ES_tradnl" dirty="0" smtClean="0">
              <a:solidFill>
                <a:schemeClr val="accent1">
                  <a:lumMod val="75000"/>
                </a:schemeClr>
              </a:solidFill>
            </a:endParaRPr>
          </a:p>
          <a:p>
            <a:pPr algn="just" eaLnBrk="1" hangingPunct="1">
              <a:buFont typeface="Wingdings" pitchFamily="2" charset="2"/>
              <a:buNone/>
              <a:defRPr/>
            </a:pPr>
            <a:r>
              <a:rPr lang="es-ES_tradnl" dirty="0" smtClean="0"/>
              <a:t>La </a:t>
            </a:r>
            <a:r>
              <a:rPr lang="es-ES_tradnl" dirty="0"/>
              <a:t>administración consiste en </a:t>
            </a:r>
            <a:r>
              <a:rPr lang="es-ES_tradnl" dirty="0" smtClean="0"/>
              <a:t>La planeación,  organización</a:t>
            </a:r>
            <a:r>
              <a:rPr lang="es-ES_tradnl" dirty="0"/>
              <a:t>, dirección </a:t>
            </a:r>
          </a:p>
          <a:p>
            <a:pPr algn="just" eaLnBrk="1" hangingPunct="1">
              <a:buFont typeface="Wingdings" pitchFamily="2" charset="2"/>
              <a:buNone/>
              <a:defRPr/>
            </a:pPr>
            <a:r>
              <a:rPr lang="es-ES_tradnl" dirty="0"/>
              <a:t>ejecución y control del trabajo.</a:t>
            </a:r>
          </a:p>
          <a:p>
            <a:pPr eaLnBrk="1" hangingPunct="1">
              <a:buFont typeface="Wingdings" pitchFamily="2" charset="2"/>
              <a:buNone/>
              <a:defRPr/>
            </a:pPr>
            <a:r>
              <a:rPr lang="es-ES_tradnl" dirty="0" smtClean="0">
                <a:solidFill>
                  <a:schemeClr val="accent1">
                    <a:lumMod val="75000"/>
                  </a:schemeClr>
                </a:solidFill>
              </a:rPr>
              <a:t>Carlos </a:t>
            </a:r>
            <a:r>
              <a:rPr lang="es-ES_tradnl" dirty="0">
                <a:solidFill>
                  <a:schemeClr val="accent1">
                    <a:lumMod val="75000"/>
                  </a:schemeClr>
                </a:solidFill>
              </a:rPr>
              <a:t>Dávila </a:t>
            </a:r>
            <a:r>
              <a:rPr lang="es-ES_tradnl" dirty="0" smtClean="0">
                <a:solidFill>
                  <a:schemeClr val="accent1">
                    <a:lumMod val="75000"/>
                  </a:schemeClr>
                </a:solidFill>
              </a:rPr>
              <a:t>:</a:t>
            </a:r>
          </a:p>
          <a:p>
            <a:pPr algn="just" eaLnBrk="1" hangingPunct="1">
              <a:buFont typeface="Wingdings" pitchFamily="2" charset="2"/>
              <a:buNone/>
              <a:defRPr/>
            </a:pPr>
            <a:r>
              <a:rPr lang="es-ES_tradnl" dirty="0" smtClean="0"/>
              <a:t> </a:t>
            </a:r>
            <a:r>
              <a:rPr lang="es-ES_tradnl" dirty="0"/>
              <a:t>Manejo de los recursos </a:t>
            </a:r>
          </a:p>
          <a:p>
            <a:pPr algn="just" eaLnBrk="1" hangingPunct="1">
              <a:buFont typeface="Wingdings" pitchFamily="2" charset="2"/>
              <a:buNone/>
              <a:defRPr/>
            </a:pPr>
            <a:r>
              <a:rPr lang="es-ES_tradnl" dirty="0"/>
              <a:t>a través  del proceso administrativo.</a:t>
            </a:r>
          </a:p>
          <a:p>
            <a:pPr eaLnBrk="1" hangingPunct="1">
              <a:buFont typeface="Wingdings" pitchFamily="2" charset="2"/>
              <a:buNone/>
              <a:defRPr/>
            </a:pPr>
            <a:endParaRPr lang="es-ES" dirty="0"/>
          </a:p>
        </p:txBody>
      </p:sp>
      <p:sp>
        <p:nvSpPr>
          <p:cNvPr id="27651" name="5 Marcador de número de diapositiva"/>
          <p:cNvSpPr>
            <a:spLocks noGrp="1"/>
          </p:cNvSpPr>
          <p:nvPr>
            <p:ph type="sldNum" sz="quarter" idx="12"/>
          </p:nvPr>
        </p:nvSpPr>
        <p:spPr>
          <a:noFill/>
        </p:spPr>
        <p:txBody>
          <a:bodyPr/>
          <a:lstStyle/>
          <a:p>
            <a:fld id="{4EF1857F-D240-4EE5-A87D-B579BE6BBEEA}" type="slidenum">
              <a:rPr lang="es-ES" smtClean="0">
                <a:latin typeface="Times New Roman" pitchFamily="18" charset="0"/>
              </a:rPr>
              <a:pPr/>
              <a:t>8</a:t>
            </a:fld>
            <a:endParaRPr lang="es-ES" smtClean="0">
              <a:latin typeface="Times New Roman" pitchFamily="18" charset="0"/>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defRPr/>
            </a:pPr>
            <a:r>
              <a:rPr lang="es-ES_tradnl" dirty="0" smtClean="0"/>
              <a:t>Conceptos de autores</a:t>
            </a:r>
            <a:br>
              <a:rPr lang="es-ES_tradnl" dirty="0" smtClean="0"/>
            </a:br>
            <a:r>
              <a:rPr lang="es-ES_tradnl" dirty="0" smtClean="0"/>
              <a:t>Contemporáneos</a:t>
            </a:r>
            <a:endParaRPr lang="es-ES" dirty="0"/>
          </a:p>
        </p:txBody>
      </p:sp>
      <p:sp>
        <p:nvSpPr>
          <p:cNvPr id="40963" name="Rectangle 3"/>
          <p:cNvSpPr>
            <a:spLocks noGrp="1" noChangeArrowheads="1"/>
          </p:cNvSpPr>
          <p:nvPr>
            <p:ph idx="1"/>
          </p:nvPr>
        </p:nvSpPr>
        <p:spPr/>
        <p:txBody>
          <a:bodyPr/>
          <a:lstStyle/>
          <a:p>
            <a:pPr eaLnBrk="1" hangingPunct="1">
              <a:buFont typeface="Wingdings" pitchFamily="2" charset="2"/>
              <a:buNone/>
              <a:defRPr/>
            </a:pPr>
            <a:r>
              <a:rPr lang="es-ES_tradnl" dirty="0">
                <a:solidFill>
                  <a:schemeClr val="accent1">
                    <a:lumMod val="75000"/>
                  </a:schemeClr>
                </a:solidFill>
              </a:rPr>
              <a:t>Harold Koontz </a:t>
            </a:r>
            <a:r>
              <a:rPr lang="es-ES_tradnl" dirty="0" smtClean="0">
                <a:solidFill>
                  <a:schemeClr val="accent1">
                    <a:lumMod val="75000"/>
                  </a:schemeClr>
                </a:solidFill>
              </a:rPr>
              <a:t>:</a:t>
            </a:r>
          </a:p>
          <a:p>
            <a:pPr eaLnBrk="1" hangingPunct="1">
              <a:buFont typeface="Wingdings" pitchFamily="2" charset="2"/>
              <a:buNone/>
              <a:defRPr/>
            </a:pPr>
            <a:r>
              <a:rPr lang="es-ES_tradnl" dirty="0" smtClean="0"/>
              <a:t> </a:t>
            </a:r>
            <a:r>
              <a:rPr lang="es-ES_tradnl" dirty="0"/>
              <a:t>La dirección de un </a:t>
            </a:r>
            <a:r>
              <a:rPr lang="es-ES_tradnl" dirty="0" smtClean="0"/>
              <a:t>Organismo </a:t>
            </a:r>
            <a:r>
              <a:rPr lang="es-ES_tradnl" dirty="0"/>
              <a:t>social y su efectividad en </a:t>
            </a:r>
            <a:r>
              <a:rPr lang="es-ES_tradnl" dirty="0" smtClean="0"/>
              <a:t>alcanzar Objetivos</a:t>
            </a:r>
            <a:r>
              <a:rPr lang="es-ES_tradnl" dirty="0"/>
              <a:t>, fundada en la habilidad </a:t>
            </a:r>
            <a:r>
              <a:rPr lang="es-ES_tradnl" dirty="0" smtClean="0"/>
              <a:t>de </a:t>
            </a:r>
            <a:r>
              <a:rPr lang="es-ES_tradnl" dirty="0"/>
              <a:t>conducir a sus integrantes.</a:t>
            </a:r>
          </a:p>
          <a:p>
            <a:pPr eaLnBrk="1" hangingPunct="1">
              <a:buFont typeface="Wingdings" pitchFamily="2" charset="2"/>
              <a:buNone/>
              <a:defRPr/>
            </a:pPr>
            <a:r>
              <a:rPr lang="es-ES_tradnl" dirty="0" smtClean="0">
                <a:solidFill>
                  <a:schemeClr val="accent1">
                    <a:lumMod val="75000"/>
                  </a:schemeClr>
                </a:solidFill>
              </a:rPr>
              <a:t>Elton </a:t>
            </a:r>
            <a:r>
              <a:rPr lang="es-ES_tradnl" dirty="0">
                <a:solidFill>
                  <a:schemeClr val="accent1">
                    <a:lumMod val="75000"/>
                  </a:schemeClr>
                </a:solidFill>
              </a:rPr>
              <a:t>Mayo </a:t>
            </a:r>
            <a:r>
              <a:rPr lang="es-ES_tradnl" dirty="0" smtClean="0">
                <a:solidFill>
                  <a:schemeClr val="accent1">
                    <a:lumMod val="75000"/>
                  </a:schemeClr>
                </a:solidFill>
              </a:rPr>
              <a:t>:</a:t>
            </a:r>
          </a:p>
          <a:p>
            <a:pPr eaLnBrk="1" hangingPunct="1">
              <a:buFont typeface="Wingdings" pitchFamily="2" charset="2"/>
              <a:buNone/>
              <a:defRPr/>
            </a:pPr>
            <a:r>
              <a:rPr lang="es-ES_tradnl" dirty="0" smtClean="0"/>
              <a:t>La </a:t>
            </a:r>
            <a:r>
              <a:rPr lang="es-ES_tradnl" dirty="0"/>
              <a:t>mejoría en la </a:t>
            </a:r>
            <a:r>
              <a:rPr lang="es-ES_tradnl" dirty="0" smtClean="0"/>
              <a:t>productividad Se </a:t>
            </a:r>
            <a:r>
              <a:rPr lang="es-ES_tradnl" dirty="0"/>
              <a:t>debe a factores sociales. </a:t>
            </a:r>
            <a:endParaRPr lang="es-ES" dirty="0"/>
          </a:p>
        </p:txBody>
      </p:sp>
      <p:sp>
        <p:nvSpPr>
          <p:cNvPr id="29699" name="5 Marcador de número de diapositiva"/>
          <p:cNvSpPr>
            <a:spLocks noGrp="1"/>
          </p:cNvSpPr>
          <p:nvPr>
            <p:ph type="sldNum" sz="quarter" idx="12"/>
          </p:nvPr>
        </p:nvSpPr>
        <p:spPr>
          <a:noFill/>
        </p:spPr>
        <p:txBody>
          <a:bodyPr/>
          <a:lstStyle/>
          <a:p>
            <a:fld id="{902DE01C-8BBA-439E-814D-422044E40BC0}" type="slidenum">
              <a:rPr lang="es-ES" smtClean="0">
                <a:latin typeface="Times New Roman" pitchFamily="18" charset="0"/>
              </a:rPr>
              <a:pPr/>
              <a:t>9</a:t>
            </a:fld>
            <a:endParaRPr lang="es-ES" smtClean="0">
              <a:latin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defRPr/>
            </a:pPr>
            <a:r>
              <a:rPr lang="es-ES_tradnl" dirty="0" smtClean="0"/>
              <a:t>Conceptos de autores</a:t>
            </a:r>
            <a:br>
              <a:rPr lang="es-ES_tradnl" dirty="0" smtClean="0"/>
            </a:br>
            <a:r>
              <a:rPr lang="es-ES_tradnl" dirty="0" smtClean="0"/>
              <a:t>Contemporáneos</a:t>
            </a:r>
            <a:endParaRPr lang="es-ES" dirty="0"/>
          </a:p>
        </p:txBody>
      </p:sp>
      <p:sp>
        <p:nvSpPr>
          <p:cNvPr id="41987" name="Rectangle 3"/>
          <p:cNvSpPr>
            <a:spLocks noGrp="1" noChangeArrowheads="1"/>
          </p:cNvSpPr>
          <p:nvPr>
            <p:ph idx="1"/>
          </p:nvPr>
        </p:nvSpPr>
        <p:spPr/>
        <p:txBody>
          <a:bodyPr/>
          <a:lstStyle/>
          <a:p>
            <a:pPr eaLnBrk="1" hangingPunct="1">
              <a:buFont typeface="Wingdings" pitchFamily="2" charset="2"/>
              <a:buNone/>
              <a:defRPr/>
            </a:pPr>
            <a:r>
              <a:rPr lang="es-ES_tradnl" dirty="0">
                <a:solidFill>
                  <a:schemeClr val="accent1">
                    <a:lumMod val="75000"/>
                  </a:schemeClr>
                </a:solidFill>
              </a:rPr>
              <a:t>Henry  Fayol </a:t>
            </a:r>
            <a:r>
              <a:rPr lang="es-ES_tradnl" dirty="0" smtClean="0">
                <a:solidFill>
                  <a:schemeClr val="accent1">
                    <a:lumMod val="75000"/>
                  </a:schemeClr>
                </a:solidFill>
              </a:rPr>
              <a:t>:</a:t>
            </a:r>
          </a:p>
          <a:p>
            <a:pPr algn="just" eaLnBrk="1" hangingPunct="1">
              <a:buFont typeface="Wingdings" pitchFamily="2" charset="2"/>
              <a:buNone/>
              <a:defRPr/>
            </a:pPr>
            <a:r>
              <a:rPr lang="es-ES_tradnl" dirty="0" smtClean="0"/>
              <a:t>Considerado </a:t>
            </a:r>
            <a:r>
              <a:rPr lang="es-ES_tradnl" dirty="0"/>
              <a:t>el padre de la </a:t>
            </a:r>
            <a:r>
              <a:rPr lang="es-ES_tradnl" dirty="0" smtClean="0"/>
              <a:t>Administración </a:t>
            </a:r>
            <a:r>
              <a:rPr lang="es-ES_tradnl" dirty="0"/>
              <a:t>moderna, se baso en </a:t>
            </a:r>
            <a:r>
              <a:rPr lang="es-ES_tradnl" dirty="0" smtClean="0"/>
              <a:t>organizar, Mandar</a:t>
            </a:r>
            <a:r>
              <a:rPr lang="es-ES_tradnl" dirty="0"/>
              <a:t>, coordinar y controlar.</a:t>
            </a:r>
          </a:p>
          <a:p>
            <a:pPr eaLnBrk="1" hangingPunct="1">
              <a:buFont typeface="Wingdings" pitchFamily="2" charset="2"/>
              <a:buNone/>
              <a:defRPr/>
            </a:pPr>
            <a:r>
              <a:rPr lang="es-ES_tradnl" dirty="0" smtClean="0">
                <a:solidFill>
                  <a:schemeClr val="accent1">
                    <a:lumMod val="75000"/>
                  </a:schemeClr>
                </a:solidFill>
              </a:rPr>
              <a:t>Idalberto </a:t>
            </a:r>
            <a:r>
              <a:rPr lang="es-ES_tradnl" dirty="0">
                <a:solidFill>
                  <a:schemeClr val="accent1">
                    <a:lumMod val="75000"/>
                  </a:schemeClr>
                </a:solidFill>
              </a:rPr>
              <a:t>Chaveneto : </a:t>
            </a:r>
            <a:endParaRPr lang="es-ES_tradnl" dirty="0" smtClean="0">
              <a:solidFill>
                <a:schemeClr val="accent1">
                  <a:lumMod val="75000"/>
                </a:schemeClr>
              </a:solidFill>
            </a:endParaRPr>
          </a:p>
          <a:p>
            <a:pPr algn="just" eaLnBrk="1" hangingPunct="1">
              <a:buFont typeface="Wingdings" pitchFamily="2" charset="2"/>
              <a:buNone/>
              <a:defRPr/>
            </a:pPr>
            <a:r>
              <a:rPr lang="es-ES_tradnl" dirty="0" smtClean="0"/>
              <a:t>La </a:t>
            </a:r>
            <a:r>
              <a:rPr lang="es-ES_tradnl" dirty="0"/>
              <a:t>administración </a:t>
            </a:r>
            <a:r>
              <a:rPr lang="es-ES_tradnl" dirty="0" smtClean="0"/>
              <a:t>se basa </a:t>
            </a:r>
            <a:r>
              <a:rPr lang="es-ES_tradnl" dirty="0"/>
              <a:t>en el esfuerzo cooperativo del </a:t>
            </a:r>
            <a:r>
              <a:rPr lang="es-ES_tradnl" dirty="0" smtClean="0"/>
              <a:t>hombre </a:t>
            </a:r>
            <a:r>
              <a:rPr lang="es-ES_tradnl" dirty="0"/>
              <a:t>por medio de las organizaciones.</a:t>
            </a:r>
            <a:endParaRPr lang="es-ES" dirty="0"/>
          </a:p>
        </p:txBody>
      </p:sp>
      <p:sp>
        <p:nvSpPr>
          <p:cNvPr id="30723" name="5 Marcador de número de diapositiva"/>
          <p:cNvSpPr>
            <a:spLocks noGrp="1"/>
          </p:cNvSpPr>
          <p:nvPr>
            <p:ph type="sldNum" sz="quarter" idx="12"/>
          </p:nvPr>
        </p:nvSpPr>
        <p:spPr>
          <a:noFill/>
        </p:spPr>
        <p:txBody>
          <a:bodyPr/>
          <a:lstStyle/>
          <a:p>
            <a:fld id="{DEC6F1B6-12CB-45F8-B2C6-48088D3ED9F6}" type="slidenum">
              <a:rPr lang="es-ES" smtClean="0">
                <a:latin typeface="Times New Roman" pitchFamily="18" charset="0"/>
              </a:rPr>
              <a:pPr/>
              <a:t>10</a:t>
            </a:fld>
            <a:endParaRPr lang="es-ES" smtClean="0">
              <a:latin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lvl="1" eaLnBrk="1" hangingPunct="1">
              <a:defRPr/>
            </a:pPr>
            <a:r>
              <a:rPr lang="es-ES_tradnl" sz="4000" dirty="0" smtClean="0">
                <a:latin typeface="Arial" charset="0"/>
              </a:rPr>
              <a:t>Conceptos de autores</a:t>
            </a:r>
            <a:br>
              <a:rPr lang="es-ES_tradnl" sz="4000" dirty="0" smtClean="0">
                <a:latin typeface="Arial" charset="0"/>
              </a:rPr>
            </a:br>
            <a:r>
              <a:rPr lang="es-ES_tradnl" sz="4000" dirty="0" smtClean="0">
                <a:latin typeface="Arial" charset="0"/>
              </a:rPr>
              <a:t>Contemporáneos</a:t>
            </a:r>
            <a:br>
              <a:rPr lang="es-ES_tradnl" sz="4000" dirty="0" smtClean="0">
                <a:latin typeface="Arial" charset="0"/>
              </a:rPr>
            </a:br>
            <a:endParaRPr lang="es-ES" sz="4000" dirty="0">
              <a:latin typeface="Arial" charset="0"/>
            </a:endParaRPr>
          </a:p>
        </p:txBody>
      </p:sp>
      <p:sp>
        <p:nvSpPr>
          <p:cNvPr id="43011" name="Rectangle 3"/>
          <p:cNvSpPr>
            <a:spLocks noGrp="1" noChangeArrowheads="1"/>
          </p:cNvSpPr>
          <p:nvPr>
            <p:ph idx="1"/>
          </p:nvPr>
        </p:nvSpPr>
        <p:spPr>
          <a:xfrm>
            <a:off x="571500" y="1643063"/>
            <a:ext cx="7772400" cy="4114800"/>
          </a:xfrm>
        </p:spPr>
        <p:txBody>
          <a:bodyPr/>
          <a:lstStyle/>
          <a:p>
            <a:pPr lvl="1" eaLnBrk="1" hangingPunct="1">
              <a:buFontTx/>
              <a:buNone/>
              <a:defRPr/>
            </a:pPr>
            <a:r>
              <a:rPr lang="es-ES_tradnl" dirty="0" smtClean="0">
                <a:solidFill>
                  <a:schemeClr val="accent1">
                    <a:lumMod val="75000"/>
                  </a:schemeClr>
                </a:solidFill>
              </a:rPr>
              <a:t>Frederick Taylor</a:t>
            </a:r>
            <a:endParaRPr lang="es-ES_tradnl" dirty="0">
              <a:solidFill>
                <a:schemeClr val="accent1">
                  <a:lumMod val="75000"/>
                </a:schemeClr>
              </a:solidFill>
            </a:endParaRPr>
          </a:p>
          <a:p>
            <a:pPr lvl="1" algn="just" eaLnBrk="1" hangingPunct="1">
              <a:buFontTx/>
              <a:buNone/>
              <a:defRPr/>
            </a:pPr>
            <a:r>
              <a:rPr lang="es-MX" sz="2400" dirty="0" smtClean="0"/>
              <a:t>	</a:t>
            </a:r>
            <a:r>
              <a:rPr lang="es-MX" dirty="0" smtClean="0"/>
              <a:t>Se le llama "el padre de la administración científica”, dedicó la mayor parte de su vida a estudiar y encontrar la mejor manera de ejecutar el trabajo a través de los estudios de los tiempos y movimientos y de la forma más adecuada para remunerar a los trabajadores con el fin de incrementar la productividad</a:t>
            </a:r>
            <a:endParaRPr lang="es-ES_tradnl" dirty="0"/>
          </a:p>
          <a:p>
            <a:pPr lvl="1" eaLnBrk="1" hangingPunct="1">
              <a:buFontTx/>
              <a:buNone/>
              <a:defRPr/>
            </a:pPr>
            <a:endParaRPr lang="es-ES_tradnl" dirty="0"/>
          </a:p>
          <a:p>
            <a:pPr lvl="1" eaLnBrk="1" hangingPunct="1">
              <a:buFontTx/>
              <a:buNone/>
              <a:defRPr/>
            </a:pPr>
            <a:endParaRPr lang="es-ES_tradnl" dirty="0"/>
          </a:p>
          <a:p>
            <a:pPr lvl="1" eaLnBrk="1" hangingPunct="1">
              <a:buFontTx/>
              <a:buNone/>
              <a:defRPr/>
            </a:pPr>
            <a:endParaRPr lang="es-ES_tradnl" dirty="0"/>
          </a:p>
        </p:txBody>
      </p:sp>
      <p:sp>
        <p:nvSpPr>
          <p:cNvPr id="31747" name="5 Marcador de número de diapositiva"/>
          <p:cNvSpPr>
            <a:spLocks noGrp="1"/>
          </p:cNvSpPr>
          <p:nvPr>
            <p:ph type="sldNum" sz="quarter" idx="12"/>
          </p:nvPr>
        </p:nvSpPr>
        <p:spPr>
          <a:noFill/>
        </p:spPr>
        <p:txBody>
          <a:bodyPr/>
          <a:lstStyle/>
          <a:p>
            <a:fld id="{F93D45CE-6ACF-414E-8794-EB9D4C0218E0}" type="slidenum">
              <a:rPr lang="es-ES" smtClean="0">
                <a:latin typeface="Times New Roman" pitchFamily="18" charset="0"/>
              </a:rPr>
              <a:pPr/>
              <a:t>11</a:t>
            </a:fld>
            <a:endParaRPr lang="es-ES" smtClean="0">
              <a:latin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lvl="1" eaLnBrk="1" hangingPunct="1">
              <a:defRPr/>
            </a:pPr>
            <a:r>
              <a:rPr lang="es-ES_tradnl" dirty="0" smtClean="0">
                <a:latin typeface="Arial" charset="0"/>
              </a:rPr>
              <a:t>Conceptos de autores</a:t>
            </a:r>
            <a:br>
              <a:rPr lang="es-ES_tradnl" dirty="0" smtClean="0">
                <a:latin typeface="Arial" charset="0"/>
              </a:rPr>
            </a:br>
            <a:r>
              <a:rPr lang="es-ES_tradnl" dirty="0" smtClean="0">
                <a:latin typeface="Arial" charset="0"/>
              </a:rPr>
              <a:t>Contemporáneos</a:t>
            </a:r>
            <a:endParaRPr lang="es-ES" dirty="0">
              <a:latin typeface="Arial" charset="0"/>
            </a:endParaRPr>
          </a:p>
        </p:txBody>
      </p:sp>
      <p:sp>
        <p:nvSpPr>
          <p:cNvPr id="43011" name="Rectangle 3"/>
          <p:cNvSpPr>
            <a:spLocks noGrp="1" noChangeArrowheads="1"/>
          </p:cNvSpPr>
          <p:nvPr>
            <p:ph idx="1"/>
          </p:nvPr>
        </p:nvSpPr>
        <p:spPr/>
        <p:txBody>
          <a:bodyPr/>
          <a:lstStyle/>
          <a:p>
            <a:pPr algn="just" eaLnBrk="1" hangingPunct="1">
              <a:buFont typeface="Wingdings" pitchFamily="2" charset="2"/>
              <a:buNone/>
              <a:defRPr/>
            </a:pPr>
            <a:r>
              <a:rPr lang="es-MX" sz="2800" dirty="0" smtClean="0">
                <a:solidFill>
                  <a:schemeClr val="accent1">
                    <a:lumMod val="75000"/>
                  </a:schemeClr>
                </a:solidFill>
              </a:rPr>
              <a:t>Luther Gulick</a:t>
            </a:r>
          </a:p>
          <a:p>
            <a:pPr algn="just" eaLnBrk="1" hangingPunct="1">
              <a:buFont typeface="Wingdings" pitchFamily="2" charset="2"/>
              <a:buNone/>
              <a:defRPr/>
            </a:pPr>
            <a:r>
              <a:rPr lang="es-MX" sz="2800" dirty="0" smtClean="0"/>
              <a:t>	Para este pensador la administración la define como un sistema por medio del cual las personas establecen relaciones, predicen resultados e influyen  en las consecuencias de cualquier situación en que se organicen para trabajar unidos en el logro de propósitos comunes</a:t>
            </a:r>
            <a:endParaRPr lang="es-ES" sz="2800" dirty="0" smtClean="0"/>
          </a:p>
          <a:p>
            <a:pPr eaLnBrk="1" hangingPunct="1">
              <a:buFont typeface="Wingdings" pitchFamily="2" charset="2"/>
              <a:buNone/>
              <a:defRPr/>
            </a:pPr>
            <a:r>
              <a:rPr lang="es-MX" sz="2400" dirty="0" smtClean="0"/>
              <a:t>	</a:t>
            </a:r>
            <a:endParaRPr lang="es-ES_tradnl" sz="2400" dirty="0"/>
          </a:p>
          <a:p>
            <a:pPr lvl="1" eaLnBrk="1" hangingPunct="1">
              <a:buFontTx/>
              <a:buNone/>
              <a:defRPr/>
            </a:pPr>
            <a:endParaRPr lang="es-ES_tradnl" dirty="0"/>
          </a:p>
          <a:p>
            <a:pPr lvl="1" eaLnBrk="1" hangingPunct="1">
              <a:buFontTx/>
              <a:buNone/>
              <a:defRPr/>
            </a:pPr>
            <a:endParaRPr lang="es-ES_tradnl" dirty="0"/>
          </a:p>
          <a:p>
            <a:pPr lvl="1" eaLnBrk="1" hangingPunct="1">
              <a:buFontTx/>
              <a:buNone/>
              <a:defRPr/>
            </a:pPr>
            <a:endParaRPr lang="es-ES_tradnl" dirty="0"/>
          </a:p>
        </p:txBody>
      </p:sp>
      <p:sp>
        <p:nvSpPr>
          <p:cNvPr id="32771" name="5 Marcador de número de diapositiva"/>
          <p:cNvSpPr>
            <a:spLocks noGrp="1"/>
          </p:cNvSpPr>
          <p:nvPr>
            <p:ph type="sldNum" sz="quarter" idx="12"/>
          </p:nvPr>
        </p:nvSpPr>
        <p:spPr>
          <a:noFill/>
        </p:spPr>
        <p:txBody>
          <a:bodyPr/>
          <a:lstStyle/>
          <a:p>
            <a:fld id="{93A5A11B-111A-4A3C-AB1E-B0162DE82CC6}" type="slidenum">
              <a:rPr lang="es-ES" smtClean="0">
                <a:latin typeface="Times New Roman" pitchFamily="18" charset="0"/>
              </a:rPr>
              <a:pPr/>
              <a:t>12</a:t>
            </a:fld>
            <a:endParaRPr lang="es-ES" smtClean="0">
              <a:latin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defRPr/>
            </a:pPr>
            <a:r>
              <a:rPr lang="es-ES_tradnl" dirty="0"/>
              <a:t>Teorías del pensamiento</a:t>
            </a:r>
            <a:br>
              <a:rPr lang="es-ES_tradnl" dirty="0"/>
            </a:br>
            <a:r>
              <a:rPr lang="es-ES_tradnl" dirty="0"/>
              <a:t>Administrativo.</a:t>
            </a:r>
            <a:endParaRPr lang="es-ES" dirty="0"/>
          </a:p>
        </p:txBody>
      </p:sp>
      <p:sp>
        <p:nvSpPr>
          <p:cNvPr id="33794" name="Rectangle 3"/>
          <p:cNvSpPr>
            <a:spLocks noGrp="1" noChangeArrowheads="1"/>
          </p:cNvSpPr>
          <p:nvPr>
            <p:ph sz="half" idx="1"/>
          </p:nvPr>
        </p:nvSpPr>
        <p:spPr/>
        <p:txBody>
          <a:bodyPr/>
          <a:lstStyle/>
          <a:p>
            <a:pPr lvl="1" eaLnBrk="1" hangingPunct="1">
              <a:buFontTx/>
              <a:buNone/>
            </a:pPr>
            <a:r>
              <a:rPr lang="es-ES_tradnl" smtClean="0"/>
              <a:t>1903 Admón. Científica</a:t>
            </a:r>
          </a:p>
          <a:p>
            <a:pPr lvl="1" eaLnBrk="1" hangingPunct="1">
              <a:buFontTx/>
              <a:buNone/>
            </a:pPr>
            <a:r>
              <a:rPr lang="es-ES_tradnl" smtClean="0"/>
              <a:t>1909 Teoría de la 		    burocracia</a:t>
            </a:r>
          </a:p>
          <a:p>
            <a:pPr lvl="1" eaLnBrk="1" hangingPunct="1">
              <a:buFontTx/>
              <a:buNone/>
            </a:pPr>
            <a:r>
              <a:rPr lang="es-ES_tradnl" smtClean="0"/>
              <a:t>1916 Teoría Clásica</a:t>
            </a:r>
          </a:p>
          <a:p>
            <a:pPr lvl="1" eaLnBrk="1" hangingPunct="1">
              <a:buFontTx/>
              <a:buNone/>
            </a:pPr>
            <a:r>
              <a:rPr lang="es-ES_tradnl" smtClean="0"/>
              <a:t>1932 Teoría de las      relaciones humanas</a:t>
            </a:r>
          </a:p>
          <a:p>
            <a:pPr lvl="1" eaLnBrk="1" hangingPunct="1">
              <a:buFontTx/>
              <a:buNone/>
            </a:pPr>
            <a:r>
              <a:rPr lang="es-ES_tradnl" smtClean="0"/>
              <a:t>1947 Teoría          estructuralista</a:t>
            </a:r>
          </a:p>
          <a:p>
            <a:pPr lvl="1" eaLnBrk="1" hangingPunct="1">
              <a:buFontTx/>
              <a:buNone/>
            </a:pPr>
            <a:r>
              <a:rPr lang="es-ES_tradnl" smtClean="0"/>
              <a:t>1951 Teoría de los sistemas</a:t>
            </a:r>
          </a:p>
          <a:p>
            <a:pPr lvl="1" eaLnBrk="1" hangingPunct="1">
              <a:buFontTx/>
              <a:buNone/>
            </a:pPr>
            <a:endParaRPr lang="es-ES" smtClean="0"/>
          </a:p>
        </p:txBody>
      </p:sp>
      <p:sp>
        <p:nvSpPr>
          <p:cNvPr id="33795" name="Rectangle 4"/>
          <p:cNvSpPr>
            <a:spLocks noGrp="1" noChangeArrowheads="1"/>
          </p:cNvSpPr>
          <p:nvPr>
            <p:ph sz="half" idx="2"/>
          </p:nvPr>
        </p:nvSpPr>
        <p:spPr/>
        <p:txBody>
          <a:bodyPr/>
          <a:lstStyle/>
          <a:p>
            <a:pPr eaLnBrk="1" hangingPunct="1">
              <a:lnSpc>
                <a:spcPct val="90000"/>
              </a:lnSpc>
              <a:buFont typeface="Wingdings" pitchFamily="2" charset="2"/>
              <a:buNone/>
            </a:pPr>
            <a:r>
              <a:rPr lang="es-ES_tradnl" smtClean="0"/>
              <a:t>1953 Enfoque Socio técnico</a:t>
            </a:r>
          </a:p>
          <a:p>
            <a:pPr eaLnBrk="1" hangingPunct="1">
              <a:lnSpc>
                <a:spcPct val="90000"/>
              </a:lnSpc>
              <a:buFont typeface="Wingdings" pitchFamily="2" charset="2"/>
              <a:buNone/>
            </a:pPr>
            <a:r>
              <a:rPr lang="es-ES_tradnl" smtClean="0"/>
              <a:t>1954 Teoría Neoclásica</a:t>
            </a:r>
          </a:p>
          <a:p>
            <a:pPr eaLnBrk="1" hangingPunct="1">
              <a:lnSpc>
                <a:spcPct val="90000"/>
              </a:lnSpc>
              <a:buFont typeface="Wingdings" pitchFamily="2" charset="2"/>
              <a:buNone/>
            </a:pPr>
            <a:r>
              <a:rPr lang="es-ES_tradnl" smtClean="0"/>
              <a:t>1957 Teoría conductual</a:t>
            </a:r>
          </a:p>
          <a:p>
            <a:pPr eaLnBrk="1" hangingPunct="1">
              <a:lnSpc>
                <a:spcPct val="90000"/>
              </a:lnSpc>
              <a:buFont typeface="Wingdings" pitchFamily="2" charset="2"/>
              <a:buNone/>
            </a:pPr>
            <a:r>
              <a:rPr lang="es-ES_tradnl" smtClean="0"/>
              <a:t>1962 Desarrollo Organizacional</a:t>
            </a:r>
          </a:p>
          <a:p>
            <a:pPr eaLnBrk="1" hangingPunct="1">
              <a:lnSpc>
                <a:spcPct val="90000"/>
              </a:lnSpc>
              <a:buFont typeface="Wingdings" pitchFamily="2" charset="2"/>
              <a:buNone/>
            </a:pPr>
            <a:r>
              <a:rPr lang="es-ES_tradnl" smtClean="0"/>
              <a:t>1972 Teoría de la contingencia</a:t>
            </a:r>
          </a:p>
          <a:p>
            <a:pPr eaLnBrk="1" hangingPunct="1">
              <a:lnSpc>
                <a:spcPct val="90000"/>
              </a:lnSpc>
              <a:buFont typeface="Wingdings" pitchFamily="2" charset="2"/>
              <a:buNone/>
            </a:pPr>
            <a:r>
              <a:rPr lang="es-ES_tradnl" smtClean="0"/>
              <a:t>1990 Nuevos enfoques</a:t>
            </a:r>
            <a:endParaRPr lang="es-ES" smtClean="0"/>
          </a:p>
        </p:txBody>
      </p:sp>
      <p:sp>
        <p:nvSpPr>
          <p:cNvPr id="33796" name="6 Marcador de número de diapositiva"/>
          <p:cNvSpPr>
            <a:spLocks noGrp="1"/>
          </p:cNvSpPr>
          <p:nvPr>
            <p:ph type="sldNum" sz="quarter" idx="12"/>
          </p:nvPr>
        </p:nvSpPr>
        <p:spPr>
          <a:noFill/>
        </p:spPr>
        <p:txBody>
          <a:bodyPr/>
          <a:lstStyle/>
          <a:p>
            <a:fld id="{D3B0353C-D28E-497F-B0C6-C34ACB9A5E00}" type="slidenum">
              <a:rPr lang="es-ES" smtClean="0">
                <a:latin typeface="Times New Roman" pitchFamily="18" charset="0"/>
              </a:rPr>
              <a:pPr/>
              <a:t>13</a:t>
            </a:fld>
            <a:endParaRPr lang="es-ES" smtClean="0">
              <a:latin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defRPr/>
            </a:pPr>
            <a:r>
              <a:rPr lang="es-ES_tradnl" dirty="0"/>
              <a:t>Objetivo de la Administración</a:t>
            </a:r>
            <a:endParaRPr lang="es-ES" dirty="0"/>
          </a:p>
        </p:txBody>
      </p:sp>
      <p:sp>
        <p:nvSpPr>
          <p:cNvPr id="47107" name="Rectangle 3"/>
          <p:cNvSpPr>
            <a:spLocks noGrp="1" noChangeArrowheads="1"/>
          </p:cNvSpPr>
          <p:nvPr>
            <p:ph idx="1"/>
          </p:nvPr>
        </p:nvSpPr>
        <p:spPr/>
        <p:txBody>
          <a:bodyPr/>
          <a:lstStyle/>
          <a:p>
            <a:pPr algn="ctr" eaLnBrk="1" hangingPunct="1">
              <a:buFont typeface="Wingdings" pitchFamily="2" charset="2"/>
              <a:buNone/>
              <a:defRPr/>
            </a:pPr>
            <a:r>
              <a:rPr lang="es-MX" dirty="0" smtClean="0">
                <a:solidFill>
                  <a:schemeClr val="accent1">
                    <a:lumMod val="60000"/>
                    <a:lumOff val="40000"/>
                  </a:schemeClr>
                </a:solidFill>
              </a:rPr>
              <a:t>“El objetivo debe tener significado y valor”</a:t>
            </a:r>
            <a:endParaRPr lang="es-ES" dirty="0" smtClean="0">
              <a:solidFill>
                <a:schemeClr val="accent1">
                  <a:lumMod val="60000"/>
                  <a:lumOff val="40000"/>
                </a:schemeClr>
              </a:solidFill>
            </a:endParaRPr>
          </a:p>
          <a:p>
            <a:pPr eaLnBrk="1" hangingPunct="1">
              <a:buFont typeface="Wingdings" pitchFamily="2" charset="2"/>
              <a:buNone/>
              <a:defRPr/>
            </a:pPr>
            <a:endParaRPr lang="es-MX" dirty="0" smtClean="0"/>
          </a:p>
          <a:p>
            <a:pPr eaLnBrk="1" hangingPunct="1">
              <a:buFont typeface="Wingdings" pitchFamily="2" charset="2"/>
              <a:buNone/>
              <a:defRPr/>
            </a:pPr>
            <a:r>
              <a:rPr lang="es-MX" dirty="0" smtClean="0"/>
              <a:t>	Estos son de vital importancia para llegar a los resultados deseados, deben ser definidos con claridad para que los comprendan todos los miembros de la empresa y se logre llegar a la meta fijada</a:t>
            </a:r>
            <a:endParaRPr lang="es-ES" dirty="0"/>
          </a:p>
        </p:txBody>
      </p:sp>
      <p:sp>
        <p:nvSpPr>
          <p:cNvPr id="34819" name="5 Marcador de número de diapositiva"/>
          <p:cNvSpPr>
            <a:spLocks noGrp="1"/>
          </p:cNvSpPr>
          <p:nvPr>
            <p:ph type="sldNum" sz="quarter" idx="12"/>
          </p:nvPr>
        </p:nvSpPr>
        <p:spPr>
          <a:noFill/>
        </p:spPr>
        <p:txBody>
          <a:bodyPr/>
          <a:lstStyle/>
          <a:p>
            <a:fld id="{A8EE32E8-7EB6-4F9E-97F4-71D42C29B2C8}" type="slidenum">
              <a:rPr lang="es-ES" smtClean="0">
                <a:latin typeface="Times New Roman" pitchFamily="18" charset="0"/>
              </a:rPr>
              <a:pPr/>
              <a:t>14</a:t>
            </a:fld>
            <a:endParaRPr lang="es-ES" smtClean="0">
              <a:latin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es-ES_tradnl" dirty="0"/>
              <a:t>Características de la administración</a:t>
            </a:r>
            <a:endParaRPr lang="es-ES" dirty="0"/>
          </a:p>
        </p:txBody>
      </p:sp>
      <p:sp>
        <p:nvSpPr>
          <p:cNvPr id="48131" name="Rectangle 3"/>
          <p:cNvSpPr>
            <a:spLocks noGrp="1" noChangeArrowheads="1"/>
          </p:cNvSpPr>
          <p:nvPr>
            <p:ph idx="1"/>
          </p:nvPr>
        </p:nvSpPr>
        <p:spPr/>
        <p:txBody>
          <a:bodyPr/>
          <a:lstStyle/>
          <a:p>
            <a:pPr eaLnBrk="1" hangingPunct="1">
              <a:defRPr/>
            </a:pPr>
            <a:r>
              <a:rPr lang="es-MX" sz="2800" b="1" dirty="0" smtClean="0">
                <a:solidFill>
                  <a:schemeClr val="accent1">
                    <a:lumMod val="60000"/>
                    <a:lumOff val="40000"/>
                  </a:schemeClr>
                </a:solidFill>
              </a:rPr>
              <a:t>Universalidad: </a:t>
            </a:r>
            <a:r>
              <a:rPr lang="es-MX" sz="2800" dirty="0" smtClean="0"/>
              <a:t>La administración se da en todos los organismos sociales (estado, ejército, empresa, iglesias, familia, etc.)</a:t>
            </a:r>
            <a:endParaRPr lang="es-ES" sz="2800" dirty="0" smtClean="0"/>
          </a:p>
          <a:p>
            <a:pPr eaLnBrk="1" hangingPunct="1">
              <a:defRPr/>
            </a:pPr>
            <a:r>
              <a:rPr lang="es-MX" sz="2800" b="1" dirty="0" smtClean="0">
                <a:solidFill>
                  <a:schemeClr val="accent1">
                    <a:lumMod val="60000"/>
                    <a:lumOff val="40000"/>
                  </a:schemeClr>
                </a:solidFill>
              </a:rPr>
              <a:t>Flexibilidad: </a:t>
            </a:r>
            <a:r>
              <a:rPr lang="es-MX" sz="2800" dirty="0" smtClean="0"/>
              <a:t>La administración se adapta a las necesidades particulares de cada organización.</a:t>
            </a:r>
            <a:endParaRPr lang="es-ES" sz="2800" dirty="0" smtClean="0"/>
          </a:p>
          <a:p>
            <a:pPr eaLnBrk="1" hangingPunct="1">
              <a:defRPr/>
            </a:pPr>
            <a:r>
              <a:rPr lang="es-MX" sz="2800" b="1" dirty="0" smtClean="0">
                <a:solidFill>
                  <a:schemeClr val="accent1">
                    <a:lumMod val="60000"/>
                    <a:lumOff val="40000"/>
                  </a:schemeClr>
                </a:solidFill>
              </a:rPr>
              <a:t>Intangible:</a:t>
            </a:r>
            <a:r>
              <a:rPr lang="es-MX" sz="2800" b="1" dirty="0" smtClean="0"/>
              <a:t> </a:t>
            </a:r>
            <a:r>
              <a:rPr lang="es-MX" sz="2800" dirty="0" smtClean="0"/>
              <a:t>Su presencia queda evidenciada por el resultado del esfuerzo de los integrantes de la organización</a:t>
            </a:r>
            <a:endParaRPr lang="es-ES" sz="2800" dirty="0"/>
          </a:p>
        </p:txBody>
      </p:sp>
      <p:sp>
        <p:nvSpPr>
          <p:cNvPr id="35843" name="5 Marcador de número de diapositiva"/>
          <p:cNvSpPr>
            <a:spLocks noGrp="1"/>
          </p:cNvSpPr>
          <p:nvPr>
            <p:ph type="sldNum" sz="quarter" idx="12"/>
          </p:nvPr>
        </p:nvSpPr>
        <p:spPr>
          <a:noFill/>
        </p:spPr>
        <p:txBody>
          <a:bodyPr/>
          <a:lstStyle/>
          <a:p>
            <a:fld id="{13BB9E99-B8A5-4983-8CA0-00E4DF6A8A7A}" type="slidenum">
              <a:rPr lang="es-ES" smtClean="0">
                <a:latin typeface="Times New Roman" pitchFamily="18" charset="0"/>
              </a:rPr>
              <a:pPr/>
              <a:t>15</a:t>
            </a:fld>
            <a:endParaRPr lang="es-ES" smtClean="0">
              <a:latin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defRPr/>
            </a:pPr>
            <a:r>
              <a:rPr lang="es-ES_tradnl" dirty="0"/>
              <a:t>Características de la </a:t>
            </a:r>
            <a:r>
              <a:rPr lang="es-ES_tradnl" dirty="0" smtClean="0"/>
              <a:t>administración</a:t>
            </a:r>
            <a:endParaRPr lang="es-ES" dirty="0"/>
          </a:p>
        </p:txBody>
      </p:sp>
      <p:sp>
        <p:nvSpPr>
          <p:cNvPr id="48131" name="Rectangle 3"/>
          <p:cNvSpPr>
            <a:spLocks noGrp="1" noChangeArrowheads="1"/>
          </p:cNvSpPr>
          <p:nvPr>
            <p:ph idx="1"/>
          </p:nvPr>
        </p:nvSpPr>
        <p:spPr/>
        <p:txBody>
          <a:bodyPr/>
          <a:lstStyle/>
          <a:p>
            <a:pPr eaLnBrk="1" hangingPunct="1">
              <a:buFont typeface="Wingdings" pitchFamily="2" charset="2"/>
              <a:buNone/>
              <a:defRPr/>
            </a:pPr>
            <a:endParaRPr lang="es-ES" sz="2800" dirty="0" smtClean="0"/>
          </a:p>
          <a:p>
            <a:pPr eaLnBrk="1" hangingPunct="1">
              <a:defRPr/>
            </a:pPr>
            <a:r>
              <a:rPr lang="es-MX" sz="2800" b="1" dirty="0" smtClean="0">
                <a:solidFill>
                  <a:schemeClr val="accent1">
                    <a:lumMod val="60000"/>
                    <a:lumOff val="40000"/>
                  </a:schemeClr>
                </a:solidFill>
              </a:rPr>
              <a:t>La administración no son personas</a:t>
            </a:r>
            <a:r>
              <a:rPr lang="es-MX" sz="2800" b="1" dirty="0" smtClean="0"/>
              <a:t>, </a:t>
            </a:r>
            <a:r>
              <a:rPr lang="es-MX" sz="2800" u="sng" dirty="0" smtClean="0">
                <a:solidFill>
                  <a:schemeClr val="accent1">
                    <a:lumMod val="60000"/>
                    <a:lumOff val="40000"/>
                  </a:schemeClr>
                </a:solidFill>
              </a:rPr>
              <a:t>es una actividad</a:t>
            </a:r>
            <a:r>
              <a:rPr lang="es-MX" sz="2800" dirty="0" smtClean="0"/>
              <a:t>; las personas que administran pueden ser designadas como Directores, Gerentes de áreas, Jefes, etc.</a:t>
            </a:r>
            <a:endParaRPr lang="es-ES" sz="2800" dirty="0" smtClean="0"/>
          </a:p>
          <a:p>
            <a:pPr eaLnBrk="1" hangingPunct="1">
              <a:defRPr/>
            </a:pPr>
            <a:r>
              <a:rPr lang="es-MX" sz="2800" b="1" dirty="0" smtClean="0">
                <a:solidFill>
                  <a:schemeClr val="accent1">
                    <a:lumMod val="60000"/>
                    <a:lumOff val="40000"/>
                  </a:schemeClr>
                </a:solidFill>
              </a:rPr>
              <a:t>Se logra mediante los esfuerzos</a:t>
            </a:r>
            <a:r>
              <a:rPr lang="es-MX" sz="2800" b="1" dirty="0" smtClean="0"/>
              <a:t>.  </a:t>
            </a:r>
            <a:r>
              <a:rPr lang="es-MX" sz="2800" dirty="0" smtClean="0"/>
              <a:t>Para participar en la administración se necesita dejar la costumbre de hacer las cosas por uno mismo y hace que las tareas se cumplan mediante esfuerzos de otros.</a:t>
            </a:r>
            <a:endParaRPr lang="es-ES" sz="2800" dirty="0" smtClean="0"/>
          </a:p>
          <a:p>
            <a:pPr eaLnBrk="1" hangingPunct="1">
              <a:buFont typeface="Wingdings" pitchFamily="2" charset="2"/>
              <a:buNone/>
              <a:defRPr/>
            </a:pPr>
            <a:endParaRPr lang="es-ES" sz="2800" dirty="0"/>
          </a:p>
        </p:txBody>
      </p:sp>
      <p:sp>
        <p:nvSpPr>
          <p:cNvPr id="36867" name="5 Marcador de número de diapositiva"/>
          <p:cNvSpPr>
            <a:spLocks noGrp="1"/>
          </p:cNvSpPr>
          <p:nvPr>
            <p:ph type="sldNum" sz="quarter" idx="12"/>
          </p:nvPr>
        </p:nvSpPr>
        <p:spPr>
          <a:noFill/>
        </p:spPr>
        <p:txBody>
          <a:bodyPr/>
          <a:lstStyle/>
          <a:p>
            <a:fld id="{C401D309-0285-47B9-A526-C7775DB982D8}" type="slidenum">
              <a:rPr lang="es-ES" smtClean="0">
                <a:latin typeface="Times New Roman" pitchFamily="18" charset="0"/>
              </a:rPr>
              <a:pPr/>
              <a:t>16</a:t>
            </a:fld>
            <a:endParaRPr lang="es-ES" smtClean="0">
              <a:latin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defRPr/>
            </a:pPr>
            <a:r>
              <a:rPr lang="es-ES_tradnl" dirty="0"/>
              <a:t>Funciones de la Administración</a:t>
            </a:r>
            <a:endParaRPr lang="es-ES" dirty="0"/>
          </a:p>
        </p:txBody>
      </p:sp>
      <p:sp>
        <p:nvSpPr>
          <p:cNvPr id="37890" name="Rectangle 3"/>
          <p:cNvSpPr>
            <a:spLocks noGrp="1" noChangeArrowheads="1"/>
          </p:cNvSpPr>
          <p:nvPr>
            <p:ph idx="1"/>
          </p:nvPr>
        </p:nvSpPr>
        <p:spPr/>
        <p:txBody>
          <a:bodyPr/>
          <a:lstStyle/>
          <a:p>
            <a:pPr eaLnBrk="1" hangingPunct="1"/>
            <a:r>
              <a:rPr lang="es-ES" smtClean="0"/>
              <a:t>Planeación</a:t>
            </a:r>
          </a:p>
          <a:p>
            <a:pPr eaLnBrk="1" hangingPunct="1"/>
            <a:r>
              <a:rPr lang="es-ES" smtClean="0"/>
              <a:t>Organización</a:t>
            </a:r>
          </a:p>
          <a:p>
            <a:pPr eaLnBrk="1" hangingPunct="1"/>
            <a:r>
              <a:rPr lang="es-ES" smtClean="0"/>
              <a:t>Integración Personal</a:t>
            </a:r>
          </a:p>
          <a:p>
            <a:pPr eaLnBrk="1" hangingPunct="1"/>
            <a:r>
              <a:rPr lang="es-ES" smtClean="0"/>
              <a:t>Dirección</a:t>
            </a:r>
          </a:p>
          <a:p>
            <a:pPr eaLnBrk="1" hangingPunct="1"/>
            <a:r>
              <a:rPr lang="es-ES" smtClean="0"/>
              <a:t>Control</a:t>
            </a:r>
          </a:p>
        </p:txBody>
      </p:sp>
      <p:sp>
        <p:nvSpPr>
          <p:cNvPr id="37891" name="5 Marcador de número de diapositiva"/>
          <p:cNvSpPr>
            <a:spLocks noGrp="1"/>
          </p:cNvSpPr>
          <p:nvPr>
            <p:ph type="sldNum" sz="quarter" idx="12"/>
          </p:nvPr>
        </p:nvSpPr>
        <p:spPr>
          <a:noFill/>
        </p:spPr>
        <p:txBody>
          <a:bodyPr/>
          <a:lstStyle/>
          <a:p>
            <a:fld id="{13C68818-6E3D-462A-86FB-C4F28E633424}" type="slidenum">
              <a:rPr lang="es-ES" smtClean="0">
                <a:latin typeface="Times New Roman" pitchFamily="18" charset="0"/>
              </a:rPr>
              <a:pPr/>
              <a:t>17</a:t>
            </a:fld>
            <a:endParaRPr lang="es-ES" smtClean="0">
              <a:latin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eaLnBrk="1" hangingPunct="1">
              <a:defRPr/>
            </a:pPr>
            <a:r>
              <a:rPr lang="es-ES" dirty="0" smtClean="0"/>
              <a:t>PLANEACION</a:t>
            </a:r>
            <a:endParaRPr lang="es-ES" dirty="0"/>
          </a:p>
        </p:txBody>
      </p:sp>
      <p:sp>
        <p:nvSpPr>
          <p:cNvPr id="38914" name="2 Marcador de contenido"/>
          <p:cNvSpPr>
            <a:spLocks noGrp="1"/>
          </p:cNvSpPr>
          <p:nvPr>
            <p:ph idx="1"/>
          </p:nvPr>
        </p:nvSpPr>
        <p:spPr/>
        <p:txBody>
          <a:bodyPr/>
          <a:lstStyle/>
          <a:p>
            <a:pPr algn="just" eaLnBrk="1" hangingPunct="1"/>
            <a:endParaRPr lang="es-ES" smtClean="0"/>
          </a:p>
          <a:p>
            <a:pPr algn="just" eaLnBrk="1" hangingPunct="1"/>
            <a:r>
              <a:rPr lang="es-ES" smtClean="0">
                <a:cs typeface="Arial" charset="0"/>
              </a:rPr>
              <a:t>Es el proceso de definir METAS, OBJETIVOS y ESTRATEGIAS de una organización</a:t>
            </a:r>
          </a:p>
          <a:p>
            <a:pPr eaLnBrk="1" hangingPunct="1">
              <a:buFont typeface="Wingdings" pitchFamily="2" charset="2"/>
              <a:buNone/>
            </a:pPr>
            <a:r>
              <a:rPr lang="es-ES" smtClean="0">
                <a:cs typeface="Arial" charset="0"/>
              </a:rPr>
              <a:t>.</a:t>
            </a:r>
          </a:p>
        </p:txBody>
      </p:sp>
      <p:sp>
        <p:nvSpPr>
          <p:cNvPr id="38915" name="3 Marcador de número de diapositiva"/>
          <p:cNvSpPr>
            <a:spLocks noGrp="1"/>
          </p:cNvSpPr>
          <p:nvPr>
            <p:ph type="sldNum" sz="quarter" idx="12"/>
          </p:nvPr>
        </p:nvSpPr>
        <p:spPr>
          <a:noFill/>
        </p:spPr>
        <p:txBody>
          <a:bodyPr/>
          <a:lstStyle/>
          <a:p>
            <a:fld id="{EE734180-5F4F-459F-ADCE-48195A381906}" type="slidenum">
              <a:rPr lang="es-ES" smtClean="0">
                <a:latin typeface="Times New Roman" pitchFamily="18" charset="0"/>
              </a:rPr>
              <a:pPr/>
              <a:t>18</a:t>
            </a:fld>
            <a:endParaRPr lang="es-ES" smtClean="0">
              <a:latin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eaLnBrk="1" hangingPunct="1">
              <a:defRPr/>
            </a:pPr>
            <a:r>
              <a:rPr lang="es-ES" dirty="0" smtClean="0"/>
              <a:t>ORGANIZACION</a:t>
            </a:r>
            <a:endParaRPr lang="es-ES" dirty="0"/>
          </a:p>
        </p:txBody>
      </p:sp>
      <p:sp>
        <p:nvSpPr>
          <p:cNvPr id="39938" name="2 Marcador de contenido"/>
          <p:cNvSpPr>
            <a:spLocks noGrp="1"/>
          </p:cNvSpPr>
          <p:nvPr>
            <p:ph idx="1"/>
          </p:nvPr>
        </p:nvSpPr>
        <p:spPr/>
        <p:txBody>
          <a:bodyPr/>
          <a:lstStyle/>
          <a:p>
            <a:pPr eaLnBrk="1" hangingPunct="1"/>
            <a:endParaRPr lang="es-ES" smtClean="0"/>
          </a:p>
          <a:p>
            <a:pPr eaLnBrk="1" hangingPunct="1"/>
            <a:endParaRPr lang="es-ES" smtClean="0"/>
          </a:p>
          <a:p>
            <a:pPr eaLnBrk="1" hangingPunct="1"/>
            <a:r>
              <a:rPr lang="es-ES" smtClean="0"/>
              <a:t>Es la manera como se lleva a cabo los planes</a:t>
            </a:r>
          </a:p>
        </p:txBody>
      </p:sp>
      <p:sp>
        <p:nvSpPr>
          <p:cNvPr id="39939" name="3 Marcador de número de diapositiva"/>
          <p:cNvSpPr>
            <a:spLocks noGrp="1"/>
          </p:cNvSpPr>
          <p:nvPr>
            <p:ph type="sldNum" sz="quarter" idx="12"/>
          </p:nvPr>
        </p:nvSpPr>
        <p:spPr>
          <a:noFill/>
        </p:spPr>
        <p:txBody>
          <a:bodyPr/>
          <a:lstStyle/>
          <a:p>
            <a:fld id="{55BCB96B-5F7A-4615-949B-371459EAACFF}" type="slidenum">
              <a:rPr lang="es-ES" smtClean="0">
                <a:latin typeface="Times New Roman" pitchFamily="18" charset="0"/>
              </a:rPr>
              <a:pPr/>
              <a:t>19</a:t>
            </a:fld>
            <a:endParaRPr lang="es-ES" smtClean="0">
              <a:latin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eaLnBrk="1" hangingPunct="1">
              <a:defRPr/>
            </a:pPr>
            <a:r>
              <a:rPr lang="es-ES" dirty="0" smtClean="0"/>
              <a:t>INTEGRACION DEL RECURSO HUMANO</a:t>
            </a:r>
            <a:endParaRPr lang="es-ES" dirty="0"/>
          </a:p>
        </p:txBody>
      </p:sp>
      <p:sp>
        <p:nvSpPr>
          <p:cNvPr id="40962" name="2 Marcador de contenido"/>
          <p:cNvSpPr>
            <a:spLocks noGrp="1"/>
          </p:cNvSpPr>
          <p:nvPr>
            <p:ph idx="1"/>
          </p:nvPr>
        </p:nvSpPr>
        <p:spPr/>
        <p:txBody>
          <a:bodyPr/>
          <a:lstStyle/>
          <a:p>
            <a:pPr eaLnBrk="1" hangingPunct="1"/>
            <a:endParaRPr lang="es-ES" smtClean="0"/>
          </a:p>
          <a:p>
            <a:pPr eaLnBrk="1" hangingPunct="1"/>
            <a:endParaRPr lang="es-ES" smtClean="0"/>
          </a:p>
          <a:p>
            <a:pPr eaLnBrk="1" hangingPunct="1"/>
            <a:r>
              <a:rPr lang="es-ES" smtClean="0"/>
              <a:t>Personal competente en la organización.</a:t>
            </a:r>
          </a:p>
        </p:txBody>
      </p:sp>
      <p:sp>
        <p:nvSpPr>
          <p:cNvPr id="40963" name="3 Marcador de número de diapositiva"/>
          <p:cNvSpPr>
            <a:spLocks noGrp="1"/>
          </p:cNvSpPr>
          <p:nvPr>
            <p:ph type="sldNum" sz="quarter" idx="12"/>
          </p:nvPr>
        </p:nvSpPr>
        <p:spPr>
          <a:noFill/>
        </p:spPr>
        <p:txBody>
          <a:bodyPr/>
          <a:lstStyle/>
          <a:p>
            <a:fld id="{00E1BC87-36C3-42F2-846D-D2F793885015}" type="slidenum">
              <a:rPr lang="es-ES" smtClean="0">
                <a:latin typeface="Times New Roman" pitchFamily="18" charset="0"/>
              </a:rPr>
              <a:pPr/>
              <a:t>20</a:t>
            </a:fld>
            <a:endParaRPr lang="es-ES" smtClean="0">
              <a:latin typeface="Times New Roman"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eaLnBrk="1" hangingPunct="1">
              <a:defRPr/>
            </a:pPr>
            <a:r>
              <a:rPr lang="es-ES" dirty="0" smtClean="0"/>
              <a:t>DIRECCION</a:t>
            </a:r>
            <a:endParaRPr lang="es-ES" dirty="0"/>
          </a:p>
        </p:txBody>
      </p:sp>
      <p:sp>
        <p:nvSpPr>
          <p:cNvPr id="41986" name="2 Marcador de contenido"/>
          <p:cNvSpPr>
            <a:spLocks noGrp="1"/>
          </p:cNvSpPr>
          <p:nvPr>
            <p:ph idx="1"/>
          </p:nvPr>
        </p:nvSpPr>
        <p:spPr/>
        <p:txBody>
          <a:bodyPr/>
          <a:lstStyle/>
          <a:p>
            <a:pPr eaLnBrk="1" hangingPunct="1"/>
            <a:endParaRPr lang="es-ES" smtClean="0"/>
          </a:p>
          <a:p>
            <a:pPr eaLnBrk="1" hangingPunct="1"/>
            <a:endParaRPr lang="es-ES" smtClean="0"/>
          </a:p>
          <a:p>
            <a:pPr eaLnBrk="1" hangingPunct="1"/>
            <a:r>
              <a:rPr lang="es-ES" smtClean="0"/>
              <a:t>Motivación, liderazgo</a:t>
            </a:r>
          </a:p>
        </p:txBody>
      </p:sp>
      <p:sp>
        <p:nvSpPr>
          <p:cNvPr id="41987" name="3 Marcador de número de diapositiva"/>
          <p:cNvSpPr>
            <a:spLocks noGrp="1"/>
          </p:cNvSpPr>
          <p:nvPr>
            <p:ph type="sldNum" sz="quarter" idx="12"/>
          </p:nvPr>
        </p:nvSpPr>
        <p:spPr>
          <a:noFill/>
        </p:spPr>
        <p:txBody>
          <a:bodyPr/>
          <a:lstStyle/>
          <a:p>
            <a:fld id="{5725987A-CF3A-4D7B-8866-CA6366C1EB6E}" type="slidenum">
              <a:rPr lang="es-ES" smtClean="0">
                <a:latin typeface="Times New Roman" pitchFamily="18" charset="0"/>
              </a:rPr>
              <a:pPr/>
              <a:t>21</a:t>
            </a:fld>
            <a:endParaRPr lang="es-ES" smtClean="0">
              <a:latin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eaLnBrk="1" hangingPunct="1">
              <a:defRPr/>
            </a:pPr>
            <a:r>
              <a:rPr lang="es-ES" dirty="0" smtClean="0"/>
              <a:t>CONTROL</a:t>
            </a:r>
            <a:endParaRPr lang="es-ES" dirty="0"/>
          </a:p>
        </p:txBody>
      </p:sp>
      <p:sp>
        <p:nvSpPr>
          <p:cNvPr id="43010" name="2 Marcador de contenido"/>
          <p:cNvSpPr>
            <a:spLocks noGrp="1"/>
          </p:cNvSpPr>
          <p:nvPr>
            <p:ph idx="1"/>
          </p:nvPr>
        </p:nvSpPr>
        <p:spPr/>
        <p:txBody>
          <a:bodyPr/>
          <a:lstStyle/>
          <a:p>
            <a:pPr eaLnBrk="1" hangingPunct="1"/>
            <a:endParaRPr lang="es-ES" smtClean="0"/>
          </a:p>
          <a:p>
            <a:pPr eaLnBrk="1" hangingPunct="1"/>
            <a:r>
              <a:rPr lang="es-ES" smtClean="0"/>
              <a:t>Es el seguimiento de las actividades de acuerdo con lo planeado</a:t>
            </a:r>
          </a:p>
        </p:txBody>
      </p:sp>
      <p:sp>
        <p:nvSpPr>
          <p:cNvPr id="43011" name="3 Marcador de número de diapositiva"/>
          <p:cNvSpPr>
            <a:spLocks noGrp="1"/>
          </p:cNvSpPr>
          <p:nvPr>
            <p:ph type="sldNum" sz="quarter" idx="12"/>
          </p:nvPr>
        </p:nvSpPr>
        <p:spPr>
          <a:noFill/>
        </p:spPr>
        <p:txBody>
          <a:bodyPr/>
          <a:lstStyle/>
          <a:p>
            <a:fld id="{393A2C09-CC21-4B57-8345-493B90258B3C}" type="slidenum">
              <a:rPr lang="es-ES" smtClean="0">
                <a:latin typeface="Times New Roman" pitchFamily="18" charset="0"/>
              </a:rPr>
              <a:pPr/>
              <a:t>22</a:t>
            </a:fld>
            <a:endParaRPr lang="es-ES" smtClean="0">
              <a:latin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sz="quarter"/>
          </p:nvPr>
        </p:nvSpPr>
        <p:spPr/>
        <p:txBody>
          <a:bodyPr/>
          <a:lstStyle/>
          <a:p>
            <a:pPr>
              <a:defRPr/>
            </a:pPr>
            <a:r>
              <a:rPr lang="es-ES" dirty="0" smtClean="0"/>
              <a:t>ORGANIZACIÓN VS ADMINISTRACION</a:t>
            </a:r>
            <a:endParaRPr lang="es-ES" dirty="0"/>
          </a:p>
        </p:txBody>
      </p:sp>
      <p:sp>
        <p:nvSpPr>
          <p:cNvPr id="44034" name="2 Subtítulo"/>
          <p:cNvSpPr>
            <a:spLocks noGrp="1"/>
          </p:cNvSpPr>
          <p:nvPr>
            <p:ph type="subTitle" sz="quarter" idx="1"/>
          </p:nvPr>
        </p:nvSpPr>
        <p:spPr/>
        <p:txBody>
          <a:bodyPr/>
          <a:lstStyle/>
          <a:p>
            <a:r>
              <a:rPr lang="es-ES" smtClean="0"/>
              <a:t>ORGANIZACION</a:t>
            </a:r>
          </a:p>
        </p:txBody>
      </p:sp>
      <p:sp>
        <p:nvSpPr>
          <p:cNvPr id="44035" name="3 Marcador de número de diapositiva"/>
          <p:cNvSpPr>
            <a:spLocks noGrp="1"/>
          </p:cNvSpPr>
          <p:nvPr>
            <p:ph type="sldNum" sz="quarter" idx="12"/>
          </p:nvPr>
        </p:nvSpPr>
        <p:spPr>
          <a:noFill/>
        </p:spPr>
        <p:txBody>
          <a:bodyPr/>
          <a:lstStyle/>
          <a:p>
            <a:fld id="{D49C110B-0AD4-4FC9-A41C-0A6EF8E34FAE}" type="slidenum">
              <a:rPr lang="es-ES" smtClean="0">
                <a:latin typeface="Times New Roman" pitchFamily="18" charset="0"/>
              </a:rPr>
              <a:pPr/>
              <a:t>23</a:t>
            </a:fld>
            <a:endParaRPr lang="es-ES" smtClean="0">
              <a:latin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defRPr/>
            </a:pPr>
            <a:r>
              <a:rPr lang="es-ES" dirty="0" smtClean="0"/>
              <a:t>QUE ES ORGANIZACIÓN?</a:t>
            </a:r>
            <a:endParaRPr lang="es-ES" dirty="0"/>
          </a:p>
        </p:txBody>
      </p:sp>
      <p:sp>
        <p:nvSpPr>
          <p:cNvPr id="45058" name="5 Marcador de número de diapositiva"/>
          <p:cNvSpPr>
            <a:spLocks noGrp="1"/>
          </p:cNvSpPr>
          <p:nvPr>
            <p:ph type="sldNum" sz="quarter" idx="12"/>
          </p:nvPr>
        </p:nvSpPr>
        <p:spPr>
          <a:noFill/>
        </p:spPr>
        <p:txBody>
          <a:bodyPr/>
          <a:lstStyle/>
          <a:p>
            <a:fld id="{405A3C6E-7A8C-42EC-ACBD-80E4599C1290}" type="slidenum">
              <a:rPr lang="es-ES" smtClean="0">
                <a:latin typeface="Times New Roman" pitchFamily="18" charset="0"/>
              </a:rPr>
              <a:pPr/>
              <a:t>24</a:t>
            </a:fld>
            <a:endParaRPr lang="es-ES" smtClean="0">
              <a:latin typeface="Times New Roman" pitchFamily="18" charset="0"/>
            </a:endParaRPr>
          </a:p>
        </p:txBody>
      </p:sp>
      <p:sp>
        <p:nvSpPr>
          <p:cNvPr id="45059" name="4 Marcador de contenido"/>
          <p:cNvSpPr>
            <a:spLocks noGrp="1"/>
          </p:cNvSpPr>
          <p:nvPr>
            <p:ph idx="1"/>
          </p:nvPr>
        </p:nvSpPr>
        <p:spPr/>
        <p:txBody>
          <a:bodyPr/>
          <a:lstStyle/>
          <a:p>
            <a:pPr eaLnBrk="1" hangingPunct="1"/>
            <a:r>
              <a:rPr lang="es-ES" smtClean="0"/>
              <a:t>SON GRUPOS DE PERSONAS O ENTES SOCIALES; CUYOS MIEMBROS SON ORIENTADOS PARA LOGRAR FINES DETERMINADOS MEDIANTE TRABAJO Y RECURSOS MATERIALES; PUEDEN SER ESTABLES O TEMPORALES.</a:t>
            </a:r>
          </a:p>
          <a:p>
            <a:pPr eaLnBrk="1" hangingPunct="1"/>
            <a:endParaRPr lang="es-ES" smtClean="0"/>
          </a:p>
          <a:p>
            <a:pPr eaLnBrk="1" hangingPunct="1">
              <a:buFont typeface="Wingdings" pitchFamily="2" charset="2"/>
              <a:buNone/>
            </a:pPr>
            <a:endParaRPr lang="es-ES" smtClean="0"/>
          </a:p>
          <a:p>
            <a:pPr algn="just" eaLnBrk="1" hangingPunct="1"/>
            <a:endParaRPr lang="es-ES"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ORGANIZACIÓN VS ADMINISTRACION</a:t>
            </a:r>
            <a:endParaRPr lang="es-ES" dirty="0"/>
          </a:p>
        </p:txBody>
      </p:sp>
      <p:sp>
        <p:nvSpPr>
          <p:cNvPr id="46082" name="2 Marcador de texto"/>
          <p:cNvSpPr>
            <a:spLocks noGrp="1"/>
          </p:cNvSpPr>
          <p:nvPr>
            <p:ph type="body" idx="1"/>
          </p:nvPr>
        </p:nvSpPr>
        <p:spPr/>
        <p:txBody>
          <a:bodyPr/>
          <a:lstStyle/>
          <a:p>
            <a:r>
              <a:rPr lang="es-ES" smtClean="0"/>
              <a:t>CONCEPTOS , TIPOLOGIAS Y DIFERENCIAS.</a:t>
            </a:r>
          </a:p>
        </p:txBody>
      </p:sp>
      <p:sp>
        <p:nvSpPr>
          <p:cNvPr id="46083" name="3 Marcador de número de diapositiva"/>
          <p:cNvSpPr>
            <a:spLocks noGrp="1"/>
          </p:cNvSpPr>
          <p:nvPr>
            <p:ph type="sldNum" sz="quarter" idx="12"/>
          </p:nvPr>
        </p:nvSpPr>
        <p:spPr>
          <a:noFill/>
        </p:spPr>
        <p:txBody>
          <a:bodyPr/>
          <a:lstStyle/>
          <a:p>
            <a:fld id="{9BFDF449-FDF6-4674-B651-2CF070BC215D}" type="slidenum">
              <a:rPr lang="es-ES" smtClean="0">
                <a:latin typeface="Times New Roman" pitchFamily="18" charset="0"/>
              </a:rPr>
              <a:pPr/>
              <a:t>25</a:t>
            </a:fld>
            <a:endParaRPr lang="es-ES" smtClean="0">
              <a:latin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LAS ORGANIZACIONES SON:</a:t>
            </a:r>
            <a:endParaRPr lang="es-ES" dirty="0"/>
          </a:p>
        </p:txBody>
      </p:sp>
      <p:sp>
        <p:nvSpPr>
          <p:cNvPr id="47106" name="2 Marcador de contenido"/>
          <p:cNvSpPr>
            <a:spLocks noGrp="1"/>
          </p:cNvSpPr>
          <p:nvPr>
            <p:ph idx="1"/>
          </p:nvPr>
        </p:nvSpPr>
        <p:spPr/>
        <p:txBody>
          <a:bodyPr/>
          <a:lstStyle/>
          <a:p>
            <a:pPr algn="just"/>
            <a:r>
              <a:rPr lang="es-ES" smtClean="0"/>
              <a:t> DINAMICAS: Se crean, combinan, reproducen, deterioran, progresan y a veces mueren.</a:t>
            </a:r>
          </a:p>
          <a:p>
            <a:pPr algn="just"/>
            <a:r>
              <a:rPr lang="es-ES" smtClean="0"/>
              <a:t>CONFLICTIVAS: Donde se presenta la oposición, negociación, imposición entre su misma estructura.</a:t>
            </a:r>
          </a:p>
          <a:p>
            <a:endParaRPr lang="es-ES" smtClean="0"/>
          </a:p>
        </p:txBody>
      </p:sp>
      <p:sp>
        <p:nvSpPr>
          <p:cNvPr id="47107" name="3 Marcador de número de diapositiva"/>
          <p:cNvSpPr>
            <a:spLocks noGrp="1"/>
          </p:cNvSpPr>
          <p:nvPr>
            <p:ph type="sldNum" sz="quarter" idx="12"/>
          </p:nvPr>
        </p:nvSpPr>
        <p:spPr>
          <a:noFill/>
        </p:spPr>
        <p:txBody>
          <a:bodyPr/>
          <a:lstStyle/>
          <a:p>
            <a:fld id="{F476BCE9-2CFA-4C58-9220-65DFD6A4AC45}" type="slidenum">
              <a:rPr lang="es-ES" smtClean="0">
                <a:latin typeface="Times New Roman" pitchFamily="18" charset="0"/>
              </a:rPr>
              <a:pPr/>
              <a:t>26</a:t>
            </a:fld>
            <a:endParaRPr lang="es-ES" smtClean="0">
              <a:latin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LAS ORGANIZACIONES SON:</a:t>
            </a:r>
            <a:endParaRPr lang="es-ES" dirty="0"/>
          </a:p>
        </p:txBody>
      </p:sp>
      <p:sp>
        <p:nvSpPr>
          <p:cNvPr id="48130" name="2 Marcador de contenido"/>
          <p:cNvSpPr>
            <a:spLocks noGrp="1"/>
          </p:cNvSpPr>
          <p:nvPr>
            <p:ph idx="1"/>
          </p:nvPr>
        </p:nvSpPr>
        <p:spPr/>
        <p:txBody>
          <a:bodyPr/>
          <a:lstStyle/>
          <a:p>
            <a:pPr algn="just"/>
            <a:r>
              <a:rPr lang="es-ES" smtClean="0"/>
              <a:t>SISTEMAS ABIERTOS: </a:t>
            </a:r>
          </a:p>
          <a:p>
            <a:pPr algn="just">
              <a:buFont typeface="Wingdings" pitchFamily="2" charset="2"/>
              <a:buNone/>
            </a:pPr>
            <a:r>
              <a:rPr lang="es-ES" smtClean="0"/>
              <a:t>	Están articulados en estructuras mas amplias:</a:t>
            </a:r>
          </a:p>
          <a:p>
            <a:pPr algn="just">
              <a:buFont typeface="Wingdings" pitchFamily="2" charset="2"/>
              <a:buNone/>
            </a:pPr>
            <a:r>
              <a:rPr lang="es-ES" smtClean="0"/>
              <a:t>	Económicas, políticas y sociales.</a:t>
            </a:r>
          </a:p>
          <a:p>
            <a:pPr algn="just"/>
            <a:r>
              <a:rPr lang="es-ES" smtClean="0"/>
              <a:t>COMPLEJAS: Diferenciación de actividades.</a:t>
            </a:r>
          </a:p>
        </p:txBody>
      </p:sp>
      <p:sp>
        <p:nvSpPr>
          <p:cNvPr id="48131" name="3 Marcador de número de diapositiva"/>
          <p:cNvSpPr>
            <a:spLocks noGrp="1"/>
          </p:cNvSpPr>
          <p:nvPr>
            <p:ph type="sldNum" sz="quarter" idx="12"/>
          </p:nvPr>
        </p:nvSpPr>
        <p:spPr>
          <a:noFill/>
        </p:spPr>
        <p:txBody>
          <a:bodyPr/>
          <a:lstStyle/>
          <a:p>
            <a:fld id="{0E6527B8-49FA-45C3-A1FD-85AA178BCF43}" type="slidenum">
              <a:rPr lang="es-ES" smtClean="0">
                <a:latin typeface="Times New Roman" pitchFamily="18" charset="0"/>
              </a:rPr>
              <a:pPr/>
              <a:t>27</a:t>
            </a:fld>
            <a:endParaRPr lang="es-ES" smtClean="0">
              <a:latin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ORGANIZACIÓN VS ADMINISTRACIÒN</a:t>
            </a:r>
            <a:endParaRPr lang="es-ES" dirty="0"/>
          </a:p>
        </p:txBody>
      </p:sp>
      <p:sp>
        <p:nvSpPr>
          <p:cNvPr id="49154" name="2 Marcador de texto"/>
          <p:cNvSpPr>
            <a:spLocks noGrp="1"/>
          </p:cNvSpPr>
          <p:nvPr>
            <p:ph type="body" idx="1"/>
          </p:nvPr>
        </p:nvSpPr>
        <p:spPr/>
        <p:txBody>
          <a:bodyPr/>
          <a:lstStyle/>
          <a:p>
            <a:r>
              <a:rPr lang="es-ES" smtClean="0"/>
              <a:t>ORGANIZACION</a:t>
            </a:r>
          </a:p>
        </p:txBody>
      </p:sp>
      <p:sp>
        <p:nvSpPr>
          <p:cNvPr id="49155" name="3 Marcador de contenido"/>
          <p:cNvSpPr>
            <a:spLocks noGrp="1"/>
          </p:cNvSpPr>
          <p:nvPr>
            <p:ph sz="half" idx="2"/>
          </p:nvPr>
        </p:nvSpPr>
        <p:spPr/>
        <p:txBody>
          <a:bodyPr/>
          <a:lstStyle/>
          <a:p>
            <a:pPr algn="just"/>
            <a:r>
              <a:rPr lang="es-ES" smtClean="0"/>
              <a:t>Grupo de personas o ente social que ejecutan procesos de admón..</a:t>
            </a:r>
          </a:p>
          <a:p>
            <a:pPr algn="just"/>
            <a:r>
              <a:rPr lang="es-ES" smtClean="0"/>
              <a:t>Creación colectiva, no individual.</a:t>
            </a:r>
          </a:p>
          <a:p>
            <a:pPr algn="just"/>
            <a:r>
              <a:rPr lang="es-ES" smtClean="0"/>
              <a:t>Existen clases y grupos sociales diferentes.</a:t>
            </a:r>
          </a:p>
          <a:p>
            <a:pPr algn="just"/>
            <a:r>
              <a:rPr lang="es-ES" smtClean="0"/>
              <a:t>Ente social que tienen que ser administrados.</a:t>
            </a:r>
          </a:p>
          <a:p>
            <a:pPr algn="just"/>
            <a:r>
              <a:rPr lang="es-ES" smtClean="0"/>
              <a:t>Objeto sobre el cual se ejerce la administración</a:t>
            </a:r>
          </a:p>
        </p:txBody>
      </p:sp>
      <p:sp>
        <p:nvSpPr>
          <p:cNvPr id="49156" name="4 Marcador de texto"/>
          <p:cNvSpPr>
            <a:spLocks noGrp="1"/>
          </p:cNvSpPr>
          <p:nvPr>
            <p:ph type="body" sz="quarter" idx="3"/>
          </p:nvPr>
        </p:nvSpPr>
        <p:spPr/>
        <p:txBody>
          <a:bodyPr/>
          <a:lstStyle/>
          <a:p>
            <a:r>
              <a:rPr lang="es-ES" smtClean="0"/>
              <a:t>ADMINISTRACION</a:t>
            </a:r>
          </a:p>
        </p:txBody>
      </p:sp>
      <p:sp>
        <p:nvSpPr>
          <p:cNvPr id="49157" name="5 Marcador de contenido"/>
          <p:cNvSpPr>
            <a:spLocks noGrp="1"/>
          </p:cNvSpPr>
          <p:nvPr>
            <p:ph sz="quarter" idx="4"/>
          </p:nvPr>
        </p:nvSpPr>
        <p:spPr/>
        <p:txBody>
          <a:bodyPr/>
          <a:lstStyle/>
          <a:p>
            <a:pPr algn="just"/>
            <a:r>
              <a:rPr lang="es-ES" smtClean="0"/>
              <a:t>Es el conjunto de principios y técnicas para ejecutar las funciones administrativas.</a:t>
            </a:r>
          </a:p>
          <a:p>
            <a:pPr algn="just"/>
            <a:r>
              <a:rPr lang="es-ES" smtClean="0"/>
              <a:t>Practica social que se esquematiza el manejo de los recursos de una organización.</a:t>
            </a:r>
          </a:p>
        </p:txBody>
      </p:sp>
      <p:sp>
        <p:nvSpPr>
          <p:cNvPr id="49158" name="6 Marcador de número de diapositiva"/>
          <p:cNvSpPr>
            <a:spLocks noGrp="1"/>
          </p:cNvSpPr>
          <p:nvPr>
            <p:ph type="sldNum" sz="quarter" idx="12"/>
          </p:nvPr>
        </p:nvSpPr>
        <p:spPr>
          <a:noFill/>
        </p:spPr>
        <p:txBody>
          <a:bodyPr/>
          <a:lstStyle/>
          <a:p>
            <a:fld id="{1AD04430-A11E-4B12-954A-D9FA7A35F0CF}" type="slidenum">
              <a:rPr lang="es-ES" smtClean="0">
                <a:latin typeface="Times New Roman" pitchFamily="18" charset="0"/>
              </a:rPr>
              <a:pPr/>
              <a:t>28</a:t>
            </a:fld>
            <a:endParaRPr lang="es-ES" smtClean="0">
              <a:latin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CONCEPTO DE EMPRESA:</a:t>
            </a:r>
            <a:endParaRPr lang="es-ES" dirty="0"/>
          </a:p>
        </p:txBody>
      </p:sp>
      <p:sp>
        <p:nvSpPr>
          <p:cNvPr id="50178" name="2 Marcador de contenido"/>
          <p:cNvSpPr>
            <a:spLocks noGrp="1"/>
          </p:cNvSpPr>
          <p:nvPr>
            <p:ph idx="1"/>
          </p:nvPr>
        </p:nvSpPr>
        <p:spPr/>
        <p:txBody>
          <a:bodyPr/>
          <a:lstStyle/>
          <a:p>
            <a:pPr algn="just"/>
            <a:r>
              <a:rPr lang="es-ES" smtClean="0"/>
              <a:t>UNIDAD ECONOMICA AUTONOMA ORGANIZADA PARA COMBINAR UN CONJUNTO DE FACTORES DE PRODUCCION CON VISTA A LA PRODUCCION DE BIENES O PRESTACION DE SERVICIOS.</a:t>
            </a:r>
          </a:p>
        </p:txBody>
      </p:sp>
      <p:sp>
        <p:nvSpPr>
          <p:cNvPr id="50179" name="3 Marcador de número de diapositiva"/>
          <p:cNvSpPr>
            <a:spLocks noGrp="1"/>
          </p:cNvSpPr>
          <p:nvPr>
            <p:ph type="sldNum" sz="quarter" idx="12"/>
          </p:nvPr>
        </p:nvSpPr>
        <p:spPr>
          <a:noFill/>
        </p:spPr>
        <p:txBody>
          <a:bodyPr/>
          <a:lstStyle/>
          <a:p>
            <a:fld id="{FAB3C445-F40F-4E6A-8E7D-7165ADEBAC72}" type="slidenum">
              <a:rPr lang="es-ES" smtClean="0">
                <a:latin typeface="Times New Roman" pitchFamily="18" charset="0"/>
              </a:rPr>
              <a:pPr/>
              <a:t>29</a:t>
            </a:fld>
            <a:endParaRPr lang="es-ES" smtClean="0">
              <a:latin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TIPOLOGIA EMPRESARIAL.</a:t>
            </a:r>
            <a:endParaRPr lang="es-ES" dirty="0"/>
          </a:p>
        </p:txBody>
      </p:sp>
      <p:sp>
        <p:nvSpPr>
          <p:cNvPr id="51202" name="2 Marcador de contenido"/>
          <p:cNvSpPr>
            <a:spLocks noGrp="1"/>
          </p:cNvSpPr>
          <p:nvPr>
            <p:ph idx="1"/>
          </p:nvPr>
        </p:nvSpPr>
        <p:spPr/>
        <p:txBody>
          <a:bodyPr/>
          <a:lstStyle/>
          <a:p>
            <a:pPr algn="ctr"/>
            <a:r>
              <a:rPr lang="es-ES" smtClean="0"/>
              <a:t>Las empresas se clasifican y denominan por:</a:t>
            </a:r>
          </a:p>
          <a:p>
            <a:pPr algn="just"/>
            <a:r>
              <a:rPr lang="es-ES" smtClean="0"/>
              <a:t>SU ORIGEN: Empresas publicas y privadas.</a:t>
            </a:r>
          </a:p>
          <a:p>
            <a:pPr algn="just"/>
            <a:r>
              <a:rPr lang="es-ES" smtClean="0"/>
              <a:t>SUS OBJETIVOS: Industriales, comerciales y de servicios.</a:t>
            </a:r>
          </a:p>
          <a:p>
            <a:pPr algn="just"/>
            <a:endParaRPr lang="es-ES" smtClean="0"/>
          </a:p>
        </p:txBody>
      </p:sp>
      <p:sp>
        <p:nvSpPr>
          <p:cNvPr id="51203" name="3 Marcador de número de diapositiva"/>
          <p:cNvSpPr>
            <a:spLocks noGrp="1"/>
          </p:cNvSpPr>
          <p:nvPr>
            <p:ph type="sldNum" sz="quarter" idx="12"/>
          </p:nvPr>
        </p:nvSpPr>
        <p:spPr>
          <a:noFill/>
        </p:spPr>
        <p:txBody>
          <a:bodyPr/>
          <a:lstStyle/>
          <a:p>
            <a:fld id="{4043D606-812B-418F-A7D6-1ECD669A0241}" type="slidenum">
              <a:rPr lang="es-ES" smtClean="0">
                <a:latin typeface="Times New Roman" pitchFamily="18" charset="0"/>
              </a:rPr>
              <a:pPr/>
              <a:t>30</a:t>
            </a:fld>
            <a:endParaRPr lang="es-ES" smtClean="0">
              <a:latin typeface="Times New Roman"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TIPOLOGIA EMPRESARIAL.</a:t>
            </a:r>
            <a:endParaRPr lang="es-ES" dirty="0"/>
          </a:p>
        </p:txBody>
      </p:sp>
      <p:sp>
        <p:nvSpPr>
          <p:cNvPr id="52226" name="2 Marcador de contenido"/>
          <p:cNvSpPr>
            <a:spLocks noGrp="1"/>
          </p:cNvSpPr>
          <p:nvPr>
            <p:ph idx="1"/>
          </p:nvPr>
        </p:nvSpPr>
        <p:spPr/>
        <p:txBody>
          <a:bodyPr/>
          <a:lstStyle/>
          <a:p>
            <a:r>
              <a:rPr lang="es-ES" smtClean="0"/>
              <a:t>EL DESTINO DE SUS RECURSOS Y UTILIDADES: Con animo de lucro o sin animo de lucro.</a:t>
            </a:r>
          </a:p>
          <a:p>
            <a:r>
              <a:rPr lang="es-ES" smtClean="0"/>
              <a:t>LA PERTENENCIA: Privadas, publicas y mixtas.</a:t>
            </a:r>
          </a:p>
          <a:p>
            <a:r>
              <a:rPr lang="es-ES" smtClean="0"/>
              <a:t>TIPO DE APORTES, RECURSOS Y PARTICIPACION DE SUS MIEMBROS.</a:t>
            </a:r>
          </a:p>
        </p:txBody>
      </p:sp>
      <p:sp>
        <p:nvSpPr>
          <p:cNvPr id="52227" name="3 Marcador de número de diapositiva"/>
          <p:cNvSpPr>
            <a:spLocks noGrp="1"/>
          </p:cNvSpPr>
          <p:nvPr>
            <p:ph type="sldNum" sz="quarter" idx="12"/>
          </p:nvPr>
        </p:nvSpPr>
        <p:spPr>
          <a:noFill/>
        </p:spPr>
        <p:txBody>
          <a:bodyPr/>
          <a:lstStyle/>
          <a:p>
            <a:fld id="{0458D9DE-76C0-4CF7-BB45-44A4F11D3E17}" type="slidenum">
              <a:rPr lang="es-ES" smtClean="0">
                <a:latin typeface="Times New Roman" pitchFamily="18" charset="0"/>
              </a:rPr>
              <a:pPr/>
              <a:t>31</a:t>
            </a:fld>
            <a:endParaRPr lang="es-ES" smtClean="0">
              <a:latin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TIPOLOGIA EMPRESARIAL.</a:t>
            </a:r>
            <a:endParaRPr lang="es-ES" dirty="0"/>
          </a:p>
        </p:txBody>
      </p:sp>
      <p:sp>
        <p:nvSpPr>
          <p:cNvPr id="53250" name="2 Marcador de contenido"/>
          <p:cNvSpPr>
            <a:spLocks noGrp="1"/>
          </p:cNvSpPr>
          <p:nvPr>
            <p:ph idx="1"/>
          </p:nvPr>
        </p:nvSpPr>
        <p:spPr/>
        <p:txBody>
          <a:bodyPr/>
          <a:lstStyle/>
          <a:p>
            <a:r>
              <a:rPr lang="es-ES" smtClean="0"/>
              <a:t>REGIMEN JURIDICO: S.A., LTDA, S.E.C., S.H.</a:t>
            </a:r>
          </a:p>
          <a:p>
            <a:r>
              <a:rPr lang="es-ES" smtClean="0"/>
              <a:t>TAMAÑO: Grande, mediana, pequeña, microempresa.</a:t>
            </a:r>
          </a:p>
          <a:p>
            <a:r>
              <a:rPr lang="es-ES" smtClean="0"/>
              <a:t>AMBITO TERRITORIAL DE SU ACTIVIDAD: Empresa Local, regional, nacional, multinacional, etc. </a:t>
            </a:r>
          </a:p>
        </p:txBody>
      </p:sp>
      <p:sp>
        <p:nvSpPr>
          <p:cNvPr id="53251" name="3 Marcador de número de diapositiva"/>
          <p:cNvSpPr>
            <a:spLocks noGrp="1"/>
          </p:cNvSpPr>
          <p:nvPr>
            <p:ph type="sldNum" sz="quarter" idx="12"/>
          </p:nvPr>
        </p:nvSpPr>
        <p:spPr>
          <a:noFill/>
        </p:spPr>
        <p:txBody>
          <a:bodyPr/>
          <a:lstStyle/>
          <a:p>
            <a:fld id="{89A3BCE9-C8DF-4B50-8312-8A8EE74B973B}" type="slidenum">
              <a:rPr lang="es-ES" smtClean="0">
                <a:latin typeface="Times New Roman" pitchFamily="18" charset="0"/>
              </a:rPr>
              <a:pPr/>
              <a:t>32</a:t>
            </a:fld>
            <a:endParaRPr lang="es-ES" smtClean="0">
              <a:latin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 dirty="0" smtClean="0"/>
              <a:t>EMPRESAS VIRTUALES</a:t>
            </a:r>
            <a:endParaRPr lang="es-ES" dirty="0"/>
          </a:p>
        </p:txBody>
      </p:sp>
      <p:sp>
        <p:nvSpPr>
          <p:cNvPr id="54274" name="2 Marcador de contenido"/>
          <p:cNvSpPr>
            <a:spLocks noGrp="1"/>
          </p:cNvSpPr>
          <p:nvPr>
            <p:ph idx="1"/>
          </p:nvPr>
        </p:nvSpPr>
        <p:spPr/>
        <p:txBody>
          <a:bodyPr/>
          <a:lstStyle/>
          <a:p>
            <a:pPr algn="just"/>
            <a:r>
              <a:rPr lang="es-ES" smtClean="0"/>
              <a:t>Son la que tienen acceso al mercado Global a través de la red. Mediante Internet, comercializan, venden, compran y promocionan servicios y productos en el mercado.</a:t>
            </a:r>
          </a:p>
        </p:txBody>
      </p:sp>
      <p:sp>
        <p:nvSpPr>
          <p:cNvPr id="54275" name="3 Marcador de número de diapositiva"/>
          <p:cNvSpPr>
            <a:spLocks noGrp="1"/>
          </p:cNvSpPr>
          <p:nvPr>
            <p:ph type="sldNum" sz="quarter" idx="12"/>
          </p:nvPr>
        </p:nvSpPr>
        <p:spPr>
          <a:noFill/>
        </p:spPr>
        <p:txBody>
          <a:bodyPr/>
          <a:lstStyle/>
          <a:p>
            <a:fld id="{B200B43D-41ED-46AD-91CB-5F24998BC2E0}" type="slidenum">
              <a:rPr lang="es-ES" smtClean="0">
                <a:latin typeface="Times New Roman" pitchFamily="18" charset="0"/>
              </a:rPr>
              <a:pPr/>
              <a:t>33</a:t>
            </a:fld>
            <a:endParaRPr lang="es-ES" smtClean="0">
              <a:latin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ChangeArrowheads="1"/>
          </p:cNvSpPr>
          <p:nvPr>
            <p:ph type="title"/>
          </p:nvPr>
        </p:nvSpPr>
        <p:spPr/>
        <p:txBody>
          <a:bodyPr/>
          <a:lstStyle/>
          <a:p>
            <a:r>
              <a:rPr lang="es-AR" b="1" smtClean="0">
                <a:effectLst/>
              </a:rPr>
              <a:t>LA ADMINISTRACIÓN:</a:t>
            </a:r>
            <a:endParaRPr lang="es-ES" b="1" smtClean="0">
              <a:effectLst/>
            </a:endParaRPr>
          </a:p>
        </p:txBody>
      </p:sp>
      <p:sp>
        <p:nvSpPr>
          <p:cNvPr id="80898" name="Rectangle 3"/>
          <p:cNvSpPr>
            <a:spLocks noGrp="1" noChangeArrowheads="1"/>
          </p:cNvSpPr>
          <p:nvPr>
            <p:ph type="body" idx="1"/>
          </p:nvPr>
        </p:nvSpPr>
        <p:spPr/>
        <p:txBody>
          <a:bodyPr/>
          <a:lstStyle/>
          <a:p>
            <a:pPr algn="ctr">
              <a:buFont typeface="Wingdings" pitchFamily="2" charset="2"/>
              <a:buNone/>
            </a:pPr>
            <a:r>
              <a:rPr lang="es-ES" sz="4400" b="1" smtClean="0"/>
              <a:t>CIENCIA, TECNICA</a:t>
            </a:r>
          </a:p>
          <a:p>
            <a:pPr algn="ctr">
              <a:buFont typeface="Wingdings" pitchFamily="2" charset="2"/>
              <a:buNone/>
            </a:pPr>
            <a:r>
              <a:rPr lang="es-ES" sz="4400" b="1" smtClean="0"/>
              <a:t>O</a:t>
            </a:r>
          </a:p>
          <a:p>
            <a:pPr algn="ctr">
              <a:buFont typeface="Wingdings" pitchFamily="2" charset="2"/>
              <a:buNone/>
            </a:pPr>
            <a:r>
              <a:rPr lang="es-ES" sz="4400" b="1" smtClean="0"/>
              <a:t>ARTE?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_tradnl" dirty="0" smtClean="0"/>
              <a:t>CONCEPTO DE CIENCIA</a:t>
            </a:r>
            <a:endParaRPr lang="es-ES_tradnl" dirty="0"/>
          </a:p>
        </p:txBody>
      </p:sp>
      <p:sp>
        <p:nvSpPr>
          <p:cNvPr id="81922" name="2 Marcador de contenido"/>
          <p:cNvSpPr>
            <a:spLocks noGrp="1"/>
          </p:cNvSpPr>
          <p:nvPr>
            <p:ph idx="1"/>
          </p:nvPr>
        </p:nvSpPr>
        <p:spPr/>
        <p:txBody>
          <a:bodyPr/>
          <a:lstStyle/>
          <a:p>
            <a:r>
              <a:rPr lang="es-ES_tradnl" smtClean="0"/>
              <a:t>Es el conocimiento de las cosas por sus causas.</a:t>
            </a:r>
          </a:p>
          <a:p>
            <a:endParaRPr lang="es-ES_tradnl" smtClean="0"/>
          </a:p>
          <a:p>
            <a:r>
              <a:rPr lang="es-ES_tradnl" smtClean="0"/>
              <a:t>Conjunto de conocimientos sistematizados sobre un objeto.</a:t>
            </a:r>
          </a:p>
        </p:txBody>
      </p:sp>
      <p:sp>
        <p:nvSpPr>
          <p:cNvPr id="81923" name="3 Marcador de número de diapositiva"/>
          <p:cNvSpPr>
            <a:spLocks noGrp="1"/>
          </p:cNvSpPr>
          <p:nvPr>
            <p:ph type="sldNum" sz="quarter" idx="12"/>
          </p:nvPr>
        </p:nvSpPr>
        <p:spPr>
          <a:noFill/>
        </p:spPr>
        <p:txBody>
          <a:bodyPr/>
          <a:lstStyle/>
          <a:p>
            <a:fld id="{63E06A7B-0250-412B-A60F-344CF2BB52FF}" type="slidenum">
              <a:rPr lang="es-ES" smtClean="0">
                <a:latin typeface="Times New Roman" pitchFamily="18" charset="0"/>
              </a:rPr>
              <a:pPr/>
              <a:t>35</a:t>
            </a:fld>
            <a:endParaRPr lang="es-ES" smtClean="0">
              <a:latin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_tradnl" dirty="0" smtClean="0"/>
              <a:t>LOS NIVELES DEL CONOCIMEINTO</a:t>
            </a:r>
            <a:endParaRPr lang="es-ES_tradnl" dirty="0"/>
          </a:p>
        </p:txBody>
      </p:sp>
      <p:sp>
        <p:nvSpPr>
          <p:cNvPr id="82946" name="2 Marcador de contenido"/>
          <p:cNvSpPr>
            <a:spLocks noGrp="1"/>
          </p:cNvSpPr>
          <p:nvPr>
            <p:ph idx="1"/>
          </p:nvPr>
        </p:nvSpPr>
        <p:spPr/>
        <p:txBody>
          <a:bodyPr/>
          <a:lstStyle/>
          <a:p>
            <a:endParaRPr lang="es-ES_tradnl" b="1" smtClean="0"/>
          </a:p>
          <a:p>
            <a:r>
              <a:rPr lang="es-ES_tradnl" b="1" smtClean="0"/>
              <a:t>CONOCIMIENTO POPULAR:</a:t>
            </a:r>
          </a:p>
          <a:p>
            <a:pPr algn="just">
              <a:buFont typeface="Wingdings" pitchFamily="2" charset="2"/>
              <a:buNone/>
            </a:pPr>
            <a:r>
              <a:rPr lang="es-ES_tradnl" smtClean="0"/>
              <a:t>   Es el conocimiento que se tiene sin profundizar en sus causas, naturaleza o características.</a:t>
            </a:r>
          </a:p>
        </p:txBody>
      </p:sp>
      <p:sp>
        <p:nvSpPr>
          <p:cNvPr id="82947" name="3 Marcador de número de diapositiva"/>
          <p:cNvSpPr>
            <a:spLocks noGrp="1"/>
          </p:cNvSpPr>
          <p:nvPr>
            <p:ph type="sldNum" sz="quarter" idx="12"/>
          </p:nvPr>
        </p:nvSpPr>
        <p:spPr>
          <a:noFill/>
        </p:spPr>
        <p:txBody>
          <a:bodyPr/>
          <a:lstStyle/>
          <a:p>
            <a:fld id="{1CB84DD8-F4E5-44C9-8DD6-1796C87A3A81}" type="slidenum">
              <a:rPr lang="es-ES" smtClean="0">
                <a:latin typeface="Times New Roman" pitchFamily="18" charset="0"/>
              </a:rPr>
              <a:pPr/>
              <a:t>36</a:t>
            </a:fld>
            <a:endParaRPr lang="es-ES" smtClean="0">
              <a:latin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_tradnl" dirty="0" smtClean="0"/>
              <a:t>LOS NIVELES DEL CONOCIMIETO</a:t>
            </a:r>
            <a:endParaRPr lang="es-ES_tradnl" dirty="0"/>
          </a:p>
        </p:txBody>
      </p:sp>
      <p:sp>
        <p:nvSpPr>
          <p:cNvPr id="83970" name="2 Marcador de contenido"/>
          <p:cNvSpPr>
            <a:spLocks noGrp="1"/>
          </p:cNvSpPr>
          <p:nvPr>
            <p:ph idx="1"/>
          </p:nvPr>
        </p:nvSpPr>
        <p:spPr/>
        <p:txBody>
          <a:bodyPr/>
          <a:lstStyle/>
          <a:p>
            <a:endParaRPr lang="es-ES_tradnl" b="1" smtClean="0"/>
          </a:p>
          <a:p>
            <a:r>
              <a:rPr lang="es-ES_tradnl" b="1" smtClean="0"/>
              <a:t>CONOCIMIENTO DE DIVULGACION:</a:t>
            </a:r>
          </a:p>
          <a:p>
            <a:pPr algn="just">
              <a:buFont typeface="Wingdings" pitchFamily="2" charset="2"/>
              <a:buNone/>
            </a:pPr>
            <a:r>
              <a:rPr lang="es-ES_tradnl" smtClean="0"/>
              <a:t>   Es la información que se recibe sobre un objeto o fenómeno.  Se basa en datos ya elaborados por investigadores y autores.</a:t>
            </a:r>
          </a:p>
        </p:txBody>
      </p:sp>
      <p:sp>
        <p:nvSpPr>
          <p:cNvPr id="83971" name="3 Marcador de número de diapositiva"/>
          <p:cNvSpPr>
            <a:spLocks noGrp="1"/>
          </p:cNvSpPr>
          <p:nvPr>
            <p:ph type="sldNum" sz="quarter" idx="12"/>
          </p:nvPr>
        </p:nvSpPr>
        <p:spPr>
          <a:noFill/>
        </p:spPr>
        <p:txBody>
          <a:bodyPr/>
          <a:lstStyle/>
          <a:p>
            <a:fld id="{CC8E85A3-5253-4C09-A22F-100D7E80BA83}" type="slidenum">
              <a:rPr lang="es-ES" smtClean="0">
                <a:latin typeface="Times New Roman" pitchFamily="18" charset="0"/>
              </a:rPr>
              <a:pPr/>
              <a:t>37</a:t>
            </a:fld>
            <a:endParaRPr lang="es-ES" smtClean="0">
              <a:latin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_tradnl" dirty="0" smtClean="0"/>
              <a:t>LOS NIVELES DEL CONOCIMIENTO</a:t>
            </a:r>
            <a:endParaRPr lang="es-ES_tradnl" dirty="0"/>
          </a:p>
        </p:txBody>
      </p:sp>
      <p:sp>
        <p:nvSpPr>
          <p:cNvPr id="84994" name="2 Marcador de contenido"/>
          <p:cNvSpPr>
            <a:spLocks noGrp="1"/>
          </p:cNvSpPr>
          <p:nvPr>
            <p:ph idx="1"/>
          </p:nvPr>
        </p:nvSpPr>
        <p:spPr/>
        <p:txBody>
          <a:bodyPr/>
          <a:lstStyle/>
          <a:p>
            <a:endParaRPr lang="es-ES_tradnl" smtClean="0"/>
          </a:p>
          <a:p>
            <a:r>
              <a:rPr lang="es-ES_tradnl" b="1" smtClean="0"/>
              <a:t>CONOCIMIENTO CIENTIFICO:</a:t>
            </a:r>
          </a:p>
          <a:p>
            <a:pPr algn="just">
              <a:buFont typeface="Wingdings" pitchFamily="2" charset="2"/>
              <a:buNone/>
            </a:pPr>
            <a:r>
              <a:rPr lang="es-ES_tradnl" smtClean="0"/>
              <a:t>  Se adquiere por investigación directa conduciendo a obtener la información sobre ese objeto o fenómeno y esa investigación se realiza aplicando un método llamado “METODO CIENTIFICO”</a:t>
            </a:r>
          </a:p>
        </p:txBody>
      </p:sp>
      <p:sp>
        <p:nvSpPr>
          <p:cNvPr id="84995" name="3 Marcador de número de diapositiva"/>
          <p:cNvSpPr>
            <a:spLocks noGrp="1"/>
          </p:cNvSpPr>
          <p:nvPr>
            <p:ph type="sldNum" sz="quarter" idx="12"/>
          </p:nvPr>
        </p:nvSpPr>
        <p:spPr>
          <a:noFill/>
        </p:spPr>
        <p:txBody>
          <a:bodyPr/>
          <a:lstStyle/>
          <a:p>
            <a:fld id="{21315585-E567-4B68-A433-1D191D08BFF8}" type="slidenum">
              <a:rPr lang="es-ES" smtClean="0">
                <a:latin typeface="Times New Roman" pitchFamily="18" charset="0"/>
              </a:rPr>
              <a:pPr/>
              <a:t>38</a:t>
            </a:fld>
            <a:endParaRPr lang="es-ES" smtClean="0">
              <a:latin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_tradnl" dirty="0" smtClean="0"/>
              <a:t>FENOMENO</a:t>
            </a:r>
            <a:endParaRPr lang="es-ES_tradnl" dirty="0"/>
          </a:p>
        </p:txBody>
      </p:sp>
      <p:sp>
        <p:nvSpPr>
          <p:cNvPr id="86018" name="2 Marcador de contenido"/>
          <p:cNvSpPr>
            <a:spLocks noGrp="1"/>
          </p:cNvSpPr>
          <p:nvPr>
            <p:ph idx="1"/>
          </p:nvPr>
        </p:nvSpPr>
        <p:spPr/>
        <p:txBody>
          <a:bodyPr/>
          <a:lstStyle/>
          <a:p>
            <a:pPr>
              <a:buFont typeface="Wingdings" pitchFamily="2" charset="2"/>
              <a:buNone/>
            </a:pPr>
            <a:endParaRPr lang="es-ES_tradnl" smtClean="0"/>
          </a:p>
          <a:p>
            <a:pPr>
              <a:buFont typeface="Wingdings" pitchFamily="2" charset="2"/>
              <a:buNone/>
            </a:pPr>
            <a:r>
              <a:rPr lang="es-ES_tradnl" smtClean="0"/>
              <a:t>   Es una manifestación de lo cual nos formamos una idea a través de las percepciones de los sentidos y la intuición de la inteligencia.</a:t>
            </a:r>
          </a:p>
        </p:txBody>
      </p:sp>
      <p:sp>
        <p:nvSpPr>
          <p:cNvPr id="86019" name="3 Marcador de número de diapositiva"/>
          <p:cNvSpPr>
            <a:spLocks noGrp="1"/>
          </p:cNvSpPr>
          <p:nvPr>
            <p:ph type="sldNum" sz="quarter" idx="12"/>
          </p:nvPr>
        </p:nvSpPr>
        <p:spPr>
          <a:noFill/>
        </p:spPr>
        <p:txBody>
          <a:bodyPr/>
          <a:lstStyle/>
          <a:p>
            <a:fld id="{25137021-7F34-4F3D-BE4A-6DB5A1815A7A}" type="slidenum">
              <a:rPr lang="es-ES" smtClean="0">
                <a:latin typeface="Times New Roman" pitchFamily="18" charset="0"/>
              </a:rPr>
              <a:pPr/>
              <a:t>39</a:t>
            </a:fld>
            <a:endParaRPr lang="es-ES" smtClean="0">
              <a:latin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l">
              <a:defRPr/>
            </a:pPr>
            <a:r>
              <a:rPr lang="es-ES_tradnl" dirty="0" smtClean="0"/>
              <a:t/>
            </a:r>
            <a:br>
              <a:rPr lang="es-ES_tradnl" dirty="0" smtClean="0"/>
            </a:br>
            <a:r>
              <a:rPr lang="es-ES_tradnl" dirty="0" smtClean="0"/>
              <a:t>Los métodos que se aplican para el estudio de los fenómenos son:</a:t>
            </a:r>
            <a:endParaRPr lang="es-ES_tradnl" dirty="0"/>
          </a:p>
        </p:txBody>
      </p:sp>
      <p:sp>
        <p:nvSpPr>
          <p:cNvPr id="87042" name="2 Marcador de contenido"/>
          <p:cNvSpPr>
            <a:spLocks noGrp="1"/>
          </p:cNvSpPr>
          <p:nvPr>
            <p:ph idx="1"/>
          </p:nvPr>
        </p:nvSpPr>
        <p:spPr/>
        <p:txBody>
          <a:bodyPr/>
          <a:lstStyle/>
          <a:p>
            <a:endParaRPr lang="es-ES_tradnl" smtClean="0"/>
          </a:p>
          <a:p>
            <a:endParaRPr lang="es-ES_tradnl" smtClean="0"/>
          </a:p>
          <a:p>
            <a:r>
              <a:rPr lang="es-ES_tradnl" smtClean="0"/>
              <a:t>Observación</a:t>
            </a:r>
          </a:p>
          <a:p>
            <a:r>
              <a:rPr lang="es-ES_tradnl" smtClean="0"/>
              <a:t>Experimentación</a:t>
            </a:r>
          </a:p>
          <a:p>
            <a:r>
              <a:rPr lang="es-ES_tradnl" smtClean="0"/>
              <a:t>Reflexión</a:t>
            </a:r>
          </a:p>
        </p:txBody>
      </p:sp>
      <p:sp>
        <p:nvSpPr>
          <p:cNvPr id="87043" name="3 Marcador de número de diapositiva"/>
          <p:cNvSpPr>
            <a:spLocks noGrp="1"/>
          </p:cNvSpPr>
          <p:nvPr>
            <p:ph type="sldNum" sz="quarter" idx="12"/>
          </p:nvPr>
        </p:nvSpPr>
        <p:spPr>
          <a:noFill/>
        </p:spPr>
        <p:txBody>
          <a:bodyPr/>
          <a:lstStyle/>
          <a:p>
            <a:fld id="{710E7D3A-67F5-42B3-93A9-0D05BD2E719E}" type="slidenum">
              <a:rPr lang="es-ES" smtClean="0">
                <a:latin typeface="Times New Roman" pitchFamily="18" charset="0"/>
              </a:rPr>
              <a:pPr/>
              <a:t>40</a:t>
            </a:fld>
            <a:endParaRPr lang="es-ES" smtClean="0">
              <a:latin typeface="Times New Roman"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_tradnl" dirty="0" smtClean="0"/>
              <a:t>METODO CIENTIFICO</a:t>
            </a:r>
            <a:endParaRPr lang="es-ES_tradnl" dirty="0"/>
          </a:p>
        </p:txBody>
      </p:sp>
      <p:sp>
        <p:nvSpPr>
          <p:cNvPr id="89090" name="2 Marcador de contenido"/>
          <p:cNvSpPr>
            <a:spLocks noGrp="1"/>
          </p:cNvSpPr>
          <p:nvPr>
            <p:ph idx="1"/>
          </p:nvPr>
        </p:nvSpPr>
        <p:spPr/>
        <p:txBody>
          <a:bodyPr/>
          <a:lstStyle/>
          <a:p>
            <a:r>
              <a:rPr lang="es-ES_tradnl" smtClean="0"/>
              <a:t>El método científico es el camino o modo de llegar al conocimiento de algo. No se trata de buscar un conocimiento popular, sino de descubrir las leyes y características de un fenómeno que nos interesa</a:t>
            </a:r>
          </a:p>
        </p:txBody>
      </p:sp>
      <p:sp>
        <p:nvSpPr>
          <p:cNvPr id="89091" name="3 Marcador de número de diapositiva"/>
          <p:cNvSpPr>
            <a:spLocks noGrp="1"/>
          </p:cNvSpPr>
          <p:nvPr>
            <p:ph type="sldNum" sz="quarter" idx="12"/>
          </p:nvPr>
        </p:nvSpPr>
        <p:spPr>
          <a:noFill/>
        </p:spPr>
        <p:txBody>
          <a:bodyPr/>
          <a:lstStyle/>
          <a:p>
            <a:fld id="{98E89901-F39E-4F66-A562-C289264C7CB8}" type="slidenum">
              <a:rPr lang="es-ES" smtClean="0">
                <a:latin typeface="Times New Roman" pitchFamily="18" charset="0"/>
              </a:rPr>
              <a:pPr/>
              <a:t>41</a:t>
            </a:fld>
            <a:endParaRPr lang="es-ES" smtClean="0">
              <a:latin typeface="Times New Roman"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l"/>
            <a:r>
              <a:rPr lang="es-ES_tradnl" smtClean="0"/>
              <a:t>Los pasos que se utilizan para esa investigación son:</a:t>
            </a:r>
          </a:p>
        </p:txBody>
      </p:sp>
      <p:sp>
        <p:nvSpPr>
          <p:cNvPr id="90114" name="2 Marcador de contenido"/>
          <p:cNvSpPr>
            <a:spLocks noGrp="1"/>
          </p:cNvSpPr>
          <p:nvPr>
            <p:ph idx="1"/>
          </p:nvPr>
        </p:nvSpPr>
        <p:spPr>
          <a:xfrm>
            <a:off x="642938" y="2000250"/>
            <a:ext cx="7772400" cy="4114800"/>
          </a:xfrm>
        </p:spPr>
        <p:txBody>
          <a:bodyPr/>
          <a:lstStyle/>
          <a:p>
            <a:pPr>
              <a:buFont typeface="Wingdings" pitchFamily="2" charset="2"/>
              <a:buNone/>
            </a:pPr>
            <a:endParaRPr lang="es-ES_tradnl" smtClean="0"/>
          </a:p>
          <a:p>
            <a:r>
              <a:rPr lang="es-ES_tradnl" smtClean="0"/>
              <a:t>Fijación de la atención sobre un problema.</a:t>
            </a:r>
          </a:p>
          <a:p>
            <a:r>
              <a:rPr lang="es-ES_tradnl" smtClean="0"/>
              <a:t>Recolección de información sobre el fenómeno objeto de estudio.</a:t>
            </a:r>
          </a:p>
          <a:p>
            <a:r>
              <a:rPr lang="es-ES_tradnl" smtClean="0"/>
              <a:t>Clasificación y análisis de la información.</a:t>
            </a:r>
          </a:p>
          <a:p>
            <a:r>
              <a:rPr lang="es-ES_tradnl" smtClean="0"/>
              <a:t>Formulación de hipótesis sobre la causa y efecto del fenómeno.</a:t>
            </a:r>
          </a:p>
        </p:txBody>
      </p:sp>
      <p:sp>
        <p:nvSpPr>
          <p:cNvPr id="90115" name="3 Marcador de número de diapositiva"/>
          <p:cNvSpPr>
            <a:spLocks noGrp="1"/>
          </p:cNvSpPr>
          <p:nvPr>
            <p:ph type="sldNum" sz="quarter" idx="12"/>
          </p:nvPr>
        </p:nvSpPr>
        <p:spPr>
          <a:noFill/>
        </p:spPr>
        <p:txBody>
          <a:bodyPr/>
          <a:lstStyle/>
          <a:p>
            <a:fld id="{A1CBD7B1-1F55-4DF7-A79B-FD71DCB52E1A}" type="slidenum">
              <a:rPr lang="es-ES" smtClean="0">
                <a:latin typeface="Times New Roman" pitchFamily="18" charset="0"/>
              </a:rPr>
              <a:pPr/>
              <a:t>42</a:t>
            </a:fld>
            <a:endParaRPr lang="es-ES" smtClean="0">
              <a:latin typeface="Times New Roman"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l"/>
            <a:r>
              <a:rPr lang="es-ES_tradnl" smtClean="0"/>
              <a:t>Pasos que se utilizan para esa investigación son:</a:t>
            </a:r>
          </a:p>
        </p:txBody>
      </p:sp>
      <p:sp>
        <p:nvSpPr>
          <p:cNvPr id="91138" name="2 Marcador de contenido"/>
          <p:cNvSpPr>
            <a:spLocks noGrp="1"/>
          </p:cNvSpPr>
          <p:nvPr>
            <p:ph idx="1"/>
          </p:nvPr>
        </p:nvSpPr>
        <p:spPr/>
        <p:txBody>
          <a:bodyPr/>
          <a:lstStyle/>
          <a:p>
            <a:r>
              <a:rPr lang="es-ES_tradnl" smtClean="0"/>
              <a:t>Observación  y prueba de la hipótesis.</a:t>
            </a:r>
          </a:p>
          <a:p>
            <a:r>
              <a:rPr lang="es-ES_tradnl" smtClean="0"/>
              <a:t>Formulación de una conclusión.</a:t>
            </a:r>
          </a:p>
          <a:p>
            <a:r>
              <a:rPr lang="es-ES_tradnl" smtClean="0"/>
              <a:t>Formulación de una teoría compuesta por los principios o leyes sobre el fenómeno objeto de estudio, es decir a las conclusiones que se ha llegado con la investigación.</a:t>
            </a:r>
          </a:p>
        </p:txBody>
      </p:sp>
      <p:sp>
        <p:nvSpPr>
          <p:cNvPr id="91139" name="3 Marcador de número de diapositiva"/>
          <p:cNvSpPr>
            <a:spLocks noGrp="1"/>
          </p:cNvSpPr>
          <p:nvPr>
            <p:ph type="sldNum" sz="quarter" idx="12"/>
          </p:nvPr>
        </p:nvSpPr>
        <p:spPr>
          <a:noFill/>
        </p:spPr>
        <p:txBody>
          <a:bodyPr/>
          <a:lstStyle/>
          <a:p>
            <a:fld id="{51BFF292-121D-4305-BAEC-2879A2102ECC}" type="slidenum">
              <a:rPr lang="es-ES" smtClean="0">
                <a:latin typeface="Times New Roman" pitchFamily="18" charset="0"/>
              </a:rPr>
              <a:pPr/>
              <a:t>43</a:t>
            </a:fld>
            <a:endParaRPr lang="es-ES" smtClean="0">
              <a:latin typeface="Times New Roman"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defRPr/>
            </a:pPr>
            <a:r>
              <a:rPr lang="es-ES_tradnl" dirty="0" smtClean="0"/>
              <a:t>ADMINISTRACION COMO CIENCIA</a:t>
            </a:r>
            <a:endParaRPr lang="es-ES_tradnl" dirty="0"/>
          </a:p>
        </p:txBody>
      </p:sp>
      <p:sp>
        <p:nvSpPr>
          <p:cNvPr id="92162" name="2 Marcador de contenido"/>
          <p:cNvSpPr>
            <a:spLocks noGrp="1"/>
          </p:cNvSpPr>
          <p:nvPr>
            <p:ph idx="1"/>
          </p:nvPr>
        </p:nvSpPr>
        <p:spPr>
          <a:xfrm>
            <a:off x="685800" y="2143116"/>
            <a:ext cx="7772400" cy="3357586"/>
          </a:xfrm>
        </p:spPr>
        <p:txBody>
          <a:bodyPr/>
          <a:lstStyle/>
          <a:p>
            <a:r>
              <a:rPr lang="es-ES_tradnl" dirty="0" smtClean="0"/>
              <a:t>Tiene un objeto de estudio que se ocupa de la “organización racional de trabajo” que comprende las actividades de:</a:t>
            </a:r>
          </a:p>
          <a:p>
            <a:pPr>
              <a:buFont typeface="Wingdings" pitchFamily="2" charset="2"/>
              <a:buNone/>
            </a:pPr>
            <a:r>
              <a:rPr lang="es-ES_tradnl" dirty="0" smtClean="0"/>
              <a:t>    planificación, organización, dirección, coordinación y control.</a:t>
            </a:r>
          </a:p>
        </p:txBody>
      </p:sp>
      <p:sp>
        <p:nvSpPr>
          <p:cNvPr id="92163" name="3 Marcador de número de diapositiva"/>
          <p:cNvSpPr>
            <a:spLocks noGrp="1"/>
          </p:cNvSpPr>
          <p:nvPr>
            <p:ph type="sldNum" sz="quarter" idx="12"/>
          </p:nvPr>
        </p:nvSpPr>
        <p:spPr>
          <a:noFill/>
        </p:spPr>
        <p:txBody>
          <a:bodyPr/>
          <a:lstStyle/>
          <a:p>
            <a:fld id="{6B957B6E-B6C1-49EF-864F-66000F838762}" type="slidenum">
              <a:rPr lang="es-ES" smtClean="0">
                <a:latin typeface="Times New Roman" pitchFamily="18" charset="0"/>
              </a:rPr>
              <a:pPr/>
              <a:t>44</a:t>
            </a:fld>
            <a:endParaRPr lang="es-ES" smtClean="0">
              <a:latin typeface="Times New Roman"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p:txBody>
          <a:bodyPr/>
          <a:lstStyle/>
          <a:p>
            <a:r>
              <a:rPr lang="es-AR" sz="4000" dirty="0" smtClean="0">
                <a:effectLst/>
              </a:rPr>
              <a:t>ADMINISTRACION COMO TÉCNICA</a:t>
            </a:r>
            <a:endParaRPr lang="es-ES" sz="4000" dirty="0" smtClean="0">
              <a:effectLst/>
            </a:endParaRPr>
          </a:p>
        </p:txBody>
      </p:sp>
      <p:sp>
        <p:nvSpPr>
          <p:cNvPr id="93186" name="Rectangle 3"/>
          <p:cNvSpPr>
            <a:spLocks noGrp="1" noChangeArrowheads="1"/>
          </p:cNvSpPr>
          <p:nvPr>
            <p:ph type="body" idx="1"/>
          </p:nvPr>
        </p:nvSpPr>
        <p:spPr>
          <a:xfrm>
            <a:off x="500034" y="2214554"/>
            <a:ext cx="7358114" cy="3000396"/>
          </a:xfrm>
        </p:spPr>
        <p:txBody>
          <a:bodyPr/>
          <a:lstStyle/>
          <a:p>
            <a:pPr algn="just">
              <a:buNone/>
            </a:pPr>
            <a:r>
              <a:rPr lang="es-AR" dirty="0" smtClean="0"/>
              <a:t>	</a:t>
            </a:r>
            <a:r>
              <a:rPr lang="es-AR" sz="2800" dirty="0" smtClean="0"/>
              <a:t>La técnica se definen como un conjunto de </a:t>
            </a:r>
            <a:r>
              <a:rPr lang="es-AR" sz="2800" u="sng" dirty="0" smtClean="0"/>
              <a:t>métodos y procedimientos</a:t>
            </a:r>
            <a:r>
              <a:rPr lang="es-AR" sz="2800" dirty="0" smtClean="0"/>
              <a:t>, estos se aplican a la organización y a las actividades administrativas; no hay una actividad que no se ejecute mediante unos métodos especiales. Por ejemplo:</a:t>
            </a:r>
            <a:endParaRPr lang="es-ES" sz="2800" dirty="0" smtClean="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p:txBody>
          <a:bodyPr/>
          <a:lstStyle/>
          <a:p>
            <a:r>
              <a:rPr lang="es-AR" sz="4000" dirty="0" smtClean="0">
                <a:effectLst/>
              </a:rPr>
              <a:t>ADMINISTRACION COMO TÉCNICA</a:t>
            </a:r>
            <a:endParaRPr lang="es-ES" sz="4000" dirty="0" smtClean="0">
              <a:effectLst/>
            </a:endParaRPr>
          </a:p>
        </p:txBody>
      </p:sp>
      <p:sp>
        <p:nvSpPr>
          <p:cNvPr id="93186" name="Rectangle 3"/>
          <p:cNvSpPr>
            <a:spLocks noGrp="1" noChangeArrowheads="1"/>
          </p:cNvSpPr>
          <p:nvPr>
            <p:ph type="body" idx="1"/>
          </p:nvPr>
        </p:nvSpPr>
        <p:spPr>
          <a:xfrm>
            <a:off x="714348" y="2285992"/>
            <a:ext cx="7143800" cy="3857652"/>
          </a:xfrm>
        </p:spPr>
        <p:txBody>
          <a:bodyPr/>
          <a:lstStyle/>
          <a:p>
            <a:pPr algn="just"/>
            <a:r>
              <a:rPr lang="es-AR" sz="2800" dirty="0" smtClean="0"/>
              <a:t>La Administración del personal</a:t>
            </a:r>
          </a:p>
          <a:p>
            <a:pPr algn="just"/>
            <a:r>
              <a:rPr lang="es-AR" sz="2800" dirty="0" smtClean="0"/>
              <a:t>Proceso de compras y suministros</a:t>
            </a:r>
          </a:p>
          <a:p>
            <a:pPr algn="just"/>
            <a:r>
              <a:rPr lang="es-AR" sz="2800" dirty="0" smtClean="0"/>
              <a:t>Investigación de mercados</a:t>
            </a:r>
          </a:p>
          <a:p>
            <a:pPr algn="just">
              <a:buNone/>
            </a:pPr>
            <a:endParaRPr lang="es-AR" sz="2800" dirty="0" smtClean="0"/>
          </a:p>
          <a:p>
            <a:pPr algn="just">
              <a:buNone/>
            </a:pPr>
            <a:r>
              <a:rPr lang="es-AR" sz="2800" dirty="0" smtClean="0"/>
              <a:t>	</a:t>
            </a:r>
            <a:r>
              <a:rPr lang="es-ES" sz="2800" dirty="0" smtClean="0"/>
              <a:t>En consecuencia la administración se practica mediante técnicas integradas por procedimientos y métodos.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p:txBody>
          <a:bodyPr/>
          <a:lstStyle/>
          <a:p>
            <a:r>
              <a:rPr lang="es-AR" sz="4000" dirty="0" smtClean="0">
                <a:effectLst/>
              </a:rPr>
              <a:t>ADMINISTRACION COMO TÉCNICA</a:t>
            </a:r>
            <a:endParaRPr lang="es-ES" sz="4000" dirty="0" smtClean="0">
              <a:effectLst/>
            </a:endParaRPr>
          </a:p>
        </p:txBody>
      </p:sp>
      <p:sp>
        <p:nvSpPr>
          <p:cNvPr id="93186" name="Rectangle 3"/>
          <p:cNvSpPr>
            <a:spLocks noGrp="1" noChangeArrowheads="1"/>
          </p:cNvSpPr>
          <p:nvPr>
            <p:ph type="body" idx="1"/>
          </p:nvPr>
        </p:nvSpPr>
        <p:spPr>
          <a:xfrm>
            <a:off x="714348" y="2285992"/>
            <a:ext cx="7143800" cy="3857652"/>
          </a:xfrm>
        </p:spPr>
        <p:txBody>
          <a:bodyPr/>
          <a:lstStyle/>
          <a:p>
            <a:pPr algn="just">
              <a:buNone/>
            </a:pPr>
            <a:r>
              <a:rPr lang="es-MX" sz="2800" dirty="0" smtClean="0"/>
              <a:t>	</a:t>
            </a:r>
            <a:r>
              <a:rPr lang="es-MX" sz="2400" dirty="0" smtClean="0"/>
              <a:t>La práctica administrativa es el desarrollo de un conjunto de técnicas aplicables en los diferentes procesos administrativos. Por ejemplo:</a:t>
            </a:r>
          </a:p>
          <a:p>
            <a:pPr algn="just">
              <a:buNone/>
            </a:pPr>
            <a:endParaRPr lang="es-MX" sz="2400" dirty="0" smtClean="0"/>
          </a:p>
          <a:p>
            <a:pPr algn="just"/>
            <a:r>
              <a:rPr lang="es-MX" sz="2400" dirty="0" smtClean="0"/>
              <a:t>Técnicas para dirigir el personal</a:t>
            </a:r>
          </a:p>
          <a:p>
            <a:pPr algn="just"/>
            <a:r>
              <a:rPr lang="es-MX" sz="2400" dirty="0" smtClean="0"/>
              <a:t>Técnicas para calcular un presupuesto</a:t>
            </a:r>
          </a:p>
          <a:p>
            <a:pPr algn="just"/>
            <a:r>
              <a:rPr lang="es-MX" sz="2400" dirty="0" smtClean="0"/>
              <a:t>Técnicas para coordinar actividades</a:t>
            </a:r>
            <a:endParaRPr lang="es-ES" sz="2400" dirty="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ChangeArrowheads="1"/>
          </p:cNvSpPr>
          <p:nvPr>
            <p:ph type="title"/>
          </p:nvPr>
        </p:nvSpPr>
        <p:spPr/>
        <p:txBody>
          <a:bodyPr/>
          <a:lstStyle/>
          <a:p>
            <a:r>
              <a:rPr lang="es-AR" sz="4000" smtClean="0">
                <a:effectLst/>
              </a:rPr>
              <a:t>ADMINISTRACION COMO ARTE</a:t>
            </a:r>
            <a:endParaRPr lang="es-ES" sz="4000" smtClean="0">
              <a:effectLst/>
            </a:endParaRPr>
          </a:p>
        </p:txBody>
      </p:sp>
      <p:sp>
        <p:nvSpPr>
          <p:cNvPr id="94210" name="Rectangle 3"/>
          <p:cNvSpPr>
            <a:spLocks noGrp="1" noChangeArrowheads="1"/>
          </p:cNvSpPr>
          <p:nvPr>
            <p:ph type="body" idx="1"/>
          </p:nvPr>
        </p:nvSpPr>
        <p:spPr/>
        <p:txBody>
          <a:bodyPr/>
          <a:lstStyle/>
          <a:p>
            <a:r>
              <a:rPr lang="es-AR" dirty="0" smtClean="0"/>
              <a:t>Conjunto de preceptos y reglas necesarias para hacer bien una cosa</a:t>
            </a:r>
          </a:p>
          <a:p>
            <a:pPr>
              <a:buNone/>
            </a:pPr>
            <a:endParaRPr lang="es-AR" dirty="0" smtClean="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42910" y="1142984"/>
            <a:ext cx="7772400" cy="4248160"/>
          </a:xfrm>
        </p:spPr>
        <p:txBody>
          <a:bodyPr/>
          <a:lstStyle/>
          <a:p>
            <a:r>
              <a:rPr lang="es-ES" dirty="0" smtClean="0"/>
              <a:t>RELACIÓN DE LA ADMINISTRACIÓN CON OTRAS CIENCIAS</a:t>
            </a:r>
            <a:br>
              <a:rPr lang="es-ES" dirty="0" smtClean="0"/>
            </a:br>
            <a:endParaRPr lang="es-ES" dirty="0"/>
          </a:p>
        </p:txBody>
      </p:sp>
      <p:sp>
        <p:nvSpPr>
          <p:cNvPr id="4" name="3 Marcador de número de diapositiva"/>
          <p:cNvSpPr>
            <a:spLocks noGrp="1"/>
          </p:cNvSpPr>
          <p:nvPr>
            <p:ph type="sldNum" sz="quarter" idx="12"/>
          </p:nvPr>
        </p:nvSpPr>
        <p:spPr/>
        <p:txBody>
          <a:bodyPr/>
          <a:lstStyle/>
          <a:p>
            <a:pPr>
              <a:defRPr/>
            </a:pPr>
            <a:fld id="{518F14F9-DFB2-4B2F-8C4C-E113EF828451}" type="slidenum">
              <a:rPr lang="es-ES" smtClean="0"/>
              <a:pPr>
                <a:defRPr/>
              </a:pPr>
              <a:t>49</a:t>
            </a:fld>
            <a:endParaRPr lang="es-E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p:txBody>
          <a:bodyPr/>
          <a:lstStyle/>
          <a:p>
            <a:r>
              <a:rPr lang="es-AR" sz="4000" smtClean="0">
                <a:effectLst/>
              </a:rPr>
              <a:t>LA ADMINISTRACION CON OTRAS CIENCIAS</a:t>
            </a:r>
            <a:endParaRPr lang="es-ES" sz="4000" smtClean="0">
              <a:effectLst/>
            </a:endParaRPr>
          </a:p>
        </p:txBody>
      </p:sp>
      <p:sp>
        <p:nvSpPr>
          <p:cNvPr id="95234" name="Rectangle 3"/>
          <p:cNvSpPr>
            <a:spLocks noGrp="1" noChangeArrowheads="1"/>
          </p:cNvSpPr>
          <p:nvPr>
            <p:ph type="body" idx="1"/>
          </p:nvPr>
        </p:nvSpPr>
        <p:spPr/>
        <p:txBody>
          <a:bodyPr/>
          <a:lstStyle/>
          <a:p>
            <a:pPr algn="just">
              <a:buFont typeface="Wingdings" pitchFamily="2" charset="2"/>
              <a:buNone/>
            </a:pPr>
            <a:r>
              <a:rPr lang="es-AR" dirty="0" smtClean="0"/>
              <a:t>	La administración  ha logrado su status de ciencia gracias a los aportes de tantas otras disciplinas que le han entregado instrumentos para poder precisar su objeto de estudio y método</a:t>
            </a:r>
            <a:endParaRPr lang="es-ES" dirty="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pPr>
              <a:defRPr/>
            </a:pPr>
            <a:fld id="{518F14F9-DFB2-4B2F-8C4C-E113EF828451}" type="slidenum">
              <a:rPr lang="es-ES" smtClean="0"/>
              <a:pPr>
                <a:defRPr/>
              </a:pPr>
              <a:t>51</a:t>
            </a:fld>
            <a:endParaRPr lang="es-ES" dirty="0"/>
          </a:p>
        </p:txBody>
      </p:sp>
      <p:graphicFrame>
        <p:nvGraphicFramePr>
          <p:cNvPr id="5" name="4 Tabla"/>
          <p:cNvGraphicFramePr>
            <a:graphicFrameLocks noGrp="1"/>
          </p:cNvGraphicFramePr>
          <p:nvPr/>
        </p:nvGraphicFramePr>
        <p:xfrm>
          <a:off x="357158" y="2756548"/>
          <a:ext cx="8429685" cy="2427453"/>
        </p:xfrm>
        <a:graphic>
          <a:graphicData uri="http://schemas.openxmlformats.org/drawingml/2006/table">
            <a:tbl>
              <a:tblPr firstRow="1" bandRow="1">
                <a:effectLst>
                  <a:outerShdw blurRad="50800" dist="38100" dir="13500000" algn="br" rotWithShape="0">
                    <a:prstClr val="black">
                      <a:alpha val="40000"/>
                    </a:prstClr>
                  </a:outerShdw>
                </a:effectLst>
                <a:tableStyleId>{5C22544A-7EE6-4342-B048-85BDC9FD1C3A}</a:tableStyleId>
              </a:tblPr>
              <a:tblGrid>
                <a:gridCol w="1685937"/>
                <a:gridCol w="1685937"/>
                <a:gridCol w="1700224"/>
                <a:gridCol w="1928826"/>
                <a:gridCol w="1428761"/>
              </a:tblGrid>
              <a:tr h="964413">
                <a:tc>
                  <a:txBody>
                    <a:bodyPr/>
                    <a:lstStyle/>
                    <a:p>
                      <a:pPr algn="ctr"/>
                      <a:r>
                        <a:rPr lang="es-ES" dirty="0" smtClean="0">
                          <a:solidFill>
                            <a:schemeClr val="bg2"/>
                          </a:solidFill>
                        </a:rPr>
                        <a:t>Ciencias que la nutren</a:t>
                      </a:r>
                      <a:endParaRPr lang="es-ES" dirty="0">
                        <a:solidFill>
                          <a:schemeClr val="bg2"/>
                        </a:solidFill>
                      </a:endParaRPr>
                    </a:p>
                  </a:txBody>
                  <a:tcPr anchor="ctr"/>
                </a:tc>
                <a:tc>
                  <a:txBody>
                    <a:bodyPr/>
                    <a:lstStyle/>
                    <a:p>
                      <a:pPr algn="ctr"/>
                      <a:r>
                        <a:rPr lang="es-ES" dirty="0" smtClean="0">
                          <a:solidFill>
                            <a:schemeClr val="bg2"/>
                          </a:solidFill>
                        </a:rPr>
                        <a:t>Ciencias que le sirven de instrumento</a:t>
                      </a:r>
                      <a:endParaRPr lang="es-ES" dirty="0">
                        <a:solidFill>
                          <a:schemeClr val="bg2"/>
                        </a:solidFill>
                      </a:endParaRPr>
                    </a:p>
                  </a:txBody>
                  <a:tcPr anchor="ctr"/>
                </a:tc>
                <a:tc>
                  <a:txBody>
                    <a:bodyPr/>
                    <a:lstStyle/>
                    <a:p>
                      <a:pPr algn="ctr"/>
                      <a:r>
                        <a:rPr lang="es-ES" dirty="0" smtClean="0">
                          <a:solidFill>
                            <a:schemeClr val="bg2"/>
                          </a:solidFill>
                        </a:rPr>
                        <a:t>Ciencias contextuales</a:t>
                      </a:r>
                      <a:endParaRPr lang="es-ES" dirty="0">
                        <a:solidFill>
                          <a:schemeClr val="bg2"/>
                        </a:solidFill>
                      </a:endParaRPr>
                    </a:p>
                  </a:txBody>
                  <a:tcPr anchor="ctr"/>
                </a:tc>
                <a:tc>
                  <a:txBody>
                    <a:bodyPr/>
                    <a:lstStyle/>
                    <a:p>
                      <a:pPr algn="ctr"/>
                      <a:r>
                        <a:rPr lang="es-ES" sz="1600" dirty="0" smtClean="0">
                          <a:solidFill>
                            <a:schemeClr val="bg2"/>
                          </a:solidFill>
                        </a:rPr>
                        <a:t>Ciencias complementarías</a:t>
                      </a:r>
                      <a:r>
                        <a:rPr lang="es-ES" sz="1600" baseline="0" dirty="0" smtClean="0">
                          <a:solidFill>
                            <a:schemeClr val="bg2"/>
                          </a:solidFill>
                        </a:rPr>
                        <a:t> </a:t>
                      </a:r>
                      <a:endParaRPr lang="es-ES" sz="1600" dirty="0">
                        <a:solidFill>
                          <a:schemeClr val="bg2"/>
                        </a:solidFill>
                      </a:endParaRPr>
                    </a:p>
                  </a:txBody>
                  <a:tcPr/>
                </a:tc>
                <a:tc>
                  <a:txBody>
                    <a:bodyPr/>
                    <a:lstStyle/>
                    <a:p>
                      <a:pPr algn="ctr"/>
                      <a:r>
                        <a:rPr lang="es-ES" dirty="0" smtClean="0">
                          <a:solidFill>
                            <a:schemeClr val="bg2"/>
                          </a:solidFill>
                        </a:rPr>
                        <a:t>Ciencias normativas</a:t>
                      </a:r>
                      <a:endParaRPr lang="es-ES" dirty="0">
                        <a:solidFill>
                          <a:schemeClr val="bg2"/>
                        </a:solidFill>
                      </a:endParaRPr>
                    </a:p>
                  </a:txBody>
                  <a:tcPr anchor="ctr"/>
                </a:tc>
              </a:tr>
              <a:tr h="964413">
                <a:tc>
                  <a:txBody>
                    <a:bodyPr/>
                    <a:lstStyle/>
                    <a:p>
                      <a:pPr algn="ctr"/>
                      <a:r>
                        <a:rPr lang="es-ES" dirty="0" smtClean="0"/>
                        <a:t>Política</a:t>
                      </a:r>
                    </a:p>
                    <a:p>
                      <a:pPr algn="ctr"/>
                      <a:r>
                        <a:rPr lang="es-ES" dirty="0" smtClean="0"/>
                        <a:t>Antropología</a:t>
                      </a:r>
                    </a:p>
                    <a:p>
                      <a:pPr algn="ctr"/>
                      <a:r>
                        <a:rPr lang="es-ES" dirty="0" smtClean="0"/>
                        <a:t>Sociología</a:t>
                      </a:r>
                    </a:p>
                    <a:p>
                      <a:pPr algn="ctr"/>
                      <a:r>
                        <a:rPr lang="es-ES" dirty="0" smtClean="0"/>
                        <a:t>Psicología</a:t>
                      </a:r>
                      <a:endParaRPr lang="es-ES" dirty="0"/>
                    </a:p>
                  </a:txBody>
                  <a:tcPr/>
                </a:tc>
                <a:tc>
                  <a:txBody>
                    <a:bodyPr/>
                    <a:lstStyle/>
                    <a:p>
                      <a:pPr algn="ctr"/>
                      <a:r>
                        <a:rPr lang="es-ES" dirty="0" smtClean="0"/>
                        <a:t>Matemáticas</a:t>
                      </a:r>
                    </a:p>
                    <a:p>
                      <a:pPr algn="ctr"/>
                      <a:r>
                        <a:rPr lang="es-ES" dirty="0" smtClean="0"/>
                        <a:t>Estadística</a:t>
                      </a:r>
                    </a:p>
                    <a:p>
                      <a:pPr algn="ctr"/>
                      <a:r>
                        <a:rPr lang="es-ES" dirty="0" smtClean="0"/>
                        <a:t>Contabilidad</a:t>
                      </a:r>
                    </a:p>
                    <a:p>
                      <a:pPr algn="ctr"/>
                      <a:r>
                        <a:rPr lang="es-ES" dirty="0" smtClean="0"/>
                        <a:t>Informática</a:t>
                      </a:r>
                    </a:p>
                    <a:p>
                      <a:pPr algn="ctr"/>
                      <a:r>
                        <a:rPr lang="es-ES" dirty="0" smtClean="0"/>
                        <a:t>Cibernética</a:t>
                      </a:r>
                      <a:endParaRPr lang="es-ES" dirty="0"/>
                    </a:p>
                  </a:txBody>
                  <a:tcPr/>
                </a:tc>
                <a:tc>
                  <a:txBody>
                    <a:bodyPr/>
                    <a:lstStyle/>
                    <a:p>
                      <a:pPr algn="ctr"/>
                      <a:r>
                        <a:rPr lang="es-ES" dirty="0" smtClean="0"/>
                        <a:t>Geografía</a:t>
                      </a:r>
                    </a:p>
                    <a:p>
                      <a:pPr algn="ctr"/>
                      <a:r>
                        <a:rPr lang="es-ES" dirty="0" smtClean="0"/>
                        <a:t>Historia</a:t>
                      </a:r>
                      <a:endParaRPr lang="es-ES" dirty="0"/>
                    </a:p>
                  </a:txBody>
                  <a:tcPr/>
                </a:tc>
                <a:tc>
                  <a:txBody>
                    <a:bodyPr/>
                    <a:lstStyle/>
                    <a:p>
                      <a:pPr algn="ctr"/>
                      <a:r>
                        <a:rPr lang="es-ES" dirty="0" smtClean="0"/>
                        <a:t>Economía</a:t>
                      </a:r>
                      <a:endParaRPr lang="es-ES" dirty="0"/>
                    </a:p>
                  </a:txBody>
                  <a:tcPr/>
                </a:tc>
                <a:tc>
                  <a:txBody>
                    <a:bodyPr/>
                    <a:lstStyle/>
                    <a:p>
                      <a:pPr algn="ctr"/>
                      <a:r>
                        <a:rPr lang="es-ES" dirty="0" smtClean="0"/>
                        <a:t>Derecho</a:t>
                      </a:r>
                      <a:endParaRPr lang="es-ES" dirty="0"/>
                    </a:p>
                  </a:txBody>
                  <a:tcPr/>
                </a:tc>
              </a:tr>
            </a:tbl>
          </a:graphicData>
        </a:graphic>
      </p:graphicFrame>
      <p:sp>
        <p:nvSpPr>
          <p:cNvPr id="6" name="5 Rectángulo"/>
          <p:cNvSpPr/>
          <p:nvPr/>
        </p:nvSpPr>
        <p:spPr>
          <a:xfrm>
            <a:off x="428596" y="1285860"/>
            <a:ext cx="7715304" cy="830997"/>
          </a:xfrm>
          <a:prstGeom prst="rect">
            <a:avLst/>
          </a:prstGeom>
        </p:spPr>
        <p:txBody>
          <a:bodyPr wrap="square">
            <a:spAutoFit/>
          </a:bodyPr>
          <a:lstStyle/>
          <a:p>
            <a:pPr algn="just"/>
            <a:r>
              <a:rPr lang="es-ES" dirty="0" smtClean="0"/>
              <a:t>El siguiente cuadro presenta las principales ciencias con las cuales la Administración tiene una relación más cercana.</a:t>
            </a:r>
            <a:endParaRPr lang="es-E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t>Con la ciencia política</a:t>
            </a:r>
            <a:endParaRPr lang="es-ES" dirty="0"/>
          </a:p>
        </p:txBody>
      </p:sp>
      <p:sp>
        <p:nvSpPr>
          <p:cNvPr id="3" name="2 Marcador de contenido"/>
          <p:cNvSpPr>
            <a:spLocks noGrp="1"/>
          </p:cNvSpPr>
          <p:nvPr>
            <p:ph idx="1"/>
          </p:nvPr>
        </p:nvSpPr>
        <p:spPr/>
        <p:txBody>
          <a:bodyPr/>
          <a:lstStyle/>
          <a:p>
            <a:pPr algn="just">
              <a:buNone/>
            </a:pPr>
            <a:r>
              <a:rPr lang="es-ES" dirty="0" smtClean="0"/>
              <a:t>	El proceso administrativo funciona necesariamente en el cuadro general de la ciencia política, disciplina que estudia los conceptos que una sociedad profesa sobre la ecuación </a:t>
            </a:r>
            <a:r>
              <a:rPr lang="es-ES" i="1" dirty="0" smtClean="0"/>
              <a:t>medios a fines, iniciativa privada libre empresa</a:t>
            </a:r>
            <a:endParaRPr lang="es-ES" dirty="0"/>
          </a:p>
        </p:txBody>
      </p:sp>
      <p:sp>
        <p:nvSpPr>
          <p:cNvPr id="4" name="3 Marcador de número de diapositiva"/>
          <p:cNvSpPr>
            <a:spLocks noGrp="1"/>
          </p:cNvSpPr>
          <p:nvPr>
            <p:ph type="sldNum" sz="quarter" idx="12"/>
          </p:nvPr>
        </p:nvSpPr>
        <p:spPr/>
        <p:txBody>
          <a:bodyPr/>
          <a:lstStyle/>
          <a:p>
            <a:pPr>
              <a:defRPr/>
            </a:pPr>
            <a:fld id="{518F14F9-DFB2-4B2F-8C4C-E113EF828451}" type="slidenum">
              <a:rPr lang="es-ES" smtClean="0"/>
              <a:pPr>
                <a:defRPr/>
              </a:pPr>
              <a:t>52</a:t>
            </a:fld>
            <a:endParaRPr lang="es-E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t>Con la antropología cultural</a:t>
            </a:r>
            <a:br>
              <a:rPr lang="es-ES" b="1" dirty="0" smtClean="0"/>
            </a:br>
            <a:endParaRPr lang="es-ES" dirty="0"/>
          </a:p>
        </p:txBody>
      </p:sp>
      <p:sp>
        <p:nvSpPr>
          <p:cNvPr id="3" name="2 Marcador de contenido"/>
          <p:cNvSpPr>
            <a:spLocks noGrp="1"/>
          </p:cNvSpPr>
          <p:nvPr>
            <p:ph idx="1"/>
          </p:nvPr>
        </p:nvSpPr>
        <p:spPr>
          <a:xfrm>
            <a:off x="642910" y="1500174"/>
            <a:ext cx="7772400" cy="4114800"/>
          </a:xfrm>
        </p:spPr>
        <p:txBody>
          <a:bodyPr/>
          <a:lstStyle/>
          <a:p>
            <a:pPr algn="just"/>
            <a:r>
              <a:rPr lang="es-ES" sz="2800" dirty="0" smtClean="0"/>
              <a:t>La Antropología nos guía en el conocimiento de los hábitos y costumbres de los pueblos o sociedades más sencillas. </a:t>
            </a:r>
          </a:p>
          <a:p>
            <a:pPr algn="just">
              <a:buNone/>
            </a:pPr>
            <a:endParaRPr lang="es-ES" sz="2800" dirty="0" smtClean="0"/>
          </a:p>
          <a:p>
            <a:pPr algn="just"/>
            <a:r>
              <a:rPr lang="es-ES" sz="2800" dirty="0" smtClean="0"/>
              <a:t>Esta nos enseña como ha sido la evolución de la organización y de la racionalización del trabajo en estos pueblos.  Estos cambios están determinados por factores económicos, sociales, políticos, administrativos y físicos.</a:t>
            </a:r>
          </a:p>
          <a:p>
            <a:endParaRPr lang="es-ES" dirty="0"/>
          </a:p>
        </p:txBody>
      </p:sp>
      <p:sp>
        <p:nvSpPr>
          <p:cNvPr id="4" name="3 Marcador de número de diapositiva"/>
          <p:cNvSpPr>
            <a:spLocks noGrp="1"/>
          </p:cNvSpPr>
          <p:nvPr>
            <p:ph type="sldNum" sz="quarter" idx="12"/>
          </p:nvPr>
        </p:nvSpPr>
        <p:spPr/>
        <p:txBody>
          <a:bodyPr/>
          <a:lstStyle/>
          <a:p>
            <a:pPr>
              <a:defRPr/>
            </a:pPr>
            <a:fld id="{518F14F9-DFB2-4B2F-8C4C-E113EF828451}" type="slidenum">
              <a:rPr lang="es-ES" smtClean="0"/>
              <a:pPr>
                <a:defRPr/>
              </a:pPr>
              <a:t>53</a:t>
            </a:fld>
            <a:endParaRPr lang="es-E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t>Con la psicología-social</a:t>
            </a:r>
            <a:endParaRPr lang="es-ES" dirty="0"/>
          </a:p>
        </p:txBody>
      </p:sp>
      <p:sp>
        <p:nvSpPr>
          <p:cNvPr id="3" name="2 Marcador de contenido"/>
          <p:cNvSpPr>
            <a:spLocks noGrp="1"/>
          </p:cNvSpPr>
          <p:nvPr>
            <p:ph idx="1"/>
          </p:nvPr>
        </p:nvSpPr>
        <p:spPr/>
        <p:txBody>
          <a:bodyPr/>
          <a:lstStyle/>
          <a:p>
            <a:pPr algn="just">
              <a:buNone/>
            </a:pPr>
            <a:r>
              <a:rPr lang="es-ES" sz="2000" dirty="0" smtClean="0"/>
              <a:t>	</a:t>
            </a:r>
            <a:r>
              <a:rPr lang="es-ES" sz="2400" dirty="0" smtClean="0"/>
              <a:t>El estudio de los fenómenos motivacionales de los grupos de individuos que integra las organizaciones es el campo propio de la psicología social, que por referirse a aspectos humanos como la motivación y la cooperación originan un intercambio de conocimientos útiles con el área de la administración.</a:t>
            </a:r>
          </a:p>
          <a:p>
            <a:pPr algn="just"/>
            <a:endParaRPr lang="es-ES" sz="2400" dirty="0" smtClean="0"/>
          </a:p>
          <a:p>
            <a:pPr algn="just">
              <a:buNone/>
            </a:pPr>
            <a:r>
              <a:rPr lang="es-ES" sz="2400" dirty="0" smtClean="0"/>
              <a:t>	La ciencia administrativa no puede concebirse sin la motivación humana, es decir, sin la disposición para cooperar.</a:t>
            </a:r>
            <a:endParaRPr lang="es-ES" sz="2400" dirty="0"/>
          </a:p>
        </p:txBody>
      </p:sp>
      <p:sp>
        <p:nvSpPr>
          <p:cNvPr id="4" name="3 Marcador de número de diapositiva"/>
          <p:cNvSpPr>
            <a:spLocks noGrp="1"/>
          </p:cNvSpPr>
          <p:nvPr>
            <p:ph type="sldNum" sz="quarter" idx="12"/>
          </p:nvPr>
        </p:nvSpPr>
        <p:spPr/>
        <p:txBody>
          <a:bodyPr/>
          <a:lstStyle/>
          <a:p>
            <a:pPr>
              <a:defRPr/>
            </a:pPr>
            <a:fld id="{518F14F9-DFB2-4B2F-8C4C-E113EF828451}" type="slidenum">
              <a:rPr lang="es-ES" smtClean="0"/>
              <a:pPr>
                <a:defRPr/>
              </a:pPr>
              <a:t>54</a:t>
            </a:fld>
            <a:endParaRPr lang="es-E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t>Con la economía</a:t>
            </a:r>
            <a:endParaRPr lang="es-ES" dirty="0"/>
          </a:p>
        </p:txBody>
      </p:sp>
      <p:sp>
        <p:nvSpPr>
          <p:cNvPr id="3" name="2 Marcador de contenido"/>
          <p:cNvSpPr>
            <a:spLocks noGrp="1"/>
          </p:cNvSpPr>
          <p:nvPr>
            <p:ph idx="1"/>
          </p:nvPr>
        </p:nvSpPr>
        <p:spPr>
          <a:xfrm>
            <a:off x="685800" y="1981200"/>
            <a:ext cx="7772400" cy="3019436"/>
          </a:xfrm>
        </p:spPr>
        <p:txBody>
          <a:bodyPr/>
          <a:lstStyle/>
          <a:p>
            <a:pPr algn="just">
              <a:buNone/>
            </a:pPr>
            <a:r>
              <a:rPr lang="es-ES" dirty="0" smtClean="0"/>
              <a:t>	La organización del trabajo es el medio que hace posible la producción y distribución de bienes  y la organización de los servicios mediante la dinámica del proceso administrativo.</a:t>
            </a:r>
            <a:endParaRPr lang="es-ES" dirty="0"/>
          </a:p>
        </p:txBody>
      </p:sp>
      <p:sp>
        <p:nvSpPr>
          <p:cNvPr id="4" name="3 Marcador de número de diapositiva"/>
          <p:cNvSpPr>
            <a:spLocks noGrp="1"/>
          </p:cNvSpPr>
          <p:nvPr>
            <p:ph type="sldNum" sz="quarter" idx="12"/>
          </p:nvPr>
        </p:nvSpPr>
        <p:spPr/>
        <p:txBody>
          <a:bodyPr/>
          <a:lstStyle/>
          <a:p>
            <a:pPr>
              <a:defRPr/>
            </a:pPr>
            <a:fld id="{518F14F9-DFB2-4B2F-8C4C-E113EF828451}" type="slidenum">
              <a:rPr lang="es-ES" smtClean="0"/>
              <a:pPr>
                <a:defRPr/>
              </a:pPr>
              <a:t>55</a:t>
            </a:fld>
            <a:endParaRPr lang="es-E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defRPr/>
            </a:pPr>
            <a:r>
              <a:rPr lang="es-ES_tradnl" dirty="0"/>
              <a:t>Administración Tradicional</a:t>
            </a:r>
            <a:endParaRPr lang="es-ES" dirty="0"/>
          </a:p>
        </p:txBody>
      </p:sp>
      <p:sp>
        <p:nvSpPr>
          <p:cNvPr id="55298" name="Rectangle 3"/>
          <p:cNvSpPr>
            <a:spLocks noGrp="1" noChangeArrowheads="1"/>
          </p:cNvSpPr>
          <p:nvPr>
            <p:ph idx="1"/>
          </p:nvPr>
        </p:nvSpPr>
        <p:spPr>
          <a:xfrm>
            <a:off x="714375" y="1928813"/>
            <a:ext cx="7772400" cy="4114800"/>
          </a:xfrm>
        </p:spPr>
        <p:txBody>
          <a:bodyPr/>
          <a:lstStyle/>
          <a:p>
            <a:pPr eaLnBrk="1" hangingPunct="1">
              <a:buFont typeface="Wingdings" pitchFamily="2" charset="2"/>
              <a:buNone/>
            </a:pPr>
            <a:endParaRPr lang="es-ES_tradnl" smtClean="0"/>
          </a:p>
          <a:p>
            <a:pPr algn="just" eaLnBrk="1" hangingPunct="1">
              <a:buFont typeface="Wingdings" pitchFamily="2" charset="2"/>
              <a:buNone/>
            </a:pPr>
            <a:r>
              <a:rPr lang="es-ES_tradnl" smtClean="0"/>
              <a:t>    Esta fundamentada en la disciplina obediencia,  el orden, y las jerarquías, al igual que en las diferentes creencias de la época y comportamientos del Individuo.</a:t>
            </a:r>
          </a:p>
          <a:p>
            <a:pPr eaLnBrk="1" hangingPunct="1">
              <a:buFont typeface="Wingdings" pitchFamily="2" charset="2"/>
              <a:buNone/>
            </a:pPr>
            <a:endParaRPr lang="es-ES_tradnl" smtClean="0"/>
          </a:p>
          <a:p>
            <a:pPr eaLnBrk="1" hangingPunct="1">
              <a:buFont typeface="Wingdings" pitchFamily="2" charset="2"/>
              <a:buNone/>
            </a:pPr>
            <a:endParaRPr lang="es-ES" smtClean="0"/>
          </a:p>
        </p:txBody>
      </p:sp>
      <p:sp>
        <p:nvSpPr>
          <p:cNvPr id="55299" name="5 Marcador de número de diapositiva"/>
          <p:cNvSpPr>
            <a:spLocks noGrp="1"/>
          </p:cNvSpPr>
          <p:nvPr>
            <p:ph type="sldNum" sz="quarter" idx="12"/>
          </p:nvPr>
        </p:nvSpPr>
        <p:spPr>
          <a:noFill/>
        </p:spPr>
        <p:txBody>
          <a:bodyPr/>
          <a:lstStyle/>
          <a:p>
            <a:fld id="{257B28BE-BD86-495D-93E3-111976951C87}" type="slidenum">
              <a:rPr lang="es-ES" smtClean="0">
                <a:latin typeface="Times New Roman" pitchFamily="18" charset="0"/>
              </a:rPr>
              <a:pPr/>
              <a:t>56</a:t>
            </a:fld>
            <a:endParaRPr lang="es-ES" smtClean="0">
              <a:latin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s-ES" sz="4000" smtClean="0">
                <a:effectLst/>
              </a:rPr>
              <a:t>Administración Tradicional</a:t>
            </a:r>
            <a:br>
              <a:rPr lang="es-ES" sz="4000" smtClean="0">
                <a:effectLst/>
              </a:rPr>
            </a:br>
            <a:endParaRPr lang="es-ES" sz="4000" smtClean="0">
              <a:effectLst/>
            </a:endParaRPr>
          </a:p>
        </p:txBody>
      </p:sp>
      <p:sp>
        <p:nvSpPr>
          <p:cNvPr id="56322" name="Rectangle 3"/>
          <p:cNvSpPr>
            <a:spLocks noGrp="1" noChangeArrowheads="1"/>
          </p:cNvSpPr>
          <p:nvPr>
            <p:ph type="body" idx="1"/>
          </p:nvPr>
        </p:nvSpPr>
        <p:spPr/>
        <p:txBody>
          <a:bodyPr/>
          <a:lstStyle/>
          <a:p>
            <a:pPr algn="just"/>
            <a:r>
              <a:rPr lang="es-ES" smtClean="0"/>
              <a:t>Durante esta época se tenia al que llamamos hoy en día  obrero como un objeto solo de producción, por tal razón no se tenia en cuenta para ningún tipo de participación dentro de la organización  o Empresa como:</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p:txBody>
          <a:bodyPr/>
          <a:lstStyle/>
          <a:p>
            <a:r>
              <a:rPr lang="es-ES" smtClean="0">
                <a:effectLst/>
              </a:rPr>
              <a:t>Administración Tradicional</a:t>
            </a:r>
          </a:p>
        </p:txBody>
      </p:sp>
      <p:sp>
        <p:nvSpPr>
          <p:cNvPr id="57346" name="Rectangle 3"/>
          <p:cNvSpPr>
            <a:spLocks noGrp="1" noChangeArrowheads="1"/>
          </p:cNvSpPr>
          <p:nvPr>
            <p:ph type="body" idx="1"/>
          </p:nvPr>
        </p:nvSpPr>
        <p:spPr/>
        <p:txBody>
          <a:bodyPr/>
          <a:lstStyle/>
          <a:p>
            <a:r>
              <a:rPr lang="es-ES" smtClean="0"/>
              <a:t>Expresar sus ideas</a:t>
            </a:r>
          </a:p>
          <a:p>
            <a:r>
              <a:rPr lang="es-ES" smtClean="0"/>
              <a:t>Tomar decisiones</a:t>
            </a:r>
          </a:p>
          <a:p>
            <a:r>
              <a:rPr lang="es-ES" smtClean="0"/>
              <a:t>Compartir informaciones</a:t>
            </a:r>
          </a:p>
          <a:p>
            <a:r>
              <a:rPr lang="es-ES" smtClean="0"/>
              <a:t>Compartir resultados</a:t>
            </a:r>
          </a:p>
          <a:p>
            <a:r>
              <a:rPr lang="es-ES" smtClean="0"/>
              <a:t>O los recursos propios de la empresa.</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defRPr/>
            </a:pPr>
            <a:r>
              <a:rPr lang="es-ES_tradnl" dirty="0"/>
              <a:t>Administración Moderna</a:t>
            </a:r>
            <a:endParaRPr lang="es-ES" dirty="0"/>
          </a:p>
        </p:txBody>
      </p:sp>
      <p:sp>
        <p:nvSpPr>
          <p:cNvPr id="58370" name="Rectangle 3"/>
          <p:cNvSpPr>
            <a:spLocks noGrp="1" noChangeArrowheads="1"/>
          </p:cNvSpPr>
          <p:nvPr>
            <p:ph idx="1"/>
          </p:nvPr>
        </p:nvSpPr>
        <p:spPr>
          <a:xfrm>
            <a:off x="785813" y="1928813"/>
            <a:ext cx="7986712" cy="4329112"/>
          </a:xfrm>
        </p:spPr>
        <p:txBody>
          <a:bodyPr/>
          <a:lstStyle/>
          <a:p>
            <a:pPr algn="just" eaLnBrk="1" hangingPunct="1">
              <a:buFont typeface="Wingdings" pitchFamily="2" charset="2"/>
              <a:buNone/>
            </a:pPr>
            <a:r>
              <a:rPr lang="es-ES" smtClean="0"/>
              <a:t>Durante esta época surge la TGA (Teoría General de la Administración) </a:t>
            </a:r>
          </a:p>
          <a:p>
            <a:pPr algn="just" eaLnBrk="1" hangingPunct="1">
              <a:buFont typeface="Wingdings" pitchFamily="2" charset="2"/>
              <a:buNone/>
            </a:pPr>
            <a:r>
              <a:rPr lang="es-ES" smtClean="0"/>
              <a:t> Por medio de ella comienzan las organizaciones a brindar soluciones a los problemas empresariales mas importantes.</a:t>
            </a:r>
          </a:p>
        </p:txBody>
      </p:sp>
      <p:sp>
        <p:nvSpPr>
          <p:cNvPr id="58371" name="5 Marcador de número de diapositiva"/>
          <p:cNvSpPr>
            <a:spLocks noGrp="1"/>
          </p:cNvSpPr>
          <p:nvPr>
            <p:ph type="sldNum" sz="quarter" idx="12"/>
          </p:nvPr>
        </p:nvSpPr>
        <p:spPr>
          <a:noFill/>
        </p:spPr>
        <p:txBody>
          <a:bodyPr/>
          <a:lstStyle/>
          <a:p>
            <a:fld id="{818E32A1-1D7B-4B35-B2C0-0D663C09E1D6}" type="slidenum">
              <a:rPr lang="es-ES" smtClean="0">
                <a:latin typeface="Times New Roman" pitchFamily="18" charset="0"/>
              </a:rPr>
              <a:pPr/>
              <a:t>59</a:t>
            </a:fld>
            <a:endParaRPr lang="es-ES" smtClean="0">
              <a:latin typeface="Times New Roman"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p:txBody>
          <a:bodyPr/>
          <a:lstStyle/>
          <a:p>
            <a:r>
              <a:rPr lang="es-ES" smtClean="0">
                <a:effectLst/>
              </a:rPr>
              <a:t>Administración Moderna</a:t>
            </a:r>
          </a:p>
        </p:txBody>
      </p:sp>
      <p:sp>
        <p:nvSpPr>
          <p:cNvPr id="59394" name="Rectangle 3"/>
          <p:cNvSpPr>
            <a:spLocks noGrp="1" noChangeArrowheads="1"/>
          </p:cNvSpPr>
          <p:nvPr>
            <p:ph type="body" idx="1"/>
          </p:nvPr>
        </p:nvSpPr>
        <p:spPr/>
        <p:txBody>
          <a:bodyPr/>
          <a:lstStyle/>
          <a:p>
            <a:pPr algn="just">
              <a:buFont typeface="Wingdings" pitchFamily="2" charset="2"/>
              <a:buNone/>
            </a:pPr>
            <a:r>
              <a:rPr lang="es-ES" smtClean="0"/>
              <a:t>Teniendo en cuenta las siguientes Variables fundamentales como lo son:</a:t>
            </a:r>
          </a:p>
          <a:p>
            <a:pPr algn="just">
              <a:buFont typeface="Wingdings" pitchFamily="2" charset="2"/>
              <a:buNone/>
            </a:pPr>
            <a:r>
              <a:rPr lang="es-ES" smtClean="0"/>
              <a:t>Las tareas, estructura, personas, tecnología, ambiente y competitividad.</a:t>
            </a:r>
          </a:p>
          <a:p>
            <a:pPr algn="just">
              <a:buFont typeface="Wingdings" pitchFamily="2" charset="2"/>
              <a:buNone/>
            </a:pPr>
            <a:r>
              <a:rPr lang="es-ES" smtClean="0"/>
              <a:t>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defRPr/>
            </a:pPr>
            <a:r>
              <a:rPr lang="es-ES_tradnl" dirty="0"/>
              <a:t>Perspectivas futuras</a:t>
            </a:r>
            <a:br>
              <a:rPr lang="es-ES_tradnl" dirty="0"/>
            </a:br>
            <a:r>
              <a:rPr lang="es-ES_tradnl" dirty="0"/>
              <a:t>en la administración</a:t>
            </a:r>
            <a:endParaRPr lang="es-ES" dirty="0"/>
          </a:p>
        </p:txBody>
      </p:sp>
      <p:sp>
        <p:nvSpPr>
          <p:cNvPr id="60418" name="Rectangle 3"/>
          <p:cNvSpPr>
            <a:spLocks noGrp="1" noChangeArrowheads="1"/>
          </p:cNvSpPr>
          <p:nvPr>
            <p:ph idx="1"/>
          </p:nvPr>
        </p:nvSpPr>
        <p:spPr/>
        <p:txBody>
          <a:bodyPr/>
          <a:lstStyle/>
          <a:p>
            <a:pPr algn="just" eaLnBrk="1" hangingPunct="1">
              <a:buFont typeface="Wingdings" pitchFamily="2" charset="2"/>
              <a:buNone/>
            </a:pPr>
            <a:r>
              <a:rPr lang="es-ES_tradnl" smtClean="0"/>
              <a:t>Cada época desarrolla una forma organizacional propia, de acuerdo a sus propias características.</a:t>
            </a:r>
          </a:p>
          <a:p>
            <a:pPr algn="just" eaLnBrk="1" hangingPunct="1">
              <a:buFont typeface="Wingdings" pitchFamily="2" charset="2"/>
              <a:buNone/>
            </a:pPr>
            <a:r>
              <a:rPr lang="es-ES_tradnl" smtClean="0"/>
              <a:t>Las organizaciones actuales no serán apropiadas en el futuro, por  la presencia de fenómenos o factores que las afectan, tales como:  </a:t>
            </a:r>
          </a:p>
          <a:p>
            <a:pPr algn="just" eaLnBrk="1" hangingPunct="1">
              <a:buFont typeface="Wingdings" pitchFamily="2" charset="2"/>
              <a:buNone/>
            </a:pPr>
            <a:endParaRPr lang="es-ES" smtClean="0">
              <a:solidFill>
                <a:srgbClr val="66FFFF"/>
              </a:solidFill>
            </a:endParaRPr>
          </a:p>
        </p:txBody>
      </p:sp>
      <p:sp>
        <p:nvSpPr>
          <p:cNvPr id="60419" name="5 Marcador de número de diapositiva"/>
          <p:cNvSpPr>
            <a:spLocks noGrp="1"/>
          </p:cNvSpPr>
          <p:nvPr>
            <p:ph type="sldNum" sz="quarter" idx="12"/>
          </p:nvPr>
        </p:nvSpPr>
        <p:spPr>
          <a:noFill/>
        </p:spPr>
        <p:txBody>
          <a:bodyPr/>
          <a:lstStyle/>
          <a:p>
            <a:fld id="{7005A4CF-D22A-40E6-979E-D72E7D1D2E09}" type="slidenum">
              <a:rPr lang="es-ES" smtClean="0">
                <a:latin typeface="Times New Roman" pitchFamily="18" charset="0"/>
              </a:rPr>
              <a:pPr/>
              <a:t>61</a:t>
            </a:fld>
            <a:endParaRPr lang="es-ES" smtClean="0">
              <a:latin typeface="Times New Roman"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defRPr/>
            </a:pPr>
            <a:r>
              <a:rPr lang="es-ES" sz="4000" dirty="0" smtClean="0"/>
              <a:t>Perspectivas Futuras en la Administración</a:t>
            </a:r>
          </a:p>
        </p:txBody>
      </p:sp>
      <p:sp>
        <p:nvSpPr>
          <p:cNvPr id="61442" name="Rectangle 3"/>
          <p:cNvSpPr>
            <a:spLocks noGrp="1" noChangeArrowheads="1"/>
          </p:cNvSpPr>
          <p:nvPr>
            <p:ph idx="1"/>
          </p:nvPr>
        </p:nvSpPr>
        <p:spPr/>
        <p:txBody>
          <a:bodyPr/>
          <a:lstStyle/>
          <a:p>
            <a:pPr eaLnBrk="1" hangingPunct="1">
              <a:buFont typeface="Wingdings" pitchFamily="2" charset="2"/>
              <a:buNone/>
            </a:pPr>
            <a:r>
              <a:rPr lang="es-ES_tradnl" smtClean="0"/>
              <a:t>*El crecimiento de las organizaciones </a:t>
            </a:r>
          </a:p>
          <a:p>
            <a:pPr eaLnBrk="1" hangingPunct="1">
              <a:buFont typeface="Wingdings" pitchFamily="2" charset="2"/>
              <a:buNone/>
            </a:pPr>
            <a:r>
              <a:rPr lang="es-ES_tradnl" smtClean="0"/>
              <a:t>*La competencia.</a:t>
            </a:r>
          </a:p>
          <a:p>
            <a:pPr eaLnBrk="1" hangingPunct="1">
              <a:buFont typeface="Wingdings" pitchFamily="2" charset="2"/>
              <a:buNone/>
            </a:pPr>
            <a:r>
              <a:rPr lang="es-ES_tradnl" smtClean="0"/>
              <a:t>*La sofisticación de la tecnología.</a:t>
            </a:r>
          </a:p>
          <a:p>
            <a:pPr eaLnBrk="1" hangingPunct="1">
              <a:buFont typeface="Wingdings" pitchFamily="2" charset="2"/>
              <a:buNone/>
            </a:pPr>
            <a:r>
              <a:rPr lang="es-ES_tradnl" smtClean="0"/>
              <a:t>*Tasas de inflación.</a:t>
            </a:r>
          </a:p>
          <a:p>
            <a:pPr eaLnBrk="1" hangingPunct="1">
              <a:buFont typeface="Wingdings" pitchFamily="2" charset="2"/>
              <a:buNone/>
            </a:pPr>
            <a:r>
              <a:rPr lang="es-ES_tradnl" smtClean="0"/>
              <a:t>*La globalización de la economía e internacionalización de los negocios.</a:t>
            </a:r>
          </a:p>
          <a:p>
            <a:pPr eaLnBrk="1" hangingPunct="1">
              <a:buFont typeface="Wingdings" pitchFamily="2" charset="2"/>
              <a:buNone/>
            </a:pPr>
            <a:r>
              <a:rPr lang="es-ES_tradnl" smtClean="0"/>
              <a:t>*La mayor visibilidad de las organizaciones.</a:t>
            </a:r>
            <a:endParaRPr lang="es-ES" smtClean="0"/>
          </a:p>
        </p:txBody>
      </p:sp>
      <p:sp>
        <p:nvSpPr>
          <p:cNvPr id="61443" name="5 Marcador de número de diapositiva"/>
          <p:cNvSpPr>
            <a:spLocks noGrp="1"/>
          </p:cNvSpPr>
          <p:nvPr>
            <p:ph type="sldNum" sz="quarter" idx="12"/>
          </p:nvPr>
        </p:nvSpPr>
        <p:spPr>
          <a:noFill/>
        </p:spPr>
        <p:txBody>
          <a:bodyPr/>
          <a:lstStyle/>
          <a:p>
            <a:fld id="{04EB0E79-6AE8-4B87-A6B8-ABF37DA24029}" type="slidenum">
              <a:rPr lang="es-ES" smtClean="0">
                <a:latin typeface="Times New Roman" pitchFamily="18" charset="0"/>
              </a:rPr>
              <a:pPr/>
              <a:t>62</a:t>
            </a:fld>
            <a:endParaRPr lang="es-ES" smtClean="0">
              <a:latin typeface="Times New Roman"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a:defRPr/>
            </a:pPr>
            <a:r>
              <a:rPr lang="es-ES" sz="4000" dirty="0" smtClean="0"/>
              <a:t>Perspectivas Futuras en la Administración</a:t>
            </a:r>
          </a:p>
        </p:txBody>
      </p:sp>
      <p:sp>
        <p:nvSpPr>
          <p:cNvPr id="62466" name="Rectangle 3"/>
          <p:cNvSpPr>
            <a:spLocks noGrp="1" noChangeArrowheads="1"/>
          </p:cNvSpPr>
          <p:nvPr>
            <p:ph type="body" idx="1"/>
          </p:nvPr>
        </p:nvSpPr>
        <p:spPr/>
        <p:txBody>
          <a:bodyPr/>
          <a:lstStyle/>
          <a:p>
            <a:pPr algn="just"/>
            <a:r>
              <a:rPr lang="es-ES" smtClean="0"/>
              <a:t>Los anteriores desafíos o fenómenos tendrán consecuencias en las organizaciones y harán que estas tengan mas en cuenta  no solo lo que es la previsión continuidad y estabilidad sino también  lo imprevisible , la discontinuidad  y la inestabilidad.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63490" name="Rectangle 3"/>
          <p:cNvSpPr>
            <a:spLocks noGrp="1" noChangeArrowheads="1"/>
          </p:cNvSpPr>
          <p:nvPr>
            <p:ph type="body" idx="1"/>
          </p:nvPr>
        </p:nvSpPr>
        <p:spPr/>
        <p:txBody>
          <a:bodyPr/>
          <a:lstStyle/>
          <a:p>
            <a:pPr algn="just"/>
            <a:r>
              <a:rPr lang="es-ES" smtClean="0"/>
              <a:t>Que son Mega tendencias:</a:t>
            </a:r>
          </a:p>
          <a:p>
            <a:pPr algn="just"/>
            <a:r>
              <a:rPr lang="es-ES" smtClean="0"/>
              <a:t>Son los grandes cambios que surgen dentro de una organización, los cuales hacen parte integrante e inseparable de la sociedad tales como:</a:t>
            </a:r>
          </a:p>
          <a:p>
            <a:endParaRPr lang="es-ES" smtClean="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defRPr/>
            </a:pPr>
            <a:r>
              <a:rPr lang="es-ES_tradnl" dirty="0"/>
              <a:t>Transformaciones o mega tendencias de la</a:t>
            </a:r>
            <a:br>
              <a:rPr lang="es-ES_tradnl" dirty="0"/>
            </a:br>
            <a:r>
              <a:rPr lang="es-ES_tradnl" dirty="0" smtClean="0"/>
              <a:t>sociedad</a:t>
            </a:r>
            <a:endParaRPr lang="es-ES" dirty="0"/>
          </a:p>
        </p:txBody>
      </p:sp>
      <p:sp>
        <p:nvSpPr>
          <p:cNvPr id="64514" name="Rectangle 3"/>
          <p:cNvSpPr>
            <a:spLocks noGrp="1" noChangeArrowheads="1"/>
          </p:cNvSpPr>
          <p:nvPr>
            <p:ph idx="1"/>
          </p:nvPr>
        </p:nvSpPr>
        <p:spPr>
          <a:xfrm>
            <a:off x="685800" y="1928813"/>
            <a:ext cx="7772400" cy="4114800"/>
          </a:xfrm>
        </p:spPr>
        <p:txBody>
          <a:bodyPr/>
          <a:lstStyle/>
          <a:p>
            <a:pPr eaLnBrk="1" hangingPunct="1">
              <a:lnSpc>
                <a:spcPct val="90000"/>
              </a:lnSpc>
              <a:buFont typeface="Wingdings" pitchFamily="2" charset="2"/>
              <a:buNone/>
            </a:pPr>
            <a:endParaRPr lang="es-ES_tradnl" smtClean="0"/>
          </a:p>
          <a:p>
            <a:pPr algn="just" eaLnBrk="1" hangingPunct="1">
              <a:lnSpc>
                <a:spcPct val="90000"/>
              </a:lnSpc>
              <a:buFont typeface="Wingdings" pitchFamily="2" charset="2"/>
              <a:buNone/>
            </a:pPr>
            <a:r>
              <a:rPr lang="es-ES_tradnl" smtClean="0"/>
              <a:t>-De la sociedad industrial a la sociedad de la información.</a:t>
            </a:r>
          </a:p>
          <a:p>
            <a:pPr algn="just" eaLnBrk="1" hangingPunct="1">
              <a:lnSpc>
                <a:spcPct val="90000"/>
              </a:lnSpc>
              <a:buFont typeface="Wingdings" pitchFamily="2" charset="2"/>
              <a:buNone/>
            </a:pPr>
            <a:r>
              <a:rPr lang="es-ES_tradnl" smtClean="0"/>
              <a:t>Ya que pasa de ser una sociedad de servicios a una sociedad informática, en la que la información se vuelve estratégica.</a:t>
            </a:r>
          </a:p>
          <a:p>
            <a:pPr algn="just" eaLnBrk="1" hangingPunct="1">
              <a:lnSpc>
                <a:spcPct val="90000"/>
              </a:lnSpc>
              <a:buFont typeface="Wingdings" pitchFamily="2" charset="2"/>
              <a:buNone/>
            </a:pPr>
            <a:endParaRPr lang="es-ES" smtClean="0"/>
          </a:p>
        </p:txBody>
      </p:sp>
      <p:sp>
        <p:nvSpPr>
          <p:cNvPr id="64515" name="5 Marcador de número de diapositiva"/>
          <p:cNvSpPr>
            <a:spLocks noGrp="1"/>
          </p:cNvSpPr>
          <p:nvPr>
            <p:ph type="sldNum" sz="quarter" idx="12"/>
          </p:nvPr>
        </p:nvSpPr>
        <p:spPr>
          <a:noFill/>
        </p:spPr>
        <p:txBody>
          <a:bodyPr/>
          <a:lstStyle/>
          <a:p>
            <a:fld id="{60FCE5E1-C7E8-4CBA-B70C-EB7D1D79F38C}" type="slidenum">
              <a:rPr lang="es-ES" smtClean="0">
                <a:latin typeface="Times New Roman" pitchFamily="18" charset="0"/>
              </a:rPr>
              <a:pPr/>
              <a:t>65</a:t>
            </a:fld>
            <a:endParaRPr lang="es-ES" smtClean="0">
              <a:latin typeface="Times New Roman"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65538" name="Rectangle 3"/>
          <p:cNvSpPr>
            <a:spLocks noGrp="1" noChangeArrowheads="1"/>
          </p:cNvSpPr>
          <p:nvPr>
            <p:ph type="body" idx="1"/>
          </p:nvPr>
        </p:nvSpPr>
        <p:spPr/>
        <p:txBody>
          <a:bodyPr/>
          <a:lstStyle/>
          <a:p>
            <a:r>
              <a:rPr lang="es-ES" smtClean="0"/>
              <a:t>De la Tecnología Simple a la Sofisticada</a:t>
            </a:r>
          </a:p>
          <a:p>
            <a:endParaRPr lang="es-ES" smtClean="0"/>
          </a:p>
          <a:p>
            <a:r>
              <a:rPr lang="es-ES" smtClean="0"/>
              <a:t>Porque con los avances tecnológicos las organizaciones tendrán mayor  eficiencia, mayor precisión  y por ende mas liberación de la actividad humana.</a:t>
            </a:r>
          </a:p>
          <a:p>
            <a:endParaRPr lang="es-ES" smtClean="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66562" name="Rectangle 3"/>
          <p:cNvSpPr>
            <a:spLocks noGrp="1" noChangeArrowheads="1"/>
          </p:cNvSpPr>
          <p:nvPr>
            <p:ph type="body" idx="1"/>
          </p:nvPr>
        </p:nvSpPr>
        <p:spPr/>
        <p:txBody>
          <a:bodyPr/>
          <a:lstStyle/>
          <a:p>
            <a:pPr algn="just">
              <a:lnSpc>
                <a:spcPct val="90000"/>
              </a:lnSpc>
            </a:pPr>
            <a:r>
              <a:rPr lang="es-ES" smtClean="0"/>
              <a:t>De la Economía Nacional a la Mundial</a:t>
            </a:r>
          </a:p>
          <a:p>
            <a:pPr algn="just">
              <a:lnSpc>
                <a:spcPct val="90000"/>
              </a:lnSpc>
            </a:pPr>
            <a:endParaRPr lang="es-ES" smtClean="0"/>
          </a:p>
          <a:p>
            <a:pPr algn="just">
              <a:lnSpc>
                <a:spcPct val="90000"/>
              </a:lnSpc>
            </a:pPr>
            <a:r>
              <a:rPr lang="es-ES" smtClean="0"/>
              <a:t>Pasan de ser mercados internos para proyectarse como negocios internacionales ya que el mejor producto tendrá mayor demanda.</a:t>
            </a:r>
          </a:p>
          <a:p>
            <a:pPr algn="just">
              <a:lnSpc>
                <a:spcPct val="90000"/>
              </a:lnSpc>
            </a:pPr>
            <a:r>
              <a:rPr lang="es-ES" smtClean="0"/>
              <a:t>Lo que entraríamos a llamar Globalización y Competitividad.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67586" name="Rectangle 3"/>
          <p:cNvSpPr>
            <a:spLocks noGrp="1" noChangeArrowheads="1"/>
          </p:cNvSpPr>
          <p:nvPr>
            <p:ph type="body" idx="1"/>
          </p:nvPr>
        </p:nvSpPr>
        <p:spPr/>
        <p:txBody>
          <a:bodyPr/>
          <a:lstStyle/>
          <a:p>
            <a:pPr algn="just"/>
            <a:r>
              <a:rPr lang="es-ES" smtClean="0"/>
              <a:t>Del Corto al Largo Plazo</a:t>
            </a:r>
          </a:p>
          <a:p>
            <a:pPr algn="just"/>
            <a:endParaRPr lang="es-ES" smtClean="0"/>
          </a:p>
          <a:p>
            <a:pPr algn="just"/>
            <a:r>
              <a:rPr lang="es-ES" smtClean="0"/>
              <a:t>Se entra a tener una visión del negocio  y del futuro, ya que la visión a largo plazo se vuelve en acciones cotidianas.</a:t>
            </a:r>
          </a:p>
          <a:p>
            <a:endParaRPr lang="es-ES" smtClean="0"/>
          </a:p>
          <a:p>
            <a:endParaRPr lang="es-ES" smtClean="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68610" name="Rectangle 3"/>
          <p:cNvSpPr>
            <a:spLocks noGrp="1" noChangeArrowheads="1"/>
          </p:cNvSpPr>
          <p:nvPr>
            <p:ph type="body" idx="1"/>
          </p:nvPr>
        </p:nvSpPr>
        <p:spPr/>
        <p:txBody>
          <a:bodyPr/>
          <a:lstStyle/>
          <a:p>
            <a:pPr algn="just"/>
            <a:r>
              <a:rPr lang="es-ES" smtClean="0"/>
              <a:t>De la democracia representativa a la democracia participativa</a:t>
            </a:r>
          </a:p>
          <a:p>
            <a:pPr algn="just"/>
            <a:endParaRPr lang="es-ES" smtClean="0"/>
          </a:p>
          <a:p>
            <a:pPr algn="just"/>
            <a:r>
              <a:rPr lang="es-ES" smtClean="0"/>
              <a:t>Se entra a tener en cuenta la participación de todas las personas dentro de la organización.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69634" name="Rectangle 3"/>
          <p:cNvSpPr>
            <a:spLocks noGrp="1" noChangeArrowheads="1"/>
          </p:cNvSpPr>
          <p:nvPr>
            <p:ph type="body" idx="1"/>
          </p:nvPr>
        </p:nvSpPr>
        <p:spPr/>
        <p:txBody>
          <a:bodyPr/>
          <a:lstStyle/>
          <a:p>
            <a:pPr algn="just"/>
            <a:r>
              <a:rPr lang="es-ES" smtClean="0"/>
              <a:t>De las jerarquías a la comunicación lateral intensiva.</a:t>
            </a:r>
          </a:p>
          <a:p>
            <a:pPr algn="just"/>
            <a:r>
              <a:rPr lang="es-ES" smtClean="0"/>
              <a:t>Se adopta un modelo de igualación para que sustituya el modelo de la jerarquía, de esta forma se pretende reducir las diferencias impuestas por esta ultima como la autoridad y la iniciativa individual.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70658" name="Rectangle 3"/>
          <p:cNvSpPr>
            <a:spLocks noGrp="1" noChangeArrowheads="1"/>
          </p:cNvSpPr>
          <p:nvPr>
            <p:ph type="body" idx="1"/>
          </p:nvPr>
        </p:nvSpPr>
        <p:spPr/>
        <p:txBody>
          <a:bodyPr/>
          <a:lstStyle/>
          <a:p>
            <a:pPr algn="just"/>
            <a:r>
              <a:rPr lang="es-ES" smtClean="0"/>
              <a:t>De la Opción Dual a la Múltiple</a:t>
            </a:r>
          </a:p>
          <a:p>
            <a:pPr algn="just"/>
            <a:endParaRPr lang="es-ES" smtClean="0"/>
          </a:p>
          <a:p>
            <a:pPr algn="just"/>
            <a:r>
              <a:rPr lang="es-ES" smtClean="0"/>
              <a:t>Las organizaciones pasan de tener pocas opciones a tener varias para la solución de los diferentes problemas que se puedan presentar  entrando a tener una visión sistémica y de contingencia</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71682" name="Rectangle 3"/>
          <p:cNvSpPr>
            <a:spLocks noGrp="1" noChangeArrowheads="1"/>
          </p:cNvSpPr>
          <p:nvPr>
            <p:ph type="body" idx="1"/>
          </p:nvPr>
        </p:nvSpPr>
        <p:spPr>
          <a:xfrm>
            <a:off x="500034" y="2143116"/>
            <a:ext cx="8143932" cy="4167198"/>
          </a:xfrm>
        </p:spPr>
        <p:txBody>
          <a:bodyPr/>
          <a:lstStyle/>
          <a:p>
            <a:r>
              <a:rPr lang="es-ES" dirty="0" smtClean="0"/>
              <a:t>De la Centralización a la descentralización</a:t>
            </a:r>
          </a:p>
          <a:p>
            <a:pPr>
              <a:buNone/>
            </a:pPr>
            <a:endParaRPr lang="es-ES" dirty="0" smtClean="0"/>
          </a:p>
          <a:p>
            <a:pPr algn="just"/>
            <a:r>
              <a:rPr lang="es-ES" dirty="0" smtClean="0"/>
              <a:t>Pasa de la incertidumbre a la imprevisibilidad, ya que atraviesa por un proceso de descentralización provocando dispersión geográfica no solo en las empresas sino en los mercados y negocios.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a:defRPr/>
            </a:pPr>
            <a:r>
              <a:rPr lang="es-ES_tradnl" sz="4000" dirty="0" smtClean="0"/>
              <a:t>Transformaciones o mega tendencias de la</a:t>
            </a:r>
            <a:br>
              <a:rPr lang="es-ES_tradnl" sz="4000" dirty="0" smtClean="0"/>
            </a:br>
            <a:r>
              <a:rPr lang="es-ES_tradnl" sz="4000" dirty="0" smtClean="0"/>
              <a:t>sociedad</a:t>
            </a:r>
            <a:endParaRPr lang="es-ES" sz="4000" dirty="0" smtClean="0"/>
          </a:p>
        </p:txBody>
      </p:sp>
      <p:sp>
        <p:nvSpPr>
          <p:cNvPr id="72706" name="Rectangle 3"/>
          <p:cNvSpPr>
            <a:spLocks noGrp="1" noChangeArrowheads="1"/>
          </p:cNvSpPr>
          <p:nvPr>
            <p:ph type="body" idx="1"/>
          </p:nvPr>
        </p:nvSpPr>
        <p:spPr/>
        <p:txBody>
          <a:bodyPr/>
          <a:lstStyle/>
          <a:p>
            <a:pPr algn="just"/>
            <a:r>
              <a:rPr lang="es-ES" smtClean="0"/>
              <a:t>De la Ayuda institucional a la Autoayuda</a:t>
            </a:r>
          </a:p>
          <a:p>
            <a:pPr algn="just"/>
            <a:endParaRPr lang="es-ES" smtClean="0"/>
          </a:p>
          <a:p>
            <a:pPr algn="just"/>
            <a:r>
              <a:rPr lang="es-ES" smtClean="0"/>
              <a:t>Se entra a  tener una Autonomía y a  brindar servicios diferenciados tales como: Asistencia medico-hospitalaria.</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defRPr/>
            </a:pPr>
            <a:r>
              <a:rPr lang="es-ES" dirty="0" smtClean="0"/>
              <a:t>Conclusión</a:t>
            </a:r>
          </a:p>
        </p:txBody>
      </p:sp>
      <p:sp>
        <p:nvSpPr>
          <p:cNvPr id="73730" name="Rectangle 3"/>
          <p:cNvSpPr>
            <a:spLocks noGrp="1" noChangeArrowheads="1"/>
          </p:cNvSpPr>
          <p:nvPr>
            <p:ph idx="1"/>
          </p:nvPr>
        </p:nvSpPr>
        <p:spPr>
          <a:xfrm>
            <a:off x="685800" y="2000250"/>
            <a:ext cx="7772400" cy="4095750"/>
          </a:xfrm>
        </p:spPr>
        <p:txBody>
          <a:bodyPr/>
          <a:lstStyle/>
          <a:p>
            <a:pPr algn="just" eaLnBrk="1" hangingPunct="1">
              <a:buFont typeface="Wingdings" pitchFamily="2" charset="2"/>
              <a:buNone/>
            </a:pPr>
            <a:r>
              <a:rPr lang="es-ES_tradnl" smtClean="0"/>
              <a:t>-Podemos decir que el éxito de una organización dependerá de la capacidad para interpretar la realidad, rastrear cambios y transformaciones.</a:t>
            </a:r>
          </a:p>
          <a:p>
            <a:pPr algn="just" eaLnBrk="1" hangingPunct="1">
              <a:buFont typeface="Wingdings" pitchFamily="2" charset="2"/>
              <a:buNone/>
            </a:pPr>
            <a:r>
              <a:rPr lang="es-ES_tradnl" smtClean="0"/>
              <a:t> De identificar oportunidades que se puedan presentar.</a:t>
            </a:r>
          </a:p>
          <a:p>
            <a:pPr algn="just" eaLnBrk="1" hangingPunct="1">
              <a:buFont typeface="Wingdings" pitchFamily="2" charset="2"/>
              <a:buNone/>
            </a:pPr>
            <a:r>
              <a:rPr lang="es-ES_tradnl" smtClean="0"/>
              <a:t> Y reconocer amenazas y dificultades para eliminarlas  o neutralizarlas.</a:t>
            </a:r>
          </a:p>
          <a:p>
            <a:pPr eaLnBrk="1" hangingPunct="1">
              <a:buFont typeface="Wingdings" pitchFamily="2" charset="2"/>
              <a:buNone/>
            </a:pPr>
            <a:endParaRPr lang="es-ES" smtClean="0"/>
          </a:p>
        </p:txBody>
      </p:sp>
      <p:sp>
        <p:nvSpPr>
          <p:cNvPr id="73731" name="5 Marcador de número de diapositiva"/>
          <p:cNvSpPr>
            <a:spLocks noGrp="1"/>
          </p:cNvSpPr>
          <p:nvPr>
            <p:ph type="sldNum" sz="quarter" idx="12"/>
          </p:nvPr>
        </p:nvSpPr>
        <p:spPr>
          <a:noFill/>
        </p:spPr>
        <p:txBody>
          <a:bodyPr/>
          <a:lstStyle/>
          <a:p>
            <a:fld id="{31BC1BE3-CAFF-4448-B8E5-B9EAD4D1B0F2}" type="slidenum">
              <a:rPr lang="es-ES" smtClean="0">
                <a:latin typeface="Times New Roman" pitchFamily="18" charset="0"/>
              </a:rPr>
              <a:pPr/>
              <a:t>74</a:t>
            </a:fld>
            <a:endParaRPr lang="es-ES" smtClean="0">
              <a:latin typeface="Times New Roman" pitchFamily="18" charset="0"/>
            </a:endParaRPr>
          </a:p>
        </p:txBody>
      </p:sp>
    </p:spTree>
  </p:cSld>
  <p:clrMapOvr>
    <a:masterClrMapping/>
  </p:clrMapOvr>
</p:sld>
</file>

<file path=ppt/theme/theme1.xml><?xml version="1.0" encoding="utf-8"?>
<a:theme xmlns:a="http://schemas.openxmlformats.org/drawingml/2006/main" name="Vuelo sin motor">
  <a:themeElements>
    <a:clrScheme name="Vuelo sin motor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Papel">
      <a:maj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onstantia"/>
        <a:ea typeface=""/>
        <a:cs typeface=""/>
        <a:font script="Jpan" typeface="HG明朝E"/>
        <a:font script="Hang" typeface="궁서"/>
        <a:font script="Hans" typeface="华文新魏"/>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Vuelo sin motor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Vuelo sin motor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Vuelo sin motor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Vuelo sin motor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Vuelo sin motor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729</TotalTime>
  <Words>2136</Words>
  <Application>Microsoft Office PowerPoint</Application>
  <PresentationFormat>Presentación en pantalla (4:3)</PresentationFormat>
  <Paragraphs>374</Paragraphs>
  <Slides>74</Slides>
  <Notes>6</Notes>
  <HiddenSlides>0</HiddenSlides>
  <MMClips>0</MMClips>
  <ScaleCrop>false</ScaleCrop>
  <HeadingPairs>
    <vt:vector size="4" baseType="variant">
      <vt:variant>
        <vt:lpstr>Tema</vt:lpstr>
      </vt:variant>
      <vt:variant>
        <vt:i4>1</vt:i4>
      </vt:variant>
      <vt:variant>
        <vt:lpstr>Títulos de diapositiva</vt:lpstr>
      </vt:variant>
      <vt:variant>
        <vt:i4>74</vt:i4>
      </vt:variant>
    </vt:vector>
  </HeadingPairs>
  <TitlesOfParts>
    <vt:vector size="75" baseType="lpstr">
      <vt:lpstr>Vuelo sin motor</vt:lpstr>
      <vt:lpstr>FUNDAMENTOS DE PENSAMIENTO ADMINISTRATIVO</vt:lpstr>
      <vt:lpstr>Origen de la Administración</vt:lpstr>
      <vt:lpstr>Época primitiva</vt:lpstr>
      <vt:lpstr>Antigüedad grecolatina</vt:lpstr>
      <vt:lpstr>Revolución industrial</vt:lpstr>
      <vt:lpstr>ADMINISTRACIÓN</vt:lpstr>
      <vt:lpstr>IMPORTANCIA DE LA ADMINISTRACIÓN</vt:lpstr>
      <vt:lpstr>Conceptos de autores Contemporáneos</vt:lpstr>
      <vt:lpstr>Conceptos de autores Contemporáneos</vt:lpstr>
      <vt:lpstr>Conceptos de autores Contemporáneos</vt:lpstr>
      <vt:lpstr>Conceptos de autores Contemporáneos </vt:lpstr>
      <vt:lpstr>Conceptos de autores Contemporáneos</vt:lpstr>
      <vt:lpstr>Teorías del pensamiento Administrativo.</vt:lpstr>
      <vt:lpstr>Objetivo de la Administración</vt:lpstr>
      <vt:lpstr>Características de la administración</vt:lpstr>
      <vt:lpstr>Características de la administración</vt:lpstr>
      <vt:lpstr>Funciones de la Administración</vt:lpstr>
      <vt:lpstr>PLANEACION</vt:lpstr>
      <vt:lpstr>ORGANIZACION</vt:lpstr>
      <vt:lpstr>INTEGRACION DEL RECURSO HUMANO</vt:lpstr>
      <vt:lpstr>DIRECCION</vt:lpstr>
      <vt:lpstr>CONTROL</vt:lpstr>
      <vt:lpstr>ORGANIZACIÓN VS ADMINISTRACION</vt:lpstr>
      <vt:lpstr>QUE ES ORGANIZACIÓN?</vt:lpstr>
      <vt:lpstr>ORGANIZACIÓN VS ADMINISTRACION</vt:lpstr>
      <vt:lpstr>LAS ORGANIZACIONES SON:</vt:lpstr>
      <vt:lpstr>LAS ORGANIZACIONES SON:</vt:lpstr>
      <vt:lpstr>ORGANIZACIÓN VS ADMINISTRACIÒN</vt:lpstr>
      <vt:lpstr>CONCEPTO DE EMPRESA:</vt:lpstr>
      <vt:lpstr>TIPOLOGIA EMPRESARIAL.</vt:lpstr>
      <vt:lpstr>TIPOLOGIA EMPRESARIAL.</vt:lpstr>
      <vt:lpstr>TIPOLOGIA EMPRESARIAL.</vt:lpstr>
      <vt:lpstr>EMPRESAS VIRTUALES</vt:lpstr>
      <vt:lpstr>LA ADMINISTRACIÓN:</vt:lpstr>
      <vt:lpstr>CONCEPTO DE CIENCIA</vt:lpstr>
      <vt:lpstr>LOS NIVELES DEL CONOCIMEINTO</vt:lpstr>
      <vt:lpstr>LOS NIVELES DEL CONOCIMIETO</vt:lpstr>
      <vt:lpstr>LOS NIVELES DEL CONOCIMIENTO</vt:lpstr>
      <vt:lpstr>FENOMENO</vt:lpstr>
      <vt:lpstr> Los métodos que se aplican para el estudio de los fenómenos son:</vt:lpstr>
      <vt:lpstr>METODO CIENTIFICO</vt:lpstr>
      <vt:lpstr>Los pasos que se utilizan para esa investigación son:</vt:lpstr>
      <vt:lpstr>Pasos que se utilizan para esa investigación son:</vt:lpstr>
      <vt:lpstr>ADMINISTRACION COMO CIENCIA</vt:lpstr>
      <vt:lpstr>ADMINISTRACION COMO TÉCNICA</vt:lpstr>
      <vt:lpstr>ADMINISTRACION COMO TÉCNICA</vt:lpstr>
      <vt:lpstr>ADMINISTRACION COMO TÉCNICA</vt:lpstr>
      <vt:lpstr>ADMINISTRACION COMO ARTE</vt:lpstr>
      <vt:lpstr>RELACIÓN DE LA ADMINISTRACIÓN CON OTRAS CIENCIAS </vt:lpstr>
      <vt:lpstr>LA ADMINISTRACION CON OTRAS CIENCIAS</vt:lpstr>
      <vt:lpstr>Diapositiva 51</vt:lpstr>
      <vt:lpstr>Con la ciencia política</vt:lpstr>
      <vt:lpstr>Con la antropología cultural </vt:lpstr>
      <vt:lpstr>Con la psicología-social</vt:lpstr>
      <vt:lpstr>Con la economía</vt:lpstr>
      <vt:lpstr>Administración Tradicional</vt:lpstr>
      <vt:lpstr>Administración Tradicional </vt:lpstr>
      <vt:lpstr>Administración Tradicional</vt:lpstr>
      <vt:lpstr>Administración Moderna</vt:lpstr>
      <vt:lpstr>Administración Moderna</vt:lpstr>
      <vt:lpstr>Perspectivas futuras en la administración</vt:lpstr>
      <vt:lpstr>Perspectivas Futuras en la Administración</vt:lpstr>
      <vt:lpstr>Perspectivas Futuras en la Administración</vt:lpstr>
      <vt:lpstr>Transformaciones o mega tendencias de la sociedad</vt:lpstr>
      <vt:lpstr>Transformaciones o mega tendencias de la sociedad</vt:lpstr>
      <vt:lpstr>Transformaciones o mega tendencias de la sociedad</vt:lpstr>
      <vt:lpstr>Transformaciones o mega tendencias de la sociedad</vt:lpstr>
      <vt:lpstr>Transformaciones o mega tendencias de la sociedad</vt:lpstr>
      <vt:lpstr>Transformaciones o mega tendencias de la sociedad</vt:lpstr>
      <vt:lpstr>Transformaciones o mega tendencias de la sociedad</vt:lpstr>
      <vt:lpstr>Transformaciones o mega tendencias de la sociedad</vt:lpstr>
      <vt:lpstr>Transformaciones o mega tendencias de la sociedad</vt:lpstr>
      <vt:lpstr>Transformaciones o mega tendencias de la sociedad</vt:lpstr>
      <vt:lpstr>Conclusión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FUNDAMENTOS DE PENSAMIENTO ADMINISTRATIVO</dc:title>
  <dc:creator>Jorge Hernán López Martínez</dc:creator>
  <cp:lastModifiedBy> </cp:lastModifiedBy>
  <cp:revision>71</cp:revision>
  <dcterms:modified xsi:type="dcterms:W3CDTF">2009-08-14T12:01:30Z</dcterms:modified>
</cp:coreProperties>
</file>