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slides/slide47.xml" ContentType="application/vnd.openxmlformats-officedocument.presentationml.slide+xml"/>
  <Override PartName="/ppt/slides/slide58.xml" ContentType="application/vnd.openxmlformats-officedocument.presentationml.slide+xml"/>
  <Override PartName="/ppt/slides/slide76.xml" ContentType="application/vnd.openxmlformats-officedocument.presentationml.slide+xml"/>
  <Override PartName="/ppt/slides/slide94.xml" ContentType="application/vnd.openxmlformats-officedocument.presentationml.slide+xml"/>
  <Override PartName="/ppt/slides/slide113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36.xml" ContentType="application/vnd.openxmlformats-officedocument.presentationml.slide+xml"/>
  <Override PartName="/ppt/slides/slide54.xml" ContentType="application/vnd.openxmlformats-officedocument.presentationml.slide+xml"/>
  <Override PartName="/ppt/slides/slide65.xml" ContentType="application/vnd.openxmlformats-officedocument.presentationml.slide+xml"/>
  <Override PartName="/ppt/slides/slide83.xml" ContentType="application/vnd.openxmlformats-officedocument.presentationml.slide+xml"/>
  <Override PartName="/ppt/slides/slide102.xml" ContentType="application/vnd.openxmlformats-officedocument.presentationml.slide+xml"/>
  <Override PartName="/ppt/slides/slide120.xml" ContentType="application/vnd.openxmlformats-officedocument.presentationml.slide+xml"/>
  <Override PartName="/ppt/slides/slide131.xml" ContentType="application/vnd.openxmlformats-officedocument.presentationml.slide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s/slide25.xml" ContentType="application/vnd.openxmlformats-officedocument.presentationml.slide+xml"/>
  <Override PartName="/ppt/slides/slide43.xml" ContentType="application/vnd.openxmlformats-officedocument.presentationml.slide+xml"/>
  <Override PartName="/ppt/slides/slide72.xml" ContentType="application/vnd.openxmlformats-officedocument.presentationml.slide+xml"/>
  <Override PartName="/ppt/slides/slide90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xml" ContentType="application/xml"/>
  <Override PartName="/ppt/slides/slide14.xml" ContentType="application/vnd.openxmlformats-officedocument.presentationml.slide+xml"/>
  <Override PartName="/ppt/slides/slide32.xml" ContentType="application/vnd.openxmlformats-officedocument.presentationml.slide+xml"/>
  <Override PartName="/ppt/slides/slide5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3.xml" ContentType="application/vnd.openxmlformats-officedocument.presentationml.slideLayout+xml"/>
  <Override PartName="/ppt/slides/slide1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20.xml" ContentType="application/vnd.openxmlformats-officedocument.presentationml.slideLayout+xml"/>
  <Override PartName="/ppt/slides/slide129.xml" ContentType="application/vnd.openxmlformats-officedocument.presentationml.slide+xml"/>
  <Override PartName="/ppt/slides/slide99.xml" ContentType="application/vnd.openxmlformats-officedocument.presentationml.slide+xml"/>
  <Override PartName="/ppt/slides/slide118.xml" ContentType="application/vnd.openxmlformats-officedocument.presentationml.slide+xml"/>
  <Override PartName="/ppt/slides/slide136.xml" ContentType="application/vnd.openxmlformats-officedocument.presentationml.slide+xml"/>
  <Override PartName="/ppt/slides/slide9.xml" ContentType="application/vnd.openxmlformats-officedocument.presentationml.slide+xml"/>
  <Override PartName="/ppt/slides/slide59.xml" ContentType="application/vnd.openxmlformats-officedocument.presentationml.slide+xml"/>
  <Override PartName="/ppt/slides/slide77.xml" ContentType="application/vnd.openxmlformats-officedocument.presentationml.slide+xml"/>
  <Override PartName="/ppt/slides/slide88.xml" ContentType="application/vnd.openxmlformats-officedocument.presentationml.slide+xml"/>
  <Override PartName="/ppt/slides/slide107.xml" ContentType="application/vnd.openxmlformats-officedocument.presentationml.slide+xml"/>
  <Override PartName="/ppt/slides/slide125.xml" ContentType="application/vnd.openxmlformats-officedocument.presentationml.slide+xml"/>
  <Override PartName="/ppt/viewProps.xml" ContentType="application/vnd.openxmlformats-officedocument.presentationml.viewProp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48.xml" ContentType="application/vnd.openxmlformats-officedocument.presentationml.slide+xml"/>
  <Override PartName="/ppt/slides/slide66.xml" ContentType="application/vnd.openxmlformats-officedocument.presentationml.slide+xml"/>
  <Override PartName="/ppt/slides/slide95.xml" ContentType="application/vnd.openxmlformats-officedocument.presentationml.slide+xml"/>
  <Override PartName="/ppt/slides/slide103.xml" ContentType="application/vnd.openxmlformats-officedocument.presentationml.slide+xml"/>
  <Override PartName="/ppt/slides/slide114.xml" ContentType="application/vnd.openxmlformats-officedocument.presentationml.slide+xml"/>
  <Override PartName="/ppt/slides/slide132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55.xml" ContentType="application/vnd.openxmlformats-officedocument.presentationml.slide+xml"/>
  <Override PartName="/ppt/slides/slide73.xml" ContentType="application/vnd.openxmlformats-officedocument.presentationml.slide+xml"/>
  <Override PartName="/ppt/slides/slide84.xml" ContentType="application/vnd.openxmlformats-officedocument.presentationml.slide+xml"/>
  <Override PartName="/ppt/slides/slide121.xml" ContentType="application/vnd.openxmlformats-officedocument.presentationml.slide+xml"/>
  <Override PartName="/ppt/presProps.xml" ContentType="application/vnd.openxmlformats-officedocument.presentationml.presProps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33.xml" ContentType="application/vnd.openxmlformats-officedocument.presentationml.slide+xml"/>
  <Override PartName="/ppt/slides/slide44.xml" ContentType="application/vnd.openxmlformats-officedocument.presentationml.slide+xml"/>
  <Override PartName="/ppt/slides/slide62.xml" ContentType="application/vnd.openxmlformats-officedocument.presentationml.slide+xml"/>
  <Override PartName="/ppt/slides/slide80.xml" ContentType="application/vnd.openxmlformats-officedocument.presentationml.slide+xml"/>
  <Override PartName="/ppt/slides/slide91.xml" ContentType="application/vnd.openxmlformats-officedocument.presentationml.slide+xml"/>
  <Override PartName="/ppt/slides/slide110.xml" ContentType="application/vnd.openxmlformats-officedocument.presentationml.slide+xml"/>
  <Override PartName="/ppt/slideLayouts/slideLayout3.xml" ContentType="application/vnd.openxmlformats-officedocument.presentationml.slideLayout+xml"/>
  <Override PartName="/ppt/presentation.xml" ContentType="application/vnd.openxmlformats-officedocument.presentationml.presentation.main+xml"/>
  <Override PartName="/ppt/slides/slide22.xml" ContentType="application/vnd.openxmlformats-officedocument.presentationml.slide+xml"/>
  <Override PartName="/ppt/slides/slide51.xml" ContentType="application/vnd.openxmlformats-officedocument.presentationml.slide+xml"/>
  <Override PartName="/ppt/slideLayouts/slideLayout14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40.xml" ContentType="application/vnd.openxmlformats-officedocument.presentationml.slide+xml"/>
  <Override PartName="/ppt/slideLayouts/slideLayout21.xml" ContentType="application/vnd.openxmlformats-officedocument.presentationml.slideLayout+xml"/>
  <Override PartName="/ppt/slides/slide119.xml" ContentType="application/vnd.openxmlformats-officedocument.presentationml.slide+xml"/>
  <Override PartName="/ppt/slideLayouts/slideLayout10.xml" ContentType="application/vnd.openxmlformats-officedocument.presentationml.slideLayout+xml"/>
  <Default Extension="gif" ContentType="image/gif"/>
  <Override PartName="/ppt/slides/slide89.xml" ContentType="application/vnd.openxmlformats-officedocument.presentationml.slide+xml"/>
  <Override PartName="/ppt/slides/slide98.xml" ContentType="application/vnd.openxmlformats-officedocument.presentationml.slide+xml"/>
  <Override PartName="/ppt/slides/slide108.xml" ContentType="application/vnd.openxmlformats-officedocument.presentationml.slide+xml"/>
  <Override PartName="/ppt/slides/slide117.xml" ContentType="application/vnd.openxmlformats-officedocument.presentationml.slide+xml"/>
  <Override PartName="/ppt/slides/slide126.xml" ContentType="application/vnd.openxmlformats-officedocument.presentationml.slide+xml"/>
  <Override PartName="/ppt/slides/slide128.xml" ContentType="application/vnd.openxmlformats-officedocument.presentationml.slide+xml"/>
  <Override PartName="/ppt/slides/slide137.xml" ContentType="application/vnd.openxmlformats-officedocument.presentationml.slide+xml"/>
  <Override PartName="/ppt/slides/slide8.xml" ContentType="application/vnd.openxmlformats-officedocument.presentationml.slide+xml"/>
  <Override PartName="/ppt/slides/slide49.xml" ContentType="application/vnd.openxmlformats-officedocument.presentationml.slide+xml"/>
  <Override PartName="/ppt/slides/slide69.xml" ContentType="application/vnd.openxmlformats-officedocument.presentationml.slide+xml"/>
  <Override PartName="/ppt/slides/slide78.xml" ContentType="application/vnd.openxmlformats-officedocument.presentationml.slide+xml"/>
  <Override PartName="/ppt/slides/slide87.xml" ContentType="application/vnd.openxmlformats-officedocument.presentationml.slide+xml"/>
  <Override PartName="/ppt/slides/slide96.xml" ContentType="application/vnd.openxmlformats-officedocument.presentationml.slide+xml"/>
  <Override PartName="/ppt/slides/slide106.xml" ContentType="application/vnd.openxmlformats-officedocument.presentationml.slide+xml"/>
  <Override PartName="/ppt/slides/slide115.xml" ContentType="application/vnd.openxmlformats-officedocument.presentationml.slide+xml"/>
  <Override PartName="/ppt/slides/slide124.xml" ContentType="application/vnd.openxmlformats-officedocument.presentationml.slide+xml"/>
  <Override PartName="/ppt/slides/slide135.xml" ContentType="application/vnd.openxmlformats-officedocument.presentationml.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s/slide56.xml" ContentType="application/vnd.openxmlformats-officedocument.presentationml.slide+xml"/>
  <Override PartName="/ppt/slides/slide67.xml" ContentType="application/vnd.openxmlformats-officedocument.presentationml.slide+xml"/>
  <Override PartName="/ppt/slides/slide85.xml" ContentType="application/vnd.openxmlformats-officedocument.presentationml.slide+xml"/>
  <Override PartName="/ppt/slides/slide104.xml" ContentType="application/vnd.openxmlformats-officedocument.presentationml.slide+xml"/>
  <Override PartName="/ppt/slides/slide122.xml" ContentType="application/vnd.openxmlformats-officedocument.presentationml.slide+xml"/>
  <Override PartName="/ppt/slides/slide133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s/slide45.xml" ContentType="application/vnd.openxmlformats-officedocument.presentationml.slide+xml"/>
  <Override PartName="/ppt/slides/slide74.xml" ContentType="application/vnd.openxmlformats-officedocument.presentationml.slide+xml"/>
  <Override PartName="/ppt/slides/slide92.xml" ContentType="application/vnd.openxmlformats-officedocument.presentationml.slide+xml"/>
  <Override PartName="/ppt/slides/slide111.xml" ContentType="application/vnd.openxmlformats-officedocument.presentationml.slide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34.xml" ContentType="application/vnd.openxmlformats-officedocument.presentationml.slide+xml"/>
  <Override PartName="/ppt/slides/slide52.xml" ContentType="application/vnd.openxmlformats-officedocument.presentationml.slide+xml"/>
  <Override PartName="/ppt/slides/slide63.xml" ContentType="application/vnd.openxmlformats-officedocument.presentationml.slide+xml"/>
  <Override PartName="/ppt/slides/slide81.xml" ContentType="application/vnd.openxmlformats-officedocument.presentationml.slide+xml"/>
  <Override PartName="/ppt/slides/slide100.xml" ContentType="application/vnd.openxmlformats-officedocument.presentationml.slide+xml"/>
  <Override PartName="/ppt/slideLayouts/slideLayout15.xml" ContentType="application/vnd.openxmlformats-officedocument.presentationml.slideLayout+xml"/>
  <Default Extension="rels" ContentType="application/vnd.openxmlformats-package.relationships+xml"/>
  <Override PartName="/ppt/slides/slide23.xml" ContentType="application/vnd.openxmlformats-officedocument.presentationml.slide+xml"/>
  <Override PartName="/ppt/slides/slide41.xml" ContentType="application/vnd.openxmlformats-officedocument.presentationml.slide+xml"/>
  <Override PartName="/ppt/slides/slide70.xml" ContentType="application/vnd.openxmlformats-officedocument.presentationml.slide+xml"/>
  <Override PartName="/ppt/slideLayouts/slideLayout22.xml" ContentType="application/vnd.openxmlformats-officedocument.presentationml.slideLayout+xml"/>
  <Override PartName="/ppt/slides/slide12.xml" ContentType="application/vnd.openxmlformats-officedocument.presentationml.slide+xml"/>
  <Override PartName="/ppt/slides/slide30.xml" ContentType="application/vnd.openxmlformats-officedocument.presentationml.slide+xml"/>
  <Override PartName="/ppt/slideLayouts/slideLayout11.xml" ContentType="application/vnd.openxmlformats-officedocument.presentationml.slideLayout+xml"/>
  <Override PartName="/ppt/slides/slide79.xml" ContentType="application/vnd.openxmlformats-officedocument.presentationml.slide+xml"/>
  <Override PartName="/ppt/slides/slide109.xml" ContentType="application/vnd.openxmlformats-officedocument.presentationml.slide+xml"/>
  <Override PartName="/ppt/slides/slide127.xml" ContentType="application/vnd.openxmlformats-officedocument.presentationml.slide+xml"/>
  <Override PartName="/ppt/slides/slide7.xml" ContentType="application/vnd.openxmlformats-officedocument.presentationml.slide+xml"/>
  <Override PartName="/ppt/slides/slide68.xml" ContentType="application/vnd.openxmlformats-officedocument.presentationml.slide+xml"/>
  <Override PartName="/ppt/slides/slide97.xml" ContentType="application/vnd.openxmlformats-officedocument.presentationml.slide+xml"/>
  <Override PartName="/ppt/slides/slide116.xml" ContentType="application/vnd.openxmlformats-officedocument.presentationml.slide+xml"/>
  <Override PartName="/ppt/slides/slide134.xml" ContentType="application/vnd.openxmlformats-officedocument.presentationml.slide+xml"/>
  <Override PartName="/ppt/slideLayouts/slideLayout9.xml" ContentType="application/vnd.openxmlformats-officedocument.presentationml.slideLayout+xml"/>
  <Override PartName="/ppt/slideMasters/slideMaster2.xml" ContentType="application/vnd.openxmlformats-officedocument.presentationml.slideMaster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57.xml" ContentType="application/vnd.openxmlformats-officedocument.presentationml.slide+xml"/>
  <Override PartName="/ppt/slides/slide75.xml" ContentType="application/vnd.openxmlformats-officedocument.presentationml.slide+xml"/>
  <Override PartName="/ppt/slides/slide86.xml" ContentType="application/vnd.openxmlformats-officedocument.presentationml.slide+xml"/>
  <Override PartName="/ppt/slides/slide105.xml" ContentType="application/vnd.openxmlformats-officedocument.presentationml.slide+xml"/>
  <Override PartName="/ppt/slides/slide123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46.xml" ContentType="application/vnd.openxmlformats-officedocument.presentationml.slide+xml"/>
  <Override PartName="/ppt/slides/slide64.xml" ContentType="application/vnd.openxmlformats-officedocument.presentationml.slide+xml"/>
  <Override PartName="/ppt/slides/slide93.xml" ContentType="application/vnd.openxmlformats-officedocument.presentationml.slide+xml"/>
  <Override PartName="/ppt/slides/slide101.xml" ContentType="application/vnd.openxmlformats-officedocument.presentationml.slide+xml"/>
  <Override PartName="/ppt/slides/slide112.xml" ContentType="application/vnd.openxmlformats-officedocument.presentationml.slide+xml"/>
  <Override PartName="/ppt/slides/slide130.xml" ContentType="application/vnd.openxmlformats-officedocument.presentationml.slide+xml"/>
  <Override PartName="/ppt/slideLayouts/slideLayout5.xml" ContentType="application/vnd.openxmlformats-officedocument.presentationml.slideLayout+xml"/>
  <Override PartName="/ppt/slides/slide24.xml" ContentType="application/vnd.openxmlformats-officedocument.presentationml.slide+xml"/>
  <Override PartName="/ppt/slides/slide35.xml" ContentType="application/vnd.openxmlformats-officedocument.presentationml.slide+xml"/>
  <Override PartName="/ppt/slides/slide53.xml" ContentType="application/vnd.openxmlformats-officedocument.presentationml.slide+xml"/>
  <Override PartName="/ppt/slides/slide71.xml" ContentType="application/vnd.openxmlformats-officedocument.presentationml.slide+xml"/>
  <Override PartName="/ppt/slides/slide82.xml" ContentType="application/vnd.openxmlformats-officedocument.presentationml.slide+xml"/>
  <Default Extension="jpeg" ContentType="image/jpeg"/>
  <Override PartName="/ppt/slideLayouts/slideLayout16.xml" ContentType="application/vnd.openxmlformats-officedocument.presentationml.slideLayout+xml"/>
  <Override PartName="/ppt/slides/slide13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60.xml" ContentType="application/vnd.openxmlformats-officedocument.presentationml.slide+xml"/>
  <Override PartName="/ppt/slideLayouts/slideLayout1.xml" ContentType="application/vnd.openxmlformats-officedocument.presentationml.slideLayout+xml"/>
  <Override PartName="/ppt/slides/slide20.xml" ContentType="application/vnd.openxmlformats-officedocument.presentationml.slide+xml"/>
  <Override PartName="/ppt/slideLayouts/slideLayout12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20" r:id="rId1"/>
    <p:sldMasterId id="2147484032" r:id="rId2"/>
  </p:sldMasterIdLst>
  <p:notesMasterIdLst>
    <p:notesMasterId r:id="rId140"/>
  </p:notesMasterIdLst>
  <p:sldIdLst>
    <p:sldId id="256" r:id="rId3"/>
    <p:sldId id="257" r:id="rId4"/>
    <p:sldId id="258" r:id="rId5"/>
    <p:sldId id="259" r:id="rId6"/>
    <p:sldId id="273" r:id="rId7"/>
    <p:sldId id="272" r:id="rId8"/>
    <p:sldId id="260" r:id="rId9"/>
    <p:sldId id="261" r:id="rId10"/>
    <p:sldId id="287" r:id="rId11"/>
    <p:sldId id="291" r:id="rId12"/>
    <p:sldId id="263" r:id="rId13"/>
    <p:sldId id="264" r:id="rId14"/>
    <p:sldId id="265" r:id="rId15"/>
    <p:sldId id="289" r:id="rId16"/>
    <p:sldId id="296" r:id="rId17"/>
    <p:sldId id="297" r:id="rId18"/>
    <p:sldId id="298" r:id="rId19"/>
    <p:sldId id="299" r:id="rId20"/>
    <p:sldId id="293" r:id="rId21"/>
    <p:sldId id="294" r:id="rId22"/>
    <p:sldId id="295" r:id="rId23"/>
    <p:sldId id="266" r:id="rId24"/>
    <p:sldId id="267" r:id="rId25"/>
    <p:sldId id="270" r:id="rId26"/>
    <p:sldId id="271" r:id="rId27"/>
    <p:sldId id="300" r:id="rId28"/>
    <p:sldId id="301" r:id="rId29"/>
    <p:sldId id="302" r:id="rId30"/>
    <p:sldId id="303" r:id="rId31"/>
    <p:sldId id="304" r:id="rId32"/>
    <p:sldId id="305" r:id="rId33"/>
    <p:sldId id="306" r:id="rId34"/>
    <p:sldId id="307" r:id="rId35"/>
    <p:sldId id="308" r:id="rId36"/>
    <p:sldId id="309" r:id="rId37"/>
    <p:sldId id="310" r:id="rId38"/>
    <p:sldId id="311" r:id="rId39"/>
    <p:sldId id="312" r:id="rId40"/>
    <p:sldId id="313" r:id="rId41"/>
    <p:sldId id="314" r:id="rId42"/>
    <p:sldId id="315" r:id="rId43"/>
    <p:sldId id="316" r:id="rId44"/>
    <p:sldId id="317" r:id="rId45"/>
    <p:sldId id="318" r:id="rId46"/>
    <p:sldId id="319" r:id="rId47"/>
    <p:sldId id="320" r:id="rId48"/>
    <p:sldId id="321" r:id="rId49"/>
    <p:sldId id="322" r:id="rId50"/>
    <p:sldId id="323" r:id="rId51"/>
    <p:sldId id="324" r:id="rId52"/>
    <p:sldId id="325" r:id="rId53"/>
    <p:sldId id="326" r:id="rId54"/>
    <p:sldId id="327" r:id="rId55"/>
    <p:sldId id="328" r:id="rId56"/>
    <p:sldId id="329" r:id="rId57"/>
    <p:sldId id="330" r:id="rId58"/>
    <p:sldId id="331" r:id="rId59"/>
    <p:sldId id="332" r:id="rId60"/>
    <p:sldId id="333" r:id="rId61"/>
    <p:sldId id="334" r:id="rId62"/>
    <p:sldId id="335" r:id="rId63"/>
    <p:sldId id="336" r:id="rId64"/>
    <p:sldId id="337" r:id="rId65"/>
    <p:sldId id="338" r:id="rId66"/>
    <p:sldId id="339" r:id="rId67"/>
    <p:sldId id="340" r:id="rId68"/>
    <p:sldId id="341" r:id="rId69"/>
    <p:sldId id="342" r:id="rId70"/>
    <p:sldId id="343" r:id="rId71"/>
    <p:sldId id="344" r:id="rId72"/>
    <p:sldId id="345" r:id="rId73"/>
    <p:sldId id="346" r:id="rId74"/>
    <p:sldId id="347" r:id="rId75"/>
    <p:sldId id="348" r:id="rId76"/>
    <p:sldId id="349" r:id="rId77"/>
    <p:sldId id="350" r:id="rId78"/>
    <p:sldId id="351" r:id="rId79"/>
    <p:sldId id="352" r:id="rId80"/>
    <p:sldId id="353" r:id="rId81"/>
    <p:sldId id="354" r:id="rId82"/>
    <p:sldId id="355" r:id="rId83"/>
    <p:sldId id="356" r:id="rId84"/>
    <p:sldId id="357" r:id="rId85"/>
    <p:sldId id="358" r:id="rId86"/>
    <p:sldId id="359" r:id="rId87"/>
    <p:sldId id="360" r:id="rId88"/>
    <p:sldId id="361" r:id="rId89"/>
    <p:sldId id="362" r:id="rId90"/>
    <p:sldId id="363" r:id="rId91"/>
    <p:sldId id="364" r:id="rId92"/>
    <p:sldId id="365" r:id="rId93"/>
    <p:sldId id="366" r:id="rId94"/>
    <p:sldId id="367" r:id="rId95"/>
    <p:sldId id="368" r:id="rId96"/>
    <p:sldId id="369" r:id="rId97"/>
    <p:sldId id="370" r:id="rId98"/>
    <p:sldId id="371" r:id="rId99"/>
    <p:sldId id="372" r:id="rId100"/>
    <p:sldId id="373" r:id="rId101"/>
    <p:sldId id="374" r:id="rId102"/>
    <p:sldId id="375" r:id="rId103"/>
    <p:sldId id="376" r:id="rId104"/>
    <p:sldId id="377" r:id="rId105"/>
    <p:sldId id="378" r:id="rId106"/>
    <p:sldId id="379" r:id="rId107"/>
    <p:sldId id="380" r:id="rId108"/>
    <p:sldId id="381" r:id="rId109"/>
    <p:sldId id="382" r:id="rId110"/>
    <p:sldId id="383" r:id="rId111"/>
    <p:sldId id="384" r:id="rId112"/>
    <p:sldId id="385" r:id="rId113"/>
    <p:sldId id="386" r:id="rId114"/>
    <p:sldId id="387" r:id="rId115"/>
    <p:sldId id="388" r:id="rId116"/>
    <p:sldId id="389" r:id="rId117"/>
    <p:sldId id="390" r:id="rId118"/>
    <p:sldId id="391" r:id="rId119"/>
    <p:sldId id="392" r:id="rId120"/>
    <p:sldId id="393" r:id="rId121"/>
    <p:sldId id="394" r:id="rId122"/>
    <p:sldId id="395" r:id="rId123"/>
    <p:sldId id="396" r:id="rId124"/>
    <p:sldId id="397" r:id="rId125"/>
    <p:sldId id="398" r:id="rId126"/>
    <p:sldId id="399" r:id="rId127"/>
    <p:sldId id="400" r:id="rId128"/>
    <p:sldId id="401" r:id="rId129"/>
    <p:sldId id="402" r:id="rId130"/>
    <p:sldId id="403" r:id="rId131"/>
    <p:sldId id="404" r:id="rId132"/>
    <p:sldId id="405" r:id="rId133"/>
    <p:sldId id="406" r:id="rId134"/>
    <p:sldId id="407" r:id="rId135"/>
    <p:sldId id="408" r:id="rId136"/>
    <p:sldId id="409" r:id="rId137"/>
    <p:sldId id="410" r:id="rId138"/>
    <p:sldId id="411" r:id="rId139"/>
  </p:sldIdLst>
  <p:sldSz cx="9144000" cy="6858000" type="screen4x3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14" autoAdjust="0"/>
    <p:restoredTop sz="94667" autoAdjust="0"/>
  </p:normalViewPr>
  <p:slideViewPr>
    <p:cSldViewPr>
      <p:cViewPr varScale="1">
        <p:scale>
          <a:sx n="75" d="100"/>
          <a:sy n="75" d="100"/>
        </p:scale>
        <p:origin x="-1032" y="-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117" Type="http://schemas.openxmlformats.org/officeDocument/2006/relationships/slide" Target="slides/slide115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84" Type="http://schemas.openxmlformats.org/officeDocument/2006/relationships/slide" Target="slides/slide82.xml"/><Relationship Id="rId89" Type="http://schemas.openxmlformats.org/officeDocument/2006/relationships/slide" Target="slides/slide87.xml"/><Relationship Id="rId112" Type="http://schemas.openxmlformats.org/officeDocument/2006/relationships/slide" Target="slides/slide110.xml"/><Relationship Id="rId133" Type="http://schemas.openxmlformats.org/officeDocument/2006/relationships/slide" Target="slides/slide131.xml"/><Relationship Id="rId138" Type="http://schemas.openxmlformats.org/officeDocument/2006/relationships/slide" Target="slides/slide136.xml"/><Relationship Id="rId16" Type="http://schemas.openxmlformats.org/officeDocument/2006/relationships/slide" Target="slides/slide14.xml"/><Relationship Id="rId107" Type="http://schemas.openxmlformats.org/officeDocument/2006/relationships/slide" Target="slides/slide105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slide" Target="slides/slide72.xml"/><Relationship Id="rId79" Type="http://schemas.openxmlformats.org/officeDocument/2006/relationships/slide" Target="slides/slide77.xml"/><Relationship Id="rId102" Type="http://schemas.openxmlformats.org/officeDocument/2006/relationships/slide" Target="slides/slide100.xml"/><Relationship Id="rId123" Type="http://schemas.openxmlformats.org/officeDocument/2006/relationships/slide" Target="slides/slide121.xml"/><Relationship Id="rId128" Type="http://schemas.openxmlformats.org/officeDocument/2006/relationships/slide" Target="slides/slide126.xml"/><Relationship Id="rId144" Type="http://schemas.openxmlformats.org/officeDocument/2006/relationships/tableStyles" Target="tableStyles.xml"/><Relationship Id="rId5" Type="http://schemas.openxmlformats.org/officeDocument/2006/relationships/slide" Target="slides/slide3.xml"/><Relationship Id="rId90" Type="http://schemas.openxmlformats.org/officeDocument/2006/relationships/slide" Target="slides/slide88.xml"/><Relationship Id="rId95" Type="http://schemas.openxmlformats.org/officeDocument/2006/relationships/slide" Target="slides/slide93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113" Type="http://schemas.openxmlformats.org/officeDocument/2006/relationships/slide" Target="slides/slide111.xml"/><Relationship Id="rId118" Type="http://schemas.openxmlformats.org/officeDocument/2006/relationships/slide" Target="slides/slide116.xml"/><Relationship Id="rId134" Type="http://schemas.openxmlformats.org/officeDocument/2006/relationships/slide" Target="slides/slide132.xml"/><Relationship Id="rId139" Type="http://schemas.openxmlformats.org/officeDocument/2006/relationships/slide" Target="slides/slide137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80" Type="http://schemas.openxmlformats.org/officeDocument/2006/relationships/slide" Target="slides/slide78.xml"/><Relationship Id="rId85" Type="http://schemas.openxmlformats.org/officeDocument/2006/relationships/slide" Target="slides/slide83.xml"/><Relationship Id="rId93" Type="http://schemas.openxmlformats.org/officeDocument/2006/relationships/slide" Target="slides/slide91.xml"/><Relationship Id="rId98" Type="http://schemas.openxmlformats.org/officeDocument/2006/relationships/slide" Target="slides/slide96.xml"/><Relationship Id="rId121" Type="http://schemas.openxmlformats.org/officeDocument/2006/relationships/slide" Target="slides/slide119.xml"/><Relationship Id="rId142" Type="http://schemas.openxmlformats.org/officeDocument/2006/relationships/viewProps" Target="viewProp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103" Type="http://schemas.openxmlformats.org/officeDocument/2006/relationships/slide" Target="slides/slide101.xml"/><Relationship Id="rId108" Type="http://schemas.openxmlformats.org/officeDocument/2006/relationships/slide" Target="slides/slide106.xml"/><Relationship Id="rId116" Type="http://schemas.openxmlformats.org/officeDocument/2006/relationships/slide" Target="slides/slide114.xml"/><Relationship Id="rId124" Type="http://schemas.openxmlformats.org/officeDocument/2006/relationships/slide" Target="slides/slide122.xml"/><Relationship Id="rId129" Type="http://schemas.openxmlformats.org/officeDocument/2006/relationships/slide" Target="slides/slide127.xml"/><Relationship Id="rId137" Type="http://schemas.openxmlformats.org/officeDocument/2006/relationships/slide" Target="slides/slide13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83" Type="http://schemas.openxmlformats.org/officeDocument/2006/relationships/slide" Target="slides/slide81.xml"/><Relationship Id="rId88" Type="http://schemas.openxmlformats.org/officeDocument/2006/relationships/slide" Target="slides/slide86.xml"/><Relationship Id="rId91" Type="http://schemas.openxmlformats.org/officeDocument/2006/relationships/slide" Target="slides/slide89.xml"/><Relationship Id="rId96" Type="http://schemas.openxmlformats.org/officeDocument/2006/relationships/slide" Target="slides/slide94.xml"/><Relationship Id="rId111" Type="http://schemas.openxmlformats.org/officeDocument/2006/relationships/slide" Target="slides/slide109.xml"/><Relationship Id="rId132" Type="http://schemas.openxmlformats.org/officeDocument/2006/relationships/slide" Target="slides/slide130.xml"/><Relationship Id="rId14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6" Type="http://schemas.openxmlformats.org/officeDocument/2006/relationships/slide" Target="slides/slide104.xml"/><Relationship Id="rId114" Type="http://schemas.openxmlformats.org/officeDocument/2006/relationships/slide" Target="slides/slide112.xml"/><Relationship Id="rId119" Type="http://schemas.openxmlformats.org/officeDocument/2006/relationships/slide" Target="slides/slide117.xml"/><Relationship Id="rId127" Type="http://schemas.openxmlformats.org/officeDocument/2006/relationships/slide" Target="slides/slide12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81" Type="http://schemas.openxmlformats.org/officeDocument/2006/relationships/slide" Target="slides/slide79.xml"/><Relationship Id="rId86" Type="http://schemas.openxmlformats.org/officeDocument/2006/relationships/slide" Target="slides/slide84.xml"/><Relationship Id="rId94" Type="http://schemas.openxmlformats.org/officeDocument/2006/relationships/slide" Target="slides/slide92.xml"/><Relationship Id="rId99" Type="http://schemas.openxmlformats.org/officeDocument/2006/relationships/slide" Target="slides/slide97.xml"/><Relationship Id="rId101" Type="http://schemas.openxmlformats.org/officeDocument/2006/relationships/slide" Target="slides/slide99.xml"/><Relationship Id="rId122" Type="http://schemas.openxmlformats.org/officeDocument/2006/relationships/slide" Target="slides/slide120.xml"/><Relationship Id="rId130" Type="http://schemas.openxmlformats.org/officeDocument/2006/relationships/slide" Target="slides/slide128.xml"/><Relationship Id="rId135" Type="http://schemas.openxmlformats.org/officeDocument/2006/relationships/slide" Target="slides/slide133.xml"/><Relationship Id="rId143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109" Type="http://schemas.openxmlformats.org/officeDocument/2006/relationships/slide" Target="slides/slide10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97" Type="http://schemas.openxmlformats.org/officeDocument/2006/relationships/slide" Target="slides/slide95.xml"/><Relationship Id="rId104" Type="http://schemas.openxmlformats.org/officeDocument/2006/relationships/slide" Target="slides/slide102.xml"/><Relationship Id="rId120" Type="http://schemas.openxmlformats.org/officeDocument/2006/relationships/slide" Target="slides/slide118.xml"/><Relationship Id="rId125" Type="http://schemas.openxmlformats.org/officeDocument/2006/relationships/slide" Target="slides/slide123.xml"/><Relationship Id="rId141" Type="http://schemas.openxmlformats.org/officeDocument/2006/relationships/presProps" Target="presProps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92" Type="http://schemas.openxmlformats.org/officeDocument/2006/relationships/slide" Target="slides/slide90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87" Type="http://schemas.openxmlformats.org/officeDocument/2006/relationships/slide" Target="slides/slide85.xml"/><Relationship Id="rId110" Type="http://schemas.openxmlformats.org/officeDocument/2006/relationships/slide" Target="slides/slide108.xml"/><Relationship Id="rId115" Type="http://schemas.openxmlformats.org/officeDocument/2006/relationships/slide" Target="slides/slide113.xml"/><Relationship Id="rId131" Type="http://schemas.openxmlformats.org/officeDocument/2006/relationships/slide" Target="slides/slide129.xml"/><Relationship Id="rId136" Type="http://schemas.openxmlformats.org/officeDocument/2006/relationships/slide" Target="slides/slide134.xml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56" Type="http://schemas.openxmlformats.org/officeDocument/2006/relationships/slide" Target="slides/slide54.xml"/><Relationship Id="rId77" Type="http://schemas.openxmlformats.org/officeDocument/2006/relationships/slide" Target="slides/slide75.xml"/><Relationship Id="rId100" Type="http://schemas.openxmlformats.org/officeDocument/2006/relationships/slide" Target="slides/slide98.xml"/><Relationship Id="rId105" Type="http://schemas.openxmlformats.org/officeDocument/2006/relationships/slide" Target="slides/slide103.xml"/><Relationship Id="rId126" Type="http://schemas.openxmlformats.org/officeDocument/2006/relationships/slide" Target="slides/slide12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 dirty="0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BC1F64-C0AB-4B89-B208-0DBDEEADD735}" type="datetimeFigureOut">
              <a:rPr lang="es-CO" smtClean="0"/>
              <a:t>17/08/2010</a:t>
            </a:fld>
            <a:endParaRPr lang="es-CO" dirty="0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 dirty="0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164703-BA81-45E5-82A9-41BE1FB913C2}" type="slidenum">
              <a:rPr lang="es-CO" smtClean="0"/>
              <a:t>‹Nº›</a:t>
            </a:fld>
            <a:endParaRPr lang="es-CO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CO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277858-2087-46B7-9678-BD3A672A684C}" type="slidenum">
              <a:rPr lang="es-CO" smtClean="0"/>
              <a:pPr/>
              <a:t>32</a:t>
            </a:fld>
            <a:endParaRPr lang="es-CO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E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B87B0E-C2FA-4EC2-AB20-F207A809683D}" type="slidenum">
              <a:rPr lang="es-ES" smtClean="0"/>
              <a:pPr/>
              <a:t>80</a:t>
            </a:fld>
            <a:endParaRPr lang="es-E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6 Triángulo isósceles"/>
          <p:cNvSpPr/>
          <p:nvPr/>
        </p:nvSpPr>
        <p:spPr>
          <a:xfrm rot="16200000">
            <a:off x="7554353" y="5254283"/>
            <a:ext cx="1892949" cy="1294228"/>
          </a:xfrm>
          <a:prstGeom prst="triangle">
            <a:avLst>
              <a:gd name="adj" fmla="val 51323"/>
            </a:avLst>
          </a:prstGeom>
          <a:gradFill flip="none" rotWithShape="1">
            <a:gsLst>
              <a:gs pos="0">
                <a:schemeClr val="accent1">
                  <a:shade val="30000"/>
                  <a:satMod val="155000"/>
                  <a:alpha val="100000"/>
                </a:schemeClr>
              </a:gs>
              <a:gs pos="60000">
                <a:schemeClr val="accent1">
                  <a:satMod val="160000"/>
                  <a:alpha val="100000"/>
                </a:schemeClr>
              </a:gs>
              <a:gs pos="100000">
                <a:schemeClr val="accent1">
                  <a:tint val="70000"/>
                  <a:satMod val="200000"/>
                  <a:alpha val="100000"/>
                </a:schemeClr>
              </a:gs>
            </a:gsLst>
            <a:lin ang="15500000" scaled="1"/>
            <a:tileRect/>
          </a:gra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8" name="7 Título"/>
          <p:cNvSpPr>
            <a:spLocks noGrp="1"/>
          </p:cNvSpPr>
          <p:nvPr>
            <p:ph type="ctrTitle"/>
          </p:nvPr>
        </p:nvSpPr>
        <p:spPr>
          <a:xfrm>
            <a:off x="540544" y="776288"/>
            <a:ext cx="8062912" cy="1470025"/>
          </a:xfrm>
        </p:spPr>
        <p:txBody>
          <a:bodyPr anchor="b">
            <a:normAutofit/>
          </a:bodyPr>
          <a:lstStyle>
            <a:lvl1pPr algn="r">
              <a:defRPr sz="4400"/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9" name="8 Subtítulo"/>
          <p:cNvSpPr>
            <a:spLocks noGrp="1"/>
          </p:cNvSpPr>
          <p:nvPr>
            <p:ph type="subTitle" idx="1"/>
          </p:nvPr>
        </p:nvSpPr>
        <p:spPr>
          <a:xfrm>
            <a:off x="540544" y="2250280"/>
            <a:ext cx="8062912" cy="1752600"/>
          </a:xfrm>
        </p:spPr>
        <p:txBody>
          <a:bodyPr/>
          <a:lstStyle>
            <a:lvl1pPr marL="0" marR="36576" indent="0" algn="r">
              <a:spcBef>
                <a:spcPts val="0"/>
              </a:spcBef>
              <a:buNone/>
              <a:defRPr>
                <a:ln>
                  <a:solidFill>
                    <a:schemeClr val="bg2"/>
                  </a:solidFill>
                </a:ln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s-ES" smtClean="0"/>
              <a:t>Haga clic para modificar el estilo de subtítulo del patrón</a:t>
            </a:r>
            <a:endParaRPr kumimoji="0" lang="en-US"/>
          </a:p>
        </p:txBody>
      </p:sp>
      <p:sp>
        <p:nvSpPr>
          <p:cNvPr id="28" name="27 Marcador de fecha"/>
          <p:cNvSpPr>
            <a:spLocks noGrp="1"/>
          </p:cNvSpPr>
          <p:nvPr>
            <p:ph type="dt" sz="half" idx="10"/>
          </p:nvPr>
        </p:nvSpPr>
        <p:spPr>
          <a:xfrm>
            <a:off x="1371600" y="6012656"/>
            <a:ext cx="5791200" cy="365125"/>
          </a:xfrm>
        </p:spPr>
        <p:txBody>
          <a:bodyPr tIns="0" bIns="0" anchor="t"/>
          <a:lstStyle>
            <a:lvl1pPr algn="r">
              <a:defRPr sz="1000"/>
            </a:lvl1pPr>
          </a:lstStyle>
          <a:p>
            <a:fld id="{1AD785EF-0726-4330-A8A7-7251B61A8EB5}" type="datetimeFigureOut">
              <a:rPr lang="es-CO" smtClean="0"/>
              <a:pPr/>
              <a:t>17/08/2010</a:t>
            </a:fld>
            <a:endParaRPr lang="es-CO" dirty="0"/>
          </a:p>
        </p:txBody>
      </p:sp>
      <p:sp>
        <p:nvSpPr>
          <p:cNvPr id="17" name="16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1371600" y="5650704"/>
            <a:ext cx="5791200" cy="365125"/>
          </a:xfrm>
        </p:spPr>
        <p:txBody>
          <a:bodyPr tIns="0" bIns="0" anchor="b"/>
          <a:lstStyle>
            <a:lvl1pPr algn="r">
              <a:defRPr sz="1100"/>
            </a:lvl1pPr>
          </a:lstStyle>
          <a:p>
            <a:endParaRPr lang="es-CO" dirty="0"/>
          </a:p>
        </p:txBody>
      </p:sp>
      <p:sp>
        <p:nvSpPr>
          <p:cNvPr id="29" name="28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8392247" y="5752307"/>
            <a:ext cx="502920" cy="365125"/>
          </a:xfrm>
        </p:spPr>
        <p:txBody>
          <a:bodyPr anchor="ctr"/>
          <a:lstStyle>
            <a:lvl1pPr algn="ctr">
              <a:defRPr sz="1300">
                <a:solidFill>
                  <a:srgbClr val="FFFFFF"/>
                </a:solidFill>
              </a:defRPr>
            </a:lvl1pPr>
          </a:lstStyle>
          <a:p>
            <a:fld id="{66938DF4-05E4-4D6E-B87D-8E5548F5DFCC}" type="slidenum">
              <a:rPr lang="es-CO" smtClean="0"/>
              <a:pPr/>
              <a:t>‹Nº›</a:t>
            </a:fld>
            <a:endParaRPr lang="es-CO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67494"/>
            <a:ext cx="8229600" cy="1399032"/>
          </a:xfrm>
        </p:spPr>
        <p:txBody>
          <a:bodyPr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1882808"/>
            <a:ext cx="8229600" cy="4572000"/>
          </a:xfrm>
        </p:spPr>
        <p:txBody>
          <a:bodyPr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>
          <a:xfrm>
            <a:off x="4791456" y="6480048"/>
            <a:ext cx="2133600" cy="301752"/>
          </a:xfrm>
        </p:spPr>
        <p:txBody>
          <a:bodyPr/>
          <a:lstStyle/>
          <a:p>
            <a:fld id="{1AD785EF-0726-4330-A8A7-7251B61A8EB5}" type="datetimeFigureOut">
              <a:rPr lang="es-CO" smtClean="0"/>
              <a:pPr/>
              <a:t>17/08/2010</a:t>
            </a:fld>
            <a:endParaRPr lang="es-CO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457200" y="6480969"/>
            <a:ext cx="4260056" cy="300831"/>
          </a:xfrm>
        </p:spPr>
        <p:txBody>
          <a:bodyPr/>
          <a:lstStyle/>
          <a:p>
            <a:endParaRPr lang="es-CO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938DF4-05E4-4D6E-B87D-8E5548F5DFCC}" type="slidenum">
              <a:rPr lang="es-CO" smtClean="0"/>
              <a:pPr/>
              <a:t>‹Nº›</a:t>
            </a:fld>
            <a:endParaRPr lang="es-CO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8 Triángulo rectángulo"/>
          <p:cNvSpPr/>
          <p:nvPr/>
        </p:nvSpPr>
        <p:spPr>
          <a:xfrm flipV="1">
            <a:off x="7034" y="7034"/>
            <a:ext cx="9129932" cy="6836899"/>
          </a:xfrm>
          <a:prstGeom prst="rtTriangle">
            <a:avLst/>
          </a:prstGeom>
          <a:gradFill flip="none" rotWithShape="1">
            <a:gsLst>
              <a:gs pos="0">
                <a:schemeClr val="tx2">
                  <a:alpha val="10000"/>
                </a:schemeClr>
              </a:gs>
              <a:gs pos="70000">
                <a:schemeClr val="tx2">
                  <a:alpha val="8000"/>
                </a:schemeClr>
              </a:gs>
              <a:gs pos="100000">
                <a:schemeClr val="tx2">
                  <a:alpha val="1000"/>
                </a:schemeClr>
              </a:gs>
            </a:gsLst>
            <a:lin ang="8000000" scaled="1"/>
            <a:tileRect/>
          </a:gra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algn="ctr" defTabSz="914400" rtl="0" eaLnBrk="1" latinLnBrk="0" hangingPunct="1"/>
            <a:endParaRPr kumimoji="0" lang="en-US" sz="1800" kern="1200" dirty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7 Triángulo isósceles"/>
          <p:cNvSpPr/>
          <p:nvPr/>
        </p:nvSpPr>
        <p:spPr>
          <a:xfrm rot="5400000" flipV="1">
            <a:off x="7554353" y="309490"/>
            <a:ext cx="1892949" cy="1294228"/>
          </a:xfrm>
          <a:prstGeom prst="triangle">
            <a:avLst>
              <a:gd name="adj" fmla="val 51323"/>
            </a:avLst>
          </a:prstGeom>
          <a:gradFill flip="none" rotWithShape="1">
            <a:gsLst>
              <a:gs pos="0">
                <a:schemeClr val="accent1">
                  <a:shade val="30000"/>
                  <a:satMod val="155000"/>
                  <a:alpha val="100000"/>
                </a:schemeClr>
              </a:gs>
              <a:gs pos="60000">
                <a:schemeClr val="accent1">
                  <a:satMod val="160000"/>
                  <a:alpha val="100000"/>
                </a:schemeClr>
              </a:gs>
              <a:gs pos="100000">
                <a:schemeClr val="accent1">
                  <a:tint val="70000"/>
                  <a:satMod val="200000"/>
                  <a:alpha val="100000"/>
                </a:schemeClr>
              </a:gs>
            </a:gsLst>
            <a:lin ang="15500000" scaled="1"/>
            <a:tileRect/>
          </a:gra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>
          <a:xfrm>
            <a:off x="6955632" y="6477000"/>
            <a:ext cx="2133600" cy="304800"/>
          </a:xfrm>
        </p:spPr>
        <p:txBody>
          <a:bodyPr/>
          <a:lstStyle/>
          <a:p>
            <a:fld id="{1AD785EF-0726-4330-A8A7-7251B61A8EB5}" type="datetimeFigureOut">
              <a:rPr lang="es-CO" smtClean="0"/>
              <a:pPr/>
              <a:t>17/08/2010</a:t>
            </a:fld>
            <a:endParaRPr lang="es-CO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2619376" y="6480969"/>
            <a:ext cx="4260056" cy="300831"/>
          </a:xfrm>
        </p:spPr>
        <p:txBody>
          <a:bodyPr/>
          <a:lstStyle/>
          <a:p>
            <a:endParaRPr lang="es-CO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8451056" y="809624"/>
            <a:ext cx="502920" cy="300831"/>
          </a:xfrm>
        </p:spPr>
        <p:txBody>
          <a:bodyPr/>
          <a:lstStyle/>
          <a:p>
            <a:fld id="{66938DF4-05E4-4D6E-B87D-8E5548F5DFCC}" type="slidenum">
              <a:rPr lang="es-CO" smtClean="0"/>
              <a:pPr/>
              <a:t>‹Nº›</a:t>
            </a:fld>
            <a:endParaRPr lang="es-CO" dirty="0"/>
          </a:p>
        </p:txBody>
      </p:sp>
      <p:cxnSp>
        <p:nvCxnSpPr>
          <p:cNvPr id="11" name="10 Conector recto"/>
          <p:cNvCxnSpPr/>
          <p:nvPr/>
        </p:nvCxnSpPr>
        <p:spPr>
          <a:xfrm rot="10800000">
            <a:off x="6468794" y="9381"/>
            <a:ext cx="2672861" cy="1900210"/>
          </a:xfrm>
          <a:prstGeom prst="line">
            <a:avLst/>
          </a:prstGeom>
          <a:noFill/>
          <a:ln w="6000" cap="rnd" cmpd="sng" algn="ctr">
            <a:solidFill>
              <a:schemeClr val="bg2">
                <a:tint val="50000"/>
                <a:satMod val="200000"/>
                <a:alpha val="4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9 Conector recto"/>
          <p:cNvCxnSpPr/>
          <p:nvPr/>
        </p:nvCxnSpPr>
        <p:spPr>
          <a:xfrm flipV="1">
            <a:off x="0" y="7034"/>
            <a:ext cx="9136966" cy="6843933"/>
          </a:xfrm>
          <a:prstGeom prst="line">
            <a:avLst/>
          </a:prstGeom>
          <a:noFill/>
          <a:ln w="5000" cap="rnd" cmpd="sng" algn="ctr">
            <a:solidFill>
              <a:schemeClr val="bg2">
                <a:tint val="55000"/>
                <a:satMod val="200000"/>
                <a:alpha val="3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381000" y="271464"/>
            <a:ext cx="7239000" cy="1362075"/>
          </a:xfrm>
        </p:spPr>
        <p:txBody>
          <a:bodyPr anchor="ctr"/>
          <a:lstStyle>
            <a:lvl1pPr marL="0" algn="l">
              <a:buNone/>
              <a:defRPr sz="3600" b="1" cap="none" baseline="0"/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381000" y="1633536"/>
            <a:ext cx="3886200" cy="2286000"/>
          </a:xfrm>
        </p:spPr>
        <p:txBody>
          <a:bodyPr anchor="t"/>
          <a:lstStyle>
            <a:lvl1pPr marL="54864" indent="0" algn="l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 algn="l">
              <a:defRPr/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722437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722437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>
          <a:xfrm>
            <a:off x="4791456" y="6480969"/>
            <a:ext cx="2133600" cy="301752"/>
          </a:xfrm>
        </p:spPr>
        <p:txBody>
          <a:bodyPr/>
          <a:lstStyle/>
          <a:p>
            <a:fld id="{1AD785EF-0726-4330-A8A7-7251B61A8EB5}" type="datetimeFigureOut">
              <a:rPr lang="es-CO" smtClean="0"/>
              <a:pPr/>
              <a:t>17/08/2010</a:t>
            </a:fld>
            <a:endParaRPr lang="es-CO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457200" y="6480969"/>
            <a:ext cx="4260056" cy="301752"/>
          </a:xfrm>
        </p:spPr>
        <p:txBody>
          <a:bodyPr/>
          <a:lstStyle/>
          <a:p>
            <a:endParaRPr lang="es-CO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7589520" y="6480969"/>
            <a:ext cx="502920" cy="301752"/>
          </a:xfrm>
        </p:spPr>
        <p:txBody>
          <a:bodyPr/>
          <a:lstStyle/>
          <a:p>
            <a:fld id="{66938DF4-05E4-4D6E-B87D-8E5548F5DFCC}" type="slidenum">
              <a:rPr lang="es-CO" smtClean="0"/>
              <a:pPr/>
              <a:t>‹Nº›</a:t>
            </a:fld>
            <a:endParaRPr lang="es-CO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ación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48198" y="290732"/>
            <a:ext cx="1066800" cy="6153912"/>
          </a:xfrm>
        </p:spPr>
        <p:txBody>
          <a:bodyPr vert="vert270" anchor="b"/>
          <a:lstStyle>
            <a:lvl1pPr marL="0" algn="ctr">
              <a:defRPr sz="3300" b="1">
                <a:ln w="6350">
                  <a:solidFill>
                    <a:schemeClr val="tx1"/>
                  </a:solidFill>
                </a:ln>
                <a:solidFill>
                  <a:schemeClr val="tx1"/>
                </a:solidFill>
              </a:defRPr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1365006" y="290732"/>
            <a:ext cx="581024" cy="3017520"/>
          </a:xfrm>
          <a:solidFill>
            <a:schemeClr val="bg1"/>
          </a:solidFill>
          <a:ln w="12700">
            <a:noFill/>
          </a:ln>
        </p:spPr>
        <p:txBody>
          <a:bodyPr vert="vert270" anchor="ctr"/>
          <a:lstStyle>
            <a:lvl1pPr marL="0" indent="0" algn="ctr">
              <a:buNone/>
              <a:defRPr sz="16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3"/>
          </p:nvPr>
        </p:nvSpPr>
        <p:spPr>
          <a:xfrm>
            <a:off x="1365006" y="3427124"/>
            <a:ext cx="581024" cy="3017520"/>
          </a:xfrm>
          <a:solidFill>
            <a:schemeClr val="bg1"/>
          </a:solidFill>
          <a:ln w="12700">
            <a:noFill/>
          </a:ln>
        </p:spPr>
        <p:txBody>
          <a:bodyPr vert="vert270" anchor="ctr"/>
          <a:lstStyle>
            <a:lvl1pPr marL="0" indent="0" algn="ctr">
              <a:buNone/>
              <a:defRPr sz="16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5" name="4 Marcador de contenido"/>
          <p:cNvSpPr>
            <a:spLocks noGrp="1"/>
          </p:cNvSpPr>
          <p:nvPr>
            <p:ph sz="quarter" idx="2"/>
          </p:nvPr>
        </p:nvSpPr>
        <p:spPr>
          <a:xfrm>
            <a:off x="2022230" y="290732"/>
            <a:ext cx="6858000" cy="3017520"/>
          </a:xfrm>
        </p:spPr>
        <p:txBody>
          <a:bodyPr/>
          <a:lstStyle>
            <a:lvl1pPr algn="l">
              <a:defRPr sz="2400"/>
            </a:lvl1pPr>
            <a:lvl2pPr algn="l">
              <a:defRPr sz="2000"/>
            </a:lvl2pPr>
            <a:lvl3pPr algn="l">
              <a:defRPr sz="1800"/>
            </a:lvl3pPr>
            <a:lvl4pPr algn="l">
              <a:defRPr sz="1600"/>
            </a:lvl4pPr>
            <a:lvl5pPr algn="l">
              <a:defRPr sz="1600"/>
            </a:lvl5pPr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2022230" y="3427124"/>
            <a:ext cx="6858000" cy="301752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>
          <a:xfrm>
            <a:off x="4791456" y="6480969"/>
            <a:ext cx="2130552" cy="301752"/>
          </a:xfrm>
        </p:spPr>
        <p:txBody>
          <a:bodyPr/>
          <a:lstStyle/>
          <a:p>
            <a:fld id="{1AD785EF-0726-4330-A8A7-7251B61A8EB5}" type="datetimeFigureOut">
              <a:rPr lang="es-CO" smtClean="0"/>
              <a:pPr/>
              <a:t>17/08/2010</a:t>
            </a:fld>
            <a:endParaRPr lang="es-CO" dirty="0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457200" y="6480969"/>
            <a:ext cx="4261104" cy="301752"/>
          </a:xfrm>
        </p:spPr>
        <p:txBody>
          <a:bodyPr/>
          <a:lstStyle/>
          <a:p>
            <a:endParaRPr lang="es-CO" dirty="0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7589520" y="6483096"/>
            <a:ext cx="502920" cy="301752"/>
          </a:xfrm>
        </p:spPr>
        <p:txBody>
          <a:bodyPr/>
          <a:lstStyle>
            <a:lvl1pPr algn="ctr">
              <a:defRPr/>
            </a:lvl1pPr>
          </a:lstStyle>
          <a:p>
            <a:fld id="{66938DF4-05E4-4D6E-B87D-8E5548F5DFCC}" type="slidenum">
              <a:rPr lang="es-CO" smtClean="0"/>
              <a:pPr/>
              <a:t>‹Nº›</a:t>
            </a:fld>
            <a:endParaRPr lang="es-CO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785EF-0726-4330-A8A7-7251B61A8EB5}" type="datetimeFigureOut">
              <a:rPr lang="es-CO" smtClean="0"/>
              <a:pPr/>
              <a:t>17/08/2010</a:t>
            </a:fld>
            <a:endParaRPr lang="es-CO" dirty="0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938DF4-05E4-4D6E-B87D-8E5548F5DFCC}" type="slidenum">
              <a:rPr lang="es-CO" smtClean="0"/>
              <a:pPr/>
              <a:t>‹Nº›</a:t>
            </a:fld>
            <a:endParaRPr lang="es-CO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>
          <a:xfrm>
            <a:off x="4791456" y="6480969"/>
            <a:ext cx="2133600" cy="301752"/>
          </a:xfrm>
        </p:spPr>
        <p:txBody>
          <a:bodyPr/>
          <a:lstStyle/>
          <a:p>
            <a:fld id="{1AD785EF-0726-4330-A8A7-7251B61A8EB5}" type="datetimeFigureOut">
              <a:rPr lang="es-CO" smtClean="0"/>
              <a:pPr/>
              <a:t>17/08/2010</a:t>
            </a:fld>
            <a:endParaRPr lang="es-CO" dirty="0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457200" y="6481890"/>
            <a:ext cx="4260056" cy="300831"/>
          </a:xfrm>
        </p:spPr>
        <p:txBody>
          <a:bodyPr/>
          <a:lstStyle/>
          <a:p>
            <a:endParaRPr lang="es-CO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7589520" y="6480969"/>
            <a:ext cx="502920" cy="301752"/>
          </a:xfrm>
        </p:spPr>
        <p:txBody>
          <a:bodyPr/>
          <a:lstStyle/>
          <a:p>
            <a:fld id="{66938DF4-05E4-4D6E-B87D-8E5548F5DFCC}" type="slidenum">
              <a:rPr lang="es-CO" smtClean="0"/>
              <a:pPr/>
              <a:t>‹Nº›</a:t>
            </a:fld>
            <a:endParaRPr lang="es-CO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19456" y="367664"/>
            <a:ext cx="914400" cy="5943600"/>
          </a:xfrm>
        </p:spPr>
        <p:txBody>
          <a:bodyPr vert="vert270" anchor="b"/>
          <a:lstStyle>
            <a:lvl1pPr marL="0" marR="18288" algn="r">
              <a:spcBef>
                <a:spcPts val="0"/>
              </a:spcBef>
              <a:buNone/>
              <a:defRPr sz="2900" b="0" cap="all" baseline="0"/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2"/>
          </p:nvPr>
        </p:nvSpPr>
        <p:spPr>
          <a:xfrm>
            <a:off x="1135856" y="367664"/>
            <a:ext cx="2438400" cy="5943600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1"/>
          </p:nvPr>
        </p:nvSpPr>
        <p:spPr>
          <a:xfrm>
            <a:off x="3651250" y="320040"/>
            <a:ext cx="5276088" cy="5989320"/>
          </a:xfrm>
        </p:spPr>
        <p:txBody>
          <a:bodyPr/>
          <a:lstStyle>
            <a:lvl1pPr>
              <a:spcBef>
                <a:spcPts val="0"/>
              </a:spcBef>
              <a:defRPr sz="30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>
          <a:xfrm>
            <a:off x="6278976" y="6556248"/>
            <a:ext cx="2133600" cy="301752"/>
          </a:xfrm>
        </p:spPr>
        <p:txBody>
          <a:bodyPr/>
          <a:lstStyle>
            <a:lvl1pPr>
              <a:defRPr sz="900"/>
            </a:lvl1pPr>
          </a:lstStyle>
          <a:p>
            <a:fld id="{1AD785EF-0726-4330-A8A7-7251B61A8EB5}" type="datetimeFigureOut">
              <a:rPr lang="es-CO" smtClean="0"/>
              <a:pPr/>
              <a:t>17/08/2010</a:t>
            </a:fld>
            <a:endParaRPr lang="es-CO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1135856" y="6556248"/>
            <a:ext cx="5143120" cy="301752"/>
          </a:xfrm>
        </p:spPr>
        <p:txBody>
          <a:bodyPr/>
          <a:lstStyle>
            <a:lvl1pPr>
              <a:defRPr sz="900"/>
            </a:lvl1pPr>
          </a:lstStyle>
          <a:p>
            <a:endParaRPr lang="es-CO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8410576" y="6556248"/>
            <a:ext cx="502920" cy="301752"/>
          </a:xfrm>
        </p:spPr>
        <p:txBody>
          <a:bodyPr/>
          <a:lstStyle>
            <a:lvl1pPr>
              <a:defRPr sz="900"/>
            </a:lvl1pPr>
          </a:lstStyle>
          <a:p>
            <a:fld id="{66938DF4-05E4-4D6E-B87D-8E5548F5DFCC}" type="slidenum">
              <a:rPr lang="es-CO" smtClean="0"/>
              <a:pPr/>
              <a:t>‹Nº›</a:t>
            </a:fld>
            <a:endParaRPr lang="es-CO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19456" y="150896"/>
            <a:ext cx="914400" cy="6400800"/>
          </a:xfrm>
        </p:spPr>
        <p:txBody>
          <a:bodyPr vert="vert270" anchor="b"/>
          <a:lstStyle>
            <a:lvl1pPr marL="0" algn="l">
              <a:buNone/>
              <a:defRPr sz="3000" b="0" cap="all" baseline="0"/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138237" y="373966"/>
            <a:ext cx="7333488" cy="5486400"/>
          </a:xfrm>
          <a:solidFill>
            <a:schemeClr val="bg2">
              <a:shade val="50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s-ES" dirty="0" smtClean="0"/>
              <a:t>Haga clic en el icono para agregar una imagen</a:t>
            </a:r>
            <a:endParaRPr kumimoji="0" lang="en-US" dirty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143000" y="5867400"/>
            <a:ext cx="7333488" cy="685800"/>
          </a:xfrm>
          <a:solidFill>
            <a:schemeClr val="accent1">
              <a:alpha val="15000"/>
            </a:schemeClr>
          </a:solidFill>
          <a:ln>
            <a:solidFill>
              <a:schemeClr val="accent1"/>
            </a:solidFill>
            <a:miter lim="800000"/>
          </a:ln>
        </p:spPr>
        <p:txBody>
          <a:bodyPr/>
          <a:lstStyle>
            <a:lvl1pPr marL="0" indent="0">
              <a:spcBef>
                <a:spcPts val="0"/>
              </a:spcBef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>
          <a:xfrm>
            <a:off x="6108192" y="6556248"/>
            <a:ext cx="2103120" cy="301752"/>
          </a:xfrm>
        </p:spPr>
        <p:txBody>
          <a:bodyPr/>
          <a:lstStyle>
            <a:lvl1pPr>
              <a:defRPr sz="900"/>
            </a:lvl1pPr>
          </a:lstStyle>
          <a:p>
            <a:fld id="{1AD785EF-0726-4330-A8A7-7251B61A8EB5}" type="datetimeFigureOut">
              <a:rPr lang="es-CO" smtClean="0"/>
              <a:pPr/>
              <a:t>17/08/2010</a:t>
            </a:fld>
            <a:endParaRPr lang="es-CO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1170432" y="6557169"/>
            <a:ext cx="4948072" cy="301752"/>
          </a:xfrm>
        </p:spPr>
        <p:txBody>
          <a:bodyPr/>
          <a:lstStyle>
            <a:lvl1pPr>
              <a:defRPr sz="900"/>
            </a:lvl1pPr>
          </a:lstStyle>
          <a:p>
            <a:endParaRPr lang="es-CO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8217192" y="6556248"/>
            <a:ext cx="365760" cy="301752"/>
          </a:xfrm>
        </p:spPr>
        <p:txBody>
          <a:bodyPr/>
          <a:lstStyle>
            <a:lvl1pPr algn="ctr">
              <a:defRPr sz="900"/>
            </a:lvl1pPr>
          </a:lstStyle>
          <a:p>
            <a:fld id="{66938DF4-05E4-4D6E-B87D-8E5548F5DFCC}" type="slidenum">
              <a:rPr lang="es-CO" smtClean="0"/>
              <a:pPr/>
              <a:t>‹Nº›</a:t>
            </a:fld>
            <a:endParaRPr lang="es-CO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785EF-0726-4330-A8A7-7251B61A8EB5}" type="datetimeFigureOut">
              <a:rPr lang="es-CO" smtClean="0"/>
              <a:pPr/>
              <a:t>17/08/2010</a:t>
            </a:fld>
            <a:endParaRPr lang="es-CO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938DF4-05E4-4D6E-B87D-8E5548F5DFCC}" type="slidenum">
              <a:rPr lang="es-CO" smtClean="0"/>
              <a:pPr/>
              <a:t>‹Nº›</a:t>
            </a:fld>
            <a:endParaRPr lang="es-CO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781800" y="381000"/>
            <a:ext cx="1905000" cy="5486400"/>
          </a:xfrm>
        </p:spPr>
        <p:txBody>
          <a:bodyPr vert="eaVert"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381000"/>
            <a:ext cx="6248400" cy="5486400"/>
          </a:xfrm>
        </p:spPr>
        <p:txBody>
          <a:bodyPr vert="eaVert"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785EF-0726-4330-A8A7-7251B61A8EB5}" type="datetimeFigureOut">
              <a:rPr lang="es-CO" smtClean="0"/>
              <a:pPr/>
              <a:t>17/08/2010</a:t>
            </a:fld>
            <a:endParaRPr lang="es-CO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938DF4-05E4-4D6E-B87D-8E5548F5DFCC}" type="slidenum">
              <a:rPr lang="es-CO" smtClean="0"/>
              <a:pPr/>
              <a:t>‹Nº›</a:t>
            </a:fld>
            <a:endParaRPr lang="es-CO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6 Triángulo isósceles"/>
          <p:cNvSpPr/>
          <p:nvPr/>
        </p:nvSpPr>
        <p:spPr>
          <a:xfrm rot="16200000">
            <a:off x="7554353" y="5254283"/>
            <a:ext cx="1892949" cy="1294228"/>
          </a:xfrm>
          <a:prstGeom prst="triangle">
            <a:avLst>
              <a:gd name="adj" fmla="val 51323"/>
            </a:avLst>
          </a:prstGeom>
          <a:gradFill flip="none" rotWithShape="1">
            <a:gsLst>
              <a:gs pos="0">
                <a:schemeClr val="accent1">
                  <a:shade val="30000"/>
                  <a:satMod val="155000"/>
                  <a:alpha val="100000"/>
                </a:schemeClr>
              </a:gs>
              <a:gs pos="60000">
                <a:schemeClr val="accent1">
                  <a:satMod val="160000"/>
                  <a:alpha val="100000"/>
                </a:schemeClr>
              </a:gs>
              <a:gs pos="100000">
                <a:schemeClr val="accent1">
                  <a:tint val="70000"/>
                  <a:satMod val="200000"/>
                  <a:alpha val="100000"/>
                </a:schemeClr>
              </a:gs>
            </a:gsLst>
            <a:lin ang="15500000" scaled="1"/>
            <a:tileRect/>
          </a:gra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8" name="7 Título"/>
          <p:cNvSpPr>
            <a:spLocks noGrp="1"/>
          </p:cNvSpPr>
          <p:nvPr>
            <p:ph type="ctrTitle"/>
          </p:nvPr>
        </p:nvSpPr>
        <p:spPr>
          <a:xfrm>
            <a:off x="540544" y="776288"/>
            <a:ext cx="8062912" cy="1470025"/>
          </a:xfrm>
        </p:spPr>
        <p:txBody>
          <a:bodyPr anchor="b">
            <a:normAutofit/>
          </a:bodyPr>
          <a:lstStyle>
            <a:lvl1pPr algn="r">
              <a:defRPr sz="4400"/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9" name="8 Subtítulo"/>
          <p:cNvSpPr>
            <a:spLocks noGrp="1"/>
          </p:cNvSpPr>
          <p:nvPr>
            <p:ph type="subTitle" idx="1"/>
          </p:nvPr>
        </p:nvSpPr>
        <p:spPr>
          <a:xfrm>
            <a:off x="540544" y="2250280"/>
            <a:ext cx="8062912" cy="1752600"/>
          </a:xfrm>
        </p:spPr>
        <p:txBody>
          <a:bodyPr/>
          <a:lstStyle>
            <a:lvl1pPr marL="0" marR="36576" indent="0" algn="r">
              <a:spcBef>
                <a:spcPts val="0"/>
              </a:spcBef>
              <a:buNone/>
              <a:defRPr>
                <a:ln>
                  <a:solidFill>
                    <a:schemeClr val="bg2"/>
                  </a:solidFill>
                </a:ln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s-ES" smtClean="0"/>
              <a:t>Haga clic para modificar el estilo de subtítulo del patrón</a:t>
            </a:r>
            <a:endParaRPr kumimoji="0" lang="en-US"/>
          </a:p>
        </p:txBody>
      </p:sp>
      <p:sp>
        <p:nvSpPr>
          <p:cNvPr id="28" name="27 Marcador de fecha"/>
          <p:cNvSpPr>
            <a:spLocks noGrp="1"/>
          </p:cNvSpPr>
          <p:nvPr>
            <p:ph type="dt" sz="half" idx="10"/>
          </p:nvPr>
        </p:nvSpPr>
        <p:spPr>
          <a:xfrm>
            <a:off x="1371600" y="6012656"/>
            <a:ext cx="5791200" cy="365125"/>
          </a:xfrm>
        </p:spPr>
        <p:txBody>
          <a:bodyPr tIns="0" bIns="0" anchor="t"/>
          <a:lstStyle>
            <a:lvl1pPr algn="r">
              <a:defRPr sz="1000"/>
            </a:lvl1pPr>
          </a:lstStyle>
          <a:p>
            <a:fld id="{1AD785EF-0726-4330-A8A7-7251B61A8EB5}" type="datetimeFigureOut">
              <a:rPr lang="es-CO" smtClean="0"/>
              <a:pPr/>
              <a:t>17/08/2010</a:t>
            </a:fld>
            <a:endParaRPr lang="es-CO" dirty="0"/>
          </a:p>
        </p:txBody>
      </p:sp>
      <p:sp>
        <p:nvSpPr>
          <p:cNvPr id="17" name="16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1371600" y="5650704"/>
            <a:ext cx="5791200" cy="365125"/>
          </a:xfrm>
        </p:spPr>
        <p:txBody>
          <a:bodyPr tIns="0" bIns="0" anchor="b"/>
          <a:lstStyle>
            <a:lvl1pPr algn="r">
              <a:defRPr sz="1100"/>
            </a:lvl1pPr>
          </a:lstStyle>
          <a:p>
            <a:endParaRPr lang="es-CO" dirty="0"/>
          </a:p>
        </p:txBody>
      </p:sp>
      <p:sp>
        <p:nvSpPr>
          <p:cNvPr id="29" name="28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8392247" y="5752307"/>
            <a:ext cx="502920" cy="365125"/>
          </a:xfrm>
        </p:spPr>
        <p:txBody>
          <a:bodyPr anchor="ctr"/>
          <a:lstStyle>
            <a:lvl1pPr algn="ctr">
              <a:defRPr sz="1300">
                <a:solidFill>
                  <a:srgbClr val="FFFFFF"/>
                </a:solidFill>
              </a:defRPr>
            </a:lvl1pPr>
          </a:lstStyle>
          <a:p>
            <a:fld id="{66938DF4-05E4-4D6E-B87D-8E5548F5DFCC}" type="slidenum">
              <a:rPr lang="es-CO" smtClean="0"/>
              <a:pPr/>
              <a:t>‹Nº›</a:t>
            </a:fld>
            <a:endParaRPr lang="es-CO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67494"/>
            <a:ext cx="8229600" cy="1399032"/>
          </a:xfrm>
        </p:spPr>
        <p:txBody>
          <a:bodyPr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1882808"/>
            <a:ext cx="8229600" cy="4572000"/>
          </a:xfrm>
        </p:spPr>
        <p:txBody>
          <a:bodyPr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>
          <a:xfrm>
            <a:off x="4791456" y="6480048"/>
            <a:ext cx="2133600" cy="301752"/>
          </a:xfrm>
        </p:spPr>
        <p:txBody>
          <a:bodyPr/>
          <a:lstStyle/>
          <a:p>
            <a:fld id="{1AD785EF-0726-4330-A8A7-7251B61A8EB5}" type="datetimeFigureOut">
              <a:rPr lang="es-CO" smtClean="0"/>
              <a:pPr/>
              <a:t>17/08/2010</a:t>
            </a:fld>
            <a:endParaRPr lang="es-CO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457200" y="6480969"/>
            <a:ext cx="4260056" cy="300831"/>
          </a:xfrm>
        </p:spPr>
        <p:txBody>
          <a:bodyPr/>
          <a:lstStyle/>
          <a:p>
            <a:endParaRPr lang="es-CO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938DF4-05E4-4D6E-B87D-8E5548F5DFCC}" type="slidenum">
              <a:rPr lang="es-CO" smtClean="0"/>
              <a:pPr/>
              <a:t>‹Nº›</a:t>
            </a:fld>
            <a:endParaRPr lang="es-CO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8 Triángulo rectángulo"/>
          <p:cNvSpPr/>
          <p:nvPr/>
        </p:nvSpPr>
        <p:spPr>
          <a:xfrm flipV="1">
            <a:off x="7034" y="7034"/>
            <a:ext cx="9129932" cy="6836899"/>
          </a:xfrm>
          <a:prstGeom prst="rtTriangle">
            <a:avLst/>
          </a:prstGeom>
          <a:gradFill flip="none" rotWithShape="1">
            <a:gsLst>
              <a:gs pos="0">
                <a:schemeClr val="tx2">
                  <a:alpha val="10000"/>
                </a:schemeClr>
              </a:gs>
              <a:gs pos="70000">
                <a:schemeClr val="tx2">
                  <a:alpha val="8000"/>
                </a:schemeClr>
              </a:gs>
              <a:gs pos="100000">
                <a:schemeClr val="tx2">
                  <a:alpha val="1000"/>
                </a:schemeClr>
              </a:gs>
            </a:gsLst>
            <a:lin ang="8000000" scaled="1"/>
            <a:tileRect/>
          </a:gra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algn="ctr" defTabSz="914400" rtl="0" eaLnBrk="1" latinLnBrk="0" hangingPunct="1"/>
            <a:endParaRPr kumimoji="0" lang="en-US" sz="1800" kern="1200" dirty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7 Triángulo isósceles"/>
          <p:cNvSpPr/>
          <p:nvPr/>
        </p:nvSpPr>
        <p:spPr>
          <a:xfrm rot="5400000" flipV="1">
            <a:off x="7554353" y="309490"/>
            <a:ext cx="1892949" cy="1294228"/>
          </a:xfrm>
          <a:prstGeom prst="triangle">
            <a:avLst>
              <a:gd name="adj" fmla="val 51323"/>
            </a:avLst>
          </a:prstGeom>
          <a:gradFill flip="none" rotWithShape="1">
            <a:gsLst>
              <a:gs pos="0">
                <a:schemeClr val="accent1">
                  <a:shade val="30000"/>
                  <a:satMod val="155000"/>
                  <a:alpha val="100000"/>
                </a:schemeClr>
              </a:gs>
              <a:gs pos="60000">
                <a:schemeClr val="accent1">
                  <a:satMod val="160000"/>
                  <a:alpha val="100000"/>
                </a:schemeClr>
              </a:gs>
              <a:gs pos="100000">
                <a:schemeClr val="accent1">
                  <a:tint val="70000"/>
                  <a:satMod val="200000"/>
                  <a:alpha val="100000"/>
                </a:schemeClr>
              </a:gs>
            </a:gsLst>
            <a:lin ang="15500000" scaled="1"/>
            <a:tileRect/>
          </a:gra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>
          <a:xfrm>
            <a:off x="6955632" y="6477000"/>
            <a:ext cx="2133600" cy="304800"/>
          </a:xfrm>
        </p:spPr>
        <p:txBody>
          <a:bodyPr/>
          <a:lstStyle/>
          <a:p>
            <a:fld id="{1AD785EF-0726-4330-A8A7-7251B61A8EB5}" type="datetimeFigureOut">
              <a:rPr lang="es-CO" smtClean="0"/>
              <a:pPr/>
              <a:t>17/08/2010</a:t>
            </a:fld>
            <a:endParaRPr lang="es-CO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2619376" y="6480969"/>
            <a:ext cx="4260056" cy="300831"/>
          </a:xfrm>
        </p:spPr>
        <p:txBody>
          <a:bodyPr/>
          <a:lstStyle/>
          <a:p>
            <a:endParaRPr lang="es-CO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8451056" y="809624"/>
            <a:ext cx="502920" cy="300831"/>
          </a:xfrm>
        </p:spPr>
        <p:txBody>
          <a:bodyPr/>
          <a:lstStyle/>
          <a:p>
            <a:fld id="{66938DF4-05E4-4D6E-B87D-8E5548F5DFCC}" type="slidenum">
              <a:rPr lang="es-CO" smtClean="0"/>
              <a:pPr/>
              <a:t>‹Nº›</a:t>
            </a:fld>
            <a:endParaRPr lang="es-CO" dirty="0"/>
          </a:p>
        </p:txBody>
      </p:sp>
      <p:cxnSp>
        <p:nvCxnSpPr>
          <p:cNvPr id="11" name="10 Conector recto"/>
          <p:cNvCxnSpPr/>
          <p:nvPr/>
        </p:nvCxnSpPr>
        <p:spPr>
          <a:xfrm rot="10800000">
            <a:off x="6468794" y="9381"/>
            <a:ext cx="2672861" cy="1900210"/>
          </a:xfrm>
          <a:prstGeom prst="line">
            <a:avLst/>
          </a:prstGeom>
          <a:noFill/>
          <a:ln w="6000" cap="rnd" cmpd="sng" algn="ctr">
            <a:solidFill>
              <a:schemeClr val="bg2">
                <a:tint val="50000"/>
                <a:satMod val="200000"/>
                <a:alpha val="4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9 Conector recto"/>
          <p:cNvCxnSpPr/>
          <p:nvPr/>
        </p:nvCxnSpPr>
        <p:spPr>
          <a:xfrm flipV="1">
            <a:off x="0" y="7034"/>
            <a:ext cx="9136966" cy="6843933"/>
          </a:xfrm>
          <a:prstGeom prst="line">
            <a:avLst/>
          </a:prstGeom>
          <a:noFill/>
          <a:ln w="5000" cap="rnd" cmpd="sng" algn="ctr">
            <a:solidFill>
              <a:schemeClr val="bg2">
                <a:tint val="55000"/>
                <a:satMod val="200000"/>
                <a:alpha val="3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381000" y="271464"/>
            <a:ext cx="7239000" cy="1362075"/>
          </a:xfrm>
        </p:spPr>
        <p:txBody>
          <a:bodyPr anchor="ctr"/>
          <a:lstStyle>
            <a:lvl1pPr marL="0" algn="l">
              <a:buNone/>
              <a:defRPr sz="3600" b="1" cap="none" baseline="0"/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381000" y="1633536"/>
            <a:ext cx="3886200" cy="2286000"/>
          </a:xfrm>
        </p:spPr>
        <p:txBody>
          <a:bodyPr anchor="t"/>
          <a:lstStyle>
            <a:lvl1pPr marL="54864" indent="0" algn="l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 algn="l">
              <a:defRPr/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722437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722437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>
          <a:xfrm>
            <a:off x="4791456" y="6480969"/>
            <a:ext cx="2133600" cy="301752"/>
          </a:xfrm>
        </p:spPr>
        <p:txBody>
          <a:bodyPr/>
          <a:lstStyle/>
          <a:p>
            <a:fld id="{1AD785EF-0726-4330-A8A7-7251B61A8EB5}" type="datetimeFigureOut">
              <a:rPr lang="es-CO" smtClean="0"/>
              <a:pPr/>
              <a:t>17/08/2010</a:t>
            </a:fld>
            <a:endParaRPr lang="es-CO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457200" y="6480969"/>
            <a:ext cx="4260056" cy="301752"/>
          </a:xfrm>
        </p:spPr>
        <p:txBody>
          <a:bodyPr/>
          <a:lstStyle/>
          <a:p>
            <a:endParaRPr lang="es-CO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7589520" y="6480969"/>
            <a:ext cx="502920" cy="301752"/>
          </a:xfrm>
        </p:spPr>
        <p:txBody>
          <a:bodyPr/>
          <a:lstStyle/>
          <a:p>
            <a:fld id="{66938DF4-05E4-4D6E-B87D-8E5548F5DFCC}" type="slidenum">
              <a:rPr lang="es-CO" smtClean="0"/>
              <a:pPr/>
              <a:t>‹Nº›</a:t>
            </a:fld>
            <a:endParaRPr lang="es-CO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ación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48198" y="290732"/>
            <a:ext cx="1066800" cy="6153912"/>
          </a:xfrm>
        </p:spPr>
        <p:txBody>
          <a:bodyPr vert="vert270" anchor="b"/>
          <a:lstStyle>
            <a:lvl1pPr marL="0" algn="ctr">
              <a:defRPr sz="3300" b="1">
                <a:ln w="6350">
                  <a:solidFill>
                    <a:schemeClr val="tx1"/>
                  </a:solidFill>
                </a:ln>
                <a:solidFill>
                  <a:schemeClr val="tx1"/>
                </a:solidFill>
              </a:defRPr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1365006" y="290732"/>
            <a:ext cx="581024" cy="3017520"/>
          </a:xfrm>
          <a:solidFill>
            <a:schemeClr val="bg1"/>
          </a:solidFill>
          <a:ln w="12700">
            <a:noFill/>
          </a:ln>
        </p:spPr>
        <p:txBody>
          <a:bodyPr vert="vert270" anchor="ctr"/>
          <a:lstStyle>
            <a:lvl1pPr marL="0" indent="0" algn="ctr">
              <a:buNone/>
              <a:defRPr sz="16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3"/>
          </p:nvPr>
        </p:nvSpPr>
        <p:spPr>
          <a:xfrm>
            <a:off x="1365006" y="3427124"/>
            <a:ext cx="581024" cy="3017520"/>
          </a:xfrm>
          <a:solidFill>
            <a:schemeClr val="bg1"/>
          </a:solidFill>
          <a:ln w="12700">
            <a:noFill/>
          </a:ln>
        </p:spPr>
        <p:txBody>
          <a:bodyPr vert="vert270" anchor="ctr"/>
          <a:lstStyle>
            <a:lvl1pPr marL="0" indent="0" algn="ctr">
              <a:buNone/>
              <a:defRPr sz="16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5" name="4 Marcador de contenido"/>
          <p:cNvSpPr>
            <a:spLocks noGrp="1"/>
          </p:cNvSpPr>
          <p:nvPr>
            <p:ph sz="quarter" idx="2"/>
          </p:nvPr>
        </p:nvSpPr>
        <p:spPr>
          <a:xfrm>
            <a:off x="2022230" y="290732"/>
            <a:ext cx="6858000" cy="3017520"/>
          </a:xfrm>
        </p:spPr>
        <p:txBody>
          <a:bodyPr/>
          <a:lstStyle>
            <a:lvl1pPr algn="l">
              <a:defRPr sz="2400"/>
            </a:lvl1pPr>
            <a:lvl2pPr algn="l">
              <a:defRPr sz="2000"/>
            </a:lvl2pPr>
            <a:lvl3pPr algn="l">
              <a:defRPr sz="1800"/>
            </a:lvl3pPr>
            <a:lvl4pPr algn="l">
              <a:defRPr sz="1600"/>
            </a:lvl4pPr>
            <a:lvl5pPr algn="l">
              <a:defRPr sz="1600"/>
            </a:lvl5pPr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2022230" y="3427124"/>
            <a:ext cx="6858000" cy="301752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>
          <a:xfrm>
            <a:off x="4791456" y="6480969"/>
            <a:ext cx="2130552" cy="301752"/>
          </a:xfrm>
        </p:spPr>
        <p:txBody>
          <a:bodyPr/>
          <a:lstStyle/>
          <a:p>
            <a:fld id="{1AD785EF-0726-4330-A8A7-7251B61A8EB5}" type="datetimeFigureOut">
              <a:rPr lang="es-CO" smtClean="0"/>
              <a:pPr/>
              <a:t>17/08/2010</a:t>
            </a:fld>
            <a:endParaRPr lang="es-CO" dirty="0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457200" y="6480969"/>
            <a:ext cx="4261104" cy="301752"/>
          </a:xfrm>
        </p:spPr>
        <p:txBody>
          <a:bodyPr/>
          <a:lstStyle/>
          <a:p>
            <a:endParaRPr lang="es-CO" dirty="0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7589520" y="6483096"/>
            <a:ext cx="502920" cy="301752"/>
          </a:xfrm>
        </p:spPr>
        <p:txBody>
          <a:bodyPr/>
          <a:lstStyle>
            <a:lvl1pPr algn="ctr">
              <a:defRPr/>
            </a:lvl1pPr>
          </a:lstStyle>
          <a:p>
            <a:fld id="{66938DF4-05E4-4D6E-B87D-8E5548F5DFCC}" type="slidenum">
              <a:rPr lang="es-CO" smtClean="0"/>
              <a:pPr/>
              <a:t>‹Nº›</a:t>
            </a:fld>
            <a:endParaRPr lang="es-CO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785EF-0726-4330-A8A7-7251B61A8EB5}" type="datetimeFigureOut">
              <a:rPr lang="es-CO" smtClean="0"/>
              <a:pPr/>
              <a:t>17/08/2010</a:t>
            </a:fld>
            <a:endParaRPr lang="es-CO" dirty="0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938DF4-05E4-4D6E-B87D-8E5548F5DFCC}" type="slidenum">
              <a:rPr lang="es-CO" smtClean="0"/>
              <a:pPr/>
              <a:t>‹Nº›</a:t>
            </a:fld>
            <a:endParaRPr lang="es-CO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>
          <a:xfrm>
            <a:off x="4791456" y="6480969"/>
            <a:ext cx="2133600" cy="301752"/>
          </a:xfrm>
        </p:spPr>
        <p:txBody>
          <a:bodyPr/>
          <a:lstStyle/>
          <a:p>
            <a:fld id="{1AD785EF-0726-4330-A8A7-7251B61A8EB5}" type="datetimeFigureOut">
              <a:rPr lang="es-CO" smtClean="0"/>
              <a:pPr/>
              <a:t>17/08/2010</a:t>
            </a:fld>
            <a:endParaRPr lang="es-CO" dirty="0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457200" y="6481890"/>
            <a:ext cx="4260056" cy="300831"/>
          </a:xfrm>
        </p:spPr>
        <p:txBody>
          <a:bodyPr/>
          <a:lstStyle/>
          <a:p>
            <a:endParaRPr lang="es-CO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7589520" y="6480969"/>
            <a:ext cx="502920" cy="301752"/>
          </a:xfrm>
        </p:spPr>
        <p:txBody>
          <a:bodyPr/>
          <a:lstStyle/>
          <a:p>
            <a:fld id="{66938DF4-05E4-4D6E-B87D-8E5548F5DFCC}" type="slidenum">
              <a:rPr lang="es-CO" smtClean="0"/>
              <a:pPr/>
              <a:t>‹Nº›</a:t>
            </a:fld>
            <a:endParaRPr lang="es-CO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19456" y="367664"/>
            <a:ext cx="914400" cy="5943600"/>
          </a:xfrm>
        </p:spPr>
        <p:txBody>
          <a:bodyPr vert="vert270" anchor="b"/>
          <a:lstStyle>
            <a:lvl1pPr marL="0" marR="18288" algn="r">
              <a:spcBef>
                <a:spcPts val="0"/>
              </a:spcBef>
              <a:buNone/>
              <a:defRPr sz="2900" b="0" cap="all" baseline="0"/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2"/>
          </p:nvPr>
        </p:nvSpPr>
        <p:spPr>
          <a:xfrm>
            <a:off x="1135856" y="367664"/>
            <a:ext cx="2438400" cy="5943600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1"/>
          </p:nvPr>
        </p:nvSpPr>
        <p:spPr>
          <a:xfrm>
            <a:off x="3651250" y="320040"/>
            <a:ext cx="5276088" cy="5989320"/>
          </a:xfrm>
        </p:spPr>
        <p:txBody>
          <a:bodyPr/>
          <a:lstStyle>
            <a:lvl1pPr>
              <a:spcBef>
                <a:spcPts val="0"/>
              </a:spcBef>
              <a:defRPr sz="30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>
          <a:xfrm>
            <a:off x="6278976" y="6556248"/>
            <a:ext cx="2133600" cy="301752"/>
          </a:xfrm>
        </p:spPr>
        <p:txBody>
          <a:bodyPr/>
          <a:lstStyle>
            <a:lvl1pPr>
              <a:defRPr sz="900"/>
            </a:lvl1pPr>
          </a:lstStyle>
          <a:p>
            <a:fld id="{1AD785EF-0726-4330-A8A7-7251B61A8EB5}" type="datetimeFigureOut">
              <a:rPr lang="es-CO" smtClean="0"/>
              <a:pPr/>
              <a:t>17/08/2010</a:t>
            </a:fld>
            <a:endParaRPr lang="es-CO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1135856" y="6556248"/>
            <a:ext cx="5143120" cy="301752"/>
          </a:xfrm>
        </p:spPr>
        <p:txBody>
          <a:bodyPr/>
          <a:lstStyle>
            <a:lvl1pPr>
              <a:defRPr sz="900"/>
            </a:lvl1pPr>
          </a:lstStyle>
          <a:p>
            <a:endParaRPr lang="es-CO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8410576" y="6556248"/>
            <a:ext cx="502920" cy="301752"/>
          </a:xfrm>
        </p:spPr>
        <p:txBody>
          <a:bodyPr/>
          <a:lstStyle>
            <a:lvl1pPr>
              <a:defRPr sz="900"/>
            </a:lvl1pPr>
          </a:lstStyle>
          <a:p>
            <a:fld id="{66938DF4-05E4-4D6E-B87D-8E5548F5DFCC}" type="slidenum">
              <a:rPr lang="es-CO" smtClean="0"/>
              <a:pPr/>
              <a:t>‹Nº›</a:t>
            </a:fld>
            <a:endParaRPr lang="es-CO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19456" y="150896"/>
            <a:ext cx="914400" cy="6400800"/>
          </a:xfrm>
        </p:spPr>
        <p:txBody>
          <a:bodyPr vert="vert270" anchor="b"/>
          <a:lstStyle>
            <a:lvl1pPr marL="0" algn="l">
              <a:buNone/>
              <a:defRPr sz="3000" b="0" cap="all" baseline="0"/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138237" y="373966"/>
            <a:ext cx="7333488" cy="5486400"/>
          </a:xfrm>
          <a:solidFill>
            <a:schemeClr val="bg2">
              <a:shade val="50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s-ES" dirty="0" smtClean="0"/>
              <a:t>Haga clic en el icono para agregar una imagen</a:t>
            </a:r>
            <a:endParaRPr kumimoji="0" lang="en-US" dirty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143000" y="5867400"/>
            <a:ext cx="7333488" cy="685800"/>
          </a:xfrm>
          <a:solidFill>
            <a:schemeClr val="accent1">
              <a:alpha val="15000"/>
            </a:schemeClr>
          </a:solidFill>
          <a:ln>
            <a:solidFill>
              <a:schemeClr val="accent1"/>
            </a:solidFill>
            <a:miter lim="800000"/>
          </a:ln>
        </p:spPr>
        <p:txBody>
          <a:bodyPr/>
          <a:lstStyle>
            <a:lvl1pPr marL="0" indent="0">
              <a:spcBef>
                <a:spcPts val="0"/>
              </a:spcBef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>
          <a:xfrm>
            <a:off x="6108192" y="6556248"/>
            <a:ext cx="2103120" cy="301752"/>
          </a:xfrm>
        </p:spPr>
        <p:txBody>
          <a:bodyPr/>
          <a:lstStyle>
            <a:lvl1pPr>
              <a:defRPr sz="900"/>
            </a:lvl1pPr>
          </a:lstStyle>
          <a:p>
            <a:fld id="{1AD785EF-0726-4330-A8A7-7251B61A8EB5}" type="datetimeFigureOut">
              <a:rPr lang="es-CO" smtClean="0"/>
              <a:pPr/>
              <a:t>17/08/2010</a:t>
            </a:fld>
            <a:endParaRPr lang="es-CO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1170432" y="6557169"/>
            <a:ext cx="4948072" cy="301752"/>
          </a:xfrm>
        </p:spPr>
        <p:txBody>
          <a:bodyPr/>
          <a:lstStyle>
            <a:lvl1pPr>
              <a:defRPr sz="900"/>
            </a:lvl1pPr>
          </a:lstStyle>
          <a:p>
            <a:endParaRPr lang="es-CO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8217192" y="6556248"/>
            <a:ext cx="365760" cy="301752"/>
          </a:xfrm>
        </p:spPr>
        <p:txBody>
          <a:bodyPr/>
          <a:lstStyle>
            <a:lvl1pPr algn="ctr">
              <a:defRPr sz="900"/>
            </a:lvl1pPr>
          </a:lstStyle>
          <a:p>
            <a:fld id="{66938DF4-05E4-4D6E-B87D-8E5548F5DFCC}" type="slidenum">
              <a:rPr lang="es-CO" smtClean="0"/>
              <a:pPr/>
              <a:t>‹Nº›</a:t>
            </a:fld>
            <a:endParaRPr lang="es-CO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785EF-0726-4330-A8A7-7251B61A8EB5}" type="datetimeFigureOut">
              <a:rPr lang="es-CO" smtClean="0"/>
              <a:pPr/>
              <a:t>17/08/2010</a:t>
            </a:fld>
            <a:endParaRPr lang="es-CO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938DF4-05E4-4D6E-B87D-8E5548F5DFCC}" type="slidenum">
              <a:rPr lang="es-CO" smtClean="0"/>
              <a:pPr/>
              <a:t>‹Nº›</a:t>
            </a:fld>
            <a:endParaRPr lang="es-CO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781800" y="381000"/>
            <a:ext cx="1905000" cy="5486400"/>
          </a:xfrm>
        </p:spPr>
        <p:txBody>
          <a:bodyPr vert="eaVert"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381000"/>
            <a:ext cx="6248400" cy="5486400"/>
          </a:xfrm>
        </p:spPr>
        <p:txBody>
          <a:bodyPr vert="eaVert"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785EF-0726-4330-A8A7-7251B61A8EB5}" type="datetimeFigureOut">
              <a:rPr lang="es-CO" smtClean="0"/>
              <a:pPr/>
              <a:t>17/08/2010</a:t>
            </a:fld>
            <a:endParaRPr lang="es-CO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938DF4-05E4-4D6E-B87D-8E5548F5DFCC}" type="slidenum">
              <a:rPr lang="es-CO" smtClean="0"/>
              <a:pPr/>
              <a:t>‹Nº›</a:t>
            </a:fld>
            <a:endParaRPr lang="es-CO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10 Triángulo rectángulo"/>
          <p:cNvSpPr/>
          <p:nvPr/>
        </p:nvSpPr>
        <p:spPr>
          <a:xfrm>
            <a:off x="7034" y="14068"/>
            <a:ext cx="9129932" cy="6836899"/>
          </a:xfrm>
          <a:prstGeom prst="rtTriangle">
            <a:avLst/>
          </a:prstGeom>
          <a:gradFill flip="none" rotWithShape="1">
            <a:gsLst>
              <a:gs pos="0">
                <a:schemeClr val="tx2">
                  <a:alpha val="10000"/>
                </a:schemeClr>
              </a:gs>
              <a:gs pos="70000">
                <a:schemeClr val="tx2">
                  <a:alpha val="8000"/>
                </a:schemeClr>
              </a:gs>
              <a:gs pos="100000">
                <a:schemeClr val="tx2">
                  <a:alpha val="1000"/>
                </a:schemeClr>
              </a:gs>
            </a:gsLst>
            <a:lin ang="8000000" scaled="1"/>
            <a:tileRect/>
          </a:gra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cxnSp>
        <p:nvCxnSpPr>
          <p:cNvPr id="8" name="7 Conector recto"/>
          <p:cNvCxnSpPr/>
          <p:nvPr/>
        </p:nvCxnSpPr>
        <p:spPr>
          <a:xfrm>
            <a:off x="0" y="7034"/>
            <a:ext cx="9136966" cy="6843933"/>
          </a:xfrm>
          <a:prstGeom prst="line">
            <a:avLst/>
          </a:prstGeom>
          <a:noFill/>
          <a:ln w="5000" cap="rnd" cmpd="sng" algn="ctr">
            <a:solidFill>
              <a:schemeClr val="bg2">
                <a:tint val="55000"/>
                <a:satMod val="200000"/>
                <a:alpha val="3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8 Conector recto"/>
          <p:cNvCxnSpPr/>
          <p:nvPr/>
        </p:nvCxnSpPr>
        <p:spPr>
          <a:xfrm rot="10800000" flipV="1">
            <a:off x="6468794" y="4948410"/>
            <a:ext cx="2672861" cy="1900210"/>
          </a:xfrm>
          <a:prstGeom prst="line">
            <a:avLst/>
          </a:prstGeom>
          <a:noFill/>
          <a:ln w="6000" cap="rnd" cmpd="sng" algn="ctr">
            <a:solidFill>
              <a:schemeClr val="bg2">
                <a:tint val="50000"/>
                <a:satMod val="200000"/>
                <a:alpha val="4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21 Marcador de título"/>
          <p:cNvSpPr>
            <a:spLocks noGrp="1"/>
          </p:cNvSpPr>
          <p:nvPr>
            <p:ph type="title"/>
          </p:nvPr>
        </p:nvSpPr>
        <p:spPr>
          <a:xfrm>
            <a:off x="457200" y="267494"/>
            <a:ext cx="8229600" cy="1399032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13" name="12 Marcador de texto"/>
          <p:cNvSpPr>
            <a:spLocks noGrp="1"/>
          </p:cNvSpPr>
          <p:nvPr>
            <p:ph type="body" idx="1"/>
          </p:nvPr>
        </p:nvSpPr>
        <p:spPr>
          <a:xfrm>
            <a:off x="457200" y="1882808"/>
            <a:ext cx="8229600" cy="4572000"/>
          </a:xfrm>
          <a:prstGeom prst="rect">
            <a:avLst/>
          </a:prstGeom>
        </p:spPr>
        <p:txBody>
          <a:bodyPr vert="horz" anchor="t">
            <a:normAutofit/>
          </a:bodyPr>
          <a:lstStyle/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  <a:p>
            <a:pPr lvl="1" eaLnBrk="1" latinLnBrk="0" hangingPunct="1"/>
            <a:r>
              <a:rPr kumimoji="0" lang="es-ES" smtClean="0"/>
              <a:t>Segundo nivel</a:t>
            </a:r>
          </a:p>
          <a:p>
            <a:pPr lvl="2" eaLnBrk="1" latinLnBrk="0" hangingPunct="1"/>
            <a:r>
              <a:rPr kumimoji="0" lang="es-ES" smtClean="0"/>
              <a:t>Tercer nivel</a:t>
            </a:r>
          </a:p>
          <a:p>
            <a:pPr lvl="3" eaLnBrk="1" latinLnBrk="0" hangingPunct="1"/>
            <a:r>
              <a:rPr kumimoji="0" lang="es-ES" smtClean="0"/>
              <a:t>Cuarto nivel</a:t>
            </a:r>
          </a:p>
          <a:p>
            <a:pPr lvl="4" eaLnBrk="1" latinLnBrk="0" hangingPunct="1"/>
            <a:r>
              <a:rPr kumimoji="0" lang="es-ES" smtClean="0"/>
              <a:t>Quinto nivel</a:t>
            </a:r>
            <a:endParaRPr kumimoji="0" lang="en-US"/>
          </a:p>
        </p:txBody>
      </p:sp>
      <p:sp>
        <p:nvSpPr>
          <p:cNvPr id="14" name="13 Marcador de fecha"/>
          <p:cNvSpPr>
            <a:spLocks noGrp="1"/>
          </p:cNvSpPr>
          <p:nvPr>
            <p:ph type="dt" sz="half" idx="2"/>
          </p:nvPr>
        </p:nvSpPr>
        <p:spPr>
          <a:xfrm>
            <a:off x="4791456" y="6480969"/>
            <a:ext cx="2133600" cy="301752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 b="0">
                <a:solidFill>
                  <a:schemeClr val="tx1"/>
                </a:solidFill>
              </a:defRPr>
            </a:lvl1pPr>
          </a:lstStyle>
          <a:p>
            <a:fld id="{1AD785EF-0726-4330-A8A7-7251B61A8EB5}" type="datetimeFigureOut">
              <a:rPr lang="es-CO" smtClean="0"/>
              <a:pPr/>
              <a:t>17/08/2010</a:t>
            </a:fld>
            <a:endParaRPr lang="es-CO" dirty="0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457200" y="6481890"/>
            <a:ext cx="4260056" cy="300831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</a:lstStyle>
          <a:p>
            <a:endParaRPr lang="es-CO" dirty="0"/>
          </a:p>
        </p:txBody>
      </p:sp>
      <p:sp>
        <p:nvSpPr>
          <p:cNvPr id="23" name="22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7589520" y="6480969"/>
            <a:ext cx="502920" cy="301752"/>
          </a:xfrm>
          <a:prstGeom prst="rect">
            <a:avLst/>
          </a:prstGeom>
        </p:spPr>
        <p:txBody>
          <a:bodyPr vert="horz" anchor="b"/>
          <a:lstStyle>
            <a:lvl1pPr algn="ctr" eaLnBrk="1" latinLnBrk="0" hangingPunct="1">
              <a:defRPr kumimoji="0" sz="1200">
                <a:solidFill>
                  <a:schemeClr val="tx1"/>
                </a:solidFill>
              </a:defRPr>
            </a:lvl1pPr>
          </a:lstStyle>
          <a:p>
            <a:fld id="{66938DF4-05E4-4D6E-B87D-8E5548F5DFCC}" type="slidenum">
              <a:rPr lang="es-CO" smtClean="0"/>
              <a:pPr/>
              <a:t>‹Nº›</a:t>
            </a:fld>
            <a:endParaRPr lang="es-CO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4021" r:id="rId1"/>
    <p:sldLayoutId id="2147484022" r:id="rId2"/>
    <p:sldLayoutId id="2147484023" r:id="rId3"/>
    <p:sldLayoutId id="2147484024" r:id="rId4"/>
    <p:sldLayoutId id="2147484025" r:id="rId5"/>
    <p:sldLayoutId id="2147484026" r:id="rId6"/>
    <p:sldLayoutId id="2147484027" r:id="rId7"/>
    <p:sldLayoutId id="2147484028" r:id="rId8"/>
    <p:sldLayoutId id="2147484029" r:id="rId9"/>
    <p:sldLayoutId id="2147484030" r:id="rId10"/>
    <p:sldLayoutId id="2147484031" r:id="rId11"/>
  </p:sldLayoutIdLst>
  <p:txStyles>
    <p:titleStyle>
      <a:lvl1pPr marL="484632" algn="l" rtl="0" eaLnBrk="1" latinLnBrk="0" hangingPunct="1">
        <a:spcBef>
          <a:spcPct val="0"/>
        </a:spcBef>
        <a:buNone/>
        <a:defRPr kumimoji="0" sz="4200" kern="1200">
          <a:ln w="6350">
            <a:solidFill>
              <a:schemeClr val="accent1">
                <a:shade val="43000"/>
              </a:schemeClr>
            </a:solidFill>
          </a:ln>
          <a:solidFill>
            <a:schemeClr val="accent1">
              <a:tint val="83000"/>
              <a:satMod val="150000"/>
            </a:schemeClr>
          </a:solidFill>
          <a:effectLst>
            <a:outerShdw blurRad="26000" dist="26000" dir="14500000" algn="tl" rotWithShape="0">
              <a:srgbClr val="000000">
                <a:alpha val="40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448056" indent="-384048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"/>
        <a:defRPr kumimoji="0"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822960" indent="-285750" algn="l" rtl="0" eaLnBrk="1" latinLnBrk="0" hangingPunct="1">
        <a:spcBef>
          <a:spcPct val="20000"/>
        </a:spcBef>
        <a:buClr>
          <a:schemeClr val="accent1"/>
        </a:buClr>
        <a:buSzPct val="95000"/>
        <a:buFont typeface="Verdana"/>
        <a:buChar char="›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106424" indent="-228600" algn="l" rtl="0" eaLnBrk="1" latinLnBrk="0" hangingPunct="1">
        <a:spcBef>
          <a:spcPct val="20000"/>
        </a:spcBef>
        <a:buClr>
          <a:schemeClr val="accent1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10312" algn="l" rtl="0" eaLnBrk="1" latinLnBrk="0" hangingPunct="1">
        <a:spcBef>
          <a:spcPct val="20000"/>
        </a:spcBef>
        <a:buClr>
          <a:schemeClr val="accent1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600200" indent="-210312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800" indent="-210312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084832" indent="-210312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14600" indent="-182880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10 Triángulo rectángulo"/>
          <p:cNvSpPr/>
          <p:nvPr/>
        </p:nvSpPr>
        <p:spPr>
          <a:xfrm>
            <a:off x="7034" y="14068"/>
            <a:ext cx="9129932" cy="6836899"/>
          </a:xfrm>
          <a:prstGeom prst="rtTriangle">
            <a:avLst/>
          </a:prstGeom>
          <a:gradFill flip="none" rotWithShape="1">
            <a:gsLst>
              <a:gs pos="0">
                <a:schemeClr val="tx2">
                  <a:alpha val="10000"/>
                </a:schemeClr>
              </a:gs>
              <a:gs pos="70000">
                <a:schemeClr val="tx2">
                  <a:alpha val="8000"/>
                </a:schemeClr>
              </a:gs>
              <a:gs pos="100000">
                <a:schemeClr val="tx2">
                  <a:alpha val="1000"/>
                </a:schemeClr>
              </a:gs>
            </a:gsLst>
            <a:lin ang="8000000" scaled="1"/>
            <a:tileRect/>
          </a:gra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cxnSp>
        <p:nvCxnSpPr>
          <p:cNvPr id="8" name="7 Conector recto"/>
          <p:cNvCxnSpPr/>
          <p:nvPr/>
        </p:nvCxnSpPr>
        <p:spPr>
          <a:xfrm>
            <a:off x="0" y="7034"/>
            <a:ext cx="9136966" cy="6843933"/>
          </a:xfrm>
          <a:prstGeom prst="line">
            <a:avLst/>
          </a:prstGeom>
          <a:noFill/>
          <a:ln w="5000" cap="rnd" cmpd="sng" algn="ctr">
            <a:solidFill>
              <a:schemeClr val="bg2">
                <a:tint val="55000"/>
                <a:satMod val="200000"/>
                <a:alpha val="3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8 Conector recto"/>
          <p:cNvCxnSpPr/>
          <p:nvPr/>
        </p:nvCxnSpPr>
        <p:spPr>
          <a:xfrm rot="10800000" flipV="1">
            <a:off x="6468794" y="4948410"/>
            <a:ext cx="2672861" cy="1900210"/>
          </a:xfrm>
          <a:prstGeom prst="line">
            <a:avLst/>
          </a:prstGeom>
          <a:noFill/>
          <a:ln w="6000" cap="rnd" cmpd="sng" algn="ctr">
            <a:solidFill>
              <a:schemeClr val="bg2">
                <a:tint val="50000"/>
                <a:satMod val="200000"/>
                <a:alpha val="4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21 Marcador de título"/>
          <p:cNvSpPr>
            <a:spLocks noGrp="1"/>
          </p:cNvSpPr>
          <p:nvPr>
            <p:ph type="title"/>
          </p:nvPr>
        </p:nvSpPr>
        <p:spPr>
          <a:xfrm>
            <a:off x="457200" y="267494"/>
            <a:ext cx="8229600" cy="1399032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13" name="12 Marcador de texto"/>
          <p:cNvSpPr>
            <a:spLocks noGrp="1"/>
          </p:cNvSpPr>
          <p:nvPr>
            <p:ph type="body" idx="1"/>
          </p:nvPr>
        </p:nvSpPr>
        <p:spPr>
          <a:xfrm>
            <a:off x="457200" y="1882808"/>
            <a:ext cx="8229600" cy="4572000"/>
          </a:xfrm>
          <a:prstGeom prst="rect">
            <a:avLst/>
          </a:prstGeom>
        </p:spPr>
        <p:txBody>
          <a:bodyPr vert="horz" anchor="t">
            <a:normAutofit/>
          </a:bodyPr>
          <a:lstStyle/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  <a:p>
            <a:pPr lvl="1" eaLnBrk="1" latinLnBrk="0" hangingPunct="1"/>
            <a:r>
              <a:rPr kumimoji="0" lang="es-ES" smtClean="0"/>
              <a:t>Segundo nivel</a:t>
            </a:r>
          </a:p>
          <a:p>
            <a:pPr lvl="2" eaLnBrk="1" latinLnBrk="0" hangingPunct="1"/>
            <a:r>
              <a:rPr kumimoji="0" lang="es-ES" smtClean="0"/>
              <a:t>Tercer nivel</a:t>
            </a:r>
          </a:p>
          <a:p>
            <a:pPr lvl="3" eaLnBrk="1" latinLnBrk="0" hangingPunct="1"/>
            <a:r>
              <a:rPr kumimoji="0" lang="es-ES" smtClean="0"/>
              <a:t>Cuarto nivel</a:t>
            </a:r>
          </a:p>
          <a:p>
            <a:pPr lvl="4" eaLnBrk="1" latinLnBrk="0" hangingPunct="1"/>
            <a:r>
              <a:rPr kumimoji="0" lang="es-ES" smtClean="0"/>
              <a:t>Quinto nivel</a:t>
            </a:r>
            <a:endParaRPr kumimoji="0" lang="en-US"/>
          </a:p>
        </p:txBody>
      </p:sp>
      <p:sp>
        <p:nvSpPr>
          <p:cNvPr id="14" name="13 Marcador de fecha"/>
          <p:cNvSpPr>
            <a:spLocks noGrp="1"/>
          </p:cNvSpPr>
          <p:nvPr>
            <p:ph type="dt" sz="half" idx="2"/>
          </p:nvPr>
        </p:nvSpPr>
        <p:spPr>
          <a:xfrm>
            <a:off x="4791456" y="6480969"/>
            <a:ext cx="2133600" cy="301752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 b="0">
                <a:solidFill>
                  <a:schemeClr val="tx1"/>
                </a:solidFill>
              </a:defRPr>
            </a:lvl1pPr>
          </a:lstStyle>
          <a:p>
            <a:fld id="{1AD785EF-0726-4330-A8A7-7251B61A8EB5}" type="datetimeFigureOut">
              <a:rPr lang="es-CO" smtClean="0"/>
              <a:pPr/>
              <a:t>17/08/2010</a:t>
            </a:fld>
            <a:endParaRPr lang="es-CO" dirty="0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457200" y="6481890"/>
            <a:ext cx="4260056" cy="300831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</a:lstStyle>
          <a:p>
            <a:endParaRPr lang="es-CO" dirty="0"/>
          </a:p>
        </p:txBody>
      </p:sp>
      <p:sp>
        <p:nvSpPr>
          <p:cNvPr id="23" name="22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7589520" y="6480969"/>
            <a:ext cx="502920" cy="301752"/>
          </a:xfrm>
          <a:prstGeom prst="rect">
            <a:avLst/>
          </a:prstGeom>
        </p:spPr>
        <p:txBody>
          <a:bodyPr vert="horz" anchor="b"/>
          <a:lstStyle>
            <a:lvl1pPr algn="ctr" eaLnBrk="1" latinLnBrk="0" hangingPunct="1">
              <a:defRPr kumimoji="0" sz="1200">
                <a:solidFill>
                  <a:schemeClr val="tx1"/>
                </a:solidFill>
              </a:defRPr>
            </a:lvl1pPr>
          </a:lstStyle>
          <a:p>
            <a:fld id="{66938DF4-05E4-4D6E-B87D-8E5548F5DFCC}" type="slidenum">
              <a:rPr lang="es-CO" smtClean="0"/>
              <a:pPr/>
              <a:t>‹Nº›</a:t>
            </a:fld>
            <a:endParaRPr lang="es-CO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4033" r:id="rId1"/>
    <p:sldLayoutId id="2147484034" r:id="rId2"/>
    <p:sldLayoutId id="2147484035" r:id="rId3"/>
    <p:sldLayoutId id="2147484036" r:id="rId4"/>
    <p:sldLayoutId id="2147484037" r:id="rId5"/>
    <p:sldLayoutId id="2147484038" r:id="rId6"/>
    <p:sldLayoutId id="2147484039" r:id="rId7"/>
    <p:sldLayoutId id="2147484040" r:id="rId8"/>
    <p:sldLayoutId id="2147484041" r:id="rId9"/>
    <p:sldLayoutId id="2147484042" r:id="rId10"/>
    <p:sldLayoutId id="2147484043" r:id="rId11"/>
  </p:sldLayoutIdLst>
  <p:txStyles>
    <p:titleStyle>
      <a:lvl1pPr marL="484632" algn="l" rtl="0" eaLnBrk="1" latinLnBrk="0" hangingPunct="1">
        <a:spcBef>
          <a:spcPct val="0"/>
        </a:spcBef>
        <a:buNone/>
        <a:defRPr kumimoji="0" sz="4200" kern="1200">
          <a:ln w="6350">
            <a:solidFill>
              <a:schemeClr val="accent1">
                <a:shade val="43000"/>
              </a:schemeClr>
            </a:solidFill>
          </a:ln>
          <a:solidFill>
            <a:schemeClr val="accent1">
              <a:tint val="83000"/>
              <a:satMod val="150000"/>
            </a:schemeClr>
          </a:solidFill>
          <a:effectLst>
            <a:outerShdw blurRad="26000" dist="26000" dir="14500000" algn="tl" rotWithShape="0">
              <a:srgbClr val="000000">
                <a:alpha val="40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448056" indent="-384048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"/>
        <a:defRPr kumimoji="0"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822960" indent="-285750" algn="l" rtl="0" eaLnBrk="1" latinLnBrk="0" hangingPunct="1">
        <a:spcBef>
          <a:spcPct val="20000"/>
        </a:spcBef>
        <a:buClr>
          <a:schemeClr val="accent1"/>
        </a:buClr>
        <a:buSzPct val="95000"/>
        <a:buFont typeface="Verdana"/>
        <a:buChar char="›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106424" indent="-228600" algn="l" rtl="0" eaLnBrk="1" latinLnBrk="0" hangingPunct="1">
        <a:spcBef>
          <a:spcPct val="20000"/>
        </a:spcBef>
        <a:buClr>
          <a:schemeClr val="accent1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10312" algn="l" rtl="0" eaLnBrk="1" latinLnBrk="0" hangingPunct="1">
        <a:spcBef>
          <a:spcPct val="20000"/>
        </a:spcBef>
        <a:buClr>
          <a:schemeClr val="accent1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600200" indent="-210312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800" indent="-210312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084832" indent="-210312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14600" indent="-182880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5.jpe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2.jpe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hyperlink" Target="http://es.wikipedia.org/wiki/Archivo:Sabine_women.jpg" TargetMode="Externa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eg"/><Relationship Id="rId2" Type="http://schemas.openxmlformats.org/officeDocument/2006/relationships/hyperlink" Target="http://es.wikipedia.org/wiki/Archivo:Hommage_au_Moyen_Age_-_miniature.jpg" TargetMode="External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eg"/><Relationship Id="rId2" Type="http://schemas.openxmlformats.org/officeDocument/2006/relationships/hyperlink" Target="http://es.wikipedia.org/wiki/Archivo:Olbrueck02.jpg" TargetMode="External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eg"/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eg"/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eg"/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8" Type="http://schemas.openxmlformats.org/officeDocument/2006/relationships/hyperlink" Target="http://es.wikipedia.org/wiki/Archivo:3-piantagione,Taccuino_Sanitatis,_Casanatense_4182..jpg" TargetMode="External"/><Relationship Id="rId3" Type="http://schemas.openxmlformats.org/officeDocument/2006/relationships/image" Target="../media/image47.png"/><Relationship Id="rId7" Type="http://schemas.openxmlformats.org/officeDocument/2006/relationships/image" Target="../media/image49.jpeg"/><Relationship Id="rId2" Type="http://schemas.openxmlformats.org/officeDocument/2006/relationships/hyperlink" Target="http://es.wikipedia.org/wiki/Archivo:Croix_fleur-de-lys%C3%A9e_geules.png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://es.wikipedia.org/wiki/Archivo:Hunterian_Psalter_c._1170_Mowing_hay.jpg" TargetMode="External"/><Relationship Id="rId5" Type="http://schemas.openxmlformats.org/officeDocument/2006/relationships/image" Target="../media/image48.jpeg"/><Relationship Id="rId4" Type="http://schemas.openxmlformats.org/officeDocument/2006/relationships/hyperlink" Target="http://es.wikipedia.org/wiki/Archivo:Burg_Nideggen05.jpg" TargetMode="External"/><Relationship Id="rId9" Type="http://schemas.openxmlformats.org/officeDocument/2006/relationships/image" Target="../media/image50.jpeg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jpeg"/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gif"/><Relationship Id="rId1" Type="http://schemas.openxmlformats.org/officeDocument/2006/relationships/slideLayout" Target="../slideLayouts/slideLayout4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jpeg"/><Relationship Id="rId2" Type="http://schemas.openxmlformats.org/officeDocument/2006/relationships/hyperlink" Target="http://www.google.com.co/imgres?imgurl=http://www.sangabrielcajica.edu.co/carloslleras/tren.gif&amp;imgrefurl=http://www.sangabrielcajica.edu.co/carloslleras/quinto.htm&amp;usg=__quEWx10jsfxciJGWaCEvMS4PnQ8=&amp;h=358&amp;w=367&amp;sz=11&amp;hl=es&amp;start=2&amp;tbnid=jwiY2BN0-0D-5M:&amp;tbnh=119&amp;tbnw=122&amp;prev=/images?q=imagenes+de+tren&amp;um=1&amp;hl=es&amp;cr=countryCO&amp;sa=N&amp;tbs=isch:1&amp;um=1&amp;itbs=1" TargetMode="External"/><Relationship Id="rId1" Type="http://schemas.openxmlformats.org/officeDocument/2006/relationships/slideLayout" Target="../slideLayouts/slideLayout4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gif"/><Relationship Id="rId1" Type="http://schemas.openxmlformats.org/officeDocument/2006/relationships/slideLayout" Target="../slideLayouts/slideLayout4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jpeg"/><Relationship Id="rId1" Type="http://schemas.openxmlformats.org/officeDocument/2006/relationships/slideLayout" Target="../slideLayouts/slideLayout4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jpeg"/><Relationship Id="rId1" Type="http://schemas.openxmlformats.org/officeDocument/2006/relationships/slideLayout" Target="../slideLayouts/slideLayout4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gif"/><Relationship Id="rId1" Type="http://schemas.openxmlformats.org/officeDocument/2006/relationships/slideLayout" Target="../slideLayouts/slideLayout4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jpeg"/><Relationship Id="rId2" Type="http://schemas.openxmlformats.org/officeDocument/2006/relationships/hyperlink" Target="http://www.google.com.co/imgres?imgurl=http://mercadeoypublicidad.com/Secciones/img_articulos/7800_medicamentos_Ilustracion.gif&amp;imgrefurl=http://mercadeoypublicidad.com/Secciones/Noticias/ListadoNoticias.php?pageNum_Noticias=239&amp;totalRows_Noticias=3084&amp;FechaIni=&amp;FechaFin=&amp;Pais=&amp;Tema=&amp;PHPSESSID=77e8442e1727334f3148d518cec21c6d&amp;PHPSESSID=77e8442e1727334f3148d518cec21c6d&amp;usg=__MU_YYAp4rbKel3RZk-zbeuZUppg=&amp;h=200&amp;w=236&amp;sz=10&amp;hl=es&amp;start=7&amp;tbnid=DjmbpJQ3EVcR_M:&amp;tbnh=92&amp;tbnw=109&amp;prev=/images?q=medicamentos&amp;um=1&amp;hl=es&amp;cr=countryCO&amp;tbs=isch:1&amp;um=1&amp;itbs=1" TargetMode="External"/><Relationship Id="rId1" Type="http://schemas.openxmlformats.org/officeDocument/2006/relationships/slideLayout" Target="../slideLayouts/slideLayout4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jpeg"/><Relationship Id="rId2" Type="http://schemas.openxmlformats.org/officeDocument/2006/relationships/hyperlink" Target="http://www.google.com.co/imgres?imgurl=http://www.somosmas.org/uploads/pics/BancoMundial.gif&amp;imgrefurl=http://www.somosmas.org/38/news/4269/6//6f8f059e22/?tx_ttnews%5byear%5d=2009&amp;tx_ttnews%5bmonth%5d=05&amp;usg=__tqVnBZa0bmt5jeY0iZ5whMncZ-0=&amp;h=157&amp;w=180&amp;sz=5&amp;hl=es&amp;start=3&amp;tbnid=I4DKkFC1xMN8ZM:&amp;tbnh=88&amp;tbnw=101&amp;prev=/images?q=banco+mundial&amp;um=1&amp;hl=es&amp;cr=countryCO&amp;tbs=isch:1&amp;um=1&amp;itbs=1" TargetMode="External"/><Relationship Id="rId1" Type="http://schemas.openxmlformats.org/officeDocument/2006/relationships/slideLayout" Target="../slideLayouts/slideLayout4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jpeg"/><Relationship Id="rId1" Type="http://schemas.openxmlformats.org/officeDocument/2006/relationships/slideLayout" Target="../slideLayouts/slideLayout4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jpeg"/><Relationship Id="rId1" Type="http://schemas.openxmlformats.org/officeDocument/2006/relationships/slideLayout" Target="../slideLayouts/slideLayout4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jpeg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jpeg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jpeg"/><Relationship Id="rId1" Type="http://schemas.openxmlformats.org/officeDocument/2006/relationships/slideLayout" Target="../slideLayouts/slideLayout4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jpeg"/><Relationship Id="rId1" Type="http://schemas.openxmlformats.org/officeDocument/2006/relationships/slideLayout" Target="../slideLayouts/slideLayout4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jpeg"/><Relationship Id="rId2" Type="http://schemas.openxmlformats.org/officeDocument/2006/relationships/hyperlink" Target="http://www.google.com.co/imgres?imgurl=http://www.somosmas.org/uploads/pics/BancoMundial.gif&amp;imgrefurl=http://www.somosmas.org/38/news/4269/6//6f8f059e22/?tx_ttnews%5byear%5d=2009&amp;tx_ttnews%5bmonth%5d=05&amp;usg=__tqVnBZa0bmt5jeY0iZ5whMncZ-0=&amp;h=157&amp;w=180&amp;sz=5&amp;hl=es&amp;start=3&amp;tbnid=I4DKkFC1xMN8ZM:&amp;tbnh=88&amp;tbnw=101&amp;prev=/images?q=banco+mundial&amp;um=1&amp;hl=es&amp;cr=countryCO&amp;tbs=isch:1&amp;um=1&amp;itbs=1" TargetMode="External"/><Relationship Id="rId1" Type="http://schemas.openxmlformats.org/officeDocument/2006/relationships/slideLayout" Target="../slideLayouts/slideLayout4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jpeg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jpeg"/><Relationship Id="rId2" Type="http://schemas.openxmlformats.org/officeDocument/2006/relationships/image" Target="../media/image68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0.jpeg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jpeg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jpeg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jpeg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jpeg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jpeg"/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jpeg"/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jpeg"/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jpeg"/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jpeg"/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jpeg"/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jpeg"/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jpeg"/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jpeg"/><Relationship Id="rId2" Type="http://schemas.openxmlformats.org/officeDocument/2006/relationships/image" Target="../media/image83.jpeg"/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jpeg"/><Relationship Id="rId1" Type="http://schemas.openxmlformats.org/officeDocument/2006/relationships/slideLayout" Target="../slideLayouts/slideLayout12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jpeg"/><Relationship Id="rId1" Type="http://schemas.openxmlformats.org/officeDocument/2006/relationships/slideLayout" Target="../slideLayouts/slideLayout18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jpeg"/><Relationship Id="rId1" Type="http://schemas.openxmlformats.org/officeDocument/2006/relationships/slideLayout" Target="../slideLayouts/slideLayout18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jpeg"/><Relationship Id="rId1" Type="http://schemas.openxmlformats.org/officeDocument/2006/relationships/slideLayout" Target="../slideLayouts/slideLayout18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jpeg"/><Relationship Id="rId1" Type="http://schemas.openxmlformats.org/officeDocument/2006/relationships/slideLayout" Target="../slideLayouts/slideLayout18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jpeg"/><Relationship Id="rId1" Type="http://schemas.openxmlformats.org/officeDocument/2006/relationships/slideLayout" Target="../slideLayouts/slideLayout18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540544" y="1412776"/>
            <a:ext cx="8062912" cy="2592288"/>
          </a:xfrm>
        </p:spPr>
        <p:txBody>
          <a:bodyPr>
            <a:normAutofit fontScale="90000"/>
          </a:bodyPr>
          <a:lstStyle/>
          <a:p>
            <a:pPr algn="ctr"/>
            <a:r>
              <a:rPr lang="es-CO" sz="6000" dirty="0" smtClean="0"/>
              <a:t>Primeras Manifestaciones de la Administración:</a:t>
            </a:r>
            <a:endParaRPr lang="es-CO" sz="6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s-CO" sz="4400" dirty="0" smtClean="0"/>
              <a:t>Introducción</a:t>
            </a:r>
            <a:endParaRPr lang="es-CO" sz="4400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2276872"/>
            <a:ext cx="8229600" cy="4177936"/>
          </a:xfrm>
        </p:spPr>
        <p:txBody>
          <a:bodyPr>
            <a:noAutofit/>
          </a:bodyPr>
          <a:lstStyle/>
          <a:p>
            <a:r>
              <a:rPr lang="es-CO" sz="4000" dirty="0" smtClean="0"/>
              <a:t>La administración ha existido como acción humana y como práctica social.</a:t>
            </a:r>
            <a:endParaRPr lang="es-CO" sz="4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s-CO" sz="4000" dirty="0" smtClean="0"/>
              <a:t>ERA PREHISTORICA:</a:t>
            </a:r>
            <a:endParaRPr lang="es-CO" sz="4000" dirty="0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381000" y="1633536"/>
            <a:ext cx="8439472" cy="2875584"/>
          </a:xfrm>
        </p:spPr>
        <p:txBody>
          <a:bodyPr>
            <a:noAutofit/>
          </a:bodyPr>
          <a:lstStyle/>
          <a:p>
            <a:r>
              <a:rPr lang="es-CO" sz="2400" dirty="0" smtClean="0"/>
              <a:t>Probablemente fue tan compleja como la actual:</a:t>
            </a:r>
          </a:p>
          <a:p>
            <a:pPr>
              <a:buFont typeface="Wingdings" pitchFamily="2" charset="2"/>
              <a:buChar char="v"/>
            </a:pPr>
            <a:r>
              <a:rPr lang="es-CO" sz="2400" dirty="0" smtClean="0"/>
              <a:t>Códigos de comportamiento en los negocios.</a:t>
            </a:r>
          </a:p>
          <a:p>
            <a:pPr>
              <a:buFont typeface="Wingdings" pitchFamily="2" charset="2"/>
              <a:buChar char="v"/>
            </a:pPr>
            <a:r>
              <a:rPr lang="es-CO" sz="2400" dirty="0" smtClean="0"/>
              <a:t>Reglas acerca del papel de los padres.</a:t>
            </a:r>
          </a:p>
          <a:p>
            <a:pPr>
              <a:buFont typeface="Wingdings" pitchFamily="2" charset="2"/>
              <a:buChar char="v"/>
            </a:pPr>
            <a:r>
              <a:rPr lang="es-CO" sz="2400" dirty="0" smtClean="0"/>
              <a:t>Castigos para los delincuentes</a:t>
            </a:r>
          </a:p>
          <a:p>
            <a:pPr>
              <a:buFont typeface="Wingdings" pitchFamily="2" charset="2"/>
              <a:buChar char="v"/>
            </a:pPr>
            <a:r>
              <a:rPr lang="es-CO" sz="2400" dirty="0" smtClean="0"/>
              <a:t>Ritos religiosos </a:t>
            </a:r>
          </a:p>
          <a:p>
            <a:pPr>
              <a:buFont typeface="Wingdings" pitchFamily="2" charset="2"/>
              <a:buChar char="v"/>
            </a:pPr>
            <a:r>
              <a:rPr lang="es-CO" sz="2400" dirty="0" smtClean="0"/>
              <a:t>Buenos modales</a:t>
            </a:r>
          </a:p>
        </p:txBody>
      </p:sp>
      <p:pic>
        <p:nvPicPr>
          <p:cNvPr id="8" name="7 Imagen" descr="images5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932040" y="3501008"/>
            <a:ext cx="3960440" cy="309634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67544" y="188640"/>
            <a:ext cx="7344816" cy="2808312"/>
          </a:xfrm>
        </p:spPr>
        <p:txBody>
          <a:bodyPr>
            <a:normAutofit fontScale="25000" lnSpcReduction="20000"/>
          </a:bodyPr>
          <a:lstStyle/>
          <a:p>
            <a:r>
              <a:rPr lang="es-CO" sz="12800" dirty="0" smtClean="0">
                <a:ln w="18415" cmpd="sng">
                  <a:solidFill>
                    <a:schemeClr val="accent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60007" dist="200025" dir="15000000" sy="30000" kx="-1800000" algn="bl" rotWithShape="0">
                    <a:prstClr val="black">
                      <a:alpha val="32000"/>
                    </a:prstClr>
                  </a:outerShdw>
                </a:effectLst>
              </a:rPr>
              <a:t>La administración de esta época  se baso en</a:t>
            </a:r>
            <a:r>
              <a:rPr lang="es-CO" sz="1280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chemeClr val="tx1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:</a:t>
            </a:r>
          </a:p>
          <a:p>
            <a:pPr>
              <a:buFont typeface="Wingdings" pitchFamily="2" charset="2"/>
              <a:buChar char="v"/>
            </a:pPr>
            <a:r>
              <a:rPr lang="es-CO" sz="12800" dirty="0" smtClean="0"/>
              <a:t>la astucia</a:t>
            </a:r>
          </a:p>
          <a:p>
            <a:pPr>
              <a:buFont typeface="Wingdings" pitchFamily="2" charset="2"/>
              <a:buChar char="v"/>
            </a:pPr>
            <a:r>
              <a:rPr lang="es-CO" sz="12800" dirty="0" smtClean="0"/>
              <a:t>Vigilancia</a:t>
            </a:r>
          </a:p>
          <a:p>
            <a:pPr>
              <a:buFont typeface="Wingdings" pitchFamily="2" charset="2"/>
              <a:buChar char="v"/>
            </a:pPr>
            <a:r>
              <a:rPr lang="es-CO" sz="12800" dirty="0" smtClean="0"/>
              <a:t>Prudencia </a:t>
            </a:r>
          </a:p>
          <a:p>
            <a:pPr>
              <a:buFont typeface="Wingdings" pitchFamily="2" charset="2"/>
              <a:buChar char="v"/>
            </a:pPr>
            <a:r>
              <a:rPr lang="es-CO" sz="12800" dirty="0" smtClean="0"/>
              <a:t>sagacidad</a:t>
            </a:r>
          </a:p>
          <a:p>
            <a:endParaRPr lang="es-CO" dirty="0"/>
          </a:p>
        </p:txBody>
      </p:sp>
      <p:pic>
        <p:nvPicPr>
          <p:cNvPr id="5" name="4 Imagen" descr="images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923928" y="1556792"/>
            <a:ext cx="4608512" cy="403244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683568" y="332656"/>
            <a:ext cx="6999312" cy="2016224"/>
          </a:xfrm>
        </p:spPr>
        <p:txBody>
          <a:bodyPr>
            <a:normAutofit/>
          </a:bodyPr>
          <a:lstStyle/>
          <a:p>
            <a:r>
              <a:rPr lang="es-CO" sz="2400" dirty="0" smtClean="0"/>
              <a:t>Los hombres eran recolectores, vivían de la caza, de la pesca y recogían frutos.</a:t>
            </a:r>
          </a:p>
          <a:p>
            <a:r>
              <a:rPr lang="es-CO" sz="2400" dirty="0" smtClean="0"/>
              <a:t>Los grupos familiares constituyeron las tribus para unir fuerzas y ayudarse mutuamente.</a:t>
            </a:r>
            <a:endParaRPr lang="es-CO" sz="2400" dirty="0"/>
          </a:p>
        </p:txBody>
      </p:sp>
      <p:sp>
        <p:nvSpPr>
          <p:cNvPr id="4" name="3 CuadroTexto"/>
          <p:cNvSpPr txBox="1"/>
          <p:nvPr/>
        </p:nvSpPr>
        <p:spPr>
          <a:xfrm>
            <a:off x="4499992" y="4005064"/>
            <a:ext cx="432048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400" dirty="0" smtClean="0"/>
              <a:t>El hombre empezó una vida sedentaria y a formar villas pero necesitaban de un método para manejar los negocios comunes de grupos</a:t>
            </a:r>
            <a:endParaRPr lang="es-CO" sz="2400" dirty="0"/>
          </a:p>
        </p:txBody>
      </p:sp>
      <p:pic>
        <p:nvPicPr>
          <p:cNvPr id="6" name="5 Imagen" descr="pre.bmp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827584" y="2564904"/>
            <a:ext cx="3240360" cy="295232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s-CO" sz="3200" dirty="0" smtClean="0"/>
              <a:t>Contribución a la administración</a:t>
            </a:r>
            <a:endParaRPr lang="es-CO" sz="3200" dirty="0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381000" y="1633536"/>
            <a:ext cx="7359352" cy="1003376"/>
          </a:xfrm>
        </p:spPr>
        <p:txBody>
          <a:bodyPr>
            <a:noAutofit/>
          </a:bodyPr>
          <a:lstStyle/>
          <a:p>
            <a:r>
              <a:rPr lang="es-CO" sz="3200" dirty="0" smtClean="0"/>
              <a:t>Aporta a la producción y conservación de los bienes</a:t>
            </a:r>
            <a:endParaRPr lang="es-CO" sz="3200" dirty="0"/>
          </a:p>
        </p:txBody>
      </p:sp>
      <p:sp>
        <p:nvSpPr>
          <p:cNvPr id="5" name="4 CuadroTexto"/>
          <p:cNvSpPr txBox="1"/>
          <p:nvPr/>
        </p:nvSpPr>
        <p:spPr>
          <a:xfrm>
            <a:off x="827584" y="3068960"/>
            <a:ext cx="4464496" cy="584775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CO" sz="3200" dirty="0" smtClean="0"/>
              <a:t>Sus Problemas:</a:t>
            </a:r>
            <a:endParaRPr lang="es-CO" sz="3200" dirty="0"/>
          </a:p>
        </p:txBody>
      </p:sp>
      <p:sp>
        <p:nvSpPr>
          <p:cNvPr id="6" name="5 CuadroTexto"/>
          <p:cNvSpPr txBox="1"/>
          <p:nvPr/>
        </p:nvSpPr>
        <p:spPr>
          <a:xfrm>
            <a:off x="539552" y="4077072"/>
            <a:ext cx="756084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3200" dirty="0" smtClean="0"/>
              <a:t>El uso eficiente de los recursos, la división de trabajo , los arreglos y acuerdos comerciales y la conducción de la guerra y la paz</a:t>
            </a:r>
            <a:endParaRPr lang="es-CO" sz="3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CO" dirty="0" smtClean="0"/>
              <a:t>Civilizaciones Antiguas</a:t>
            </a:r>
            <a:endParaRPr lang="es-CO" dirty="0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381000" y="1633536"/>
            <a:ext cx="8151440" cy="1651448"/>
          </a:xfrm>
        </p:spPr>
        <p:txBody>
          <a:bodyPr>
            <a:noAutofit/>
          </a:bodyPr>
          <a:lstStyle/>
          <a:p>
            <a:r>
              <a:rPr lang="es-CO" sz="2800" dirty="0" smtClean="0"/>
              <a:t>Algunos de los llamados conceptos y prácticas de la administración, fácilmente se descubren en la antigüedad.</a:t>
            </a:r>
            <a:endParaRPr lang="es-CO" sz="2800" dirty="0"/>
          </a:p>
        </p:txBody>
      </p:sp>
      <p:pic>
        <p:nvPicPr>
          <p:cNvPr id="4" name="3 Imagen" descr="cv1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79512" y="3501008"/>
            <a:ext cx="2088232" cy="194421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5" name="4 Imagen" descr="cv2.bmp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483768" y="5013176"/>
            <a:ext cx="2188976" cy="168153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6" name="5 Imagen" descr="cv3.bmp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6588224" y="4581128"/>
            <a:ext cx="2361905" cy="178861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7" name="6 Imagen" descr="cv4.bmp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283968" y="2996952"/>
            <a:ext cx="2095238" cy="160952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CO" dirty="0" smtClean="0"/>
              <a:t>Sumerios: Milenio III a.C</a:t>
            </a:r>
            <a:endParaRPr lang="es-CO" dirty="0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381000" y="1633536"/>
            <a:ext cx="7719392" cy="1507432"/>
          </a:xfrm>
        </p:spPr>
        <p:txBody>
          <a:bodyPr>
            <a:noAutofit/>
          </a:bodyPr>
          <a:lstStyle/>
          <a:p>
            <a:r>
              <a:rPr lang="es-CO" sz="3200" dirty="0" smtClean="0"/>
              <a:t>Hay evidencias de prácticas de control administrativo. (hace mas de cinco mil años).</a:t>
            </a:r>
            <a:endParaRPr lang="es-CO" sz="3200" dirty="0"/>
          </a:p>
        </p:txBody>
      </p:sp>
      <p:pic>
        <p:nvPicPr>
          <p:cNvPr id="4" name="3 Imagen" descr="sumerios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39552" y="3356992"/>
            <a:ext cx="3240360" cy="2730693"/>
          </a:xfrm>
          <a:prstGeom prst="rect">
            <a:avLst/>
          </a:prstGeom>
        </p:spPr>
      </p:pic>
      <p:pic>
        <p:nvPicPr>
          <p:cNvPr id="5" name="4 Imagen" descr="sumerios 2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076056" y="2924944"/>
            <a:ext cx="3096343" cy="338437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CO" dirty="0" smtClean="0"/>
              <a:t>Sumerios:</a:t>
            </a:r>
            <a:endParaRPr lang="es-CO" dirty="0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381000" y="1633536"/>
            <a:ext cx="7575376" cy="3379640"/>
          </a:xfrm>
        </p:spPr>
        <p:txBody>
          <a:bodyPr>
            <a:noAutofit/>
          </a:bodyPr>
          <a:lstStyle/>
          <a:p>
            <a:r>
              <a:rPr lang="es-CO" sz="3200" dirty="0" smtClean="0"/>
              <a:t>Surge la corporación debido a los numerosos sacerdotes.</a:t>
            </a:r>
          </a:p>
          <a:p>
            <a:endParaRPr lang="es-CO" sz="3200" dirty="0" smtClean="0"/>
          </a:p>
          <a:p>
            <a:r>
              <a:rPr lang="es-CO" sz="3200" dirty="0" smtClean="0"/>
              <a:t>Debido a la rendición de cuentas tienen la necesidad de un control administrativo.</a:t>
            </a:r>
            <a:endParaRPr lang="es-CO" sz="3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smtClean="0"/>
              <a:t>Organización Política:</a:t>
            </a:r>
            <a:endParaRPr lang="es-CO" dirty="0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381000" y="1633536"/>
            <a:ext cx="3886200" cy="3163616"/>
          </a:xfrm>
        </p:spPr>
        <p:txBody>
          <a:bodyPr>
            <a:noAutofit/>
          </a:bodyPr>
          <a:lstStyle/>
          <a:p>
            <a:pPr>
              <a:buFontTx/>
              <a:buChar char="-"/>
            </a:pPr>
            <a:r>
              <a:rPr lang="es-CO" sz="3200" dirty="0" smtClean="0"/>
              <a:t>visares: </a:t>
            </a:r>
          </a:p>
          <a:p>
            <a:pPr>
              <a:buFontTx/>
              <a:buChar char="-"/>
            </a:pPr>
            <a:r>
              <a:rPr lang="es-CO" sz="3200" dirty="0" smtClean="0"/>
              <a:t>Rey</a:t>
            </a:r>
          </a:p>
          <a:p>
            <a:pPr>
              <a:buFontTx/>
              <a:buChar char="-"/>
            </a:pPr>
            <a:r>
              <a:rPr lang="es-CO" sz="3200" dirty="0" smtClean="0"/>
              <a:t>Funcionaros</a:t>
            </a:r>
          </a:p>
          <a:p>
            <a:pPr>
              <a:buFontTx/>
              <a:buChar char="-"/>
            </a:pPr>
            <a:r>
              <a:rPr lang="es-CO" sz="3200" dirty="0" smtClean="0"/>
              <a:t>Campesinos Agricultores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s-CO" sz="4400" dirty="0" smtClean="0"/>
              <a:t>Babilonia:</a:t>
            </a:r>
            <a:endParaRPr lang="es-CO" sz="4400" dirty="0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67544" y="4149080"/>
            <a:ext cx="7920880" cy="1440160"/>
          </a:xfrm>
        </p:spPr>
        <p:txBody>
          <a:bodyPr>
            <a:noAutofit/>
          </a:bodyPr>
          <a:lstStyle/>
          <a:p>
            <a:r>
              <a:rPr lang="es-CO" sz="2800" dirty="0" smtClean="0"/>
              <a:t>Su aporte mas significativo fue el código de Hammurabi.</a:t>
            </a:r>
            <a:endParaRPr lang="es-CO" sz="2800" dirty="0"/>
          </a:p>
        </p:txBody>
      </p:sp>
      <p:sp>
        <p:nvSpPr>
          <p:cNvPr id="7" name="6 CuadroTexto"/>
          <p:cNvSpPr txBox="1"/>
          <p:nvPr/>
        </p:nvSpPr>
        <p:spPr>
          <a:xfrm>
            <a:off x="467544" y="1988840"/>
            <a:ext cx="5472608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400" dirty="0" smtClean="0"/>
              <a:t>Una civilización muy avanzada,  manejaban temas como ventas , prestamos, contratos, sociedades, acuerdos y pagares</a:t>
            </a:r>
          </a:p>
          <a:p>
            <a:endParaRPr lang="es-CO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s-CO" sz="4000" dirty="0" smtClean="0"/>
              <a:t>Su Jerarquía:</a:t>
            </a:r>
            <a:endParaRPr lang="es-CO" sz="4000" dirty="0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381000" y="1633536"/>
            <a:ext cx="7503368" cy="2731568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v"/>
            </a:pPr>
            <a:r>
              <a:rPr lang="es-CO" sz="3200" dirty="0" smtClean="0"/>
              <a:t>“awilum”: Hombre libre</a:t>
            </a:r>
          </a:p>
          <a:p>
            <a:pPr>
              <a:buFont typeface="Wingdings" pitchFamily="2" charset="2"/>
              <a:buChar char="v"/>
            </a:pPr>
            <a:r>
              <a:rPr lang="es-CO" sz="3200" dirty="0" smtClean="0"/>
              <a:t>“Mushkenum”: Se especula que podrían ser los siervos o subalternos.</a:t>
            </a:r>
          </a:p>
          <a:p>
            <a:pPr>
              <a:buFont typeface="Wingdings" pitchFamily="2" charset="2"/>
              <a:buChar char="v"/>
            </a:pPr>
            <a:r>
              <a:rPr lang="es-CO" sz="3200" dirty="0" smtClean="0"/>
              <a:t>“Wardum”: Esclavos</a:t>
            </a:r>
            <a:endParaRPr lang="es-CO" sz="3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CO" dirty="0" smtClean="0"/>
              <a:t>Código Hammurabi:</a:t>
            </a:r>
            <a:endParaRPr lang="es-CO" dirty="0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381000" y="1633536"/>
            <a:ext cx="3886200" cy="4171728"/>
          </a:xfrm>
        </p:spPr>
        <p:txBody>
          <a:bodyPr>
            <a:noAutofit/>
          </a:bodyPr>
          <a:lstStyle/>
          <a:p>
            <a:r>
              <a:rPr lang="es-CO" sz="2400" dirty="0" smtClean="0"/>
              <a:t>Las normas enfatizan especialmente en:</a:t>
            </a:r>
          </a:p>
          <a:p>
            <a:pPr marL="626364" indent="-571500">
              <a:buFont typeface="Wingdings" pitchFamily="2" charset="2"/>
              <a:buChar char="v"/>
            </a:pPr>
            <a:r>
              <a:rPr lang="es-CO" sz="2400" dirty="0" smtClean="0"/>
              <a:t>Los precios</a:t>
            </a:r>
          </a:p>
          <a:p>
            <a:pPr marL="626364" indent="-571500">
              <a:buFont typeface="Wingdings" pitchFamily="2" charset="2"/>
              <a:buChar char="v"/>
            </a:pPr>
            <a:r>
              <a:rPr lang="es-CO" sz="2400" dirty="0" smtClean="0"/>
              <a:t>Los salarios</a:t>
            </a:r>
          </a:p>
          <a:p>
            <a:pPr marL="626364" indent="-571500">
              <a:buFont typeface="Wingdings" pitchFamily="2" charset="2"/>
              <a:buChar char="v"/>
            </a:pPr>
            <a:r>
              <a:rPr lang="es-CO" sz="2400" dirty="0" smtClean="0"/>
              <a:t>La responsabilidad profesional </a:t>
            </a:r>
          </a:p>
          <a:p>
            <a:pPr marL="626364" indent="-571500">
              <a:buFont typeface="Wingdings" pitchFamily="2" charset="2"/>
              <a:buChar char="v"/>
            </a:pPr>
            <a:r>
              <a:rPr lang="es-CO" sz="2400" dirty="0" smtClean="0"/>
              <a:t>Funcionamiento judicial</a:t>
            </a:r>
          </a:p>
          <a:p>
            <a:pPr marL="626364" indent="-571500">
              <a:buFont typeface="Wingdings" pitchFamily="2" charset="2"/>
              <a:buChar char="v"/>
            </a:pPr>
            <a:r>
              <a:rPr lang="es-CO" sz="2400" dirty="0" smtClean="0"/>
              <a:t>Las penas</a:t>
            </a:r>
            <a:endParaRPr lang="es-CO" sz="2400" dirty="0"/>
          </a:p>
        </p:txBody>
      </p:sp>
      <p:pic>
        <p:nvPicPr>
          <p:cNvPr id="4" name="3 Imagen" descr="hammurabi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220072" y="1844824"/>
            <a:ext cx="3600400" cy="374441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CO" dirty="0" smtClean="0"/>
              <a:t>Su Economía:</a:t>
            </a:r>
            <a:endParaRPr lang="es-CO" dirty="0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179512" y="1412776"/>
            <a:ext cx="3886200" cy="3888432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v"/>
            </a:pPr>
            <a:r>
              <a:rPr lang="es-CO" sz="2800" dirty="0" smtClean="0"/>
              <a:t>Agricultura</a:t>
            </a:r>
          </a:p>
          <a:p>
            <a:pPr>
              <a:buFont typeface="Wingdings" pitchFamily="2" charset="2"/>
              <a:buChar char="v"/>
            </a:pPr>
            <a:r>
              <a:rPr lang="es-CO" sz="2800" dirty="0" smtClean="0"/>
              <a:t>Sistema de canales y reserva de agua</a:t>
            </a:r>
          </a:p>
          <a:p>
            <a:pPr>
              <a:buFont typeface="Wingdings" pitchFamily="2" charset="2"/>
              <a:buChar char="v"/>
            </a:pPr>
            <a:r>
              <a:rPr lang="es-CO" sz="2800" dirty="0" smtClean="0"/>
              <a:t>Impuestos</a:t>
            </a:r>
          </a:p>
          <a:p>
            <a:pPr>
              <a:buFont typeface="Wingdings" pitchFamily="2" charset="2"/>
              <a:buChar char="v"/>
            </a:pPr>
            <a:r>
              <a:rPr lang="es-CO" sz="2800" dirty="0" smtClean="0"/>
              <a:t>Ganadería </a:t>
            </a:r>
          </a:p>
          <a:p>
            <a:pPr>
              <a:buFont typeface="Wingdings" pitchFamily="2" charset="2"/>
              <a:buChar char="v"/>
            </a:pPr>
            <a:r>
              <a:rPr lang="es-CO" sz="2800" dirty="0" smtClean="0"/>
              <a:t>Actividad comercial muy intensa</a:t>
            </a:r>
            <a:endParaRPr lang="es-CO" sz="2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CO" dirty="0" smtClean="0"/>
              <a:t>Mesopotamia:</a:t>
            </a:r>
            <a:endParaRPr lang="es-CO" dirty="0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611560" y="2636912"/>
            <a:ext cx="7143328" cy="2286000"/>
          </a:xfrm>
        </p:spPr>
        <p:txBody>
          <a:bodyPr>
            <a:noAutofit/>
          </a:bodyPr>
          <a:lstStyle/>
          <a:p>
            <a:r>
              <a:rPr lang="es-CO" sz="2800" dirty="0" smtClean="0"/>
              <a:t>Los pueblos sumerios fueron invadidos por los acadios y asirios y adaptaron la civilización sumeria, enriqueciéndola con su cultura.</a:t>
            </a:r>
            <a:endParaRPr lang="es-CO" sz="2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CO" dirty="0" smtClean="0"/>
              <a:t>Mesopotamia:</a:t>
            </a:r>
            <a:endParaRPr lang="es-CO" dirty="0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381000" y="1633536"/>
            <a:ext cx="8007424" cy="1939480"/>
          </a:xfrm>
        </p:spPr>
        <p:txBody>
          <a:bodyPr>
            <a:noAutofit/>
          </a:bodyPr>
          <a:lstStyle/>
          <a:p>
            <a:r>
              <a:rPr lang="es-CO" sz="2400" dirty="0" smtClean="0"/>
              <a:t>Aportaron grandes invenciones, por ejemplo la escritura que con el correr del tiempo se  convirtió en la base del progreso de ese país.   </a:t>
            </a:r>
            <a:endParaRPr lang="es-CO" sz="2400" dirty="0"/>
          </a:p>
        </p:txBody>
      </p:sp>
      <p:pic>
        <p:nvPicPr>
          <p:cNvPr id="4" name="3 Imagen" descr="mesopotamia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275856" y="3068960"/>
            <a:ext cx="4824536" cy="30279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971600" y="332656"/>
            <a:ext cx="6768752" cy="2088232"/>
          </a:xfrm>
        </p:spPr>
        <p:txBody>
          <a:bodyPr>
            <a:noAutofit/>
          </a:bodyPr>
          <a:lstStyle/>
          <a:p>
            <a:r>
              <a:rPr lang="es-CO" sz="2800" dirty="0" smtClean="0"/>
              <a:t>inventaron un sistema para registrar sus transacciones comerciales y establecieron las pesas y medidas que hoy usamos</a:t>
            </a:r>
            <a:endParaRPr lang="es-CO" sz="2800" dirty="0"/>
          </a:p>
        </p:txBody>
      </p:sp>
      <p:pic>
        <p:nvPicPr>
          <p:cNvPr id="4" name="3 Imagen" descr="meso 2.bmp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55576" y="3861048"/>
            <a:ext cx="2160240" cy="208823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5" name="4 Imagen" descr="meso 3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732240" y="2060848"/>
            <a:ext cx="2076450" cy="220027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6" name="5 Imagen" descr="meso 4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3707904" y="2780928"/>
            <a:ext cx="2671168" cy="241935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CO" dirty="0" smtClean="0"/>
              <a:t>Se caracterizo por:</a:t>
            </a:r>
            <a:endParaRPr lang="es-CO" dirty="0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827584" y="2204864"/>
            <a:ext cx="6624736" cy="2736304"/>
          </a:xfrm>
        </p:spPr>
        <p:txBody>
          <a:bodyPr>
            <a:noAutofit/>
          </a:bodyPr>
          <a:lstStyle/>
          <a:p>
            <a:pPr>
              <a:buFontTx/>
              <a:buChar char="-"/>
            </a:pPr>
            <a:r>
              <a:rPr lang="es-CO" sz="3200" dirty="0" smtClean="0"/>
              <a:t>Ser altamente comercial </a:t>
            </a:r>
          </a:p>
          <a:p>
            <a:pPr>
              <a:buFontTx/>
              <a:buChar char="-"/>
            </a:pPr>
            <a:r>
              <a:rPr lang="es-CO" sz="3200" dirty="0" smtClean="0"/>
              <a:t>Edificaron la mas grande y popular ciudad de ese entonces (Babilonia).</a:t>
            </a:r>
            <a:endParaRPr lang="es-CO" sz="3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CO" dirty="0" smtClean="0"/>
              <a:t>Mapa:</a:t>
            </a:r>
            <a:endParaRPr lang="es-CO" dirty="0"/>
          </a:p>
        </p:txBody>
      </p:sp>
      <p:pic>
        <p:nvPicPr>
          <p:cNvPr id="4" name="3 Imagen" descr="antiguo-egipto-nilo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123728" y="1571624"/>
            <a:ext cx="5040560" cy="509773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CO" dirty="0" smtClean="0"/>
              <a:t>Egipto:</a:t>
            </a:r>
            <a:endParaRPr lang="es-CO" dirty="0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539552" y="2924944"/>
            <a:ext cx="7935416" cy="1651448"/>
          </a:xfrm>
        </p:spPr>
        <p:txBody>
          <a:bodyPr>
            <a:noAutofit/>
          </a:bodyPr>
          <a:lstStyle/>
          <a:p>
            <a:r>
              <a:rPr lang="es-CO" sz="3200" dirty="0" smtClean="0"/>
              <a:t>Invadido por un grupo de nómadas provenientes de Asia.</a:t>
            </a:r>
            <a:endParaRPr lang="es-CO" sz="3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s-CO" sz="4000" dirty="0" smtClean="0"/>
              <a:t>Egipto:</a:t>
            </a:r>
            <a:endParaRPr lang="es-CO" sz="4000" dirty="0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179512" y="1633536"/>
            <a:ext cx="8568952" cy="1579440"/>
          </a:xfrm>
        </p:spPr>
        <p:txBody>
          <a:bodyPr>
            <a:noAutofit/>
          </a:bodyPr>
          <a:lstStyle/>
          <a:p>
            <a:r>
              <a:rPr lang="es-CO" sz="2800" dirty="0" smtClean="0"/>
              <a:t>Un claro ejemplo de organización y de empresa, se dio en esta civilización con la construcción de las pirámides. (5000 a.C)</a:t>
            </a:r>
            <a:endParaRPr lang="es-CO" sz="2800" dirty="0"/>
          </a:p>
        </p:txBody>
      </p:sp>
      <p:pic>
        <p:nvPicPr>
          <p:cNvPr id="4" name="3 Imagen" descr="cv2.bmp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283968" y="3212976"/>
            <a:ext cx="3888432" cy="331236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CO" dirty="0" smtClean="0"/>
              <a:t>Hebreos:</a:t>
            </a:r>
            <a:endParaRPr lang="es-CO" dirty="0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381000" y="1633536"/>
            <a:ext cx="8151440" cy="1939480"/>
          </a:xfrm>
        </p:spPr>
        <p:txBody>
          <a:bodyPr>
            <a:normAutofit fontScale="92500" lnSpcReduction="10000"/>
          </a:bodyPr>
          <a:lstStyle/>
          <a:p>
            <a:r>
              <a:rPr lang="es-CO" sz="2400" dirty="0" smtClean="0"/>
              <a:t>Se destaca a Moisés, un líder y administrador, poseía una gran habilidad en:</a:t>
            </a:r>
          </a:p>
          <a:p>
            <a:pPr>
              <a:buFont typeface="Wingdings" pitchFamily="2" charset="2"/>
              <a:buChar char="v"/>
            </a:pPr>
            <a:r>
              <a:rPr lang="es-CO" sz="2400" dirty="0" smtClean="0"/>
              <a:t>El gobierno</a:t>
            </a:r>
          </a:p>
          <a:p>
            <a:pPr>
              <a:buFont typeface="Wingdings" pitchFamily="2" charset="2"/>
              <a:buChar char="v"/>
            </a:pPr>
            <a:r>
              <a:rPr lang="es-CO" sz="2400" dirty="0" smtClean="0"/>
              <a:t>La legislación </a:t>
            </a:r>
          </a:p>
          <a:p>
            <a:pPr>
              <a:buFont typeface="Wingdings" pitchFamily="2" charset="2"/>
              <a:buChar char="v"/>
            </a:pPr>
            <a:r>
              <a:rPr lang="es-CO" sz="2400" dirty="0" smtClean="0"/>
              <a:t>Relaciones humanas </a:t>
            </a:r>
          </a:p>
          <a:p>
            <a:endParaRPr lang="es-CO" dirty="0"/>
          </a:p>
        </p:txBody>
      </p:sp>
      <p:pic>
        <p:nvPicPr>
          <p:cNvPr id="4" name="3 Imagen" descr="hebreos.bmp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83568" y="3573016"/>
            <a:ext cx="3888432" cy="295232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CO" dirty="0" smtClean="0"/>
              <a:t>Como empresa administrativa:</a:t>
            </a:r>
            <a:br>
              <a:rPr lang="es-CO" dirty="0" smtClean="0"/>
            </a:br>
            <a:endParaRPr lang="es-CO" dirty="0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323528" y="2780928"/>
            <a:ext cx="8151440" cy="1795464"/>
          </a:xfrm>
        </p:spPr>
        <p:txBody>
          <a:bodyPr>
            <a:noAutofit/>
          </a:bodyPr>
          <a:lstStyle/>
          <a:p>
            <a:r>
              <a:rPr lang="es-CO" sz="2800" dirty="0" smtClean="0"/>
              <a:t>La organización y ejecución que los libero de la esclavitud de los egipcios es una clara muestra de una gran empresa.</a:t>
            </a:r>
            <a:endParaRPr lang="es-CO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s-CO" sz="4000" dirty="0" smtClean="0"/>
              <a:t>India:</a:t>
            </a:r>
            <a:endParaRPr lang="es-CO" sz="4000" dirty="0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323528" y="1556792"/>
            <a:ext cx="4608512" cy="2520280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v"/>
            </a:pPr>
            <a:r>
              <a:rPr lang="es-CO" sz="2400" dirty="0" smtClean="0"/>
              <a:t>El pueblo indio se dividía en:</a:t>
            </a:r>
          </a:p>
          <a:p>
            <a:pPr>
              <a:buFont typeface="Wingdings" pitchFamily="2" charset="2"/>
              <a:buChar char="v"/>
            </a:pPr>
            <a:r>
              <a:rPr lang="es-CO" sz="2400" dirty="0" smtClean="0"/>
              <a:t>Los Brahmanes</a:t>
            </a:r>
          </a:p>
          <a:p>
            <a:pPr>
              <a:buFont typeface="Wingdings" pitchFamily="2" charset="2"/>
              <a:buChar char="v"/>
            </a:pPr>
            <a:r>
              <a:rPr lang="es-CO" sz="2400" dirty="0" smtClean="0"/>
              <a:t>Los guerreros o chiatrias</a:t>
            </a:r>
          </a:p>
          <a:p>
            <a:pPr>
              <a:buFont typeface="Wingdings" pitchFamily="2" charset="2"/>
              <a:buChar char="v"/>
            </a:pPr>
            <a:r>
              <a:rPr lang="es-CO" sz="2400" dirty="0" smtClean="0"/>
              <a:t>Los vasias</a:t>
            </a:r>
          </a:p>
          <a:p>
            <a:pPr>
              <a:buFont typeface="Wingdings" pitchFamily="2" charset="2"/>
              <a:buChar char="v"/>
            </a:pPr>
            <a:r>
              <a:rPr lang="es-CO" sz="2400" dirty="0" smtClean="0"/>
              <a:t>Los sudras</a:t>
            </a:r>
          </a:p>
          <a:p>
            <a:endParaRPr lang="es-CO" sz="2400" dirty="0" smtClean="0"/>
          </a:p>
        </p:txBody>
      </p:sp>
      <p:pic>
        <p:nvPicPr>
          <p:cNvPr id="4" name="3 Imagen" descr="india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004048" y="1412776"/>
            <a:ext cx="3364704" cy="252028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683568" y="260648"/>
            <a:ext cx="7791400" cy="1152128"/>
          </a:xfrm>
        </p:spPr>
        <p:txBody>
          <a:bodyPr>
            <a:normAutofit/>
          </a:bodyPr>
          <a:lstStyle/>
          <a:p>
            <a:r>
              <a:rPr lang="es-CO" sz="2400" dirty="0" smtClean="0"/>
              <a:t>la india estaba dividida en estados al mando de gobernadores sometidos al poder central.</a:t>
            </a:r>
          </a:p>
        </p:txBody>
      </p:sp>
      <p:pic>
        <p:nvPicPr>
          <p:cNvPr id="4" name="3 Imagen" descr="india 2.bmp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076056" y="3717032"/>
            <a:ext cx="3525042" cy="285432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6" name="5 Imagen" descr="india 4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971600" y="2204864"/>
            <a:ext cx="3456384" cy="280831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 Imagen" descr="mapa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79512" y="188640"/>
            <a:ext cx="8784976" cy="6480720"/>
          </a:xfrm>
          <a:prstGeom prst="rect">
            <a:avLst/>
          </a:prstGeom>
          <a:ln>
            <a:solidFill>
              <a:schemeClr val="accent2">
                <a:lumMod val="40000"/>
                <a:lumOff val="60000"/>
              </a:schemeClr>
            </a:solidFill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</p:pic>
      <p:sp>
        <p:nvSpPr>
          <p:cNvPr id="3" name="2 CuadroTexto"/>
          <p:cNvSpPr txBox="1"/>
          <p:nvPr/>
        </p:nvSpPr>
        <p:spPr>
          <a:xfrm>
            <a:off x="2555776" y="332656"/>
            <a:ext cx="3744416" cy="369332"/>
          </a:xfrm>
          <a:prstGeom prst="rect">
            <a:avLst/>
          </a:prstGeom>
          <a:solidFill>
            <a:schemeClr val="bg1"/>
          </a:solidFill>
          <a:ln>
            <a:solidFill>
              <a:srgbClr val="92D050"/>
            </a:solidFill>
          </a:ln>
          <a:effectLst>
            <a:reflection blurRad="6350" stA="50000" endA="300" endPos="90000" dir="5400000" sy="-100000" algn="bl" rotWithShape="0"/>
          </a:effectLst>
        </p:spPr>
        <p:txBody>
          <a:bodyPr wrap="square" rtlCol="0">
            <a:spAutoFit/>
          </a:bodyPr>
          <a:lstStyle/>
          <a:p>
            <a:pPr algn="ctr"/>
            <a:r>
              <a:rPr lang="es-CO" b="1" dirty="0" smtClean="0"/>
              <a:t>LOS HEBREOS</a:t>
            </a:r>
            <a:endParaRPr lang="es-CO" b="1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4 Imagen" descr="mejido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979712" y="3501008"/>
            <a:ext cx="4752528" cy="3140968"/>
          </a:xfrm>
          <a:prstGeom prst="rect">
            <a:avLst/>
          </a:prstGeom>
        </p:spPr>
      </p:pic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467544" y="332656"/>
            <a:ext cx="8062912" cy="1470025"/>
          </a:xfrm>
        </p:spPr>
        <p:txBody>
          <a:bodyPr/>
          <a:lstStyle/>
          <a:p>
            <a:pPr algn="ctr"/>
            <a:r>
              <a:rPr lang="es-CO" b="1" dirty="0" smtClean="0"/>
              <a:t>LOS HEBREOS: XIII a.C</a:t>
            </a:r>
            <a:endParaRPr lang="es-CO" b="1" dirty="0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539552" y="1916832"/>
            <a:ext cx="8062912" cy="1726008"/>
          </a:xfrm>
        </p:spPr>
        <p:txBody>
          <a:bodyPr>
            <a:normAutofit fontScale="92500" lnSpcReduction="10000"/>
          </a:bodyPr>
          <a:lstStyle/>
          <a:p>
            <a:pPr algn="l">
              <a:buFont typeface="Wingdings" pitchFamily="2" charset="2"/>
              <a:buChar char="Ø"/>
            </a:pPr>
            <a:r>
              <a:rPr lang="es-CO" b="1" dirty="0" smtClean="0"/>
              <a:t>Es un territorio menos fértil que Egipto y Mesopotamia, pero presenta llanuras aptas para el pastoreo y el cultivo, por lo que será codiciado por los vecinos del desierto.</a:t>
            </a:r>
            <a:endParaRPr lang="es-CO" b="1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smtClean="0"/>
              <a:t>SOCIEDAD DE LOS HEBREOS:</a:t>
            </a:r>
            <a:endParaRPr lang="es-CO" dirty="0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381000" y="1633536"/>
            <a:ext cx="8007424" cy="4171728"/>
          </a:xfrm>
        </p:spPr>
        <p:txBody>
          <a:bodyPr>
            <a:normAutofit lnSpcReduction="10000"/>
          </a:bodyPr>
          <a:lstStyle/>
          <a:p>
            <a:pPr>
              <a:buFontTx/>
              <a:buChar char="-"/>
            </a:pPr>
            <a:r>
              <a:rPr lang="es-CO" sz="2400" b="1" dirty="0" smtClean="0"/>
              <a:t>La sociedad israelita estaba íntimamente relacionada con su religión.</a:t>
            </a:r>
          </a:p>
          <a:p>
            <a:pPr>
              <a:buFontTx/>
              <a:buChar char="-"/>
            </a:pPr>
            <a:endParaRPr lang="es-CO" sz="2400" b="1" dirty="0" smtClean="0"/>
          </a:p>
          <a:p>
            <a:pPr>
              <a:buFontTx/>
              <a:buChar char="-"/>
            </a:pPr>
            <a:endParaRPr lang="es-CO" sz="2400" b="1" dirty="0" smtClean="0"/>
          </a:p>
          <a:p>
            <a:pPr>
              <a:buFontTx/>
              <a:buChar char="-"/>
            </a:pPr>
            <a:r>
              <a:rPr lang="es-CO" sz="2400" b="1" dirty="0" smtClean="0"/>
              <a:t>El núcleo de esta sociedad es la FAMILIA.</a:t>
            </a:r>
          </a:p>
          <a:p>
            <a:pPr>
              <a:buFontTx/>
              <a:buChar char="-"/>
            </a:pPr>
            <a:endParaRPr lang="es-CO" sz="2400" b="1" dirty="0" smtClean="0"/>
          </a:p>
          <a:p>
            <a:pPr>
              <a:buFontTx/>
              <a:buChar char="-"/>
            </a:pPr>
            <a:endParaRPr lang="es-CO" sz="2400" b="1" dirty="0" smtClean="0"/>
          </a:p>
          <a:p>
            <a:pPr>
              <a:buFontTx/>
              <a:buChar char="-"/>
            </a:pPr>
            <a:endParaRPr lang="es-CO" sz="2400" b="1" dirty="0" smtClean="0"/>
          </a:p>
          <a:p>
            <a:pPr>
              <a:buFontTx/>
              <a:buChar char="-"/>
            </a:pPr>
            <a:r>
              <a:rPr lang="es-CO" sz="2400" b="1" dirty="0" smtClean="0"/>
              <a:t>Existían también los esclavos por compra o por ser prisioneros de guerra.</a:t>
            </a:r>
            <a:endParaRPr lang="es-CO" sz="2400" b="1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CO" dirty="0" smtClean="0"/>
              <a:t>SUS INICIOS:</a:t>
            </a:r>
            <a:endParaRPr lang="es-CO" dirty="0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381000" y="1633536"/>
            <a:ext cx="8583488" cy="2286000"/>
          </a:xfrm>
        </p:spPr>
        <p:txBody>
          <a:bodyPr>
            <a:normAutofit/>
          </a:bodyPr>
          <a:lstStyle/>
          <a:p>
            <a:r>
              <a:rPr lang="es-CO" sz="2800" b="1" dirty="0" smtClean="0"/>
              <a:t>En los tiempos de nómades los hebreos Vivian en tiendas con pocos muebles y esto facilitaba su traslado en búsqueda de pastura para sus rebaños.</a:t>
            </a:r>
            <a:endParaRPr lang="es-CO" sz="2800" b="1" dirty="0"/>
          </a:p>
        </p:txBody>
      </p:sp>
      <p:pic>
        <p:nvPicPr>
          <p:cNvPr id="4" name="3 Imagen" descr="h1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059832" y="3717032"/>
            <a:ext cx="3456384" cy="259228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CO" dirty="0" smtClean="0"/>
              <a:t>CREACIÓN DEL ESTADO HEBREO: (LOS REYES)</a:t>
            </a:r>
            <a:endParaRPr lang="es-CO" dirty="0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67544" y="2276872"/>
            <a:ext cx="7431360" cy="2286000"/>
          </a:xfrm>
        </p:spPr>
        <p:txBody>
          <a:bodyPr>
            <a:normAutofit lnSpcReduction="10000"/>
          </a:bodyPr>
          <a:lstStyle/>
          <a:p>
            <a:r>
              <a:rPr lang="es-CO" sz="2400" b="1" dirty="0" smtClean="0"/>
              <a:t>LOS ISRAELITAS CREAN UN REINO Y ORGANIZAN UN SOLO ESTADO. (SURGE LA MONARQUIA).</a:t>
            </a:r>
          </a:p>
          <a:p>
            <a:endParaRPr lang="es-CO" sz="2400" b="1" dirty="0" smtClean="0"/>
          </a:p>
          <a:p>
            <a:r>
              <a:rPr lang="es-CO" sz="2400" b="1" dirty="0" smtClean="0"/>
              <a:t>SU PRIMER REY SAUL VENCE A LOS FILISTEOS (CON LOS QUE SE DISPUTAN LA ZONA) Y HACE QUE FLORESCA EL ESTADO.</a:t>
            </a:r>
          </a:p>
          <a:p>
            <a:endParaRPr lang="es-CO" dirty="0" smtClean="0"/>
          </a:p>
          <a:p>
            <a:endParaRPr lang="es-CO" dirty="0"/>
          </a:p>
        </p:txBody>
      </p:sp>
      <p:pic>
        <p:nvPicPr>
          <p:cNvPr id="5" name="4 Imagen" descr="h2.bmp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940152" y="4221088"/>
            <a:ext cx="2376264" cy="2448272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CO" dirty="0" smtClean="0"/>
              <a:t>CREACION DEL ESTADO HEBREO:</a:t>
            </a:r>
            <a:endParaRPr lang="es-CO" dirty="0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381000" y="1633536"/>
            <a:ext cx="7287344" cy="3091608"/>
          </a:xfrm>
        </p:spPr>
        <p:txBody>
          <a:bodyPr>
            <a:noAutofit/>
          </a:bodyPr>
          <a:lstStyle/>
          <a:p>
            <a:r>
              <a:rPr lang="es-CO" sz="2400" b="1" dirty="0" smtClean="0"/>
              <a:t>David es el sucesor de Saúl,  ataco la ciudad Cananea y la llamo Jerusalén , y sometió a los filisteos .</a:t>
            </a:r>
          </a:p>
          <a:p>
            <a:endParaRPr lang="es-CO" sz="2400" b="1" dirty="0" smtClean="0"/>
          </a:p>
          <a:p>
            <a:r>
              <a:rPr lang="es-CO" sz="2400" b="1" dirty="0" smtClean="0"/>
              <a:t>Su hijo Salomón alcanzo la fama por darle importancia a la justicia e intensificar el comercio.</a:t>
            </a:r>
            <a:endParaRPr lang="es-CO" sz="2400" b="1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CO" dirty="0" smtClean="0"/>
              <a:t>ECONÓMIA:</a:t>
            </a:r>
            <a:endParaRPr lang="es-CO" dirty="0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381000" y="1633536"/>
            <a:ext cx="7575376" cy="3955704"/>
          </a:xfrm>
        </p:spPr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es-CO" sz="2800" dirty="0" smtClean="0"/>
              <a:t>Se dedicaron a la agricultura y ganadería.</a:t>
            </a:r>
          </a:p>
          <a:p>
            <a:pPr>
              <a:buFont typeface="Wingdings" pitchFamily="2" charset="2"/>
              <a:buChar char="Ø"/>
            </a:pPr>
            <a:r>
              <a:rPr lang="es-CO" sz="2800" dirty="0" smtClean="0"/>
              <a:t>El pastoreo</a:t>
            </a:r>
          </a:p>
          <a:p>
            <a:pPr>
              <a:buFont typeface="Wingdings" pitchFamily="2" charset="2"/>
              <a:buChar char="Ø"/>
            </a:pPr>
            <a:r>
              <a:rPr lang="es-CO" sz="2800" dirty="0" smtClean="0"/>
              <a:t>Cerámica</a:t>
            </a:r>
          </a:p>
          <a:p>
            <a:pPr>
              <a:buFont typeface="Wingdings" pitchFamily="2" charset="2"/>
              <a:buChar char="Ø"/>
            </a:pPr>
            <a:r>
              <a:rPr lang="es-CO" sz="2800" dirty="0" smtClean="0"/>
              <a:t>Confecciones de tejidos en lana y lino</a:t>
            </a:r>
          </a:p>
          <a:p>
            <a:endParaRPr lang="es-CO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CO" dirty="0" smtClean="0"/>
              <a:t>MÁS DE SUS ACTIVIDADES:</a:t>
            </a:r>
            <a:endParaRPr lang="es-CO" dirty="0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323528" y="1916832"/>
            <a:ext cx="7863408" cy="3096344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es-CO" sz="2400" b="1" dirty="0" smtClean="0"/>
              <a:t>Lo mas importante de su actividad fue el comercio</a:t>
            </a:r>
          </a:p>
          <a:p>
            <a:pPr>
              <a:buFont typeface="Wingdings" pitchFamily="2" charset="2"/>
              <a:buChar char="Ø"/>
            </a:pPr>
            <a:endParaRPr lang="es-CO" sz="2400" b="1" dirty="0" smtClean="0"/>
          </a:p>
          <a:p>
            <a:pPr>
              <a:buFont typeface="Wingdings" pitchFamily="2" charset="2"/>
              <a:buChar char="Ø"/>
            </a:pPr>
            <a:r>
              <a:rPr lang="es-CO" sz="2400" b="1" dirty="0" smtClean="0"/>
              <a:t>Exportaban aceite y vino e importaban metales, marfil y espacias.</a:t>
            </a:r>
          </a:p>
          <a:p>
            <a:pPr>
              <a:buFont typeface="Wingdings" pitchFamily="2" charset="2"/>
              <a:buChar char="Ø"/>
            </a:pPr>
            <a:endParaRPr lang="es-CO" sz="2400" dirty="0" smtClean="0"/>
          </a:p>
        </p:txBody>
      </p:sp>
      <p:pic>
        <p:nvPicPr>
          <p:cNvPr id="4" name="3 Imagen" descr="h3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283968" y="4077072"/>
            <a:ext cx="3528392" cy="2544688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CO" dirty="0" smtClean="0"/>
              <a:t>Hebreos:</a:t>
            </a:r>
            <a:endParaRPr lang="es-CO" dirty="0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381000" y="1633536"/>
            <a:ext cx="8151440" cy="1939480"/>
          </a:xfrm>
        </p:spPr>
        <p:txBody>
          <a:bodyPr>
            <a:normAutofit fontScale="92500" lnSpcReduction="10000"/>
          </a:bodyPr>
          <a:lstStyle/>
          <a:p>
            <a:r>
              <a:rPr lang="es-CO" sz="2400" dirty="0" smtClean="0"/>
              <a:t>Se destaca a Moisés, un líder y administrador, poseía una gran habilidad en:</a:t>
            </a:r>
          </a:p>
          <a:p>
            <a:pPr>
              <a:buFont typeface="Wingdings" pitchFamily="2" charset="2"/>
              <a:buChar char="v"/>
            </a:pPr>
            <a:r>
              <a:rPr lang="es-CO" sz="2400" dirty="0" smtClean="0"/>
              <a:t>El gobierno</a:t>
            </a:r>
          </a:p>
          <a:p>
            <a:pPr>
              <a:buFont typeface="Wingdings" pitchFamily="2" charset="2"/>
              <a:buChar char="v"/>
            </a:pPr>
            <a:r>
              <a:rPr lang="es-CO" sz="2400" dirty="0" smtClean="0"/>
              <a:t>La legislación </a:t>
            </a:r>
          </a:p>
          <a:p>
            <a:pPr>
              <a:buFont typeface="Wingdings" pitchFamily="2" charset="2"/>
              <a:buChar char="v"/>
            </a:pPr>
            <a:r>
              <a:rPr lang="es-CO" sz="2400" dirty="0" smtClean="0"/>
              <a:t>Relaciones humanas </a:t>
            </a:r>
          </a:p>
          <a:p>
            <a:endParaRPr lang="es-CO" dirty="0"/>
          </a:p>
        </p:txBody>
      </p:sp>
      <p:pic>
        <p:nvPicPr>
          <p:cNvPr id="4" name="3 Imagen" descr="hebreos.bmp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83568" y="3573016"/>
            <a:ext cx="3888432" cy="295232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 Imagen" descr="india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11560" y="620688"/>
            <a:ext cx="7992888" cy="5904656"/>
          </a:xfrm>
          <a:prstGeom prst="rect">
            <a:avLst/>
          </a:prstGeom>
        </p:spPr>
      </p:pic>
      <p:sp>
        <p:nvSpPr>
          <p:cNvPr id="3" name="2 CuadroTexto"/>
          <p:cNvSpPr txBox="1"/>
          <p:nvPr/>
        </p:nvSpPr>
        <p:spPr>
          <a:xfrm>
            <a:off x="2699792" y="548680"/>
            <a:ext cx="3744416" cy="523220"/>
          </a:xfrm>
          <a:prstGeom prst="rect">
            <a:avLst/>
          </a:prstGeom>
          <a:solidFill>
            <a:srgbClr val="92D050"/>
          </a:solidFill>
          <a:ln>
            <a:solidFill>
              <a:srgbClr val="00B0F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CO" sz="2800" b="1" dirty="0" smtClean="0">
                <a:solidFill>
                  <a:schemeClr val="bg1"/>
                </a:solidFill>
              </a:rPr>
              <a:t>INDIA</a:t>
            </a:r>
            <a:endParaRPr lang="es-CO" sz="28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s-CO" b="1" dirty="0" smtClean="0"/>
              <a:t>INDIA: año 3000 a.C</a:t>
            </a:r>
            <a:endParaRPr lang="es-CO" b="1" dirty="0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611560" y="2708920"/>
            <a:ext cx="8062912" cy="1752600"/>
          </a:xfrm>
        </p:spPr>
        <p:txBody>
          <a:bodyPr/>
          <a:lstStyle/>
          <a:p>
            <a:pPr algn="l"/>
            <a:r>
              <a:rPr lang="es-CO" dirty="0" smtClean="0"/>
              <a:t>Es una de las civilizaciones mas grandes, complejas e influyentes</a:t>
            </a:r>
            <a:endParaRPr lang="es-CO" dirty="0"/>
          </a:p>
        </p:txBody>
      </p:sp>
      <p:pic>
        <p:nvPicPr>
          <p:cNvPr id="4" name="3 Imagen" descr="in2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491880" y="3789040"/>
            <a:ext cx="3672408" cy="2852936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smtClean="0"/>
              <a:t>DIVISIÓN DEL PUEBLO INDIO:</a:t>
            </a:r>
            <a:br>
              <a:rPr lang="es-CO" dirty="0" smtClean="0"/>
            </a:br>
            <a:endParaRPr lang="es-CO" dirty="0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381000" y="1633536"/>
            <a:ext cx="7143328" cy="228600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es-CO" sz="2400" dirty="0" smtClean="0"/>
              <a:t>Los Brahmanes o sacerdotes</a:t>
            </a:r>
          </a:p>
          <a:p>
            <a:pPr>
              <a:buFont typeface="Wingdings" pitchFamily="2" charset="2"/>
              <a:buChar char="Ø"/>
            </a:pPr>
            <a:r>
              <a:rPr lang="es-CO" sz="2400" dirty="0" smtClean="0"/>
              <a:t>Los guerreros o chiatrias </a:t>
            </a:r>
          </a:p>
          <a:p>
            <a:pPr>
              <a:buFont typeface="Wingdings" pitchFamily="2" charset="2"/>
              <a:buChar char="Ø"/>
            </a:pPr>
            <a:r>
              <a:rPr lang="es-CO" sz="2400" dirty="0" smtClean="0"/>
              <a:t>Los vasias</a:t>
            </a:r>
          </a:p>
          <a:p>
            <a:pPr>
              <a:buFont typeface="Wingdings" pitchFamily="2" charset="2"/>
              <a:buChar char="Ø"/>
            </a:pPr>
            <a:r>
              <a:rPr lang="es-CO" sz="2400" dirty="0" smtClean="0"/>
              <a:t>Los Sudras</a:t>
            </a:r>
            <a:endParaRPr lang="es-CO" sz="2400" dirty="0"/>
          </a:p>
        </p:txBody>
      </p:sp>
      <p:pic>
        <p:nvPicPr>
          <p:cNvPr id="4" name="3 Imagen" descr="india1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860032" y="2924174"/>
            <a:ext cx="3744416" cy="3385145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CO" dirty="0" smtClean="0"/>
              <a:t>POLITICA:</a:t>
            </a:r>
            <a:endParaRPr lang="es-CO" dirty="0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381000" y="1633536"/>
            <a:ext cx="7719392" cy="2286000"/>
          </a:xfrm>
        </p:spPr>
        <p:txBody>
          <a:bodyPr/>
          <a:lstStyle/>
          <a:p>
            <a:r>
              <a:rPr lang="es-CO" sz="2800" dirty="0" smtClean="0"/>
              <a:t>La india estaba dividida en estados al mando de gobernadores sometidos al poder con el fin de garantizar orden</a:t>
            </a:r>
          </a:p>
          <a:p>
            <a:endParaRPr lang="es-CO" dirty="0"/>
          </a:p>
        </p:txBody>
      </p:sp>
      <p:pic>
        <p:nvPicPr>
          <p:cNvPr id="4" name="3 Imagen" descr="indiaorden.bmp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915816" y="3356992"/>
            <a:ext cx="3312368" cy="266429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CO" dirty="0" smtClean="0"/>
              <a:t>ECONÓMIA</a:t>
            </a:r>
            <a:endParaRPr lang="es-CO" dirty="0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Char char="-"/>
            </a:pPr>
            <a:r>
              <a:rPr lang="es-CO" sz="2800" dirty="0" smtClean="0"/>
              <a:t>Agricultura</a:t>
            </a:r>
          </a:p>
          <a:p>
            <a:pPr>
              <a:buFontTx/>
              <a:buChar char="-"/>
            </a:pPr>
            <a:r>
              <a:rPr lang="es-CO" sz="2800" dirty="0" smtClean="0"/>
              <a:t>Pesca</a:t>
            </a:r>
          </a:p>
          <a:p>
            <a:pPr>
              <a:buFontTx/>
              <a:buChar char="-"/>
            </a:pPr>
            <a:r>
              <a:rPr lang="es-CO" sz="2800" dirty="0" smtClean="0"/>
              <a:t>Minería</a:t>
            </a:r>
          </a:p>
          <a:p>
            <a:pPr>
              <a:buFontTx/>
              <a:buChar char="-"/>
            </a:pPr>
            <a:r>
              <a:rPr lang="es-CO" sz="2800" dirty="0" smtClean="0"/>
              <a:t>industria</a:t>
            </a:r>
          </a:p>
          <a:p>
            <a:endParaRPr lang="es-CO" dirty="0"/>
          </a:p>
        </p:txBody>
      </p:sp>
      <p:pic>
        <p:nvPicPr>
          <p:cNvPr id="4" name="3 Imagen" descr="india.bmp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998625" y="0"/>
            <a:ext cx="3145375" cy="2595438"/>
          </a:xfrm>
          <a:prstGeom prst="rect">
            <a:avLst/>
          </a:prstGeom>
        </p:spPr>
      </p:pic>
      <p:pic>
        <p:nvPicPr>
          <p:cNvPr id="5" name="4 Imagen" descr="indecono.bmp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995936" y="2709952"/>
            <a:ext cx="3312368" cy="2807280"/>
          </a:xfrm>
          <a:prstGeom prst="rect">
            <a:avLst/>
          </a:prstGeom>
        </p:spPr>
      </p:pic>
      <p:pic>
        <p:nvPicPr>
          <p:cNvPr id="6" name="5 Imagen" descr="indecono2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755576" y="3933056"/>
            <a:ext cx="2880320" cy="2592288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 descr="http://www.fmmeducacion.com.ar/Historia/Paseo1/u04/unidad4ed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43608" y="1772816"/>
            <a:ext cx="7128792" cy="453650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4" name="3 Rectángulo"/>
          <p:cNvSpPr/>
          <p:nvPr/>
        </p:nvSpPr>
        <p:spPr>
          <a:xfrm>
            <a:off x="3214678" y="285728"/>
            <a:ext cx="2789546" cy="14465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flat" dir="t">
                <a:rot lat="0" lon="0" rev="18900000"/>
              </a:lightRig>
            </a:scene3d>
            <a:sp3d extrusionH="31750" contourW="6350" prstMaterial="powder">
              <a:bevelT w="19050" h="19050" prst="angle"/>
              <a:contourClr>
                <a:schemeClr val="accent3">
                  <a:tint val="100000"/>
                  <a:shade val="100000"/>
                  <a:satMod val="100000"/>
                  <a:hueMod val="100000"/>
                </a:schemeClr>
              </a:contourClr>
            </a:sp3d>
          </a:bodyPr>
          <a:lstStyle/>
          <a:p>
            <a:pPr algn="ctr"/>
            <a:r>
              <a:rPr lang="es-CO" sz="4400" b="1" cap="none" spc="0" dirty="0" smtClean="0">
                <a:ln/>
                <a:solidFill>
                  <a:schemeClr val="accent3"/>
                </a:solidFill>
                <a:effectLst/>
              </a:rPr>
              <a:t>ROMA</a:t>
            </a:r>
          </a:p>
          <a:p>
            <a:pPr algn="ctr"/>
            <a:r>
              <a:rPr lang="es-CO" sz="4400" b="1" dirty="0" smtClean="0">
                <a:ln/>
                <a:solidFill>
                  <a:schemeClr val="accent3"/>
                </a:solidFill>
              </a:rPr>
              <a:t>753 A.C</a:t>
            </a:r>
            <a:endParaRPr lang="es-ES" sz="4400" b="1" cap="none" spc="0" dirty="0">
              <a:ln/>
              <a:solidFill>
                <a:schemeClr val="accent3"/>
              </a:solidFill>
              <a:effectLst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smtClean="0"/>
              <a:t>FUNDADORES DE ROMA</a:t>
            </a:r>
            <a:endParaRPr lang="es-C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O" dirty="0" smtClean="0"/>
              <a:t>ROMULO Y REMO </a:t>
            </a:r>
            <a:endParaRPr lang="es-CO" dirty="0"/>
          </a:p>
        </p:txBody>
      </p:sp>
      <p:pic>
        <p:nvPicPr>
          <p:cNvPr id="4098" name="Picture 2" descr="http://wiki07.blogspot.es/img/romulo-remo-cuadro.jpe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14348" y="2500306"/>
            <a:ext cx="7286676" cy="4143404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CO" dirty="0" smtClean="0"/>
              <a:t>ROMULO</a:t>
            </a:r>
            <a:endParaRPr lang="es-C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CO" sz="4000" dirty="0" smtClean="0"/>
              <a:t>Fue considerado como el primer rey.</a:t>
            </a:r>
          </a:p>
          <a:p>
            <a:r>
              <a:rPr lang="es-CO" sz="4000" dirty="0" smtClean="0"/>
              <a:t>Sucedió un hecho llamado “EL RAPTO DE LAS SABINAS”</a:t>
            </a:r>
          </a:p>
          <a:p>
            <a:r>
              <a:rPr lang="es-CO" sz="4000" dirty="0" smtClean="0"/>
              <a:t>Numa Pompilio</a:t>
            </a:r>
            <a:endParaRPr lang="es-CO" sz="4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http://upload.wikimedia.org/wikipedia/commons/thumb/7/70/Sabine_women.jpg/220px-Sabine_women.jpg">
            <a:hlinkClick r:id="rId2"/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42976" y="285728"/>
            <a:ext cx="6929486" cy="6000792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s-ES" sz="3600" dirty="0" smtClean="0"/>
              <a:t>MONARQUÍA (753 A.C AL 510 A.C)</a:t>
            </a:r>
          </a:p>
          <a:p>
            <a:pPr>
              <a:buNone/>
            </a:pPr>
            <a:r>
              <a:rPr lang="es-ES" sz="3600" dirty="0" smtClean="0"/>
              <a:t>“Lo que se dice es ley”</a:t>
            </a:r>
          </a:p>
          <a:p>
            <a:r>
              <a:rPr lang="es-ES" sz="3600" dirty="0" smtClean="0"/>
              <a:t>REPÚBLICA ROMANA(510 A.C AL 31 A.C)</a:t>
            </a:r>
          </a:p>
          <a:p>
            <a:pPr>
              <a:buNone/>
            </a:pPr>
            <a:r>
              <a:rPr lang="es-ES" sz="3600" dirty="0" smtClean="0"/>
              <a:t>Caracterizada por el régimen republicano como forma de gobierno</a:t>
            </a:r>
          </a:p>
        </p:txBody>
      </p:sp>
      <p:sp>
        <p:nvSpPr>
          <p:cNvPr id="4" name="3 Rectángulo"/>
          <p:cNvSpPr/>
          <p:nvPr/>
        </p:nvSpPr>
        <p:spPr>
          <a:xfrm>
            <a:off x="500034" y="428604"/>
            <a:ext cx="8191666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4400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PASOS EVOLUTIVOS DE ROMA</a:t>
            </a:r>
            <a:endParaRPr lang="es-ES" sz="4400" b="1" cap="none" spc="0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effectLst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sz="3600" dirty="0" smtClean="0"/>
              <a:t>IMPERIO ( 31 A.C AL 476 D.C)</a:t>
            </a:r>
          </a:p>
          <a:p>
            <a:pPr>
              <a:buNone/>
            </a:pPr>
            <a:r>
              <a:rPr lang="es-ES" sz="3600" dirty="0" smtClean="0"/>
              <a:t>Se caracterizo por una forma de gobierno autocrático</a:t>
            </a:r>
            <a:endParaRPr lang="es-ES" sz="3600" dirty="0"/>
          </a:p>
        </p:txBody>
      </p:sp>
      <p:sp>
        <p:nvSpPr>
          <p:cNvPr id="5" name="4 Rectángulo"/>
          <p:cNvSpPr/>
          <p:nvPr/>
        </p:nvSpPr>
        <p:spPr>
          <a:xfrm>
            <a:off x="785786" y="500042"/>
            <a:ext cx="7470315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4000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PASOS EVOLUTIVOS DE ROMA</a:t>
            </a:r>
            <a:endParaRPr lang="es-ES" sz="4000" b="1" cap="none" spc="0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effectLst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  <p:txBody>
          <a:bodyPr/>
          <a:lstStyle/>
          <a:p>
            <a:pPr algn="ctr"/>
            <a:r>
              <a:rPr lang="es-CO" dirty="0" smtClean="0"/>
              <a:t>CLASES SOCIALES DEL IMPERIO</a:t>
            </a:r>
            <a:endParaRPr lang="es-C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CO" sz="4000" dirty="0" smtClean="0"/>
              <a:t>Patricios </a:t>
            </a:r>
          </a:p>
          <a:p>
            <a:r>
              <a:rPr lang="es-CO" sz="4000" dirty="0" smtClean="0"/>
              <a:t>Plebeyos </a:t>
            </a:r>
          </a:p>
          <a:p>
            <a:r>
              <a:rPr lang="es-CO" sz="4000" dirty="0" smtClean="0"/>
              <a:t>Esclavos</a:t>
            </a:r>
          </a:p>
          <a:p>
            <a:r>
              <a:rPr lang="es-CO" sz="4000" dirty="0" smtClean="0"/>
              <a:t>Libertos</a:t>
            </a:r>
            <a:endParaRPr lang="es-CO" sz="4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CLASES SOCIALES</a:t>
            </a:r>
            <a:endParaRPr lang="es-ES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endParaRPr lang="es-ES" dirty="0" smtClean="0"/>
          </a:p>
          <a:p>
            <a:pPr>
              <a:buNone/>
            </a:pPr>
            <a:endParaRPr lang="es-ES" dirty="0" smtClean="0"/>
          </a:p>
          <a:p>
            <a:pPr>
              <a:buNone/>
            </a:pPr>
            <a:endParaRPr lang="es-ES" dirty="0" smtClean="0"/>
          </a:p>
          <a:p>
            <a:pPr>
              <a:buNone/>
            </a:pPr>
            <a:endParaRPr lang="es-ES" dirty="0" smtClean="0"/>
          </a:p>
          <a:p>
            <a:pPr>
              <a:buNone/>
            </a:pPr>
            <a:r>
              <a:rPr lang="es-ES" dirty="0" smtClean="0"/>
              <a:t> </a:t>
            </a:r>
            <a:endParaRPr lang="es-ES" dirty="0"/>
          </a:p>
        </p:txBody>
      </p:sp>
      <p:cxnSp>
        <p:nvCxnSpPr>
          <p:cNvPr id="5" name="4 Conector recto de flecha"/>
          <p:cNvCxnSpPr/>
          <p:nvPr/>
        </p:nvCxnSpPr>
        <p:spPr>
          <a:xfrm rot="5400000" flipH="1" flipV="1">
            <a:off x="2821769" y="3178967"/>
            <a:ext cx="1285884" cy="92869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6 Conector recto de flecha"/>
          <p:cNvCxnSpPr/>
          <p:nvPr/>
        </p:nvCxnSpPr>
        <p:spPr>
          <a:xfrm rot="16200000" flipH="1">
            <a:off x="2714612" y="4572008"/>
            <a:ext cx="1285884" cy="71438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7 Rectángulo redondeado"/>
          <p:cNvSpPr/>
          <p:nvPr/>
        </p:nvSpPr>
        <p:spPr>
          <a:xfrm>
            <a:off x="4000496" y="2643182"/>
            <a:ext cx="2071702" cy="57150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smtClean="0"/>
              <a:t>LOS LIBRES</a:t>
            </a:r>
          </a:p>
          <a:p>
            <a:pPr algn="ctr"/>
            <a:endParaRPr lang="es-ES" dirty="0"/>
          </a:p>
        </p:txBody>
      </p:sp>
      <p:sp>
        <p:nvSpPr>
          <p:cNvPr id="9" name="8 Rectángulo redondeado"/>
          <p:cNvSpPr/>
          <p:nvPr/>
        </p:nvSpPr>
        <p:spPr>
          <a:xfrm>
            <a:off x="6858016" y="3071810"/>
            <a:ext cx="2071702" cy="57150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smtClean="0"/>
              <a:t>NO PRIVILEGIADOS</a:t>
            </a:r>
            <a:endParaRPr lang="es-ES" dirty="0"/>
          </a:p>
        </p:txBody>
      </p:sp>
      <p:sp>
        <p:nvSpPr>
          <p:cNvPr id="10" name="9 Rectángulo redondeado"/>
          <p:cNvSpPr/>
          <p:nvPr/>
        </p:nvSpPr>
        <p:spPr>
          <a:xfrm>
            <a:off x="6858016" y="1857364"/>
            <a:ext cx="2071702" cy="57150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smtClean="0"/>
              <a:t>PRIVILEGIADOS</a:t>
            </a:r>
          </a:p>
          <a:p>
            <a:pPr algn="ctr"/>
            <a:r>
              <a:rPr lang="es-ES" dirty="0" smtClean="0"/>
              <a:t>(PATRICIOS)</a:t>
            </a:r>
            <a:endParaRPr lang="es-ES" dirty="0"/>
          </a:p>
        </p:txBody>
      </p:sp>
      <p:sp>
        <p:nvSpPr>
          <p:cNvPr id="11" name="10 Rectángulo redondeado"/>
          <p:cNvSpPr/>
          <p:nvPr/>
        </p:nvSpPr>
        <p:spPr>
          <a:xfrm>
            <a:off x="2786050" y="5572140"/>
            <a:ext cx="2071702" cy="57150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smtClean="0"/>
              <a:t>LOS NO LIBRES</a:t>
            </a:r>
          </a:p>
          <a:p>
            <a:pPr algn="ctr"/>
            <a:r>
              <a:rPr lang="es-ES" dirty="0" smtClean="0"/>
              <a:t>(ESCLAVOS)</a:t>
            </a:r>
            <a:endParaRPr lang="es-ES" dirty="0"/>
          </a:p>
        </p:txBody>
      </p:sp>
      <p:sp>
        <p:nvSpPr>
          <p:cNvPr id="12" name="11 Rectángulo redondeado"/>
          <p:cNvSpPr/>
          <p:nvPr/>
        </p:nvSpPr>
        <p:spPr>
          <a:xfrm>
            <a:off x="7072298" y="4071942"/>
            <a:ext cx="2071702" cy="85725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smtClean="0"/>
              <a:t>DEPENDIENTES</a:t>
            </a:r>
          </a:p>
          <a:p>
            <a:pPr algn="ctr"/>
            <a:r>
              <a:rPr lang="es-ES" dirty="0" smtClean="0"/>
              <a:t>(LOS CLIENTES O LEBERTOS</a:t>
            </a:r>
            <a:endParaRPr lang="es-ES" dirty="0"/>
          </a:p>
        </p:txBody>
      </p:sp>
      <p:sp>
        <p:nvSpPr>
          <p:cNvPr id="13" name="12 Rectángulo redondeado"/>
          <p:cNvSpPr/>
          <p:nvPr/>
        </p:nvSpPr>
        <p:spPr>
          <a:xfrm>
            <a:off x="4857752" y="4214818"/>
            <a:ext cx="2071702" cy="57150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smtClean="0"/>
              <a:t>INDEPENDIENTES</a:t>
            </a:r>
          </a:p>
          <a:p>
            <a:pPr algn="ctr"/>
            <a:r>
              <a:rPr lang="es-ES" dirty="0" smtClean="0"/>
              <a:t>(LOS PLEBEYOS)</a:t>
            </a:r>
            <a:endParaRPr lang="es-ES" dirty="0"/>
          </a:p>
        </p:txBody>
      </p:sp>
      <p:cxnSp>
        <p:nvCxnSpPr>
          <p:cNvPr id="16" name="15 Conector recto de flecha"/>
          <p:cNvCxnSpPr>
            <a:stCxn id="8" idx="3"/>
            <a:endCxn id="10" idx="1"/>
          </p:cNvCxnSpPr>
          <p:nvPr/>
        </p:nvCxnSpPr>
        <p:spPr>
          <a:xfrm flipV="1">
            <a:off x="6072198" y="2143116"/>
            <a:ext cx="785818" cy="78581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17 Conector recto de flecha"/>
          <p:cNvCxnSpPr>
            <a:stCxn id="8" idx="3"/>
          </p:cNvCxnSpPr>
          <p:nvPr/>
        </p:nvCxnSpPr>
        <p:spPr>
          <a:xfrm>
            <a:off x="6072198" y="2928934"/>
            <a:ext cx="714380" cy="42862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19 Conector recto de flecha"/>
          <p:cNvCxnSpPr>
            <a:stCxn id="9" idx="2"/>
          </p:cNvCxnSpPr>
          <p:nvPr/>
        </p:nvCxnSpPr>
        <p:spPr>
          <a:xfrm rot="5400000">
            <a:off x="6875876" y="2982513"/>
            <a:ext cx="357190" cy="167879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21 Conector recto de flecha"/>
          <p:cNvCxnSpPr>
            <a:stCxn id="9" idx="2"/>
          </p:cNvCxnSpPr>
          <p:nvPr/>
        </p:nvCxnSpPr>
        <p:spPr>
          <a:xfrm rot="16200000" flipH="1">
            <a:off x="7697412" y="3839768"/>
            <a:ext cx="428630" cy="3572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24 Rectángulo"/>
          <p:cNvSpPr/>
          <p:nvPr/>
        </p:nvSpPr>
        <p:spPr>
          <a:xfrm>
            <a:off x="0" y="4000504"/>
            <a:ext cx="3092513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3600" b="1" cap="none" spc="0" dirty="0" smtClean="0">
                <a:ln w="31550" cmpd="sng">
                  <a:gradFill>
                    <a:gsLst>
                      <a:gs pos="70000">
                        <a:schemeClr val="accent6">
                          <a:shade val="50000"/>
                          <a:satMod val="190000"/>
                        </a:schemeClr>
                      </a:gs>
                      <a:gs pos="0">
                        <a:schemeClr val="accent6">
                          <a:tint val="77000"/>
                          <a:satMod val="180000"/>
                        </a:schemeClr>
                      </a:gs>
                    </a:gsLst>
                    <a:lin ang="5400000"/>
                  </a:gradFill>
                  <a:prstDash val="solid"/>
                </a:ln>
                <a:solidFill>
                  <a:schemeClr val="accent6">
                    <a:tint val="15000"/>
                    <a:satMod val="200000"/>
                  </a:schemeClr>
                </a:solidFill>
                <a:effectLst>
                  <a:outerShdw blurRad="50800" dist="40000" dir="5400000" algn="tl" rotWithShape="0">
                    <a:srgbClr val="000000">
                      <a:shade val="5000"/>
                      <a:satMod val="120000"/>
                      <a:alpha val="33000"/>
                    </a:srgbClr>
                  </a:outerShdw>
                </a:effectLst>
              </a:rPr>
              <a:t>MONARQUIA</a:t>
            </a:r>
            <a:endParaRPr lang="es-ES" sz="3600" b="1" cap="none" spc="0" dirty="0">
              <a:ln w="31550" cmpd="sng">
                <a:gradFill>
                  <a:gsLst>
                    <a:gs pos="70000">
                      <a:schemeClr val="accent6">
                        <a:shade val="50000"/>
                        <a:satMod val="190000"/>
                      </a:schemeClr>
                    </a:gs>
                    <a:gs pos="0">
                      <a:schemeClr val="accent6">
                        <a:tint val="77000"/>
                        <a:satMod val="180000"/>
                      </a:schemeClr>
                    </a:gs>
                  </a:gsLst>
                  <a:lin ang="5400000"/>
                </a:gradFill>
                <a:prstDash val="solid"/>
              </a:ln>
              <a:solidFill>
                <a:schemeClr val="accent6">
                  <a:tint val="15000"/>
                  <a:satMod val="200000"/>
                </a:schemeClr>
              </a:solidFill>
              <a:effectLst>
                <a:outerShdw blurRad="50800" dist="40000" dir="5400000" algn="tl" rotWithShape="0">
                  <a:srgbClr val="000000">
                    <a:shade val="5000"/>
                    <a:satMod val="120000"/>
                    <a:alpha val="33000"/>
                  </a:srgb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dirty="0" smtClean="0"/>
              <a:t>CLASES SOCIALES</a:t>
            </a:r>
            <a:endParaRPr lang="es-ES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sz="3600" dirty="0" smtClean="0"/>
              <a:t>EN LA REPUBLICA:</a:t>
            </a:r>
          </a:p>
          <a:p>
            <a:pPr>
              <a:buNone/>
            </a:pPr>
            <a:r>
              <a:rPr lang="es-ES" sz="3600" dirty="0" smtClean="0"/>
              <a:t>Consiste en fundar la jerarquía en el dinero y en la demarcación territorial.</a:t>
            </a:r>
            <a:endParaRPr lang="es-ES" sz="3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CO" dirty="0" smtClean="0"/>
              <a:t>CLASES SOCIALES</a:t>
            </a:r>
            <a:endParaRPr lang="es-C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CO" sz="3600" dirty="0" smtClean="0"/>
              <a:t>EN EL PRINCIPADO:</a:t>
            </a:r>
          </a:p>
          <a:p>
            <a:pPr>
              <a:buNone/>
            </a:pPr>
            <a:r>
              <a:rPr lang="es-CO" sz="3600" dirty="0" smtClean="0"/>
              <a:t>Se modifica la jerarquía pero se sigue basando en la riqueza</a:t>
            </a:r>
            <a:endParaRPr lang="es-CO" sz="3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CO" dirty="0" smtClean="0"/>
              <a:t>CLASES SOCIALES</a:t>
            </a:r>
            <a:endParaRPr lang="es-C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CO" sz="3600" dirty="0" smtClean="0"/>
              <a:t>EN EL DOMINADO:</a:t>
            </a:r>
          </a:p>
          <a:p>
            <a:pPr>
              <a:buNone/>
            </a:pPr>
            <a:r>
              <a:rPr lang="es-CO" sz="3600" dirty="0" smtClean="0"/>
              <a:t>Aparece una nueva clase social  “los colonos”</a:t>
            </a:r>
            <a:endParaRPr lang="es-CO" sz="3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CO" dirty="0" smtClean="0"/>
              <a:t>DERECHO ROMANO</a:t>
            </a:r>
            <a:endParaRPr lang="es-C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158" y="1500174"/>
            <a:ext cx="8229600" cy="4572000"/>
          </a:xfrm>
        </p:spPr>
        <p:txBody>
          <a:bodyPr>
            <a:normAutofit/>
          </a:bodyPr>
          <a:lstStyle/>
          <a:p>
            <a:r>
              <a:rPr lang="es-CO" sz="3600" dirty="0" smtClean="0"/>
              <a:t>Establecieron: </a:t>
            </a:r>
            <a:endParaRPr lang="es-CO" sz="3600" dirty="0" smtClean="0"/>
          </a:p>
          <a:p>
            <a:pPr>
              <a:buNone/>
            </a:pPr>
            <a:r>
              <a:rPr lang="es-CO" sz="3600" dirty="0" smtClean="0"/>
              <a:t>-Las obligaciones y los contratos civiles </a:t>
            </a:r>
          </a:p>
          <a:p>
            <a:pPr>
              <a:buFontTx/>
              <a:buChar char="-"/>
            </a:pPr>
            <a:r>
              <a:rPr lang="es-CO" sz="3600" dirty="0" smtClean="0"/>
              <a:t>Contratos mercantiles</a:t>
            </a:r>
          </a:p>
          <a:p>
            <a:pPr>
              <a:buFontTx/>
              <a:buChar char="-"/>
            </a:pPr>
            <a:r>
              <a:rPr lang="es-CO" sz="3600" dirty="0" smtClean="0"/>
              <a:t>Ejercicio al comercio</a:t>
            </a:r>
          </a:p>
          <a:p>
            <a:pPr>
              <a:buFontTx/>
              <a:buChar char="-"/>
            </a:pPr>
            <a:r>
              <a:rPr lang="es-CO" sz="3600" dirty="0" smtClean="0"/>
              <a:t>Propiedad e industria</a:t>
            </a:r>
            <a:endParaRPr lang="es-CO" sz="3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Rectángulo"/>
          <p:cNvSpPr/>
          <p:nvPr/>
        </p:nvSpPr>
        <p:spPr>
          <a:xfrm>
            <a:off x="1259632" y="0"/>
            <a:ext cx="6986208" cy="15696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9600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FEUDALISMO</a:t>
            </a:r>
            <a:endParaRPr lang="es-ES" sz="9600" b="1" cap="none" spc="0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pic>
        <p:nvPicPr>
          <p:cNvPr id="5" name="Picture 2" descr="C:\Users\adri\Desktop\63%20feudalismo-clases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9512" y="1628800"/>
            <a:ext cx="8964488" cy="4536504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Rectángulo"/>
          <p:cNvSpPr/>
          <p:nvPr/>
        </p:nvSpPr>
        <p:spPr>
          <a:xfrm>
            <a:off x="395536" y="1124744"/>
            <a:ext cx="4176464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</a:pPr>
            <a:r>
              <a:rPr lang="es-CO" sz="4000" dirty="0" smtClean="0">
                <a:latin typeface="+mj-lt"/>
                <a:ea typeface="Dotum" pitchFamily="34" charset="-127"/>
                <a:cs typeface="Arial" pitchFamily="34" charset="0"/>
              </a:rPr>
              <a:t>El feudalismo</a:t>
            </a:r>
          </a:p>
          <a:p>
            <a:pPr lvl="0" algn="ctr" fontAlgn="base">
              <a:spcBef>
                <a:spcPct val="0"/>
              </a:spcBef>
              <a:spcAft>
                <a:spcPct val="0"/>
              </a:spcAft>
            </a:pPr>
            <a:endParaRPr lang="es-CO" sz="4000" b="1" dirty="0" smtClean="0">
              <a:latin typeface="+mj-lt"/>
              <a:ea typeface="Dotum" pitchFamily="34" charset="-127"/>
              <a:cs typeface="Arial" pitchFamily="34" charset="0"/>
            </a:endParaRPr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ES" sz="4000" dirty="0" smtClean="0">
                <a:latin typeface="+mj-lt"/>
                <a:ea typeface="Dotum" pitchFamily="34" charset="-127"/>
                <a:cs typeface="Times New Roman" pitchFamily="18" charset="0"/>
              </a:rPr>
              <a:t>Es una organización social, política y económica basada en el feudo</a:t>
            </a:r>
            <a:endParaRPr lang="es-ES" sz="4000" dirty="0" smtClean="0">
              <a:latin typeface="+mj-lt"/>
              <a:ea typeface="Dotum" pitchFamily="34" charset="-127"/>
              <a:cs typeface="Arial" pitchFamily="34" charset="0"/>
            </a:endParaRPr>
          </a:p>
        </p:txBody>
      </p:sp>
      <p:pic>
        <p:nvPicPr>
          <p:cNvPr id="3" name="Picture 3" descr="C:\Users\adri\Desktop\feudal_1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64088" y="1196752"/>
            <a:ext cx="3312368" cy="4608512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Rectángulo"/>
          <p:cNvSpPr/>
          <p:nvPr/>
        </p:nvSpPr>
        <p:spPr>
          <a:xfrm>
            <a:off x="611560" y="764704"/>
            <a:ext cx="8136904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</a:pPr>
            <a:r>
              <a:rPr lang="es-CO" sz="4000" dirty="0" smtClean="0">
                <a:latin typeface="+mj-lt"/>
                <a:cs typeface="Arial" pitchFamily="34" charset="0"/>
              </a:rPr>
              <a:t>Antecedentes del feudalismo</a:t>
            </a:r>
          </a:p>
          <a:p>
            <a:pPr lvl="0" algn="ctr" fontAlgn="base">
              <a:spcBef>
                <a:spcPct val="0"/>
              </a:spcBef>
              <a:spcAft>
                <a:spcPct val="0"/>
              </a:spcAft>
            </a:pPr>
            <a:endParaRPr lang="es-CO" sz="4000" dirty="0" smtClean="0">
              <a:latin typeface="+mj-lt"/>
              <a:cs typeface="Arial" pitchFamily="34" charset="0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s-ES" sz="4000" dirty="0" smtClean="0">
                <a:latin typeface="+mj-lt"/>
                <a:ea typeface="Dotum" pitchFamily="34" charset="-127"/>
              </a:rPr>
              <a:t>En el siglo V al caer el Imperio romano y por las incursiones de los barbaros, los emperadores contratan caballeros y villanos para protegerlos (precursores del feudalismo)</a:t>
            </a:r>
            <a:endParaRPr lang="es-CO" sz="4000" dirty="0" smtClean="0">
              <a:latin typeface="+mj-lt"/>
              <a:ea typeface="Dotum" pitchFamily="34" charset="-127"/>
            </a:endParaRPr>
          </a:p>
          <a:p>
            <a:pPr lvl="0" algn="ctr" fontAlgn="base">
              <a:spcBef>
                <a:spcPct val="0"/>
              </a:spcBef>
              <a:spcAft>
                <a:spcPct val="0"/>
              </a:spcAft>
            </a:pPr>
            <a:endParaRPr lang="es-CO" sz="4000" dirty="0" smtClean="0">
              <a:latin typeface="+mj-lt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Rectángulo"/>
          <p:cNvSpPr/>
          <p:nvPr/>
        </p:nvSpPr>
        <p:spPr>
          <a:xfrm>
            <a:off x="0" y="0"/>
            <a:ext cx="4248472" cy="7478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4000" dirty="0" smtClean="0">
                <a:latin typeface="+mj-lt"/>
                <a:ea typeface="Dotum" pitchFamily="34" charset="-127"/>
              </a:rPr>
              <a:t>La realeza</a:t>
            </a:r>
          </a:p>
          <a:p>
            <a:pPr algn="ctr"/>
            <a:endParaRPr lang="es-ES" sz="4000" dirty="0">
              <a:latin typeface="+mj-lt"/>
              <a:ea typeface="Dotum" pitchFamily="34" charset="-127"/>
            </a:endParaRPr>
          </a:p>
          <a:p>
            <a:pPr algn="ctr"/>
            <a:r>
              <a:rPr lang="es-ES" sz="4000" dirty="0" smtClean="0">
                <a:latin typeface="+mj-lt"/>
                <a:ea typeface="Dotum" pitchFamily="34" charset="-127"/>
              </a:rPr>
              <a:t>A partir del siglo X La realeza sin desaparecer, ha perdido todo el poder y</a:t>
            </a:r>
            <a:endParaRPr lang="es-CO" sz="4000" dirty="0" smtClean="0">
              <a:latin typeface="+mj-lt"/>
            </a:endParaRPr>
          </a:p>
          <a:p>
            <a:pPr algn="ctr"/>
            <a:r>
              <a:rPr lang="es-ES" sz="4000" dirty="0" smtClean="0">
                <a:latin typeface="+mj-lt"/>
                <a:ea typeface="Dotum" pitchFamily="34" charset="-127"/>
              </a:rPr>
              <a:t>sólo conserva una autoridad</a:t>
            </a:r>
            <a:endParaRPr lang="es-CO" sz="4000" dirty="0" smtClean="0">
              <a:latin typeface="+mj-lt"/>
              <a:ea typeface="Dotum" pitchFamily="34" charset="-127"/>
            </a:endParaRPr>
          </a:p>
          <a:p>
            <a:pPr algn="ctr"/>
            <a:r>
              <a:rPr lang="es-ES" sz="4000" dirty="0" smtClean="0">
                <a:latin typeface="+mj-lt"/>
                <a:ea typeface="Dotum" pitchFamily="34" charset="-127"/>
              </a:rPr>
              <a:t> de carácter religioso</a:t>
            </a:r>
            <a:endParaRPr lang="es-CO" sz="4000" dirty="0" smtClean="0">
              <a:latin typeface="+mj-lt"/>
              <a:ea typeface="Dotum" pitchFamily="34" charset="-127"/>
            </a:endParaRPr>
          </a:p>
          <a:p>
            <a:pPr algn="ctr"/>
            <a:endParaRPr lang="es-CO" sz="4000" dirty="0">
              <a:latin typeface="Dotum" pitchFamily="34" charset="-127"/>
              <a:ea typeface="Dotum" pitchFamily="34" charset="-127"/>
            </a:endParaRPr>
          </a:p>
        </p:txBody>
      </p:sp>
      <p:pic>
        <p:nvPicPr>
          <p:cNvPr id="3" name="Picture 2" descr="C:\Users\adri\Desktop\feudalismo02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076056" y="476672"/>
            <a:ext cx="3377309" cy="5688632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Rectángulo"/>
          <p:cNvSpPr/>
          <p:nvPr/>
        </p:nvSpPr>
        <p:spPr>
          <a:xfrm>
            <a:off x="755576" y="692696"/>
            <a:ext cx="7956376" cy="62478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ES" sz="4000" dirty="0" smtClean="0">
                <a:latin typeface="+mj-lt"/>
                <a:ea typeface="Dotum" pitchFamily="34" charset="-127"/>
                <a:cs typeface="Times New Roman" pitchFamily="18" charset="0"/>
              </a:rPr>
              <a:t>El feudalismo</a:t>
            </a:r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s-ES" sz="4000" dirty="0" smtClean="0">
              <a:latin typeface="+mj-lt"/>
              <a:ea typeface="Dotum" pitchFamily="34" charset="-127"/>
              <a:cs typeface="Times New Roman" pitchFamily="18" charset="0"/>
            </a:endParaRPr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ES" sz="4000" dirty="0" smtClean="0">
                <a:latin typeface="+mj-lt"/>
                <a:ea typeface="Dotum" pitchFamily="34" charset="-127"/>
                <a:cs typeface="Times New Roman" pitchFamily="18" charset="0"/>
              </a:rPr>
              <a:t>Aparece  en Europa occidental entre los siglos 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s-ES" sz="4000" dirty="0" smtClean="0">
                <a:latin typeface="+mj-lt"/>
                <a:ea typeface="Dotum" pitchFamily="34" charset="-127"/>
                <a:cs typeface="Times New Roman" pitchFamily="18" charset="0"/>
              </a:rPr>
              <a:t>IX y XV. A</a:t>
            </a:r>
            <a:r>
              <a:rPr kumimoji="0" lang="es-ES" sz="4000" i="0" u="none" strike="noStrike" cap="none" normalizeH="0" baseline="0" dirty="0" smtClean="0">
                <a:ln>
                  <a:noFill/>
                </a:ln>
                <a:effectLst/>
                <a:latin typeface="+mj-lt"/>
                <a:ea typeface="Dotum" pitchFamily="34" charset="-127"/>
                <a:cs typeface="Times New Roman" pitchFamily="18" charset="0"/>
              </a:rPr>
              <a:t>lcanzó su madurez en el siglo XI. 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s-ES" sz="4000" dirty="0" smtClean="0">
                <a:latin typeface="+mj-lt"/>
                <a:ea typeface="Dotum" pitchFamily="34" charset="-127"/>
                <a:cs typeface="Times New Roman" pitchFamily="18" charset="0"/>
              </a:rPr>
              <a:t>Tuvo su máximo apogeo en los siglos XII y XIII.</a:t>
            </a:r>
            <a:endParaRPr lang="es-ES" sz="4000" dirty="0" smtClean="0">
              <a:latin typeface="+mj-lt"/>
              <a:ea typeface="Dotum" pitchFamily="34" charset="-127"/>
              <a:cs typeface="Arial" pitchFamily="34" charset="0"/>
            </a:endParaRPr>
          </a:p>
          <a:p>
            <a:pPr lvl="0" algn="ctr" fontAlgn="base">
              <a:spcBef>
                <a:spcPct val="0"/>
              </a:spcBef>
              <a:spcAft>
                <a:spcPct val="0"/>
              </a:spcAft>
            </a:pPr>
            <a:endParaRPr kumimoji="0" lang="es-ES" sz="4000" i="0" u="none" strike="noStrike" cap="none" normalizeH="0" baseline="0" dirty="0" smtClean="0">
              <a:ln>
                <a:noFill/>
              </a:ln>
              <a:effectLst/>
              <a:latin typeface="+mj-lt"/>
              <a:ea typeface="Dotum" pitchFamily="34" charset="-127"/>
              <a:cs typeface="Arial" pitchFamily="34" charset="0"/>
            </a:endParaRPr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s-ES" sz="4000" dirty="0" smtClean="0">
              <a:latin typeface="Dotum" pitchFamily="34" charset="-127"/>
              <a:ea typeface="Dotum" pitchFamily="34" charset="-127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Rectángulo"/>
          <p:cNvSpPr/>
          <p:nvPr/>
        </p:nvSpPr>
        <p:spPr>
          <a:xfrm>
            <a:off x="971600" y="764704"/>
            <a:ext cx="7308304" cy="52322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s-ES" sz="4000" dirty="0" smtClean="0">
                <a:latin typeface="+mj-lt"/>
                <a:ea typeface="Dotum" pitchFamily="34" charset="-127"/>
                <a:cs typeface="Times New Roman" pitchFamily="18" charset="0"/>
              </a:rPr>
              <a:t>Territorios que adoptaron el feudalismo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s-ES" sz="4000" dirty="0">
              <a:latin typeface="+mj-lt"/>
              <a:ea typeface="Dotum" pitchFamily="34" charset="-127"/>
              <a:cs typeface="Times New Roman" pitchFamily="18" charset="0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s-ES" sz="4000" dirty="0" smtClean="0">
                <a:latin typeface="+mj-lt"/>
                <a:ea typeface="Dotum" pitchFamily="34" charset="-127"/>
                <a:cs typeface="Times New Roman" pitchFamily="18" charset="0"/>
              </a:rPr>
              <a:t>España que también tomo un cierto tipo de feudalismo en el siglo XII, el sur de Francia, el norte de Italia y los territorios alemanes.</a:t>
            </a:r>
            <a:endParaRPr lang="es-CO" sz="4000" dirty="0" smtClean="0">
              <a:latin typeface="+mj-lt"/>
            </a:endParaRPr>
          </a:p>
          <a:p>
            <a:pPr lvl="0" algn="ctr" fontAlgn="base">
              <a:spcBef>
                <a:spcPct val="0"/>
              </a:spcBef>
              <a:spcAft>
                <a:spcPct val="0"/>
              </a:spcAft>
            </a:pPr>
            <a:r>
              <a:rPr lang="es-ES" sz="5400" dirty="0" smtClean="0">
                <a:latin typeface="+mj-lt"/>
                <a:ea typeface="Dotum" pitchFamily="34" charset="-127"/>
                <a:cs typeface="Times New Roman" pitchFamily="18" charset="0"/>
              </a:rPr>
              <a:t> </a:t>
            </a:r>
            <a:endParaRPr lang="es-ES" sz="5400" dirty="0" smtClean="0">
              <a:latin typeface="+mj-lt"/>
              <a:ea typeface="Dotum" pitchFamily="34" charset="-127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C:\Users\adri\Desktop\20070717klphisuni_77_Ees_SCO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1"/>
            <a:ext cx="9294321" cy="674885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Rectángulo"/>
          <p:cNvSpPr/>
          <p:nvPr/>
        </p:nvSpPr>
        <p:spPr>
          <a:xfrm>
            <a:off x="1475656" y="1196752"/>
            <a:ext cx="6444208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4000" dirty="0" smtClean="0">
                <a:latin typeface="+mj-lt"/>
                <a:ea typeface="Dotum" pitchFamily="34" charset="-127"/>
                <a:cs typeface="Times New Roman" pitchFamily="18" charset="0"/>
              </a:rPr>
              <a:t>El feudalismo consistió </a:t>
            </a:r>
          </a:p>
          <a:p>
            <a:pPr algn="ctr"/>
            <a:endParaRPr lang="es-ES" sz="4000" dirty="0" smtClean="0">
              <a:latin typeface="+mj-lt"/>
              <a:ea typeface="Dotum" pitchFamily="34" charset="-127"/>
              <a:cs typeface="Times New Roman" pitchFamily="18" charset="0"/>
            </a:endParaRPr>
          </a:p>
          <a:p>
            <a:pPr algn="ctr"/>
            <a:r>
              <a:rPr lang="es-ES" sz="4000" dirty="0" smtClean="0">
                <a:latin typeface="+mj-lt"/>
                <a:ea typeface="Dotum" pitchFamily="34" charset="-127"/>
                <a:cs typeface="Times New Roman" pitchFamily="18" charset="0"/>
              </a:rPr>
              <a:t>en que los terrenos eran cultivados por siervos; y la producción debía ser entregada al señor feudal en concepto de arriendo</a:t>
            </a:r>
            <a:endParaRPr lang="es-ES" sz="4000" dirty="0" smtClean="0">
              <a:latin typeface="+mj-lt"/>
              <a:ea typeface="Dotum" pitchFamily="34" charset="-127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683568" y="1052736"/>
            <a:ext cx="7954156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4000" dirty="0" smtClean="0">
                <a:latin typeface="+mj-lt"/>
                <a:ea typeface="Dotum" pitchFamily="34" charset="-127"/>
                <a:cs typeface="Times New Roman" pitchFamily="18" charset="0"/>
              </a:rPr>
              <a:t>Las reglas del feudalismo</a:t>
            </a:r>
          </a:p>
          <a:p>
            <a:pPr algn="ctr"/>
            <a:endParaRPr lang="es-ES" sz="4000" dirty="0">
              <a:latin typeface="+mj-lt"/>
              <a:ea typeface="Dotum" pitchFamily="34" charset="-127"/>
              <a:cs typeface="Times New Roman" pitchFamily="18" charset="0"/>
            </a:endParaRPr>
          </a:p>
          <a:p>
            <a:pPr algn="ctr"/>
            <a:r>
              <a:rPr lang="es-ES" sz="4000" dirty="0" smtClean="0">
                <a:latin typeface="+mj-lt"/>
                <a:ea typeface="Dotum" pitchFamily="34" charset="-127"/>
                <a:cs typeface="Times New Roman" pitchFamily="18" charset="0"/>
              </a:rPr>
              <a:t>rigen obligaciones de obediencia y servicio por parte de un hombre libre, “vasallo”, hacia un hombre libre “señor”, </a:t>
            </a:r>
            <a:endParaRPr lang="es-CO" sz="4000" dirty="0" smtClean="0">
              <a:latin typeface="+mj-lt"/>
            </a:endParaRPr>
          </a:p>
          <a:p>
            <a:pPr algn="ctr"/>
            <a:endParaRPr lang="es-ES" sz="4000" dirty="0" smtClean="0">
              <a:latin typeface="Dotum" pitchFamily="34" charset="-127"/>
              <a:ea typeface="Dotum" pitchFamily="34" charset="-127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C:\Users\adri\Desktop\feudalismo8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Rectángulo"/>
          <p:cNvSpPr/>
          <p:nvPr/>
        </p:nvSpPr>
        <p:spPr>
          <a:xfrm>
            <a:off x="467544" y="620688"/>
            <a:ext cx="4680520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ES" sz="4000" dirty="0" smtClean="0">
                <a:latin typeface="Calibri" pitchFamily="34" charset="0"/>
                <a:ea typeface="Dotum" pitchFamily="34" charset="-127"/>
                <a:cs typeface="Calibri" pitchFamily="34" charset="0"/>
              </a:rPr>
              <a:t>relación jurídico-política en el feudalismo</a:t>
            </a: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s-ES" sz="4000" dirty="0">
              <a:latin typeface="Calibri" pitchFamily="34" charset="0"/>
              <a:ea typeface="Dotum" pitchFamily="34" charset="-127"/>
              <a:cs typeface="Calibri" pitchFamily="34" charset="0"/>
            </a:endParaRP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ES" sz="4000" dirty="0" smtClean="0">
                <a:latin typeface="Calibri" pitchFamily="34" charset="0"/>
                <a:ea typeface="Dotum" pitchFamily="34" charset="-127"/>
                <a:cs typeface="Calibri" pitchFamily="34" charset="0"/>
              </a:rPr>
              <a:t>Se realizaba entre señor y vasallo y a través de un contrato bilateral.</a:t>
            </a:r>
            <a:endParaRPr lang="es-ES" sz="4000" dirty="0" smtClean="0">
              <a:latin typeface="Dotum" pitchFamily="34" charset="-127"/>
              <a:ea typeface="Dotum" pitchFamily="34" charset="-127"/>
              <a:cs typeface="Arial" pitchFamily="34" charset="0"/>
            </a:endParaRPr>
          </a:p>
        </p:txBody>
      </p:sp>
      <p:pic>
        <p:nvPicPr>
          <p:cNvPr id="3" name="Imagen 4" descr="http://upload.wikimedia.org/wikipedia/commons/thumb/e/e5/Hommage_au_Moyen_Age_-_miniature.jpg/250px-Hommage_au_Moyen_Age_-_miniature.jpg">
            <a:hlinkClick r:id="rId2"/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508104" y="1196752"/>
            <a:ext cx="3168352" cy="4536504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Rectángulo"/>
          <p:cNvSpPr/>
          <p:nvPr/>
        </p:nvSpPr>
        <p:spPr>
          <a:xfrm>
            <a:off x="0" y="404664"/>
            <a:ext cx="9144000" cy="62478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ES" sz="4000" dirty="0" smtClean="0">
                <a:latin typeface="+mj-lt"/>
                <a:ea typeface="Dotum" pitchFamily="34" charset="-127"/>
                <a:cs typeface="Times New Roman" pitchFamily="18" charset="0"/>
              </a:rPr>
              <a:t>El homenaje y los rituales en el feudalismo</a:t>
            </a: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s-ES" sz="4000" dirty="0">
              <a:latin typeface="+mj-lt"/>
              <a:ea typeface="Dotum" pitchFamily="34" charset="-127"/>
              <a:cs typeface="Times New Roman" pitchFamily="18" charset="0"/>
            </a:endParaRP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ES" sz="4000" dirty="0" smtClean="0">
                <a:latin typeface="+mj-lt"/>
                <a:ea typeface="Dotum" pitchFamily="34" charset="-127"/>
                <a:cs typeface="Times New Roman" pitchFamily="18" charset="0"/>
              </a:rPr>
              <a:t>Era un ritual en el cual un señor concedía un feudo </a:t>
            </a:r>
            <a:r>
              <a:rPr lang="es-ES" sz="4000" dirty="0">
                <a:latin typeface="+mj-lt"/>
              </a:rPr>
              <a:t>y</a:t>
            </a:r>
            <a:r>
              <a:rPr lang="es-ES" sz="4000" dirty="0" smtClean="0">
                <a:latin typeface="+mj-lt"/>
              </a:rPr>
              <a:t> acogía a los campesinos en su feudo y el campesino se convertía en su siervo la Obligación del señor era protegerles.</a:t>
            </a:r>
            <a:endParaRPr lang="es-CO" sz="4000" dirty="0" smtClean="0">
              <a:latin typeface="+mj-lt"/>
            </a:endParaRP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ES" sz="4000" dirty="0" smtClean="0">
                <a:latin typeface="+mj-lt"/>
              </a:rPr>
              <a:t> </a:t>
            </a:r>
            <a:endParaRPr lang="es-CO" sz="4000" dirty="0" smtClean="0">
              <a:latin typeface="+mj-lt"/>
            </a:endParaRP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s-CO" sz="2000" dirty="0" smtClean="0"/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s-ES" sz="2000" dirty="0" smtClean="0">
              <a:latin typeface="Dotum" pitchFamily="34" charset="-127"/>
              <a:ea typeface="Dotum" pitchFamily="34" charset="-127"/>
              <a:cs typeface="Arial" pitchFamily="34" charset="0"/>
            </a:endParaRP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s-ES" sz="2000" dirty="0" smtClean="0">
              <a:latin typeface="Dotum" pitchFamily="34" charset="-127"/>
              <a:ea typeface="Dotum" pitchFamily="34" charset="-127"/>
              <a:cs typeface="Arial" pitchFamily="34" charset="0"/>
            </a:endParaRPr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s-ES" sz="2000" dirty="0" smtClean="0">
              <a:latin typeface="Dotum" pitchFamily="34" charset="-127"/>
              <a:ea typeface="Dotum" pitchFamily="34" charset="-127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C:\Users\adri\Desktop\partes-de-un-castillo-medieval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747713" y="0"/>
            <a:ext cx="10639426" cy="67818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Rectángulo"/>
          <p:cNvSpPr/>
          <p:nvPr/>
        </p:nvSpPr>
        <p:spPr>
          <a:xfrm>
            <a:off x="0" y="332656"/>
            <a:ext cx="5472608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ES" sz="4000" dirty="0" smtClean="0">
                <a:latin typeface="+mj-lt"/>
                <a:ea typeface="Dotum" pitchFamily="34" charset="-127"/>
                <a:cs typeface="Arial" pitchFamily="34" charset="0"/>
              </a:rPr>
              <a:t>El homenaje</a:t>
            </a: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s-ES" sz="4000" dirty="0">
              <a:latin typeface="+mj-lt"/>
              <a:ea typeface="Dotum" pitchFamily="34" charset="-127"/>
              <a:cs typeface="Arial" pitchFamily="34" charset="0"/>
            </a:endParaRP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ES" sz="4000" dirty="0" smtClean="0">
                <a:latin typeface="+mj-lt"/>
                <a:ea typeface="Dotum" pitchFamily="34" charset="-127"/>
                <a:cs typeface="Arial" pitchFamily="34" charset="0"/>
              </a:rPr>
              <a:t>La figura del Homenaje adquiere mayor relevancia entre los siglos XI al XIII destinándose la parte más noble del castillo para ello, la torre.</a:t>
            </a:r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ES" sz="4000" dirty="0" smtClean="0">
                <a:latin typeface="+mj-lt"/>
                <a:ea typeface="Dotum" pitchFamily="34" charset="-127"/>
                <a:cs typeface="Arial" pitchFamily="34" charset="0"/>
              </a:rPr>
              <a:t> </a:t>
            </a:r>
          </a:p>
        </p:txBody>
      </p:sp>
      <p:pic>
        <p:nvPicPr>
          <p:cNvPr id="3" name="Imagen 6" descr="http://upload.wikimedia.org/wikipedia/commons/thumb/f/fc/Olbrueck02.jpg/250px-Olbrueck02.jpg">
            <a:hlinkClick r:id="rId2"/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652120" y="1412776"/>
            <a:ext cx="3062054" cy="36004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395536" y="404665"/>
            <a:ext cx="8310104" cy="76328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4000" dirty="0" smtClean="0"/>
              <a:t>Funciones del señor y los vasallos</a:t>
            </a:r>
          </a:p>
          <a:p>
            <a:pPr algn="ctr"/>
            <a:endParaRPr lang="es-CO" sz="4000" dirty="0" smtClean="0"/>
          </a:p>
          <a:p>
            <a:pPr algn="ctr">
              <a:buFont typeface="Arial" pitchFamily="34" charset="0"/>
              <a:buChar char="•"/>
            </a:pPr>
            <a:r>
              <a:rPr lang="es-CO" sz="4000" dirty="0" smtClean="0"/>
              <a:t>El señor feudal es juez, administrador y militar de su tierra</a:t>
            </a:r>
          </a:p>
          <a:p>
            <a:pPr algn="ctr">
              <a:buFont typeface="Arial" pitchFamily="34" charset="0"/>
              <a:buChar char="•"/>
            </a:pPr>
            <a:r>
              <a:rPr lang="es-CO" sz="4000" dirty="0" smtClean="0"/>
              <a:t>Todos los señores feudales responden al monarca</a:t>
            </a:r>
          </a:p>
          <a:p>
            <a:pPr algn="ctr">
              <a:buFont typeface="Arial" pitchFamily="34" charset="0"/>
              <a:buChar char="•"/>
            </a:pPr>
            <a:r>
              <a:rPr lang="es-CO" sz="4000" dirty="0" smtClean="0"/>
              <a:t>Los campesinos ofrecen sus servicios y labran la tierra</a:t>
            </a:r>
          </a:p>
          <a:p>
            <a:pPr algn="ctr">
              <a:buFont typeface="Arial" pitchFamily="34" charset="0"/>
              <a:buChar char="•"/>
            </a:pPr>
            <a:endParaRPr lang="es-CO" sz="4000" dirty="0" smtClean="0"/>
          </a:p>
          <a:p>
            <a:pPr algn="ctr">
              <a:buFont typeface="Arial" pitchFamily="34" charset="0"/>
              <a:buChar char="•"/>
            </a:pPr>
            <a:endParaRPr lang="es-CO" sz="4000" dirty="0" smtClean="0"/>
          </a:p>
          <a:p>
            <a:pPr algn="ctr"/>
            <a:endParaRPr lang="es-CO" dirty="0" smtClean="0"/>
          </a:p>
          <a:p>
            <a:endParaRPr lang="es-CO" dirty="0" smtClean="0"/>
          </a:p>
          <a:p>
            <a:endParaRPr lang="es-CO" dirty="0" smtClean="0"/>
          </a:p>
          <a:p>
            <a:endParaRPr lang="es-CO" dirty="0" smtClean="0"/>
          </a:p>
          <a:p>
            <a:endParaRPr lang="es-CO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395536" y="491479"/>
            <a:ext cx="8136904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sz="40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Dotum" pitchFamily="34" charset="-127"/>
                <a:cs typeface="Times New Roman" pitchFamily="18" charset="0"/>
              </a:rPr>
              <a:t>Economía feudal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CO" sz="40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j-lt"/>
              <a:ea typeface="Dotum" pitchFamily="34" charset="-127"/>
              <a:cs typeface="Arial" pitchFamily="34" charset="0"/>
            </a:endParaRP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s-ES" sz="4000" i="0" u="none" strike="noStrike" cap="none" normalizeH="0" baseline="0" dirty="0" smtClean="0">
                <a:ln>
                  <a:noFill/>
                </a:ln>
                <a:effectLst/>
                <a:latin typeface="+mj-lt"/>
                <a:ea typeface="Dotum" pitchFamily="34" charset="-127"/>
                <a:cs typeface="Times New Roman" pitchFamily="18" charset="0"/>
              </a:rPr>
              <a:t>se extienden modernas técnicas agrícolas</a:t>
            </a:r>
            <a:r>
              <a:rPr lang="es-ES" sz="4000" dirty="0">
                <a:latin typeface="+mj-lt"/>
                <a:ea typeface="Dotum" pitchFamily="34" charset="-127"/>
                <a:cs typeface="Times New Roman" pitchFamily="18" charset="0"/>
              </a:rPr>
              <a:t>,</a:t>
            </a:r>
            <a:r>
              <a:rPr lang="es-ES" sz="4000" dirty="0" smtClean="0">
                <a:latin typeface="+mj-lt"/>
                <a:ea typeface="Dotum" pitchFamily="34" charset="-127"/>
                <a:cs typeface="Times New Roman" pitchFamily="18" charset="0"/>
              </a:rPr>
              <a:t> el uso de los molinos, cultivos y Los instrumentos de uso agrícola (el arado) y</a:t>
            </a:r>
            <a:endParaRPr lang="es-CO" sz="4000" dirty="0" smtClean="0">
              <a:latin typeface="+mj-lt"/>
            </a:endParaRP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ES" sz="4000" dirty="0" smtClean="0">
                <a:latin typeface="+mj-lt"/>
                <a:ea typeface="Dotum" pitchFamily="34" charset="-127"/>
                <a:cs typeface="Times New Roman" pitchFamily="18" charset="0"/>
              </a:rPr>
              <a:t>mejoran los métodos de enganche de animales.</a:t>
            </a:r>
            <a:endParaRPr lang="es-CO" sz="4000" dirty="0" smtClean="0">
              <a:latin typeface="+mj-lt"/>
            </a:endParaRPr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s-ES" sz="40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j-lt"/>
              <a:ea typeface="Dotum" pitchFamily="34" charset="-127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C:\Users\adri\Desktop\z10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396552" y="0"/>
            <a:ext cx="9906374" cy="705829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adri\Desktop\feudo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540568" y="0"/>
            <a:ext cx="11477153" cy="6858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0" y="0"/>
            <a:ext cx="9396536" cy="87100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4000" dirty="0" smtClean="0">
                <a:latin typeface="+mj-lt"/>
              </a:rPr>
              <a:t>Clases sociales en el feudalismo</a:t>
            </a:r>
          </a:p>
          <a:p>
            <a:endParaRPr lang="es-CO" sz="4000" dirty="0">
              <a:latin typeface="+mj-lt"/>
            </a:endParaRPr>
          </a:p>
          <a:p>
            <a:pPr>
              <a:buFont typeface="Arial" pitchFamily="34" charset="0"/>
              <a:buChar char="•"/>
            </a:pPr>
            <a:r>
              <a:rPr lang="es-ES" sz="4000" dirty="0" smtClean="0">
                <a:latin typeface="+mj-lt"/>
                <a:ea typeface="Dotum" pitchFamily="34" charset="-127"/>
              </a:rPr>
              <a:t>Clero:</a:t>
            </a:r>
          </a:p>
          <a:p>
            <a:r>
              <a:rPr lang="es-ES" sz="4000" dirty="0" smtClean="0">
                <a:latin typeface="+mj-lt"/>
                <a:ea typeface="Dotum" pitchFamily="34" charset="-127"/>
              </a:rPr>
              <a:t>Los que le sirven </a:t>
            </a:r>
          </a:p>
          <a:p>
            <a:r>
              <a:rPr lang="es-ES" sz="4000" dirty="0" smtClean="0">
                <a:latin typeface="+mj-lt"/>
                <a:ea typeface="Dotum" pitchFamily="34" charset="-127"/>
              </a:rPr>
              <a:t>a Dios</a:t>
            </a:r>
          </a:p>
          <a:p>
            <a:endParaRPr lang="es-ES" sz="4000" dirty="0" smtClean="0">
              <a:latin typeface="+mj-lt"/>
              <a:ea typeface="Dotum" pitchFamily="34" charset="-127"/>
            </a:endParaRPr>
          </a:p>
          <a:p>
            <a:pPr>
              <a:buFont typeface="Arial" pitchFamily="34" charset="0"/>
              <a:buChar char="•"/>
            </a:pPr>
            <a:r>
              <a:rPr lang="es-ES" sz="4000" dirty="0" smtClean="0">
                <a:latin typeface="+mj-lt"/>
                <a:ea typeface="Dotum" pitchFamily="34" charset="-127"/>
              </a:rPr>
              <a:t>Villanos:</a:t>
            </a:r>
          </a:p>
          <a:p>
            <a:r>
              <a:rPr lang="es-ES" sz="4000" dirty="0" smtClean="0">
                <a:latin typeface="+mj-lt"/>
                <a:ea typeface="Dotum" pitchFamily="34" charset="-127"/>
              </a:rPr>
              <a:t>Combatientes</a:t>
            </a:r>
          </a:p>
          <a:p>
            <a:endParaRPr lang="es-ES" sz="4000" dirty="0" smtClean="0">
              <a:latin typeface="+mj-lt"/>
              <a:ea typeface="Dotum" pitchFamily="34" charset="-127"/>
            </a:endParaRPr>
          </a:p>
          <a:p>
            <a:pPr>
              <a:buFont typeface="Arial" pitchFamily="34" charset="0"/>
              <a:buChar char="•"/>
            </a:pPr>
            <a:r>
              <a:rPr lang="es-ES" sz="4000" dirty="0" smtClean="0">
                <a:latin typeface="+mj-lt"/>
                <a:ea typeface="Dotum" pitchFamily="34" charset="-127"/>
              </a:rPr>
              <a:t>Ciervos: los que laboran </a:t>
            </a:r>
          </a:p>
          <a:p>
            <a:endParaRPr lang="es-CO" sz="4000" dirty="0" smtClean="0">
              <a:latin typeface="+mj-lt"/>
              <a:ea typeface="Dotum" pitchFamily="34" charset="-127"/>
            </a:endParaRPr>
          </a:p>
          <a:p>
            <a:pPr>
              <a:buFont typeface="Arial" pitchFamily="34" charset="0"/>
              <a:buChar char="•"/>
            </a:pPr>
            <a:endParaRPr lang="es-CO" sz="4000" dirty="0" smtClean="0">
              <a:latin typeface="+mj-lt"/>
            </a:endParaRPr>
          </a:p>
          <a:p>
            <a:endParaRPr lang="es-CO" sz="4000" dirty="0" smtClean="0">
              <a:latin typeface="+mj-lt"/>
            </a:endParaRPr>
          </a:p>
          <a:p>
            <a:endParaRPr lang="es-CO" sz="4000" dirty="0">
              <a:latin typeface="+mj-lt"/>
            </a:endParaRPr>
          </a:p>
        </p:txBody>
      </p:sp>
      <p:pic>
        <p:nvPicPr>
          <p:cNvPr id="6146" name="Picture 2" descr="C:\Users\adri\Desktop\piramfeu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716016" y="1052736"/>
            <a:ext cx="3607965" cy="432048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Rectángulo"/>
          <p:cNvSpPr/>
          <p:nvPr/>
        </p:nvSpPr>
        <p:spPr>
          <a:xfrm>
            <a:off x="827584" y="56138"/>
            <a:ext cx="7416824" cy="80329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</a:pPr>
            <a:r>
              <a:rPr kumimoji="0" lang="es-ES" sz="40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Dotum" pitchFamily="34" charset="-127"/>
                <a:cs typeface="Times New Roman" pitchFamily="18" charset="0"/>
              </a:rPr>
              <a:t>Los estamentos sociales</a:t>
            </a:r>
          </a:p>
          <a:p>
            <a:pPr lvl="0" algn="ctr" fontAlgn="base">
              <a:spcBef>
                <a:spcPct val="0"/>
              </a:spcBef>
              <a:spcAft>
                <a:spcPct val="0"/>
              </a:spcAft>
            </a:pPr>
            <a:endParaRPr kumimoji="0" lang="es-ES" sz="4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j-lt"/>
              <a:ea typeface="Dotum" pitchFamily="34" charset="-127"/>
              <a:cs typeface="Times New Roman" pitchFamily="18" charset="0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</a:pPr>
            <a:r>
              <a:rPr lang="es-ES" sz="4000" dirty="0" smtClean="0">
                <a:latin typeface="+mj-lt"/>
                <a:ea typeface="Dotum" pitchFamily="34" charset="-127"/>
                <a:cs typeface="Times New Roman" pitchFamily="18" charset="0"/>
              </a:rPr>
              <a:t>el grupo de los privilegiados: todos ellos señores, eclesiásticos  y caballeros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s-ES" sz="4000" dirty="0" smtClean="0">
              <a:latin typeface="+mj-lt"/>
              <a:ea typeface="Dotum" pitchFamily="34" charset="-127"/>
              <a:cs typeface="Times New Roman" pitchFamily="18" charset="0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</a:pPr>
            <a:r>
              <a:rPr lang="es-ES" sz="4000" dirty="0" smtClean="0">
                <a:latin typeface="+mj-lt"/>
                <a:ea typeface="Dotum" pitchFamily="34" charset="-127"/>
                <a:cs typeface="Times New Roman" pitchFamily="18" charset="0"/>
              </a:rPr>
              <a:t>Los no privilegiados: eran la burguesía; los artesanos, los sirvientes y los campesinos</a:t>
            </a:r>
            <a:endParaRPr lang="es-ES" sz="4000" dirty="0" smtClean="0">
              <a:latin typeface="+mj-lt"/>
              <a:ea typeface="Dotum" pitchFamily="34" charset="-127"/>
              <a:cs typeface="Arial" pitchFamily="34" charset="0"/>
            </a:endParaRPr>
          </a:p>
          <a:p>
            <a:pPr lvl="0" algn="ctr"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</a:pPr>
            <a:endParaRPr lang="es-ES" sz="4000" dirty="0" smtClean="0">
              <a:latin typeface="Dotum" pitchFamily="34" charset="-127"/>
              <a:ea typeface="Dotum" pitchFamily="34" charset="-127"/>
              <a:cs typeface="Times New Roman" pitchFamily="18" charset="0"/>
            </a:endParaRPr>
          </a:p>
          <a:p>
            <a:pPr lvl="0" algn="ctr"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</a:pPr>
            <a:endParaRPr lang="es-ES" sz="4000" b="1" dirty="0" smtClean="0">
              <a:latin typeface="Dotum" pitchFamily="34" charset="-127"/>
              <a:ea typeface="Dotum" pitchFamily="34" charset="-127"/>
              <a:cs typeface="Arial" pitchFamily="34" charset="0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</a:pPr>
            <a:endParaRPr lang="es-CO" sz="4000" b="1" dirty="0" smtClean="0">
              <a:latin typeface="Dotum" pitchFamily="34" charset="-127"/>
              <a:ea typeface="Dotum" pitchFamily="34" charset="-127"/>
              <a:cs typeface="Arial" pitchFamily="34" charset="0"/>
            </a:endParaRPr>
          </a:p>
          <a:p>
            <a:pPr lvl="0" algn="ctr" fontAlgn="base">
              <a:spcBef>
                <a:spcPct val="0"/>
              </a:spcBef>
              <a:spcAft>
                <a:spcPct val="0"/>
              </a:spcAft>
            </a:pPr>
            <a:endParaRPr kumimoji="0" lang="es-ES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Dotum" pitchFamily="34" charset="-127"/>
              <a:ea typeface="Dotum" pitchFamily="34" charset="-127"/>
              <a:cs typeface="Times New Roman" pitchFamily="18" charset="0"/>
            </a:endParaRPr>
          </a:p>
          <a:p>
            <a:pPr lvl="0" algn="ctr"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</a:pPr>
            <a:endParaRPr kumimoji="0" lang="es-CO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Dotum" pitchFamily="34" charset="-127"/>
              <a:ea typeface="Dotum" pitchFamily="34" charset="-127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1 Grupo"/>
          <p:cNvGrpSpPr/>
          <p:nvPr/>
        </p:nvGrpSpPr>
        <p:grpSpPr>
          <a:xfrm>
            <a:off x="251520" y="260648"/>
            <a:ext cx="8542207" cy="5956890"/>
            <a:chOff x="-153783" y="230741"/>
            <a:chExt cx="8542207" cy="5956890"/>
          </a:xfrm>
        </p:grpSpPr>
        <p:pic>
          <p:nvPicPr>
            <p:cNvPr id="3" name="2 Imagen" descr="http://upload.wikimedia.org/wikipedia/commons/thumb/c/c9/Croix_fleur-de-lys%C3%A9e_geules.png/200px-Croix_fleur-de-lys%C3%A9e_geules.png">
              <a:hlinkClick r:id="rId2"/>
            </p:cNvPr>
            <p:cNvPicPr/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791580" y="1844824"/>
              <a:ext cx="3420380" cy="174403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4" name="Rectangle 1"/>
            <p:cNvSpPr>
              <a:spLocks noChangeArrowheads="1"/>
            </p:cNvSpPr>
            <p:nvPr/>
          </p:nvSpPr>
          <p:spPr bwMode="auto">
            <a:xfrm>
              <a:off x="-153783" y="984200"/>
              <a:ext cx="4869799" cy="6463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s-ES" sz="36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Dotum" pitchFamily="34" charset="-127"/>
                  <a:ea typeface="Dotum" pitchFamily="34" charset="-127"/>
                  <a:cs typeface="Times New Roman" pitchFamily="18" charset="0"/>
                </a:rPr>
                <a:t>Los eclesiásticos</a:t>
              </a:r>
              <a:endParaRPr kumimoji="0" lang="es-ES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Dotum" pitchFamily="34" charset="-127"/>
                <a:ea typeface="Dotum" pitchFamily="34" charset="-127"/>
                <a:cs typeface="Arial" pitchFamily="34" charset="0"/>
              </a:endParaRPr>
            </a:p>
          </p:txBody>
        </p:sp>
        <p:sp>
          <p:nvSpPr>
            <p:cNvPr id="5" name="Rectangle 2"/>
            <p:cNvSpPr>
              <a:spLocks noChangeArrowheads="1"/>
            </p:cNvSpPr>
            <p:nvPr/>
          </p:nvSpPr>
          <p:spPr bwMode="auto">
            <a:xfrm>
              <a:off x="1475656" y="230741"/>
              <a:ext cx="6840760" cy="70788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s-ES" sz="400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Times New Roman" pitchFamily="18" charset="0"/>
                  <a:cs typeface="Times New Roman" pitchFamily="18" charset="0"/>
                </a:rPr>
                <a:t>Los estamentos sociales</a:t>
              </a:r>
              <a:endParaRPr kumimoji="0" lang="es-ES" sz="40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6" name="Rectangle 3"/>
            <p:cNvSpPr>
              <a:spLocks noChangeArrowheads="1"/>
            </p:cNvSpPr>
            <p:nvPr/>
          </p:nvSpPr>
          <p:spPr bwMode="auto">
            <a:xfrm>
              <a:off x="4819332" y="953423"/>
              <a:ext cx="3569092" cy="6463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s-ES" sz="36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Dotum" pitchFamily="34" charset="-127"/>
                  <a:ea typeface="Dotum" pitchFamily="34" charset="-127"/>
                  <a:cs typeface="Times New Roman" pitchFamily="18" charset="0"/>
                </a:rPr>
                <a:t>La caballería</a:t>
              </a:r>
              <a:endParaRPr kumimoji="0" lang="es-ES" sz="3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Dotum" pitchFamily="34" charset="-127"/>
                <a:ea typeface="Dotum" pitchFamily="34" charset="-127"/>
                <a:cs typeface="Arial" pitchFamily="34" charset="0"/>
              </a:endParaRPr>
            </a:p>
          </p:txBody>
        </p:sp>
        <p:pic>
          <p:nvPicPr>
            <p:cNvPr id="7" name="6 Imagen" descr="http://upload.wikimedia.org/wikipedia/commons/thumb/4/43/Burg_Nideggen05.jpg/250px-Burg_Nideggen05.jpg">
              <a:hlinkClick r:id="rId4"/>
            </p:cNvPr>
            <p:cNvPicPr/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4833258" y="1772816"/>
              <a:ext cx="3128104" cy="177993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8" name="Rectangle 4"/>
            <p:cNvSpPr>
              <a:spLocks noChangeArrowheads="1"/>
            </p:cNvSpPr>
            <p:nvPr/>
          </p:nvSpPr>
          <p:spPr bwMode="auto">
            <a:xfrm>
              <a:off x="26886" y="3894718"/>
              <a:ext cx="4833146" cy="6463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s-ES" sz="36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Dotum" pitchFamily="34" charset="-127"/>
                  <a:ea typeface="Dotum" pitchFamily="34" charset="-127"/>
                  <a:cs typeface="Times New Roman" pitchFamily="18" charset="0"/>
                </a:rPr>
                <a:t>Los no privilegiados</a:t>
              </a:r>
              <a:endParaRPr kumimoji="0" lang="es-ES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Dotum" pitchFamily="34" charset="-127"/>
                <a:ea typeface="Dotum" pitchFamily="34" charset="-127"/>
                <a:cs typeface="Arial" pitchFamily="34" charset="0"/>
              </a:endParaRPr>
            </a:p>
          </p:txBody>
        </p:sp>
        <p:pic>
          <p:nvPicPr>
            <p:cNvPr id="9" name="8 Imagen" descr="http://upload.wikimedia.org/wikipedia/commons/thumb/f/f7/Hunterian_Psalter_c._1170_Mowing_hay.jpg/71px-Hunterian_Psalter_c._1170_Mowing_hay.jpg">
              <a:hlinkClick r:id="rId6"/>
            </p:cNvPr>
            <p:cNvPicPr/>
            <p:nvPr/>
          </p:nvPicPr>
          <p:blipFill>
            <a:blip r:embed="rId7" cstate="print"/>
            <a:srcRect/>
            <a:stretch>
              <a:fillRect/>
            </a:stretch>
          </p:blipFill>
          <p:spPr bwMode="auto">
            <a:xfrm>
              <a:off x="1932750" y="4869160"/>
              <a:ext cx="1487122" cy="13184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0" name="Rectangle 5"/>
            <p:cNvSpPr>
              <a:spLocks noChangeArrowheads="1"/>
            </p:cNvSpPr>
            <p:nvPr/>
          </p:nvSpPr>
          <p:spPr bwMode="auto">
            <a:xfrm>
              <a:off x="5202853" y="3905751"/>
              <a:ext cx="2825531" cy="6463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s-ES" sz="36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Dotum" pitchFamily="34" charset="-127"/>
                  <a:ea typeface="Dotum" pitchFamily="34" charset="-127"/>
                  <a:cs typeface="Times New Roman" pitchFamily="18" charset="0"/>
                </a:rPr>
                <a:t>Los villanos</a:t>
              </a:r>
              <a:endParaRPr kumimoji="0" lang="es-ES" sz="3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Dotum" pitchFamily="34" charset="-127"/>
                <a:ea typeface="Dotum" pitchFamily="34" charset="-127"/>
                <a:cs typeface="Arial" pitchFamily="34" charset="0"/>
              </a:endParaRPr>
            </a:p>
          </p:txBody>
        </p:sp>
        <p:pic>
          <p:nvPicPr>
            <p:cNvPr id="11" name="10 Imagen" descr="http://upload.wikimedia.org/wikipedia/commons/thumb/5/53/3-piantagione%2CTaccuino_Sanitatis%2C_Casanatense_4182..jpg/109px-3-piantagione%2CTaccuino_Sanitatis%2C_Casanatense_4182..jpg">
              <a:hlinkClick r:id="rId8"/>
            </p:cNvPr>
            <p:cNvPicPr/>
            <p:nvPr/>
          </p:nvPicPr>
          <p:blipFill>
            <a:blip r:embed="rId9" cstate="print"/>
            <a:srcRect/>
            <a:stretch>
              <a:fillRect/>
            </a:stretch>
          </p:blipFill>
          <p:spPr bwMode="auto">
            <a:xfrm>
              <a:off x="5657400" y="4725144"/>
              <a:ext cx="2113065" cy="13184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Rectángulo"/>
          <p:cNvSpPr/>
          <p:nvPr/>
        </p:nvSpPr>
        <p:spPr>
          <a:xfrm>
            <a:off x="251520" y="836712"/>
            <a:ext cx="4824536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ES" sz="4000" dirty="0" smtClean="0">
                <a:latin typeface="+mj-lt"/>
                <a:ea typeface="Dotum" pitchFamily="34" charset="-127"/>
                <a:cs typeface="Times New Roman" pitchFamily="18" charset="0"/>
              </a:rPr>
              <a:t>La iglesia en el feudalismo</a:t>
            </a:r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s-ES" sz="4000" dirty="0">
              <a:latin typeface="+mj-lt"/>
              <a:ea typeface="Dotum" pitchFamily="34" charset="-127"/>
              <a:cs typeface="Times New Roman" pitchFamily="18" charset="0"/>
            </a:endParaRPr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ES" sz="4000" dirty="0" smtClean="0">
                <a:latin typeface="+mj-lt"/>
                <a:ea typeface="Dotum" pitchFamily="34" charset="-127"/>
                <a:cs typeface="Times New Roman" pitchFamily="18" charset="0"/>
              </a:rPr>
              <a:t>Recibían feudos y se convertían en vasallos de personas que no pertenecían a la iglesia  </a:t>
            </a:r>
            <a:endParaRPr lang="es-ES" sz="4000" dirty="0" smtClean="0">
              <a:latin typeface="+mj-lt"/>
              <a:ea typeface="Dotum" pitchFamily="34" charset="-127"/>
              <a:cs typeface="Arial" pitchFamily="34" charset="0"/>
            </a:endParaRPr>
          </a:p>
        </p:txBody>
      </p:sp>
      <p:pic>
        <p:nvPicPr>
          <p:cNvPr id="4" name="Picture 2" descr="C:\Users\adri\Desktop\feudalismo1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588224" y="332656"/>
            <a:ext cx="2088232" cy="609222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259632" y="240804"/>
            <a:ext cx="6984776" cy="7232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4000" dirty="0" smtClean="0"/>
              <a:t>Antecedentes a la decadencia del feudalismo</a:t>
            </a:r>
          </a:p>
          <a:p>
            <a:pPr algn="ctr"/>
            <a:endParaRPr lang="es-CO" sz="4000" dirty="0" smtClean="0"/>
          </a:p>
          <a:p>
            <a:pPr algn="ctr"/>
            <a:r>
              <a:rPr lang="es-CO" sz="4000" dirty="0" smtClean="0"/>
              <a:t>XIII La mejora de las técnicas  agrícolas y el crecimiento del comercio hizo que la burguesía redujera los tributos y garantizara las formas de comercio seguras de justicia e igualdad </a:t>
            </a:r>
          </a:p>
          <a:p>
            <a:pPr algn="ctr"/>
            <a:endParaRPr lang="es-CO" sz="4000" dirty="0" smtClean="0"/>
          </a:p>
          <a:p>
            <a:pPr algn="ctr"/>
            <a:endParaRPr lang="es-CO" sz="1200" dirty="0" smtClean="0"/>
          </a:p>
          <a:p>
            <a:pPr algn="ctr"/>
            <a:r>
              <a:rPr lang="es-CO" sz="1200" dirty="0" smtClean="0"/>
              <a:t> </a:t>
            </a:r>
            <a:endParaRPr lang="es-CO" sz="12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467544" y="404664"/>
            <a:ext cx="8244408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4000" dirty="0" smtClean="0">
                <a:latin typeface="+mj-lt"/>
              </a:rPr>
              <a:t>Decadencia del feudalismo</a:t>
            </a:r>
          </a:p>
          <a:p>
            <a:pPr algn="ctr"/>
            <a:endParaRPr lang="es-CO" sz="4000" dirty="0" smtClean="0">
              <a:latin typeface="+mj-lt"/>
            </a:endParaRPr>
          </a:p>
          <a:p>
            <a:pPr lvl="0" algn="ctr"/>
            <a:r>
              <a:rPr lang="es-CO" sz="4000" dirty="0" smtClean="0">
                <a:latin typeface="+mj-lt"/>
              </a:rPr>
              <a:t>A partir del siglo XIII inicia su decadencia, en el siglo </a:t>
            </a:r>
            <a:r>
              <a:rPr lang="es-ES" sz="4000" dirty="0" smtClean="0">
                <a:latin typeface="+mj-lt"/>
                <a:ea typeface="Dotum" pitchFamily="34" charset="-127"/>
                <a:cs typeface="Times New Roman" pitchFamily="18" charset="0"/>
              </a:rPr>
              <a:t>XIV y XV Durante la guerra las caballerías francesa e inglesa combatieron duramente y las batallas se ganaron dando paso a un sistema diferente. </a:t>
            </a:r>
            <a:endParaRPr lang="es-ES" sz="4000" dirty="0" smtClean="0">
              <a:latin typeface="+mj-lt"/>
              <a:ea typeface="Dotum" pitchFamily="34" charset="-127"/>
              <a:cs typeface="Arial" pitchFamily="34" charset="0"/>
            </a:endParaRPr>
          </a:p>
          <a:p>
            <a:pPr algn="ctr"/>
            <a:r>
              <a:rPr lang="es-CO" sz="4000" dirty="0" smtClean="0">
                <a:latin typeface="+mj-lt"/>
              </a:rPr>
              <a:t> </a:t>
            </a:r>
            <a:endParaRPr lang="es-CO" sz="4000" dirty="0">
              <a:latin typeface="+mj-lt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Rectángulo"/>
          <p:cNvSpPr/>
          <p:nvPr/>
        </p:nvSpPr>
        <p:spPr>
          <a:xfrm>
            <a:off x="1115616" y="1196752"/>
            <a:ext cx="7560840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4000" dirty="0" smtClean="0">
                <a:latin typeface="Calibri" pitchFamily="34" charset="0"/>
                <a:ea typeface="Times New Roman" pitchFamily="18" charset="0"/>
                <a:cs typeface="Times New Roman" pitchFamily="18" charset="0"/>
              </a:rPr>
              <a:t>Fin del feudalismo</a:t>
            </a:r>
          </a:p>
          <a:p>
            <a:pPr algn="ctr"/>
            <a:endParaRPr lang="es-ES" sz="4000" dirty="0">
              <a:latin typeface="Calibri" pitchFamily="34" charset="0"/>
              <a:ea typeface="Times New Roman" pitchFamily="18" charset="0"/>
              <a:cs typeface="Times New Roman" pitchFamily="18" charset="0"/>
            </a:endParaRPr>
          </a:p>
          <a:p>
            <a:pPr algn="ctr"/>
            <a:r>
              <a:rPr lang="es-ES" sz="4000" dirty="0" smtClean="0">
                <a:latin typeface="Calibri" pitchFamily="34" charset="0"/>
                <a:ea typeface="Times New Roman" pitchFamily="18" charset="0"/>
                <a:cs typeface="Times New Roman" pitchFamily="18" charset="0"/>
              </a:rPr>
              <a:t>La Revolución francesa suprimió "todos los derechos feudales" en la noche del 4 de agosto de 1789 y definitivamente el régimen feudal, con el decreto del 11 de agosto.</a:t>
            </a:r>
            <a:endParaRPr lang="es-CO" sz="400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s-ES" dirty="0" smtClean="0"/>
              <a:t>LA 1ra REVOLUCION INDUSTRIAL </a:t>
            </a:r>
            <a:endParaRPr lang="es-ES" dirty="0"/>
          </a:p>
        </p:txBody>
      </p:sp>
      <p:sp>
        <p:nvSpPr>
          <p:cNvPr id="5" name="4 Marcador de contenido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s-ES" dirty="0" smtClean="0"/>
              <a:t>Tiene sus comienzos entre los años 1780 al 1860</a:t>
            </a:r>
          </a:p>
          <a:p>
            <a:endParaRPr lang="es-ES" dirty="0" smtClean="0"/>
          </a:p>
          <a:p>
            <a:endParaRPr lang="es-ES" dirty="0" smtClean="0"/>
          </a:p>
          <a:p>
            <a:r>
              <a:rPr lang="es-ES" dirty="0" smtClean="0"/>
              <a:t>Importantes cambios y mutaciones económicas y sociales. </a:t>
            </a:r>
            <a:endParaRPr lang="es-ES" dirty="0"/>
          </a:p>
        </p:txBody>
      </p:sp>
      <p:pic>
        <p:nvPicPr>
          <p:cNvPr id="9" name="8 Marcador de contenido" descr="http://www.sologif.net/Mecanica/Maquinas/maquina-02.gif"/>
          <p:cNvPicPr>
            <a:picLocks noGrp="1"/>
          </p:cNvPicPr>
          <p:nvPr>
            <p:ph sz="half" idx="2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1" y="2000240"/>
            <a:ext cx="3857652" cy="4071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Expansión del comercio 	</a:t>
            </a:r>
            <a:endParaRPr lang="es-ES" dirty="0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endParaRPr lang="es-ES" dirty="0" smtClean="0"/>
          </a:p>
          <a:p>
            <a:pPr>
              <a:buNone/>
            </a:pPr>
            <a:r>
              <a:rPr lang="es-ES" dirty="0" smtClean="0"/>
              <a:t>    Las industrias de la época obtuvieron nuevas tecnologías que permitieron el avance de la manufactura y desarrollo de procesos. </a:t>
            </a:r>
          </a:p>
          <a:p>
            <a:endParaRPr lang="es-ES" dirty="0" smtClean="0"/>
          </a:p>
          <a:p>
            <a:pPr>
              <a:buNone/>
            </a:pPr>
            <a:endParaRPr lang="es-ES" dirty="0" smtClean="0"/>
          </a:p>
        </p:txBody>
      </p:sp>
      <p:pic>
        <p:nvPicPr>
          <p:cNvPr id="7" name="4 Marcador de contenido" descr="http://t0.gstatic.com/images?q=tbn:jwiY2BN0-0D-5M:http://www.sangabrielcajica.edu.co/carloslleras/tren.gif">
            <a:hlinkClick r:id="rId2"/>
          </p:cNvPr>
          <p:cNvPicPr>
            <a:picLocks noGrp="1"/>
          </p:cNvPicPr>
          <p:nvPr>
            <p:ph sz="half" idx="2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286248" y="1571612"/>
            <a:ext cx="4286279" cy="45720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Demanda y oferta </a:t>
            </a:r>
            <a:endParaRPr lang="es-ES" dirty="0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s-ES" dirty="0" smtClean="0"/>
          </a:p>
          <a:p>
            <a:r>
              <a:rPr lang="es-ES" dirty="0" smtClean="0"/>
              <a:t>Se incremento el consumo y la producción de la industria textil y el uso del ferrocarril  se hizo cada vez mas rutinario. </a:t>
            </a:r>
          </a:p>
        </p:txBody>
      </p:sp>
      <p:pic>
        <p:nvPicPr>
          <p:cNvPr id="6" name="5 Imagen" descr="http://colombiamedica.univalle.edu.co/VOL31NO2/fig1oferta.gif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429124" y="1714488"/>
            <a:ext cx="4217035" cy="41434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Efecto de la comercialización</a:t>
            </a:r>
            <a:endParaRPr lang="es-ES" dirty="0"/>
          </a:p>
        </p:txBody>
      </p:sp>
      <p:sp>
        <p:nvSpPr>
          <p:cNvPr id="5" name="4 Rectángulo"/>
          <p:cNvSpPr/>
          <p:nvPr/>
        </p:nvSpPr>
        <p:spPr>
          <a:xfrm>
            <a:off x="500034" y="1714488"/>
            <a:ext cx="4071966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s-ES" sz="3200" dirty="0" smtClean="0"/>
          </a:p>
          <a:p>
            <a:r>
              <a:rPr lang="es-ES" sz="3200" dirty="0" smtClean="0"/>
              <a:t>Se abren las fronteras para la comercialización de diferentes productos</a:t>
            </a:r>
          </a:p>
        </p:txBody>
      </p:sp>
      <p:pic>
        <p:nvPicPr>
          <p:cNvPr id="6" name="4 Marcador de contenido" descr="http://latinpymes.com/site/wp-content/uploads/2010/02/El-comercio-mira-hacia-Espa%C3%B1a.jpg"/>
          <p:cNvPicPr>
            <a:picLocks noGrp="1"/>
          </p:cNvPicPr>
          <p:nvPr>
            <p:ph sz="half" idx="2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648200" y="2470944"/>
            <a:ext cx="4038600" cy="302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Etapas de la 1ra Revolución Industrial </a:t>
            </a:r>
            <a:endParaRPr lang="es-ES" dirty="0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s-ES" dirty="0" smtClean="0"/>
          </a:p>
          <a:p>
            <a:r>
              <a:rPr lang="es-ES" dirty="0" smtClean="0"/>
              <a:t>Impulso del desarrollo profesional de las empresas</a:t>
            </a:r>
          </a:p>
          <a:p>
            <a:endParaRPr lang="es-ES" dirty="0" smtClean="0"/>
          </a:p>
          <a:p>
            <a:r>
              <a:rPr lang="es-ES" dirty="0" smtClean="0"/>
              <a:t>Se pasa del taller de familia a la fabrica</a:t>
            </a:r>
            <a:endParaRPr lang="es-ES" dirty="0"/>
          </a:p>
        </p:txBody>
      </p:sp>
      <p:pic>
        <p:nvPicPr>
          <p:cNvPr id="5" name="4 Imagen" descr="http://www.segundoenfoque.com.ar/obreros_fabrica.jpg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000628" y="1571612"/>
            <a:ext cx="3371215" cy="42862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 smtClean="0"/>
              <a:t>Etapas de la primera revolución industrial</a:t>
            </a:r>
            <a:br>
              <a:rPr lang="es-ES" dirty="0" smtClean="0"/>
            </a:br>
            <a:endParaRPr lang="es-ES" dirty="0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s-ES" dirty="0" smtClean="0"/>
              <a:t>Transformaciones sociales, burguesía y proletariado. </a:t>
            </a:r>
          </a:p>
          <a:p>
            <a:endParaRPr lang="es-ES" dirty="0" smtClean="0"/>
          </a:p>
          <a:p>
            <a:r>
              <a:rPr lang="es-ES" dirty="0" smtClean="0"/>
              <a:t>Aumento de la demografía europea. </a:t>
            </a:r>
            <a:endParaRPr lang="es-ES" dirty="0"/>
          </a:p>
        </p:txBody>
      </p:sp>
      <p:pic>
        <p:nvPicPr>
          <p:cNvPr id="6" name="5 Marcador de contenido" descr="http://www.radiosantafe.com/wp-content/uploads/2008/08/dolar-cotizacion3-npl-229x200.jpg"/>
          <p:cNvPicPr>
            <a:picLocks noGrp="1"/>
          </p:cNvPicPr>
          <p:nvPr>
            <p:ph sz="half" idx="2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429124" y="1857364"/>
            <a:ext cx="4071966" cy="43577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dirty="0" smtClean="0"/>
              <a:t>2da revolución Industrial </a:t>
            </a:r>
            <a:endParaRPr lang="es-ES" dirty="0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s-ES" sz="2800" dirty="0" smtClean="0"/>
              <a:t>Tiene sus comienzos entre los años 1860 al 1914</a:t>
            </a:r>
          </a:p>
          <a:p>
            <a:endParaRPr lang="es-ES" dirty="0" smtClean="0"/>
          </a:p>
          <a:p>
            <a:r>
              <a:rPr lang="es-ES" sz="2800" dirty="0" smtClean="0"/>
              <a:t>Nuevas fuentes de energía (petróleo, electricidad). </a:t>
            </a:r>
            <a:endParaRPr lang="es-ES" sz="2800" dirty="0"/>
          </a:p>
        </p:txBody>
      </p:sp>
      <p:pic>
        <p:nvPicPr>
          <p:cNvPr id="5" name="4 Marcador de contenido" descr="http://www.ciens.ula.ve/~lopez/petroleo"/>
          <p:cNvPicPr>
            <a:picLocks noGrp="1"/>
          </p:cNvPicPr>
          <p:nvPr>
            <p:ph sz="half" idx="2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0" y="1722438"/>
            <a:ext cx="3337380" cy="4525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dirty="0" smtClean="0"/>
              <a:t>Producción</a:t>
            </a:r>
            <a:endParaRPr lang="es-ES" dirty="0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s-ES" dirty="0" smtClean="0"/>
          </a:p>
          <a:p>
            <a:r>
              <a:rPr lang="es-ES" dirty="0" smtClean="0"/>
              <a:t>Aparece la industria química y la siderurgia que transforma el níquel, el aluminio y otros metales. </a:t>
            </a:r>
          </a:p>
          <a:p>
            <a:endParaRPr lang="es-ES" dirty="0" smtClean="0"/>
          </a:p>
          <a:p>
            <a:r>
              <a:rPr lang="es-ES" dirty="0" smtClean="0"/>
              <a:t>Además la industria alimentaria. </a:t>
            </a:r>
            <a:endParaRPr lang="es-ES" dirty="0"/>
          </a:p>
        </p:txBody>
      </p:sp>
      <p:pic>
        <p:nvPicPr>
          <p:cNvPr id="5" name="4 Marcador de contenido" descr="http://t3.gstatic.com/images?q=tbn:DjmbpJQ3EVcR_M:http://mercadeoypublicidad.com/Secciones/img_articulos/7800_medicamentos_Ilustracion.gif">
            <a:hlinkClick r:id="rId2"/>
          </p:cNvPr>
          <p:cNvPicPr>
            <a:picLocks noGrp="1"/>
          </p:cNvPicPr>
          <p:nvPr>
            <p:ph sz="half" idx="2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072067" y="2000240"/>
            <a:ext cx="3500462" cy="3571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dirty="0" smtClean="0"/>
              <a:t>Aparece la banca </a:t>
            </a:r>
            <a:endParaRPr lang="es-ES" dirty="0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>
              <a:buNone/>
            </a:pPr>
            <a:endParaRPr lang="es-ES" dirty="0" smtClean="0"/>
          </a:p>
          <a:p>
            <a:r>
              <a:rPr lang="es-ES" sz="3200" dirty="0" smtClean="0"/>
              <a:t>Aparece la banca dando créditos que impulsan el desarrollo industrial. </a:t>
            </a:r>
            <a:endParaRPr lang="es-ES" sz="3200" dirty="0"/>
          </a:p>
        </p:txBody>
      </p:sp>
      <p:pic>
        <p:nvPicPr>
          <p:cNvPr id="5" name="4 Marcador de contenido" descr="http://t2.gstatic.com/images?q=tbn:I4DKkFC1xMN8ZM:http://www.somosmas.org/uploads/pics/BancoMundial.gif">
            <a:hlinkClick r:id="rId2"/>
          </p:cNvPr>
          <p:cNvPicPr>
            <a:picLocks noGrp="1"/>
          </p:cNvPicPr>
          <p:nvPr>
            <p:ph sz="half" idx="2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714876" y="2000240"/>
            <a:ext cx="3714776" cy="3500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 smtClean="0"/>
              <a:t>Diferencias entre la primera y la segunda revolución industrial </a:t>
            </a:r>
            <a:endParaRPr lang="es-ES" dirty="0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s-ES" sz="3200" dirty="0" smtClean="0"/>
              <a:t>En la primera revolución industrial los capitales eran dispersos y estaban en pequeñas empresas. </a:t>
            </a:r>
          </a:p>
        </p:txBody>
      </p:sp>
      <p:pic>
        <p:nvPicPr>
          <p:cNvPr id="7170" name="Picture 2" descr="http://t3.gstatic.com/images?q=tbn:ANd9GcQLpd5L4-cxw0d95_tD4IZz9VBP2UhVYghGvTvKpZMZSRPp2mE&amp;t=1&amp;usg=__bC2xz7jBnUdQWBY0wftwM1D3JHM=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716016" y="1844824"/>
            <a:ext cx="3960440" cy="439248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CO" dirty="0" smtClean="0"/>
              <a:t>Diferencias entre la primera y le segunda revolución industrial</a:t>
            </a:r>
            <a:endParaRPr lang="es-CO" dirty="0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s-ES" sz="3600" dirty="0" smtClean="0"/>
              <a:t>En la segunda los capitales se unieron y surgieron grandes empresas. </a:t>
            </a:r>
          </a:p>
          <a:p>
            <a:endParaRPr lang="es-CO" dirty="0"/>
          </a:p>
        </p:txBody>
      </p:sp>
      <p:pic>
        <p:nvPicPr>
          <p:cNvPr id="5" name="4 Marcador de contenido" descr="http://190.156.238.22/kwangmookwan/asteacuro/yinyan-manos.jpg"/>
          <p:cNvPicPr>
            <a:picLocks noGrp="1"/>
          </p:cNvPicPr>
          <p:nvPr>
            <p:ph sz="half" idx="2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143500" y="1772816"/>
            <a:ext cx="3748980" cy="37823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s-ES" dirty="0" smtClean="0"/>
              <a:t>Diferencias entre la primera y la segunda revolución industrial</a:t>
            </a:r>
            <a:endParaRPr lang="es-ES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 dirty="0" smtClean="0"/>
          </a:p>
          <a:p>
            <a:r>
              <a:rPr lang="es-ES" sz="3600" dirty="0" smtClean="0"/>
              <a:t>En la primera revolución industrial se trabaja de manera hermética.</a:t>
            </a:r>
            <a:endParaRPr lang="es-ES" sz="3600" dirty="0"/>
          </a:p>
        </p:txBody>
      </p:sp>
      <p:pic>
        <p:nvPicPr>
          <p:cNvPr id="6146" name="Picture 2" descr="http://t3.gstatic.com/images?q=tbn:ANd9GcRn5Wg2BKavBUC5r5W_cJcGerTJJSr8zDkqiGCKPNIK9SvlAv0&amp;t=1&amp;usg=__75uSVaFOvvxPTRIfiOkas-HeeqQ=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11760" y="4077072"/>
            <a:ext cx="4032448" cy="244827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Diferencias de la revoluciones industriales</a:t>
            </a:r>
            <a:endParaRPr lang="es-ES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28596" y="2286000"/>
            <a:ext cx="8229600" cy="4572000"/>
          </a:xfrm>
        </p:spPr>
        <p:txBody>
          <a:bodyPr>
            <a:normAutofit/>
          </a:bodyPr>
          <a:lstStyle/>
          <a:p>
            <a:r>
              <a:rPr lang="es-ES" sz="3600" dirty="0" smtClean="0"/>
              <a:t>segunda revolución industrial se abrieron las fronteras comerciales.</a:t>
            </a:r>
            <a:endParaRPr lang="es-ES" sz="3600" dirty="0"/>
          </a:p>
        </p:txBody>
      </p:sp>
      <p:pic>
        <p:nvPicPr>
          <p:cNvPr id="5122" name="Picture 2" descr="http://t1.gstatic.com/images?q=tbn:ANd9GcSA2qoyGMLj2B_vbIra_rY2NWKs5MlKLZnkgOMhSqpvp85zFSo&amp;t=1&amp;usg=__gg9krUxjTIaL4lLuJzZVdiKi3Yk=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55776" y="4149080"/>
            <a:ext cx="3888432" cy="244827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Economía Mundializada</a:t>
            </a:r>
            <a:endParaRPr lang="es-ES" dirty="0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s-ES" dirty="0" smtClean="0"/>
          </a:p>
          <a:p>
            <a:r>
              <a:rPr lang="es-ES" dirty="0" smtClean="0"/>
              <a:t>Efecto globalización. </a:t>
            </a:r>
          </a:p>
          <a:p>
            <a:endParaRPr lang="es-ES" dirty="0" smtClean="0"/>
          </a:p>
          <a:p>
            <a:r>
              <a:rPr lang="es-ES" dirty="0" smtClean="0"/>
              <a:t>Competencia colonial. </a:t>
            </a:r>
          </a:p>
          <a:p>
            <a:endParaRPr lang="es-ES" dirty="0" smtClean="0"/>
          </a:p>
          <a:p>
            <a:r>
              <a:rPr lang="es-ES" dirty="0" smtClean="0"/>
              <a:t>Monopolización. </a:t>
            </a:r>
            <a:endParaRPr lang="es-ES" dirty="0"/>
          </a:p>
        </p:txBody>
      </p:sp>
      <p:pic>
        <p:nvPicPr>
          <p:cNvPr id="5" name="4 Marcador de contenido" descr="http://www.santafestereo.com/wp-content/uploads/2008/11/monopoly.miniatura.jpg"/>
          <p:cNvPicPr>
            <a:picLocks noGrp="1"/>
          </p:cNvPicPr>
          <p:nvPr>
            <p:ph sz="half" idx="2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143504" y="1857364"/>
            <a:ext cx="3429024" cy="39290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Factores económicos </a:t>
            </a:r>
            <a:endParaRPr lang="es-ES" dirty="0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s-ES" sz="3200" dirty="0" smtClean="0"/>
              <a:t>En la primera revolución industrial se vive una economía cerrada </a:t>
            </a:r>
          </a:p>
        </p:txBody>
      </p:sp>
      <p:pic>
        <p:nvPicPr>
          <p:cNvPr id="3074" name="Picture 2" descr="http://t2.gstatic.com/images?q=tbn:ANd9GcQl2kR3eE7gv-0-HJNLcv0BEEATLDq536D82oG_82f1Phfj1AM&amp;t=1&amp;usg=__UvsRJGwEFgB7C2WGT8qLDzRZ7hw=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076056" y="2060848"/>
            <a:ext cx="3816424" cy="396044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Factores Económicos</a:t>
            </a:r>
            <a:endParaRPr lang="es-ES" dirty="0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s-ES" sz="3200" dirty="0" smtClean="0"/>
              <a:t>En la segunda revolución industrial la economía se vuelve un factor global de crédito y utilidad. </a:t>
            </a:r>
          </a:p>
          <a:p>
            <a:endParaRPr lang="es-ES" dirty="0"/>
          </a:p>
        </p:txBody>
      </p:sp>
      <p:pic>
        <p:nvPicPr>
          <p:cNvPr id="5" name="4 Marcador de contenido" descr="http://t2.gstatic.com/images?q=tbn:I4DKkFC1xMN8ZM:http://www.somosmas.org/uploads/pics/BancoMundial.gif">
            <a:hlinkClick r:id="rId2"/>
          </p:cNvPr>
          <p:cNvPicPr>
            <a:picLocks noGrp="1"/>
          </p:cNvPicPr>
          <p:nvPr>
            <p:ph sz="half" idx="2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716016" y="1857364"/>
            <a:ext cx="3742191" cy="45720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5 Título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CO" b="1" dirty="0" smtClean="0">
                <a:latin typeface="Aharoni" pitchFamily="2" charset="-79"/>
                <a:cs typeface="Aharoni" pitchFamily="2" charset="-79"/>
              </a:rPr>
              <a:t>REVOLUCION INDUSTRIAL</a:t>
            </a:r>
            <a:endParaRPr lang="es-CO" b="1" dirty="0">
              <a:latin typeface="Aharoni" pitchFamily="2" charset="-79"/>
              <a:cs typeface="Aharoni" pitchFamily="2" charset="-79"/>
            </a:endParaRPr>
          </a:p>
        </p:txBody>
      </p:sp>
      <p:sp>
        <p:nvSpPr>
          <p:cNvPr id="7" name="6 Subtítulo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CO" b="1" dirty="0" smtClean="0">
                <a:solidFill>
                  <a:schemeClr val="tx1"/>
                </a:solidFill>
                <a:latin typeface="Aharoni" pitchFamily="2" charset="-79"/>
                <a:cs typeface="Aharoni" pitchFamily="2" charset="-79"/>
              </a:rPr>
              <a:t>INVENTOS</a:t>
            </a:r>
            <a:endParaRPr lang="es-CO" b="1" dirty="0">
              <a:solidFill>
                <a:schemeClr val="tx1"/>
              </a:solidFill>
              <a:latin typeface="Aharoni" pitchFamily="2" charset="-79"/>
              <a:cs typeface="Aharoni" pitchFamily="2" charset="-79"/>
            </a:endParaRP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smtClean="0"/>
              <a:t>LA REVOLUCION INDUSTRIAL</a:t>
            </a:r>
            <a:endParaRPr lang="es-CO" dirty="0"/>
          </a:p>
        </p:txBody>
      </p:sp>
      <p:sp>
        <p:nvSpPr>
          <p:cNvPr id="5" name="4 Marcador de contenido"/>
          <p:cNvSpPr>
            <a:spLocks noGrp="1"/>
          </p:cNvSpPr>
          <p:nvPr>
            <p:ph idx="1"/>
          </p:nvPr>
        </p:nvSpPr>
        <p:spPr>
          <a:xfrm>
            <a:off x="467544" y="2060848"/>
            <a:ext cx="8229600" cy="4525963"/>
          </a:xfrm>
        </p:spPr>
        <p:txBody>
          <a:bodyPr>
            <a:normAutofit/>
          </a:bodyPr>
          <a:lstStyle/>
          <a:p>
            <a:pPr algn="ctr"/>
            <a:r>
              <a:rPr lang="es-CO" sz="4000" dirty="0" smtClean="0"/>
              <a:t>Se caracterizo por la utilización de las maquinas en lugar del trabajo manual.</a:t>
            </a:r>
            <a:endParaRPr lang="es-CO" sz="4000" dirty="0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smtClean="0"/>
              <a:t>LA REVOLUCION INDUSTRIAL</a:t>
            </a:r>
            <a:endParaRPr lang="es-C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95536" y="2332037"/>
            <a:ext cx="8229600" cy="4525963"/>
          </a:xfrm>
        </p:spPr>
        <p:txBody>
          <a:bodyPr>
            <a:normAutofit/>
          </a:bodyPr>
          <a:lstStyle/>
          <a:p>
            <a:pPr algn="ctr"/>
            <a:r>
              <a:rPr lang="es-CO" sz="4000" dirty="0" smtClean="0"/>
              <a:t>Este proceso de sustitución del trabajo humano por las maquinas origino cambios en el siglo XVIII y XIX</a:t>
            </a:r>
            <a:endParaRPr lang="es-CO" sz="4000" dirty="0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smtClean="0"/>
              <a:t>LA REVOLUCION INDUSTRIAL</a:t>
            </a:r>
            <a:endParaRPr lang="es-C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95536" y="1988840"/>
            <a:ext cx="8229600" cy="4525963"/>
          </a:xfrm>
        </p:spPr>
        <p:txBody>
          <a:bodyPr>
            <a:normAutofit/>
          </a:bodyPr>
          <a:lstStyle/>
          <a:p>
            <a:pPr algn="ctr"/>
            <a:r>
              <a:rPr lang="es-CO" sz="4000" dirty="0" smtClean="0"/>
              <a:t>La utilización de las maquinas en los oficios y procesos de fabricación trajo como consecuencia muchos inventos y adelantos científicos.</a:t>
            </a:r>
            <a:endParaRPr lang="es-CO" sz="4000" dirty="0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smtClean="0"/>
              <a:t>LA MAQUINA DE VAPOR</a:t>
            </a:r>
            <a:endParaRPr lang="es-C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r>
              <a:rPr lang="es-CO" dirty="0" smtClean="0"/>
              <a:t>Fue inventada por James Watt, en 1765</a:t>
            </a:r>
            <a:endParaRPr lang="es-CO" dirty="0"/>
          </a:p>
        </p:txBody>
      </p:sp>
      <p:pic>
        <p:nvPicPr>
          <p:cNvPr id="1026" name="Picture 2" descr="C:\Users\adri\Desktop\Maquina_vapor_Watt_ETSIIM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07704" y="2276872"/>
            <a:ext cx="5603478" cy="415664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CO" dirty="0" smtClean="0"/>
              <a:t>APLICACIÓN DE LA FUERZA DE VAPOR</a:t>
            </a:r>
            <a:endParaRPr lang="es-CO" dirty="0"/>
          </a:p>
        </p:txBody>
      </p:sp>
      <p:sp>
        <p:nvSpPr>
          <p:cNvPr id="5" name="4 Marcador de contenido"/>
          <p:cNvSpPr>
            <a:spLocks noGrp="1"/>
          </p:cNvSpPr>
          <p:nvPr>
            <p:ph idx="1"/>
          </p:nvPr>
        </p:nvSpPr>
        <p:spPr>
          <a:xfrm>
            <a:off x="539552" y="1556792"/>
            <a:ext cx="8229600" cy="4525963"/>
          </a:xfrm>
        </p:spPr>
        <p:txBody>
          <a:bodyPr/>
          <a:lstStyle/>
          <a:p>
            <a:pPr algn="ctr"/>
            <a:r>
              <a:rPr lang="es-CO" dirty="0" smtClean="0"/>
              <a:t>Se aplica la fuerza de vapor en telares y talleres artesanales, los cuales se convierten en fabricas</a:t>
            </a:r>
            <a:endParaRPr lang="es-CO" dirty="0"/>
          </a:p>
        </p:txBody>
      </p:sp>
      <p:pic>
        <p:nvPicPr>
          <p:cNvPr id="2050" name="Picture 2" descr="C:\Users\adri\Desktop\RevolIndust04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3528" y="3284984"/>
            <a:ext cx="1790700" cy="2781300"/>
          </a:xfrm>
          <a:prstGeom prst="rect">
            <a:avLst/>
          </a:prstGeom>
          <a:noFill/>
        </p:spPr>
      </p:pic>
      <p:pic>
        <p:nvPicPr>
          <p:cNvPr id="2051" name="Picture 3" descr="C:\Users\adri\Desktop\RevolIndustrial03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339752" y="3717032"/>
            <a:ext cx="3276600" cy="2273300"/>
          </a:xfrm>
          <a:prstGeom prst="rect">
            <a:avLst/>
          </a:prstGeom>
          <a:noFill/>
        </p:spPr>
      </p:pic>
      <p:pic>
        <p:nvPicPr>
          <p:cNvPr id="2052" name="Picture 4" descr="C:\Users\adri\Desktop\RevolIndustri05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826880" y="3789040"/>
            <a:ext cx="3116082" cy="223224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CO" dirty="0" smtClean="0"/>
              <a:t>APLICACIÓN DE LA FUERZA DE VAPOR</a:t>
            </a:r>
            <a:endParaRPr lang="es-C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r>
              <a:rPr lang="es-CO" dirty="0" smtClean="0"/>
              <a:t>Se aplica la fuerza de vapor en maquinas de transporte.</a:t>
            </a:r>
            <a:endParaRPr lang="es-CO" dirty="0"/>
          </a:p>
        </p:txBody>
      </p:sp>
      <p:pic>
        <p:nvPicPr>
          <p:cNvPr id="3074" name="Picture 2" descr="C:\Users\adri\Desktop\800px-Clermont_illustration_-_Robert_Fulton_-_Project_Gutenberg_eText_15161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07704" y="2708920"/>
            <a:ext cx="5688632" cy="3796124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CO" dirty="0" smtClean="0"/>
              <a:t>APLICACIONES DE LA ENERGIA ELECTRICA</a:t>
            </a:r>
            <a:endParaRPr lang="es-C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67544" y="1628800"/>
            <a:ext cx="8229600" cy="4525963"/>
          </a:xfrm>
        </p:spPr>
        <p:txBody>
          <a:bodyPr/>
          <a:lstStyle/>
          <a:p>
            <a:pPr algn="ctr">
              <a:buNone/>
            </a:pPr>
            <a:r>
              <a:rPr lang="es-CO" dirty="0" smtClean="0"/>
              <a:t>La energía eléctrica fue muy importante, pues evitaba que muchos tipos de industrias tuvieran que vincularse a las minas de carbón. </a:t>
            </a:r>
            <a:endParaRPr lang="es-CO" sz="4000" dirty="0" smtClean="0"/>
          </a:p>
          <a:p>
            <a:pPr>
              <a:buNone/>
            </a:pPr>
            <a:endParaRPr lang="es-CO" sz="4000" dirty="0"/>
          </a:p>
        </p:txBody>
      </p:sp>
      <p:pic>
        <p:nvPicPr>
          <p:cNvPr id="4099" name="Picture 3" descr="C:\Users\adri\Desktop\RevolucionIndustrial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03848" y="3356992"/>
            <a:ext cx="3009900" cy="3048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smtClean="0"/>
              <a:t>EL TELEGRAFO</a:t>
            </a:r>
            <a:endParaRPr lang="es-C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r>
              <a:rPr lang="es-CO" dirty="0" smtClean="0"/>
              <a:t>Fue inventado por Morse, en 1835.</a:t>
            </a:r>
            <a:endParaRPr lang="es-CO" dirty="0"/>
          </a:p>
        </p:txBody>
      </p:sp>
      <p:pic>
        <p:nvPicPr>
          <p:cNvPr id="5122" name="Picture 2" descr="C:\Users\adri\Desktop\telegrafo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95736" y="2204864"/>
            <a:ext cx="4762500" cy="42100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CO" dirty="0" smtClean="0"/>
              <a:t>DESARROLLO DE LA INDUSTRIA DEL ACERO</a:t>
            </a:r>
            <a:endParaRPr lang="es-C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1600201"/>
            <a:ext cx="8291264" cy="1396752"/>
          </a:xfrm>
        </p:spPr>
        <p:txBody>
          <a:bodyPr/>
          <a:lstStyle/>
          <a:p>
            <a:pPr algn="ctr"/>
            <a:r>
              <a:rPr lang="es-CO" dirty="0" smtClean="0"/>
              <a:t>el uso de nuevos materiales como son el hierro y el acero, en 1856.</a:t>
            </a:r>
          </a:p>
          <a:p>
            <a:pPr algn="ctr"/>
            <a:endParaRPr lang="es-CO" dirty="0" smtClean="0"/>
          </a:p>
          <a:p>
            <a:pPr algn="ctr"/>
            <a:endParaRPr lang="es-CO" dirty="0"/>
          </a:p>
        </p:txBody>
      </p:sp>
      <p:pic>
        <p:nvPicPr>
          <p:cNvPr id="6150" name="Picture 6" descr="C:\Users\adri\Desktop\texwillow22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339752" y="2996952"/>
            <a:ext cx="4844738" cy="337744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CO" dirty="0" smtClean="0"/>
              <a:t>PERFECCIONAMIENTO DEL DINAMMO</a:t>
            </a:r>
            <a:endParaRPr lang="es-C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180728"/>
          </a:xfrm>
        </p:spPr>
        <p:txBody>
          <a:bodyPr/>
          <a:lstStyle/>
          <a:p>
            <a:pPr algn="ctr"/>
            <a:r>
              <a:rPr lang="es-CO" dirty="0" smtClean="0"/>
              <a:t>Perfeccionamiento de generadores eléctricos, 1873.</a:t>
            </a:r>
            <a:endParaRPr lang="es-CO" dirty="0"/>
          </a:p>
        </p:txBody>
      </p:sp>
      <p:pic>
        <p:nvPicPr>
          <p:cNvPr id="7170" name="Picture 2" descr="C:\Users\adri\Desktop\800px-Pacinotti_dynamo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23728" y="2780928"/>
            <a:ext cx="5099720" cy="3302069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CO" dirty="0" smtClean="0"/>
              <a:t>MOTOR DE COMBUSTION INTERNA</a:t>
            </a:r>
            <a:endParaRPr lang="es-CO" dirty="0"/>
          </a:p>
        </p:txBody>
      </p:sp>
      <p:sp>
        <p:nvSpPr>
          <p:cNvPr id="5" name="4 Marcador de contenido"/>
          <p:cNvSpPr>
            <a:spLocks noGrp="1"/>
          </p:cNvSpPr>
          <p:nvPr>
            <p:ph idx="1"/>
          </p:nvPr>
        </p:nvSpPr>
        <p:spPr>
          <a:xfrm>
            <a:off x="467544" y="1412776"/>
            <a:ext cx="8147248" cy="748680"/>
          </a:xfrm>
        </p:spPr>
        <p:txBody>
          <a:bodyPr>
            <a:normAutofit fontScale="77500" lnSpcReduction="20000"/>
          </a:bodyPr>
          <a:lstStyle/>
          <a:p>
            <a:pPr algn="ctr"/>
            <a:r>
              <a:rPr lang="es-CO" dirty="0" smtClean="0"/>
              <a:t>La invención del motor de combustión fue inventado por </a:t>
            </a:r>
            <a:r>
              <a:rPr lang="es-CO" dirty="0" err="1" smtClean="0"/>
              <a:t>Benz</a:t>
            </a:r>
            <a:r>
              <a:rPr lang="es-CO" dirty="0" smtClean="0"/>
              <a:t> y </a:t>
            </a:r>
            <a:r>
              <a:rPr lang="es-CO" dirty="0" err="1" smtClean="0"/>
              <a:t>Gottlied</a:t>
            </a:r>
            <a:r>
              <a:rPr lang="es-CO" dirty="0" smtClean="0"/>
              <a:t>, 1873.</a:t>
            </a:r>
            <a:endParaRPr lang="es-CO" dirty="0"/>
          </a:p>
        </p:txBody>
      </p:sp>
      <p:pic>
        <p:nvPicPr>
          <p:cNvPr id="8195" name="Picture 3" descr="C:\Users\adri\Desktop\603px-Wright_R1820_Cyclon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03848" y="2420888"/>
            <a:ext cx="3312368" cy="329039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smtClean="0"/>
              <a:t>EL TELEFONO</a:t>
            </a:r>
            <a:endParaRPr lang="es-C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1600201"/>
            <a:ext cx="7931224" cy="748680"/>
          </a:xfrm>
        </p:spPr>
        <p:txBody>
          <a:bodyPr/>
          <a:lstStyle/>
          <a:p>
            <a:pPr algn="ctr"/>
            <a:r>
              <a:rPr lang="es-CO" dirty="0" smtClean="0"/>
              <a:t>Inventado por Graham Bell, en 1876.</a:t>
            </a:r>
            <a:endParaRPr lang="es-CO" dirty="0"/>
          </a:p>
        </p:txBody>
      </p:sp>
      <p:pic>
        <p:nvPicPr>
          <p:cNvPr id="9218" name="Picture 2" descr="C:\Users\adri\Desktop\1876_Bell_Speaking_into_Telephon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339752" y="2348880"/>
            <a:ext cx="4863864" cy="399248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smtClean="0"/>
              <a:t>EL AUTOMOVIL</a:t>
            </a:r>
            <a:endParaRPr lang="es-C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1600201"/>
            <a:ext cx="8291264" cy="1108720"/>
          </a:xfrm>
        </p:spPr>
        <p:txBody>
          <a:bodyPr/>
          <a:lstStyle/>
          <a:p>
            <a:pPr algn="ctr"/>
            <a:r>
              <a:rPr lang="es-CO" dirty="0" smtClean="0"/>
              <a:t>Fabricación de los primeros automóviles en Alemania,  en 1880.</a:t>
            </a:r>
            <a:endParaRPr lang="es-CO" dirty="0"/>
          </a:p>
        </p:txBody>
      </p:sp>
      <p:pic>
        <p:nvPicPr>
          <p:cNvPr id="10242" name="Picture 2" descr="C:\Users\adri\Desktop\800px-Electric_car_and_antique_car_on_display_at_1912_auto_show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07704" y="2780928"/>
            <a:ext cx="5898232" cy="336199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CO" dirty="0" smtClean="0"/>
              <a:t>PERFECCIONAMIENTO DEL NEUMATICO</a:t>
            </a:r>
            <a:endParaRPr lang="es-C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1600201"/>
            <a:ext cx="8075240" cy="604664"/>
          </a:xfrm>
        </p:spPr>
        <p:txBody>
          <a:bodyPr/>
          <a:lstStyle/>
          <a:p>
            <a:r>
              <a:rPr lang="es-CO" dirty="0" smtClean="0"/>
              <a:t>Su perfeccionamiento se dio en 1.888.</a:t>
            </a:r>
            <a:endParaRPr lang="es-CO" dirty="0"/>
          </a:p>
        </p:txBody>
      </p:sp>
      <p:pic>
        <p:nvPicPr>
          <p:cNvPr id="11266" name="Picture 2" descr="C:\Users\adri\Desktop\n0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35696" y="2492896"/>
            <a:ext cx="5640761" cy="304561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smtClean="0"/>
              <a:t>AVION</a:t>
            </a:r>
            <a:endParaRPr lang="es-C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1600201"/>
            <a:ext cx="8219256" cy="604664"/>
          </a:xfrm>
        </p:spPr>
        <p:txBody>
          <a:bodyPr/>
          <a:lstStyle/>
          <a:p>
            <a:r>
              <a:rPr lang="es-CO" dirty="0" smtClean="0"/>
              <a:t>Inventado por Santos </a:t>
            </a:r>
            <a:r>
              <a:rPr lang="es-CO" dirty="0" err="1" smtClean="0"/>
              <a:t>Dumont</a:t>
            </a:r>
            <a:r>
              <a:rPr lang="es-CO" dirty="0" smtClean="0"/>
              <a:t>, en 1906. </a:t>
            </a:r>
            <a:endParaRPr lang="es-CO" dirty="0"/>
          </a:p>
        </p:txBody>
      </p:sp>
      <p:pic>
        <p:nvPicPr>
          <p:cNvPr id="12290" name="Picture 2" descr="C:\Users\adri\Desktop\18AvionCaptPastene-2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051720" y="2636912"/>
            <a:ext cx="5121275" cy="29527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smtClean="0"/>
              <a:t>FABRICACION DE AUTOMOVILES</a:t>
            </a:r>
            <a:endParaRPr lang="es-C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1600201"/>
            <a:ext cx="8219256" cy="1108720"/>
          </a:xfrm>
        </p:spPr>
        <p:txBody>
          <a:bodyPr/>
          <a:lstStyle/>
          <a:p>
            <a:pPr algn="ctr"/>
            <a:r>
              <a:rPr lang="es-CO" dirty="0" smtClean="0"/>
              <a:t>Iniciación de automóviles en los Estados Unidos, por Henry Ford, en 1908.  </a:t>
            </a:r>
            <a:endParaRPr lang="es-CO" dirty="0"/>
          </a:p>
        </p:txBody>
      </p:sp>
      <p:pic>
        <p:nvPicPr>
          <p:cNvPr id="13314" name="Picture 2" descr="C:\Users\adri\Desktop\759px-Ford_T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95736" y="2924944"/>
            <a:ext cx="4334818" cy="3426733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smtClean="0"/>
              <a:t>USO DEL PETROLEO Y DEL CARBON</a:t>
            </a:r>
            <a:endParaRPr lang="es-C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1600201"/>
            <a:ext cx="8291264" cy="1108720"/>
          </a:xfrm>
        </p:spPr>
        <p:txBody>
          <a:bodyPr/>
          <a:lstStyle/>
          <a:p>
            <a:r>
              <a:rPr lang="es-CO" dirty="0" smtClean="0"/>
              <a:t>Usaron el petróleo y el carbón como fuente de energía motriz.</a:t>
            </a:r>
            <a:endParaRPr lang="es-CO" dirty="0"/>
          </a:p>
        </p:txBody>
      </p:sp>
      <p:pic>
        <p:nvPicPr>
          <p:cNvPr id="14338" name="Picture 2" descr="C:\Users\adri\Desktop\maquina-vapor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83768" y="2852936"/>
            <a:ext cx="4536504" cy="318829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CO" dirty="0" smtClean="0"/>
              <a:t>CONSTRUCCION DE LA REVOLUCION INDUSTRIAL</a:t>
            </a:r>
            <a:endParaRPr lang="es-C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1600201"/>
            <a:ext cx="8219256" cy="1108720"/>
          </a:xfrm>
        </p:spPr>
        <p:txBody>
          <a:bodyPr/>
          <a:lstStyle/>
          <a:p>
            <a:pPr algn="ctr"/>
            <a:r>
              <a:rPr lang="es-CO" dirty="0" smtClean="0"/>
              <a:t>Construcciones de ferrocarriles y canales y desarrollo de la navegación fluvial.</a:t>
            </a:r>
            <a:endParaRPr lang="es-CO" dirty="0"/>
          </a:p>
        </p:txBody>
      </p:sp>
      <p:pic>
        <p:nvPicPr>
          <p:cNvPr id="15362" name="Picture 2" descr="C:\Users\adri\Desktop\0001485511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5536" y="3140968"/>
            <a:ext cx="3816424" cy="2763788"/>
          </a:xfrm>
          <a:prstGeom prst="rect">
            <a:avLst/>
          </a:prstGeom>
          <a:noFill/>
        </p:spPr>
      </p:pic>
      <p:pic>
        <p:nvPicPr>
          <p:cNvPr id="15363" name="Picture 3" descr="C:\Users\adri\Desktop\revolucion-industrial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220072" y="3140968"/>
            <a:ext cx="2376264" cy="275580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smtClean="0"/>
              <a:t>LA REVOLUCION INDUSTRIAL</a:t>
            </a:r>
            <a:endParaRPr lang="es-CO" dirty="0"/>
          </a:p>
        </p:txBody>
      </p:sp>
      <p:sp>
        <p:nvSpPr>
          <p:cNvPr id="5" name="4 Marcador de contenido"/>
          <p:cNvSpPr>
            <a:spLocks noGrp="1"/>
          </p:cNvSpPr>
          <p:nvPr>
            <p:ph sz="half" idx="1"/>
          </p:nvPr>
        </p:nvSpPr>
        <p:spPr>
          <a:xfrm>
            <a:off x="539552" y="2132857"/>
            <a:ext cx="8291264" cy="2016224"/>
          </a:xfrm>
        </p:spPr>
        <p:txBody>
          <a:bodyPr>
            <a:normAutofit/>
          </a:bodyPr>
          <a:lstStyle/>
          <a:p>
            <a:pPr algn="ctr"/>
            <a:r>
              <a:rPr lang="es-CO" sz="3200" dirty="0" smtClean="0"/>
              <a:t>Los individuos se convirtieron en obreros y tuvieron que ir a trabajar en las fabricas.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smtClean="0"/>
              <a:t>LA REVOLUCION INDUSTRIAL</a:t>
            </a:r>
            <a:endParaRPr lang="es-CO" dirty="0"/>
          </a:p>
        </p:txBody>
      </p:sp>
      <p:sp>
        <p:nvSpPr>
          <p:cNvPr id="6" name="5 Marcador de contenido"/>
          <p:cNvSpPr>
            <a:spLocks noGrp="1"/>
          </p:cNvSpPr>
          <p:nvPr>
            <p:ph idx="1"/>
          </p:nvPr>
        </p:nvSpPr>
        <p:spPr>
          <a:xfrm>
            <a:off x="539552" y="2060849"/>
            <a:ext cx="8229600" cy="3024336"/>
          </a:xfrm>
        </p:spPr>
        <p:txBody>
          <a:bodyPr/>
          <a:lstStyle/>
          <a:p>
            <a:pPr algn="ctr"/>
            <a:r>
              <a:rPr lang="es-CO" dirty="0" smtClean="0"/>
              <a:t>Se prefería la maquina al trabajo del artesano: por su rapidez, mayor cantidad y mejor calidad; además de una reducción en el costo de los productos.</a:t>
            </a:r>
            <a:endParaRPr lang="es-CO" dirty="0"/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smtClean="0"/>
              <a:t>LA REVOLUCION INDUSTRIAL</a:t>
            </a:r>
            <a:endParaRPr lang="es-C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23528" y="1988840"/>
            <a:ext cx="8229600" cy="4525963"/>
          </a:xfrm>
        </p:spPr>
        <p:txBody>
          <a:bodyPr/>
          <a:lstStyle/>
          <a:p>
            <a:pPr algn="ctr"/>
            <a:r>
              <a:rPr lang="es-CO" dirty="0" smtClean="0"/>
              <a:t>Se cambio la fuerza animal o el musculo humano por la maquina de vapor que les permitía mayor producción y economía.</a:t>
            </a:r>
            <a:endParaRPr lang="es-CO" dirty="0"/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smtClean="0"/>
              <a:t>LA REVOLUCION INDUSTRIAL</a:t>
            </a:r>
            <a:endParaRPr lang="es-C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67544" y="1916832"/>
            <a:ext cx="8229600" cy="1684784"/>
          </a:xfrm>
        </p:spPr>
        <p:txBody>
          <a:bodyPr/>
          <a:lstStyle/>
          <a:p>
            <a:pPr algn="ctr"/>
            <a:r>
              <a:rPr lang="es-CO" dirty="0" smtClean="0"/>
              <a:t>La importancia de la maquina y los procesos técnicos trasladaron al trabajador humano.</a:t>
            </a:r>
            <a:endParaRPr lang="es-CO" dirty="0"/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smtClean="0"/>
              <a:t>LA REVOLUCION INDUSTRIAL</a:t>
            </a:r>
            <a:endParaRPr lang="es-C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67544" y="2276872"/>
            <a:ext cx="8229600" cy="1972816"/>
          </a:xfrm>
        </p:spPr>
        <p:txBody>
          <a:bodyPr/>
          <a:lstStyle/>
          <a:p>
            <a:pPr algn="ctr"/>
            <a:r>
              <a:rPr lang="es-CO" dirty="0" smtClean="0"/>
              <a:t>La industria y la gran producción acabaron con los pequeños talleres familiares.</a:t>
            </a:r>
          </a:p>
          <a:p>
            <a:pPr algn="ctr">
              <a:buNone/>
            </a:pPr>
            <a:endParaRPr lang="es-CO" dirty="0" smtClean="0"/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smtClean="0"/>
              <a:t>LA REVOLUCION INDUSTRIAL</a:t>
            </a:r>
            <a:endParaRPr lang="es-C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67544" y="2332037"/>
            <a:ext cx="8229600" cy="4525963"/>
          </a:xfrm>
        </p:spPr>
        <p:txBody>
          <a:bodyPr/>
          <a:lstStyle/>
          <a:p>
            <a:pPr algn="ctr"/>
            <a:r>
              <a:rPr lang="es-CO" dirty="0" smtClean="0"/>
              <a:t>Y con el tiempo hubo la necesidad de grandes contingentes de obreros que se contrataban indiscriminadamente hombres, mujeres y niños.</a:t>
            </a:r>
          </a:p>
          <a:p>
            <a:pPr algn="ctr">
              <a:buNone/>
            </a:pPr>
            <a:endParaRPr lang="es-CO" dirty="0"/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3 Imagen" descr="ri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1763688" y="1484784"/>
            <a:ext cx="6840760" cy="761529"/>
          </a:xfrm>
          <a:solidFill>
            <a:schemeClr val="bg1"/>
          </a:solidFill>
        </p:spPr>
        <p:txBody>
          <a:bodyPr>
            <a:normAutofit fontScale="90000"/>
          </a:bodyPr>
          <a:lstStyle/>
          <a:p>
            <a:pPr algn="ctr"/>
            <a:r>
              <a:rPr lang="es-CO" b="1" dirty="0" smtClean="0"/>
              <a:t>REVOLUCIÓN INDUSTRIAL </a:t>
            </a:r>
            <a:endParaRPr lang="es-CO" b="1" dirty="0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4499992" y="2250280"/>
            <a:ext cx="4103464" cy="1034704"/>
          </a:xfrm>
          <a:solidFill>
            <a:schemeClr val="bg1">
              <a:lumMod val="85000"/>
              <a:lumOff val="15000"/>
            </a:schemeClr>
          </a:solidFill>
        </p:spPr>
        <p:txBody>
          <a:bodyPr>
            <a:normAutofit/>
          </a:bodyPr>
          <a:lstStyle/>
          <a:p>
            <a:r>
              <a:rPr lang="es-CO" sz="4000" b="1" dirty="0" smtClean="0"/>
              <a:t>LA EXPANSIÓN </a:t>
            </a:r>
            <a:endParaRPr lang="es-CO" sz="4000" b="1" dirty="0"/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 Imagen" descr="inglaterra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2 CuadroTexto"/>
          <p:cNvSpPr txBox="1"/>
          <p:nvPr/>
        </p:nvSpPr>
        <p:spPr>
          <a:xfrm>
            <a:off x="2267744" y="188640"/>
            <a:ext cx="4176464" cy="369332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CO" b="1" dirty="0" smtClean="0">
                <a:solidFill>
                  <a:schemeClr val="bg1">
                    <a:lumMod val="95000"/>
                    <a:lumOff val="5000"/>
                  </a:schemeClr>
                </a:solidFill>
              </a:rPr>
              <a:t>INGLATERRA</a:t>
            </a:r>
            <a:endParaRPr lang="es-CO" b="1" dirty="0">
              <a:solidFill>
                <a:schemeClr val="bg1">
                  <a:lumMod val="95000"/>
                  <a:lumOff val="5000"/>
                </a:schemeClr>
              </a:solidFill>
            </a:endParaRP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CO" b="1" dirty="0" smtClean="0"/>
              <a:t>La expansión</a:t>
            </a:r>
            <a:endParaRPr lang="es-CO" b="1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O" dirty="0" smtClean="0"/>
              <a:t>INGLATERRA: innovaciones mecánicas y la energía de vapor se aplican por primera vez..</a:t>
            </a:r>
          </a:p>
          <a:p>
            <a:endParaRPr lang="es-CO" dirty="0" smtClean="0"/>
          </a:p>
          <a:p>
            <a:r>
              <a:rPr lang="es-CO" dirty="0" smtClean="0"/>
              <a:t>Se empieza a explotar las minas de carbón para suministrar energía a las fabricas</a:t>
            </a:r>
            <a:endParaRPr lang="es-CO" dirty="0"/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 Imagen" descr="francia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3999" cy="6858000"/>
          </a:xfrm>
          <a:prstGeom prst="rect">
            <a:avLst/>
          </a:prstGeom>
        </p:spPr>
      </p:pic>
      <p:sp>
        <p:nvSpPr>
          <p:cNvPr id="3" name="2 CuadroTexto"/>
          <p:cNvSpPr txBox="1"/>
          <p:nvPr/>
        </p:nvSpPr>
        <p:spPr>
          <a:xfrm>
            <a:off x="2915816" y="404664"/>
            <a:ext cx="3744416" cy="369332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CO" b="1" dirty="0">
                <a:solidFill>
                  <a:schemeClr val="bg1"/>
                </a:solidFill>
              </a:rPr>
              <a:t>F</a:t>
            </a:r>
            <a:r>
              <a:rPr lang="es-CO" b="1" dirty="0" smtClean="0">
                <a:solidFill>
                  <a:schemeClr val="bg1"/>
                </a:solidFill>
              </a:rPr>
              <a:t>RANCIA</a:t>
            </a:r>
            <a:endParaRPr lang="es-CO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CO" b="1" dirty="0" smtClean="0"/>
              <a:t>Francia (XVIII-XIX):</a:t>
            </a:r>
            <a:endParaRPr lang="es-CO" b="1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O" dirty="0" smtClean="0"/>
              <a:t>Se establecieron industrias movidas por vapor</a:t>
            </a:r>
          </a:p>
          <a:p>
            <a:endParaRPr lang="es-CO" dirty="0" smtClean="0"/>
          </a:p>
          <a:p>
            <a:r>
              <a:rPr lang="es-CO" dirty="0" smtClean="0"/>
              <a:t>Aparece la gran clase burguesa y el proletariado, y con ellas las huelgas y revueltas.</a:t>
            </a:r>
            <a:endParaRPr lang="es-CO" dirty="0"/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CO" b="1" dirty="0" smtClean="0"/>
              <a:t>Francia:</a:t>
            </a:r>
            <a:endParaRPr lang="es-CO" b="1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O" dirty="0" smtClean="0"/>
              <a:t>En 1830 se desató un gran movimiento obrero cuyo slogan decía:</a:t>
            </a:r>
          </a:p>
          <a:p>
            <a:endParaRPr lang="es-CO" dirty="0" smtClean="0"/>
          </a:p>
          <a:p>
            <a:endParaRPr lang="es-CO" dirty="0" smtClean="0"/>
          </a:p>
          <a:p>
            <a:endParaRPr lang="es-CO" dirty="0" smtClean="0"/>
          </a:p>
          <a:p>
            <a:r>
              <a:rPr lang="es-CO" dirty="0" smtClean="0"/>
              <a:t>“Vivir trabajando o morir combatiendo”</a:t>
            </a:r>
            <a:endParaRPr lang="es-CO" dirty="0"/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CO" b="1" dirty="0" smtClean="0"/>
              <a:t>ALEMANIA:</a:t>
            </a:r>
            <a:endParaRPr lang="es-CO" b="1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O" dirty="0" smtClean="0"/>
              <a:t>Floreció también la industria textil y minera.</a:t>
            </a:r>
          </a:p>
          <a:p>
            <a:endParaRPr lang="es-CO" dirty="0" smtClean="0"/>
          </a:p>
          <a:p>
            <a:endParaRPr lang="es-CO" dirty="0" smtClean="0"/>
          </a:p>
          <a:p>
            <a:r>
              <a:rPr lang="es-CO" dirty="0" smtClean="0"/>
              <a:t>La industria química alcanzó notables desarrollos.</a:t>
            </a:r>
            <a:endParaRPr lang="es-CO" dirty="0"/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CO" b="1" dirty="0" smtClean="0"/>
              <a:t>Alemania:</a:t>
            </a:r>
            <a:endParaRPr lang="es-CO" b="1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O" dirty="0" smtClean="0"/>
              <a:t>Alrededor de 1940  se presentaron hambrunas y enfermedades.</a:t>
            </a:r>
          </a:p>
          <a:p>
            <a:endParaRPr lang="es-CO" dirty="0" smtClean="0"/>
          </a:p>
          <a:p>
            <a:endParaRPr lang="es-CO" dirty="0" smtClean="0"/>
          </a:p>
          <a:p>
            <a:r>
              <a:rPr lang="es-CO" dirty="0" smtClean="0"/>
              <a:t>Alemanes sin trabajo emigraron a Inglaterra, Francia, Suiza y América.</a:t>
            </a:r>
            <a:endParaRPr lang="es-CO" dirty="0"/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CO" b="1" dirty="0" smtClean="0"/>
              <a:t>Alemania:</a:t>
            </a:r>
            <a:endParaRPr lang="es-CO" b="1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O" dirty="0" smtClean="0"/>
              <a:t>En 1833 se fundó la liga de MISERABLES quienes pedían que se prohibiera el uso de máquinas.</a:t>
            </a:r>
          </a:p>
          <a:p>
            <a:endParaRPr lang="es-CO" dirty="0" smtClean="0"/>
          </a:p>
          <a:p>
            <a:endParaRPr lang="es-CO" dirty="0" smtClean="0"/>
          </a:p>
          <a:p>
            <a:r>
              <a:rPr lang="es-CO" dirty="0" smtClean="0"/>
              <a:t>Hubo revueltas, huelgas y destrucción de fábricas</a:t>
            </a:r>
            <a:endParaRPr lang="es-CO" dirty="0"/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CO" b="1" dirty="0" smtClean="0"/>
              <a:t>Estados Unidos</a:t>
            </a:r>
            <a:endParaRPr lang="es-CO" b="1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O" dirty="0" smtClean="0"/>
              <a:t>Restricciones y competencia con Inglaterra.</a:t>
            </a:r>
          </a:p>
          <a:p>
            <a:endParaRPr lang="es-CO" dirty="0" smtClean="0"/>
          </a:p>
          <a:p>
            <a:endParaRPr lang="es-CO" dirty="0" smtClean="0"/>
          </a:p>
          <a:p>
            <a:r>
              <a:rPr lang="es-CO" dirty="0" smtClean="0"/>
              <a:t>A partir de la Guerra de la Independencia 1783, siguió el desarrollo Económico.</a:t>
            </a:r>
            <a:endParaRPr lang="es-CO" dirty="0"/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CO" sz="3600" b="1" dirty="0" smtClean="0"/>
              <a:t>Estados unidos (desarrollo económico)</a:t>
            </a:r>
            <a:endParaRPr lang="es-CO" sz="3600" b="1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O" dirty="0" smtClean="0"/>
              <a:t>Al norte: sostenimiento debido a la abundancia de recursos e introducción de máquinas.</a:t>
            </a:r>
          </a:p>
          <a:p>
            <a:endParaRPr lang="es-CO" dirty="0" smtClean="0"/>
          </a:p>
          <a:p>
            <a:endParaRPr lang="es-CO" dirty="0" smtClean="0"/>
          </a:p>
          <a:p>
            <a:r>
              <a:rPr lang="es-CO" dirty="0" smtClean="0"/>
              <a:t>En el sur: se desarrolló la agricultura y la ganadería.</a:t>
            </a:r>
            <a:endParaRPr lang="es-CO" dirty="0"/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CO" b="1" dirty="0" smtClean="0"/>
              <a:t>Rusia:</a:t>
            </a:r>
            <a:endParaRPr lang="es-CO" b="1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O" dirty="0" smtClean="0"/>
              <a:t>Comenzó su proceso de industrialización hacia 1830.</a:t>
            </a:r>
          </a:p>
          <a:p>
            <a:endParaRPr lang="es-CO" dirty="0" smtClean="0"/>
          </a:p>
          <a:p>
            <a:endParaRPr lang="es-CO" dirty="0" smtClean="0"/>
          </a:p>
          <a:p>
            <a:endParaRPr lang="es-CO" dirty="0" smtClean="0"/>
          </a:p>
          <a:p>
            <a:r>
              <a:rPr lang="es-CO" dirty="0" smtClean="0"/>
              <a:t>Gran parte de sus ingresos provenían del comercio con los países de Oriente. </a:t>
            </a:r>
            <a:endParaRPr lang="es-CO" dirty="0"/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3275856" y="1988840"/>
            <a:ext cx="5399608" cy="1470025"/>
          </a:xfrm>
        </p:spPr>
        <p:txBody>
          <a:bodyPr>
            <a:normAutofit/>
          </a:bodyPr>
          <a:lstStyle/>
          <a:p>
            <a:r>
              <a:rPr lang="es-CO" b="1" dirty="0" smtClean="0"/>
              <a:t>Estudios sobre la Administración:</a:t>
            </a:r>
            <a:endParaRPr lang="es-CO" b="1" dirty="0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5796136" y="3429000"/>
            <a:ext cx="2951336" cy="1034704"/>
          </a:xfrm>
        </p:spPr>
        <p:txBody>
          <a:bodyPr>
            <a:normAutofit/>
          </a:bodyPr>
          <a:lstStyle/>
          <a:p>
            <a:r>
              <a:rPr lang="es-CO" sz="4000" b="1" dirty="0" smtClean="0"/>
              <a:t>Pioneros</a:t>
            </a:r>
            <a:endParaRPr lang="es-CO" sz="4000" b="1" dirty="0"/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 Imagen" descr="adam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CO" b="1" dirty="0" smtClean="0"/>
              <a:t>Adam Smith (1723-1790):</a:t>
            </a:r>
            <a:endParaRPr lang="es-CO" b="1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O" dirty="0" smtClean="0"/>
              <a:t>Economista clásico nacido en Escocia</a:t>
            </a:r>
          </a:p>
          <a:p>
            <a:endParaRPr lang="es-CO" dirty="0" smtClean="0"/>
          </a:p>
          <a:p>
            <a:endParaRPr lang="es-CO" dirty="0" smtClean="0"/>
          </a:p>
          <a:p>
            <a:r>
              <a:rPr lang="es-CO" dirty="0" smtClean="0"/>
              <a:t>Extraordinario conocimiento de la evolución de las funciones administrativas.</a:t>
            </a:r>
            <a:endParaRPr lang="es-CO" dirty="0"/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CO" b="1" dirty="0" smtClean="0"/>
              <a:t>Adam Smith:</a:t>
            </a:r>
            <a:endParaRPr lang="es-CO" b="1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O" dirty="0" smtClean="0"/>
              <a:t>Otorgo gran importancia a la división del trabajo y a sus beneficios.</a:t>
            </a:r>
          </a:p>
          <a:p>
            <a:endParaRPr lang="es-CO" dirty="0" smtClean="0"/>
          </a:p>
          <a:p>
            <a:r>
              <a:rPr lang="es-CO" dirty="0" smtClean="0"/>
              <a:t>Su obra principal: LA RIQUEZA DE LAS NACIONES:</a:t>
            </a:r>
          </a:p>
          <a:p>
            <a:r>
              <a:rPr lang="es-CO" dirty="0" smtClean="0"/>
              <a:t>(División del trabajo y control)</a:t>
            </a:r>
            <a:endParaRPr lang="es-CO" dirty="0"/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 Imagen" descr="robert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2 CuadroTexto"/>
          <p:cNvSpPr txBox="1"/>
          <p:nvPr/>
        </p:nvSpPr>
        <p:spPr>
          <a:xfrm>
            <a:off x="1115616" y="5661248"/>
            <a:ext cx="68407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5400" dirty="0" smtClean="0">
                <a:solidFill>
                  <a:schemeClr val="tx1">
                    <a:lumMod val="95000"/>
                  </a:schemeClr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</a:effectLst>
              </a:rPr>
              <a:t>ROBERT OWEN</a:t>
            </a:r>
            <a:endParaRPr lang="es-CO" sz="5400" dirty="0">
              <a:solidFill>
                <a:schemeClr val="tx1">
                  <a:lumMod val="95000"/>
                </a:schemeClr>
              </a:solidFill>
              <a:effectLst>
                <a:glow rad="228600">
                  <a:schemeClr val="accent1">
                    <a:satMod val="175000"/>
                    <a:alpha val="40000"/>
                  </a:schemeClr>
                </a:glow>
              </a:effectLst>
            </a:endParaRP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CO" b="1" dirty="0" smtClean="0"/>
              <a:t>Robert Owen (1771-1858)</a:t>
            </a:r>
            <a:endParaRPr lang="es-CO" b="1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O" dirty="0" smtClean="0"/>
              <a:t>Nació en el país de Gales.</a:t>
            </a:r>
          </a:p>
          <a:p>
            <a:endParaRPr lang="es-CO" dirty="0" smtClean="0"/>
          </a:p>
          <a:p>
            <a:r>
              <a:rPr lang="es-CO" dirty="0" smtClean="0"/>
              <a:t>Persuasión moral en lugar de castigo corporal. (el monitor silencioso)</a:t>
            </a:r>
          </a:p>
          <a:p>
            <a:endParaRPr lang="es-CO" dirty="0" smtClean="0"/>
          </a:p>
          <a:p>
            <a:r>
              <a:rPr lang="es-CO" dirty="0" smtClean="0"/>
              <a:t>Crear orgullo departamental o estimular la competencia. </a:t>
            </a:r>
            <a:endParaRPr lang="es-CO" dirty="0"/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 Imagen" descr="charles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" y="0"/>
            <a:ext cx="9143999" cy="6858000"/>
          </a:xfrm>
          <a:prstGeom prst="rect">
            <a:avLst/>
          </a:prstGeom>
        </p:spPr>
      </p:pic>
      <p:sp>
        <p:nvSpPr>
          <p:cNvPr id="3" name="2 CuadroTexto"/>
          <p:cNvSpPr txBox="1"/>
          <p:nvPr/>
        </p:nvSpPr>
        <p:spPr>
          <a:xfrm>
            <a:off x="899592" y="6093296"/>
            <a:ext cx="7272808" cy="646331"/>
          </a:xfrm>
          <a:prstGeom prst="rect">
            <a:avLst/>
          </a:prstGeom>
          <a:solidFill>
            <a:schemeClr val="tx2">
              <a:lumMod val="50000"/>
            </a:schemeClr>
          </a:solidFill>
          <a:effectLst>
            <a:innerShdw blurRad="63500" dist="50800" dir="16200000">
              <a:prstClr val="black">
                <a:alpha val="50000"/>
              </a:prstClr>
            </a:inn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s-CO" sz="3600" dirty="0" smtClean="0">
                <a:solidFill>
                  <a:schemeClr val="bg1"/>
                </a:solidFill>
              </a:rPr>
              <a:t>CHARLES BABBAGE</a:t>
            </a:r>
            <a:endParaRPr lang="es-CO" sz="36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b="1" dirty="0" smtClean="0"/>
              <a:t>Charles Babbage (1792-1871):</a:t>
            </a:r>
            <a:endParaRPr lang="es-CO" b="1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O" dirty="0" smtClean="0"/>
              <a:t>Nacido en Devonshire, Inglaterra.</a:t>
            </a:r>
          </a:p>
          <a:p>
            <a:endParaRPr lang="es-CO" dirty="0" smtClean="0"/>
          </a:p>
          <a:p>
            <a:endParaRPr lang="es-CO" dirty="0" smtClean="0"/>
          </a:p>
          <a:p>
            <a:endParaRPr lang="es-CO" dirty="0" smtClean="0"/>
          </a:p>
          <a:p>
            <a:r>
              <a:rPr lang="es-CO" dirty="0" smtClean="0"/>
              <a:t>Reconocido como el fundador de la investigación de las operaciones y la ciencia de la administración.</a:t>
            </a:r>
          </a:p>
          <a:p>
            <a:endParaRPr lang="es-CO" dirty="0" smtClean="0"/>
          </a:p>
          <a:p>
            <a:endParaRPr lang="es-CO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río">
  <a:themeElements>
    <a:clrScheme name="Concurrencia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Brío">
      <a:majorFont>
        <a:latin typeface="Century Gothic"/>
        <a:ea typeface=""/>
        <a:cs typeface=""/>
        <a:font script="Jpan" typeface="HGｺﾞｼｯｸM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inorFont>
    </a:fontScheme>
    <a:fmtScheme name="Brío">
      <a:fillStyleLst>
        <a:solidFill>
          <a:schemeClr val="phClr"/>
        </a:solidFill>
        <a:gradFill rotWithShape="1">
          <a:gsLst>
            <a:gs pos="0">
              <a:schemeClr val="phClr">
                <a:tint val="10000"/>
                <a:satMod val="300000"/>
              </a:schemeClr>
            </a:gs>
            <a:gs pos="34000">
              <a:schemeClr val="phClr">
                <a:tint val="13500"/>
                <a:satMod val="250000"/>
              </a:schemeClr>
            </a:gs>
            <a:gs pos="100000">
              <a:schemeClr val="phClr"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gradFill rotWithShape="1">
          <a:gsLst>
            <a:gs pos="0">
              <a:schemeClr val="phClr">
                <a:tint val="60000"/>
                <a:satMod val="160000"/>
              </a:schemeClr>
            </a:gs>
            <a:gs pos="46000">
              <a:schemeClr val="phClr">
                <a:tint val="86000"/>
                <a:satMod val="160000"/>
              </a:schemeClr>
            </a:gs>
            <a:gs pos="100000">
              <a:schemeClr val="phClr">
                <a:shade val="40000"/>
                <a:satMod val="160000"/>
              </a:schemeClr>
            </a:gs>
          </a:gsLst>
          <a:path path="circle">
            <a:fillToRect l="50000" t="155000" r="50000" b="-55000"/>
          </a:path>
        </a:gradFill>
      </a:fillStyleLst>
      <a:lnStyleLst>
        <a:ln w="9525" cap="flat" cmpd="sng" algn="ctr">
          <a:solidFill>
            <a:schemeClr val="phClr">
              <a:satMod val="12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147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3600000"/>
            </a:lightRig>
          </a:scene3d>
          <a:sp3d prstMaterial="plastic">
            <a:bevelT w="127000" h="38200" prst="relaxedInset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8000"/>
                <a:satMod val="230000"/>
              </a:schemeClr>
            </a:gs>
            <a:gs pos="60000">
              <a:schemeClr val="phClr">
                <a:shade val="92000"/>
                <a:satMod val="230000"/>
              </a:schemeClr>
            </a:gs>
            <a:gs pos="100000">
              <a:schemeClr val="phClr">
                <a:tint val="85000"/>
                <a:satMod val="400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1200"/>
                <a:satMod val="150000"/>
              </a:schemeClr>
              <a:schemeClr val="phClr">
                <a:tint val="90000"/>
                <a:satMod val="150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Brío">
  <a:themeElements>
    <a:clrScheme name="Concurrencia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Brío">
      <a:majorFont>
        <a:latin typeface="Century Gothic"/>
        <a:ea typeface=""/>
        <a:cs typeface=""/>
        <a:font script="Jpan" typeface="HGｺﾞｼｯｸM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inorFont>
    </a:fontScheme>
    <a:fmtScheme name="Brío">
      <a:fillStyleLst>
        <a:solidFill>
          <a:schemeClr val="phClr"/>
        </a:solidFill>
        <a:gradFill rotWithShape="1">
          <a:gsLst>
            <a:gs pos="0">
              <a:schemeClr val="phClr">
                <a:tint val="10000"/>
                <a:satMod val="300000"/>
              </a:schemeClr>
            </a:gs>
            <a:gs pos="34000">
              <a:schemeClr val="phClr">
                <a:tint val="13500"/>
                <a:satMod val="250000"/>
              </a:schemeClr>
            </a:gs>
            <a:gs pos="100000">
              <a:schemeClr val="phClr"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gradFill rotWithShape="1">
          <a:gsLst>
            <a:gs pos="0">
              <a:schemeClr val="phClr">
                <a:tint val="60000"/>
                <a:satMod val="160000"/>
              </a:schemeClr>
            </a:gs>
            <a:gs pos="46000">
              <a:schemeClr val="phClr">
                <a:tint val="86000"/>
                <a:satMod val="160000"/>
              </a:schemeClr>
            </a:gs>
            <a:gs pos="100000">
              <a:schemeClr val="phClr">
                <a:shade val="40000"/>
                <a:satMod val="160000"/>
              </a:schemeClr>
            </a:gs>
          </a:gsLst>
          <a:path path="circle">
            <a:fillToRect l="50000" t="155000" r="50000" b="-55000"/>
          </a:path>
        </a:gradFill>
      </a:fillStyleLst>
      <a:lnStyleLst>
        <a:ln w="9525" cap="flat" cmpd="sng" algn="ctr">
          <a:solidFill>
            <a:schemeClr val="phClr">
              <a:satMod val="12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147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3600000"/>
            </a:lightRig>
          </a:scene3d>
          <a:sp3d prstMaterial="plastic">
            <a:bevelT w="127000" h="38200" prst="relaxedInset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8000"/>
                <a:satMod val="230000"/>
              </a:schemeClr>
            </a:gs>
            <a:gs pos="60000">
              <a:schemeClr val="phClr">
                <a:shade val="92000"/>
                <a:satMod val="230000"/>
              </a:schemeClr>
            </a:gs>
            <a:gs pos="100000">
              <a:schemeClr val="phClr">
                <a:tint val="85000"/>
                <a:satMod val="400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1200"/>
                <a:satMod val="150000"/>
              </a:schemeClr>
              <a:schemeClr val="phClr">
                <a:tint val="90000"/>
                <a:satMod val="150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Verve</Template>
  <TotalTime>489</TotalTime>
  <Words>2715</Words>
  <Application>Microsoft Office PowerPoint</Application>
  <PresentationFormat>Presentación en pantalla (4:3)</PresentationFormat>
  <Paragraphs>463</Paragraphs>
  <Slides>137</Slides>
  <Notes>2</Notes>
  <HiddenSlides>0</HiddenSlides>
  <MMClips>0</MMClips>
  <ScaleCrop>false</ScaleCrop>
  <HeadingPairs>
    <vt:vector size="4" baseType="variant">
      <vt:variant>
        <vt:lpstr>Tema</vt:lpstr>
      </vt:variant>
      <vt:variant>
        <vt:i4>2</vt:i4>
      </vt:variant>
      <vt:variant>
        <vt:lpstr>Títulos de diapositiva</vt:lpstr>
      </vt:variant>
      <vt:variant>
        <vt:i4>137</vt:i4>
      </vt:variant>
    </vt:vector>
  </HeadingPairs>
  <TitlesOfParts>
    <vt:vector size="139" baseType="lpstr">
      <vt:lpstr>Brío</vt:lpstr>
      <vt:lpstr>1_Brío</vt:lpstr>
      <vt:lpstr>Primeras Manifestaciones de la Administración:</vt:lpstr>
      <vt:lpstr>Introducción</vt:lpstr>
      <vt:lpstr>ERA PREHISTORICA:</vt:lpstr>
      <vt:lpstr>Diapositiva 4</vt:lpstr>
      <vt:lpstr>Diapositiva 5</vt:lpstr>
      <vt:lpstr>Contribución a la administración</vt:lpstr>
      <vt:lpstr>Civilizaciones Antiguas</vt:lpstr>
      <vt:lpstr>Sumerios: Milenio III a.C</vt:lpstr>
      <vt:lpstr>Sumerios:</vt:lpstr>
      <vt:lpstr>Organización Política:</vt:lpstr>
      <vt:lpstr>Babilonia:</vt:lpstr>
      <vt:lpstr>Su Jerarquía:</vt:lpstr>
      <vt:lpstr>Código Hammurabi:</vt:lpstr>
      <vt:lpstr>Su Economía:</vt:lpstr>
      <vt:lpstr>Mesopotamia:</vt:lpstr>
      <vt:lpstr>Mesopotamia:</vt:lpstr>
      <vt:lpstr>Diapositiva 17</vt:lpstr>
      <vt:lpstr>Se caracterizo por:</vt:lpstr>
      <vt:lpstr>Mapa:</vt:lpstr>
      <vt:lpstr>Egipto:</vt:lpstr>
      <vt:lpstr>Egipto:</vt:lpstr>
      <vt:lpstr>Hebreos:</vt:lpstr>
      <vt:lpstr>Como empresa administrativa: </vt:lpstr>
      <vt:lpstr>India:</vt:lpstr>
      <vt:lpstr>Diapositiva 25</vt:lpstr>
      <vt:lpstr>Diapositiva 26</vt:lpstr>
      <vt:lpstr>LOS HEBREOS: XIII a.C</vt:lpstr>
      <vt:lpstr>SOCIEDAD DE LOS HEBREOS:</vt:lpstr>
      <vt:lpstr>SUS INICIOS:</vt:lpstr>
      <vt:lpstr>CREACIÓN DEL ESTADO HEBREO: (LOS REYES)</vt:lpstr>
      <vt:lpstr>CREACION DEL ESTADO HEBREO:</vt:lpstr>
      <vt:lpstr>ECONÓMIA:</vt:lpstr>
      <vt:lpstr>MÁS DE SUS ACTIVIDADES:</vt:lpstr>
      <vt:lpstr>Hebreos:</vt:lpstr>
      <vt:lpstr>Diapositiva 35</vt:lpstr>
      <vt:lpstr>INDIA: año 3000 a.C</vt:lpstr>
      <vt:lpstr>DIVISIÓN DEL PUEBLO INDIO: </vt:lpstr>
      <vt:lpstr>POLITICA:</vt:lpstr>
      <vt:lpstr>ECONÓMIA</vt:lpstr>
      <vt:lpstr>Diapositiva 40</vt:lpstr>
      <vt:lpstr>FUNDADORES DE ROMA</vt:lpstr>
      <vt:lpstr>ROMULO</vt:lpstr>
      <vt:lpstr>Diapositiva 43</vt:lpstr>
      <vt:lpstr>Diapositiva 44</vt:lpstr>
      <vt:lpstr>Diapositiva 45</vt:lpstr>
      <vt:lpstr>CLASES SOCIALES DEL IMPERIO</vt:lpstr>
      <vt:lpstr>CLASES SOCIALES</vt:lpstr>
      <vt:lpstr>CLASES SOCIALES</vt:lpstr>
      <vt:lpstr>CLASES SOCIALES</vt:lpstr>
      <vt:lpstr>CLASES SOCIALES</vt:lpstr>
      <vt:lpstr>DERECHO ROMANO</vt:lpstr>
      <vt:lpstr>Diapositiva 52</vt:lpstr>
      <vt:lpstr>Diapositiva 53</vt:lpstr>
      <vt:lpstr>Diapositiva 54</vt:lpstr>
      <vt:lpstr>Diapositiva 55</vt:lpstr>
      <vt:lpstr>Diapositiva 56</vt:lpstr>
      <vt:lpstr>Diapositiva 57</vt:lpstr>
      <vt:lpstr>Diapositiva 58</vt:lpstr>
      <vt:lpstr>Diapositiva 59</vt:lpstr>
      <vt:lpstr>Diapositiva 60</vt:lpstr>
      <vt:lpstr>Diapositiva 61</vt:lpstr>
      <vt:lpstr>Diapositiva 62</vt:lpstr>
      <vt:lpstr>Diapositiva 63</vt:lpstr>
      <vt:lpstr>Diapositiva 64</vt:lpstr>
      <vt:lpstr>Diapositiva 65</vt:lpstr>
      <vt:lpstr>Diapositiva 66</vt:lpstr>
      <vt:lpstr>Diapositiva 67</vt:lpstr>
      <vt:lpstr>Diapositiva 68</vt:lpstr>
      <vt:lpstr>Diapositiva 69</vt:lpstr>
      <vt:lpstr>Diapositiva 70</vt:lpstr>
      <vt:lpstr>Diapositiva 71</vt:lpstr>
      <vt:lpstr>Diapositiva 72</vt:lpstr>
      <vt:lpstr>Diapositiva 73</vt:lpstr>
      <vt:lpstr>Diapositiva 74</vt:lpstr>
      <vt:lpstr>Diapositiva 75</vt:lpstr>
      <vt:lpstr>Diapositiva 76</vt:lpstr>
      <vt:lpstr>LA 1ra REVOLUCION INDUSTRIAL </vt:lpstr>
      <vt:lpstr>Expansión del comercio  </vt:lpstr>
      <vt:lpstr>Demanda y oferta </vt:lpstr>
      <vt:lpstr>Efecto de la comercialización</vt:lpstr>
      <vt:lpstr>Etapas de la 1ra Revolución Industrial </vt:lpstr>
      <vt:lpstr>Etapas de la primera revolución industrial </vt:lpstr>
      <vt:lpstr>2da revolución Industrial </vt:lpstr>
      <vt:lpstr>Producción</vt:lpstr>
      <vt:lpstr>Aparece la banca </vt:lpstr>
      <vt:lpstr>Diferencias entre la primera y la segunda revolución industrial </vt:lpstr>
      <vt:lpstr>Diferencias entre la primera y le segunda revolución industrial</vt:lpstr>
      <vt:lpstr>Diferencias entre la primera y la segunda revolución industrial</vt:lpstr>
      <vt:lpstr>Diferencias de la revoluciones industriales</vt:lpstr>
      <vt:lpstr>Economía Mundializada</vt:lpstr>
      <vt:lpstr>Factores económicos </vt:lpstr>
      <vt:lpstr>Factores Económicos</vt:lpstr>
      <vt:lpstr>REVOLUCION INDUSTRIAL</vt:lpstr>
      <vt:lpstr>LA REVOLUCION INDUSTRIAL</vt:lpstr>
      <vt:lpstr>LA REVOLUCION INDUSTRIAL</vt:lpstr>
      <vt:lpstr>LA REVOLUCION INDUSTRIAL</vt:lpstr>
      <vt:lpstr>LA MAQUINA DE VAPOR</vt:lpstr>
      <vt:lpstr>APLICACIÓN DE LA FUERZA DE VAPOR</vt:lpstr>
      <vt:lpstr>APLICACIÓN DE LA FUERZA DE VAPOR</vt:lpstr>
      <vt:lpstr>APLICACIONES DE LA ENERGIA ELECTRICA</vt:lpstr>
      <vt:lpstr>EL TELEGRAFO</vt:lpstr>
      <vt:lpstr>DESARROLLO DE LA INDUSTRIA DEL ACERO</vt:lpstr>
      <vt:lpstr>PERFECCIONAMIENTO DEL DINAMMO</vt:lpstr>
      <vt:lpstr>MOTOR DE COMBUSTION INTERNA</vt:lpstr>
      <vt:lpstr>EL TELEFONO</vt:lpstr>
      <vt:lpstr>EL AUTOMOVIL</vt:lpstr>
      <vt:lpstr>PERFECCIONAMIENTO DEL NEUMATICO</vt:lpstr>
      <vt:lpstr>AVION</vt:lpstr>
      <vt:lpstr>FABRICACION DE AUTOMOVILES</vt:lpstr>
      <vt:lpstr>USO DEL PETROLEO Y DEL CARBON</vt:lpstr>
      <vt:lpstr>CONSTRUCCION DE LA REVOLUCION INDUSTRIAL</vt:lpstr>
      <vt:lpstr>LA REVOLUCION INDUSTRIAL</vt:lpstr>
      <vt:lpstr>LA REVOLUCION INDUSTRIAL</vt:lpstr>
      <vt:lpstr>LA REVOLUCION INDUSTRIAL</vt:lpstr>
      <vt:lpstr>LA REVOLUCION INDUSTRIAL</vt:lpstr>
      <vt:lpstr>LA REVOLUCION INDUSTRIAL</vt:lpstr>
      <vt:lpstr>LA REVOLUCION INDUSTRIAL</vt:lpstr>
      <vt:lpstr>REVOLUCIÓN INDUSTRIAL </vt:lpstr>
      <vt:lpstr>Diapositiva 119</vt:lpstr>
      <vt:lpstr>La expansión</vt:lpstr>
      <vt:lpstr>Diapositiva 121</vt:lpstr>
      <vt:lpstr>Francia (XVIII-XIX):</vt:lpstr>
      <vt:lpstr>Francia:</vt:lpstr>
      <vt:lpstr>ALEMANIA:</vt:lpstr>
      <vt:lpstr>Alemania:</vt:lpstr>
      <vt:lpstr>Alemania:</vt:lpstr>
      <vt:lpstr>Estados Unidos</vt:lpstr>
      <vt:lpstr>Estados unidos (desarrollo económico)</vt:lpstr>
      <vt:lpstr>Rusia:</vt:lpstr>
      <vt:lpstr>Estudios sobre la Administración:</vt:lpstr>
      <vt:lpstr>Diapositiva 131</vt:lpstr>
      <vt:lpstr>Adam Smith (1723-1790):</vt:lpstr>
      <vt:lpstr>Adam Smith:</vt:lpstr>
      <vt:lpstr>Diapositiva 134</vt:lpstr>
      <vt:lpstr>Robert Owen (1771-1858)</vt:lpstr>
      <vt:lpstr>Diapositiva 136</vt:lpstr>
      <vt:lpstr>Charles Babbage (1792-1871):</vt:lpstr>
    </vt:vector>
  </TitlesOfParts>
  <Company>www.intercambiosvirtuales.org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Carlos</dc:creator>
  <cp:lastModifiedBy>Carlos</cp:lastModifiedBy>
  <cp:revision>60</cp:revision>
  <dcterms:created xsi:type="dcterms:W3CDTF">2010-08-04T03:26:50Z</dcterms:created>
  <dcterms:modified xsi:type="dcterms:W3CDTF">2010-08-18T03:39:37Z</dcterms:modified>
</cp:coreProperties>
</file>