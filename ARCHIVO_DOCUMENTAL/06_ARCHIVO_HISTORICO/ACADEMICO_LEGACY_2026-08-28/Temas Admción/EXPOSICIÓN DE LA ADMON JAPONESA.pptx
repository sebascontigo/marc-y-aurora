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94" r:id="rId2"/>
    <p:sldId id="256" r:id="rId3"/>
    <p:sldId id="259" r:id="rId4"/>
    <p:sldId id="258" r:id="rId5"/>
    <p:sldId id="295" r:id="rId6"/>
    <p:sldId id="271" r:id="rId7"/>
    <p:sldId id="260" r:id="rId8"/>
    <p:sldId id="296" r:id="rId9"/>
    <p:sldId id="297" r:id="rId10"/>
    <p:sldId id="298" r:id="rId11"/>
    <p:sldId id="299" r:id="rId12"/>
    <p:sldId id="261" r:id="rId13"/>
    <p:sldId id="268" r:id="rId14"/>
    <p:sldId id="300" r:id="rId15"/>
    <p:sldId id="301" r:id="rId16"/>
    <p:sldId id="270" r:id="rId17"/>
    <p:sldId id="263" r:id="rId18"/>
    <p:sldId id="264" r:id="rId19"/>
    <p:sldId id="302" r:id="rId20"/>
    <p:sldId id="265" r:id="rId21"/>
    <p:sldId id="266" r:id="rId22"/>
    <p:sldId id="267"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3" d="100"/>
          <a:sy n="73" d="100"/>
        </p:scale>
        <p:origin x="-1482" y="-4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6DA1A3-A80D-4490-8731-0822A05EEF21}" type="datetimeFigureOut">
              <a:rPr lang="es-ES" smtClean="0"/>
              <a:pPr/>
              <a:t>11/11/2009</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A3DAF6-0982-4CF1-83A8-EC64F36773E8}" type="slidenum">
              <a:rPr lang="es-ES" smtClean="0"/>
              <a:pPr/>
              <a:t>‹Nº›</a:t>
            </a:fld>
            <a:endParaRPr lang="es-E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21A3DAF6-0982-4CF1-83A8-EC64F36773E8}" type="slidenum">
              <a:rPr lang="es-ES" smtClean="0"/>
              <a:pPr/>
              <a:t>2</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21A3DAF6-0982-4CF1-83A8-EC64F36773E8}" type="slidenum">
              <a:rPr lang="es-ES" smtClean="0"/>
              <a:pPr/>
              <a:t>23</a:t>
            </a:fld>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21A3DAF6-0982-4CF1-83A8-EC64F36773E8}" type="slidenum">
              <a:rPr lang="es-ES" smtClean="0"/>
              <a:pPr/>
              <a:t>24</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9" name="8 Título"/>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s-ES" smtClean="0"/>
              <a:t>Haga clic para modificar el estilo de título del patrón</a:t>
            </a:r>
            <a:endParaRPr kumimoji="0" lang="en-US"/>
          </a:p>
        </p:txBody>
      </p:sp>
      <p:sp>
        <p:nvSpPr>
          <p:cNvPr id="17" name="16 Subtítulo"/>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30" name="29 Marcador de fecha"/>
          <p:cNvSpPr>
            <a:spLocks noGrp="1"/>
          </p:cNvSpPr>
          <p:nvPr>
            <p:ph type="dt" sz="half" idx="10"/>
          </p:nvPr>
        </p:nvSpPr>
        <p:spPr/>
        <p:txBody>
          <a:bodyPr/>
          <a:lstStyle/>
          <a:p>
            <a:fld id="{68F80923-774D-49D6-B740-8EB0EDEE46F9}" type="datetimeFigureOut">
              <a:rPr lang="es-ES" smtClean="0"/>
              <a:pPr/>
              <a:t>11/11/2009</a:t>
            </a:fld>
            <a:endParaRPr lang="es-ES"/>
          </a:p>
        </p:txBody>
      </p:sp>
      <p:sp>
        <p:nvSpPr>
          <p:cNvPr id="19" name="18 Marcador de pie de página"/>
          <p:cNvSpPr>
            <a:spLocks noGrp="1"/>
          </p:cNvSpPr>
          <p:nvPr>
            <p:ph type="ftr" sz="quarter" idx="11"/>
          </p:nvPr>
        </p:nvSpPr>
        <p:spPr/>
        <p:txBody>
          <a:bodyPr/>
          <a:lstStyle/>
          <a:p>
            <a:endParaRPr lang="es-ES"/>
          </a:p>
        </p:txBody>
      </p:sp>
      <p:sp>
        <p:nvSpPr>
          <p:cNvPr id="27" name="26 Marcador de número de diapositiva"/>
          <p:cNvSpPr>
            <a:spLocks noGrp="1"/>
          </p:cNvSpPr>
          <p:nvPr>
            <p:ph type="sldNum" sz="quarter" idx="12"/>
          </p:nvPr>
        </p:nvSpPr>
        <p:spPr/>
        <p:txBody>
          <a:bodyPr/>
          <a:lstStyle/>
          <a:p>
            <a:fld id="{885BBCF2-67BB-40C4-8883-9E807B3A911D}"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68F80923-774D-49D6-B740-8EB0EDEE46F9}" type="datetimeFigureOut">
              <a:rPr lang="es-ES" smtClean="0"/>
              <a:pPr/>
              <a:t>11/11/2009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885BBCF2-67BB-40C4-8883-9E807B3A911D}"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68F80923-774D-49D6-B740-8EB0EDEE46F9}" type="datetimeFigureOut">
              <a:rPr lang="es-ES" smtClean="0"/>
              <a:pPr/>
              <a:t>11/11/2009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885BBCF2-67BB-40C4-8883-9E807B3A911D}"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229600" cy="1143000"/>
          </a:xfrm>
        </p:spPr>
        <p:txBody>
          <a:body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68F80923-774D-49D6-B740-8EB0EDEE46F9}" type="datetimeFigureOut">
              <a:rPr lang="es-ES" smtClean="0"/>
              <a:pPr/>
              <a:t>11/11/2009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885BBCF2-67BB-40C4-8883-9E807B3A911D}"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229600" cy="1143000"/>
          </a:xfrm>
        </p:spPr>
        <p:txBody>
          <a:bodyPr tIns="45720" anchor="b"/>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p>
            <a:fld id="{68F80923-774D-49D6-B740-8EB0EDEE46F9}" type="datetimeFigureOut">
              <a:rPr lang="es-ES" smtClean="0"/>
              <a:pPr/>
              <a:t>11/11/2009</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885BBCF2-67BB-40C4-8883-9E807B3A911D}"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68F80923-774D-49D6-B740-8EB0EDEE46F9}" type="datetimeFigureOut">
              <a:rPr lang="es-ES" smtClean="0"/>
              <a:pPr/>
              <a:t>11/11/2009</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885BBCF2-67BB-40C4-8883-9E807B3A911D}"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68F80923-774D-49D6-B740-8EB0EDEE46F9}" type="datetimeFigureOut">
              <a:rPr lang="es-ES" smtClean="0"/>
              <a:pPr/>
              <a:t>11/11/2009</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885BBCF2-67BB-40C4-8883-9E807B3A911D}"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68F80923-774D-49D6-B740-8EB0EDEE46F9}" type="datetimeFigureOut">
              <a:rPr lang="es-ES" smtClean="0"/>
              <a:pPr/>
              <a:t>11/11/2009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885BBCF2-67BB-40C4-8883-9E807B3A911D}"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Recortar y redondear rectángulo de esquina sencilla"/>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11 Triángulo rectángulo"/>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1 Título"/>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68F80923-774D-49D6-B740-8EB0EDEE46F9}" type="datetimeFigureOut">
              <a:rPr lang="es-ES" smtClean="0"/>
              <a:pPr/>
              <a:t>11/11/2009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a:xfrm>
            <a:off x="8077200" y="6356350"/>
            <a:ext cx="609600" cy="365125"/>
          </a:xfrm>
        </p:spPr>
        <p:txBody>
          <a:bodyPr/>
          <a:lstStyle/>
          <a:p>
            <a:fld id="{885BBCF2-67BB-40C4-8883-9E807B3A911D}" type="slidenum">
              <a:rPr lang="es-ES" smtClean="0"/>
              <a:pPr/>
              <a:t>‹Nº›</a:t>
            </a:fld>
            <a:endParaRPr lang="es-ES"/>
          </a:p>
        </p:txBody>
      </p:sp>
      <p:sp>
        <p:nvSpPr>
          <p:cNvPr id="3" name="2 Marcador de posición de imagen"/>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s-ES" smtClean="0"/>
              <a:t>Haga clic en el icono para agregar una imagen</a:t>
            </a:r>
            <a:endParaRPr kumimoji="0" lang="en-US" dirty="0"/>
          </a:p>
        </p:txBody>
      </p:sp>
      <p:sp>
        <p:nvSpPr>
          <p:cNvPr id="10" name="9 Forma libre"/>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10 Forma libre"/>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68F80923-774D-49D6-B740-8EB0EDEE46F9}" type="datetimeFigureOut">
              <a:rPr lang="es-ES" smtClean="0"/>
              <a:pPr/>
              <a:t>11/11/2009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885BBCF2-67BB-40C4-8883-9E807B3A911D}"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914401"/>
            <a:ext cx="2057400" cy="5211763"/>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914401"/>
            <a:ext cx="6019800" cy="5211763"/>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68F80923-774D-49D6-B740-8EB0EDEE46F9}" type="datetimeFigureOut">
              <a:rPr lang="es-ES" smtClean="0"/>
              <a:pPr/>
              <a:t>11/11/2009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885BBCF2-67BB-40C4-8883-9E807B3A911D}"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6 Forma libre"/>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7 Forma libre"/>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8 Marcador de título"/>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s-ES" smtClean="0"/>
              <a:t>Haga clic para modificar el estilo de título del patrón</a:t>
            </a:r>
            <a:endParaRPr kumimoji="0" lang="en-US"/>
          </a:p>
        </p:txBody>
      </p:sp>
      <p:sp>
        <p:nvSpPr>
          <p:cNvPr id="30" name="29 Marcador de texto"/>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9 Marcador de fecha"/>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68F80923-774D-49D6-B740-8EB0EDEE46F9}" type="datetimeFigureOut">
              <a:rPr lang="es-ES" smtClean="0"/>
              <a:pPr/>
              <a:t>11/11/2009</a:t>
            </a:fld>
            <a:endParaRPr lang="es-ES"/>
          </a:p>
        </p:txBody>
      </p:sp>
      <p:sp>
        <p:nvSpPr>
          <p:cNvPr id="22" name="21 Marcador de pie de página"/>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s-ES"/>
          </a:p>
        </p:txBody>
      </p:sp>
      <p:sp>
        <p:nvSpPr>
          <p:cNvPr id="18" name="17 Marcador de número de diapositiva"/>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85BBCF2-67BB-40C4-8883-9E807B3A911D}" type="slidenum">
              <a:rPr lang="es-ES" smtClean="0"/>
              <a:pPr/>
              <a:t>‹Nº›</a:t>
            </a:fld>
            <a:endParaRPr lang="es-ES"/>
          </a:p>
        </p:txBody>
      </p:sp>
      <p:grpSp>
        <p:nvGrpSpPr>
          <p:cNvPr id="2" name="1 Grupo"/>
          <p:cNvGrpSpPr/>
          <p:nvPr/>
        </p:nvGrpSpPr>
        <p:grpSpPr>
          <a:xfrm>
            <a:off x="-19017" y="202408"/>
            <a:ext cx="9180548" cy="649224"/>
            <a:chOff x="-19045" y="216550"/>
            <a:chExt cx="9180548" cy="649224"/>
          </a:xfrm>
        </p:grpSpPr>
        <p:sp>
          <p:nvSpPr>
            <p:cNvPr id="12" name="11 Forma libre"/>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Forma libre"/>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81042" y="214290"/>
            <a:ext cx="8305800" cy="6429396"/>
          </a:xfrm>
        </p:spPr>
        <p:style>
          <a:lnRef idx="0">
            <a:schemeClr val="accent6"/>
          </a:lnRef>
          <a:fillRef idx="3">
            <a:schemeClr val="accent6"/>
          </a:fillRef>
          <a:effectRef idx="3">
            <a:schemeClr val="accent6"/>
          </a:effectRef>
          <a:fontRef idx="minor">
            <a:schemeClr val="lt1"/>
          </a:fontRef>
        </p:style>
        <p:txBody>
          <a:bodyPr>
            <a:normAutofit fontScale="90000"/>
          </a:bodyPr>
          <a:lstStyle/>
          <a:p>
            <a:pPr algn="ctr"/>
            <a:r>
              <a:rPr lang="es-ES" sz="3100" b="1" i="1" dirty="0" smtClean="0">
                <a:solidFill>
                  <a:schemeClr val="accent1">
                    <a:lumMod val="75000"/>
                  </a:schemeClr>
                </a:solidFill>
              </a:rPr>
              <a:t>ADMINISTRACIÓN JAPONESA</a:t>
            </a:r>
            <a:r>
              <a:rPr lang="es-ES" sz="3100" b="1" dirty="0" smtClean="0">
                <a:solidFill>
                  <a:schemeClr val="tx1"/>
                </a:solidFill>
              </a:rPr>
              <a:t/>
            </a:r>
            <a:br>
              <a:rPr lang="es-ES" sz="3100" b="1" dirty="0" smtClean="0">
                <a:solidFill>
                  <a:schemeClr val="tx1"/>
                </a:solidFill>
              </a:rPr>
            </a:br>
            <a:r>
              <a:rPr lang="es-ES" sz="3100" b="1" dirty="0" smtClean="0">
                <a:solidFill>
                  <a:schemeClr val="tx1"/>
                </a:solidFill>
              </a:rPr>
              <a:t/>
            </a:r>
            <a:br>
              <a:rPr lang="es-ES" sz="3100" b="1" dirty="0" smtClean="0">
                <a:solidFill>
                  <a:schemeClr val="tx1"/>
                </a:solidFill>
              </a:rPr>
            </a:br>
            <a:r>
              <a:rPr lang="es-ES" sz="3100" b="1" dirty="0" smtClean="0">
                <a:solidFill>
                  <a:schemeClr val="tx1"/>
                </a:solidFill>
              </a:rPr>
              <a:t>INTEGRANTES:</a:t>
            </a:r>
            <a:br>
              <a:rPr lang="es-ES" sz="3100" b="1" dirty="0" smtClean="0">
                <a:solidFill>
                  <a:schemeClr val="tx1"/>
                </a:solidFill>
              </a:rPr>
            </a:br>
            <a:r>
              <a:rPr lang="es-ES" sz="3100" b="1" dirty="0" smtClean="0">
                <a:solidFill>
                  <a:schemeClr val="tx1"/>
                </a:solidFill>
              </a:rPr>
              <a:t>NIDYA YECELL COLORADO</a:t>
            </a:r>
            <a:br>
              <a:rPr lang="es-ES" sz="3100" b="1" dirty="0" smtClean="0">
                <a:solidFill>
                  <a:schemeClr val="tx1"/>
                </a:solidFill>
              </a:rPr>
            </a:br>
            <a:r>
              <a:rPr lang="es-ES" sz="3100" b="1" dirty="0" smtClean="0">
                <a:solidFill>
                  <a:schemeClr val="tx1"/>
                </a:solidFill>
              </a:rPr>
              <a:t>CAROLINA JARAMILLO</a:t>
            </a:r>
            <a:br>
              <a:rPr lang="es-ES" sz="3100" b="1" dirty="0" smtClean="0">
                <a:solidFill>
                  <a:schemeClr val="tx1"/>
                </a:solidFill>
              </a:rPr>
            </a:br>
            <a:r>
              <a:rPr lang="es-ES" sz="3100" b="1" dirty="0" smtClean="0">
                <a:solidFill>
                  <a:schemeClr val="tx1"/>
                </a:solidFill>
              </a:rPr>
              <a:t>KATERIN MURCIA</a:t>
            </a:r>
            <a:r>
              <a:rPr lang="es-ES" sz="3100" dirty="0" smtClean="0"/>
              <a:t/>
            </a:r>
            <a:br>
              <a:rPr lang="es-ES" sz="3100" dirty="0" smtClean="0"/>
            </a:br>
            <a:r>
              <a:rPr lang="es-ES" sz="3100" dirty="0" smtClean="0"/>
              <a:t/>
            </a:r>
            <a:br>
              <a:rPr lang="es-ES" sz="3100" dirty="0" smtClean="0"/>
            </a:br>
            <a:r>
              <a:rPr lang="es-ES" sz="3100" b="1" dirty="0" smtClean="0">
                <a:solidFill>
                  <a:schemeClr val="tx1"/>
                </a:solidFill>
                <a:latin typeface="Arial Unicode MS" pitchFamily="34" charset="-128"/>
                <a:ea typeface="Arial Unicode MS" pitchFamily="34" charset="-128"/>
                <a:cs typeface="Arial Unicode MS" pitchFamily="34" charset="-128"/>
              </a:rPr>
              <a:t> “NO HAY MÁS RIQUEZA QUE LA REPRESENTADA EN TÉRMINOS DE HOMBRES” </a:t>
            </a:r>
            <a:r>
              <a:rPr lang="es-ES" sz="4400" dirty="0" smtClean="0"/>
              <a:t/>
            </a:r>
            <a:br>
              <a:rPr lang="es-ES" sz="4400" dirty="0" smtClean="0"/>
            </a:br>
            <a:r>
              <a:rPr lang="es-ES" sz="4400" dirty="0" smtClean="0"/>
              <a:t/>
            </a:r>
            <a:br>
              <a:rPr lang="es-ES" sz="4400" dirty="0" smtClean="0"/>
            </a:br>
            <a:r>
              <a:rPr lang="es-ES" sz="4400" dirty="0" smtClean="0"/>
              <a:t/>
            </a:r>
            <a:br>
              <a:rPr lang="es-ES" sz="4400" dirty="0" smtClean="0"/>
            </a:br>
            <a:endParaRPr lang="es-ES" sz="4400" dirty="0"/>
          </a:p>
        </p:txBody>
      </p:sp>
      <p:pic>
        <p:nvPicPr>
          <p:cNvPr id="3" name="Picture 3" descr="H:\Documents and Settings\usuario\Configuración local\Archivos temporales de Internet\Content.IE5\MRI3UXI7\MCj02786160000[1].wmf"/>
          <p:cNvPicPr>
            <a:picLocks noChangeAspect="1" noChangeArrowheads="1"/>
          </p:cNvPicPr>
          <p:nvPr/>
        </p:nvPicPr>
        <p:blipFill>
          <a:blip r:embed="rId2" cstate="print"/>
          <a:srcRect/>
          <a:stretch>
            <a:fillRect/>
          </a:stretch>
        </p:blipFill>
        <p:spPr bwMode="auto">
          <a:xfrm>
            <a:off x="3690182" y="4958356"/>
            <a:ext cx="1810512" cy="1613916"/>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Título"/>
          <p:cNvSpPr>
            <a:spLocks noGrp="1"/>
          </p:cNvSpPr>
          <p:nvPr>
            <p:ph type="title"/>
          </p:nvPr>
        </p:nvSpPr>
        <p:spPr>
          <a:xfrm>
            <a:off x="552480" y="1857364"/>
            <a:ext cx="8305800" cy="1143000"/>
          </a:xfrm>
        </p:spPr>
        <p:txBody>
          <a:bodyPr>
            <a:noAutofit/>
          </a:bodyPr>
          <a:lstStyle/>
          <a:p>
            <a:pPr algn="ct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endParaRPr lang="es-ES" sz="4000" b="1" dirty="0">
              <a:solidFill>
                <a:schemeClr val="tx1"/>
              </a:solidFill>
              <a:latin typeface="Arial Unicode MS" pitchFamily="34" charset="-128"/>
              <a:ea typeface="Arial Unicode MS" pitchFamily="34" charset="-128"/>
              <a:cs typeface="Arial Unicode MS" pitchFamily="34" charset="-128"/>
            </a:endParaRPr>
          </a:p>
        </p:txBody>
      </p:sp>
      <p:sp>
        <p:nvSpPr>
          <p:cNvPr id="3" name="2 Rectángulo"/>
          <p:cNvSpPr/>
          <p:nvPr/>
        </p:nvSpPr>
        <p:spPr>
          <a:xfrm>
            <a:off x="2321028" y="714356"/>
            <a:ext cx="4751302" cy="76944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4400" b="1" cap="none" spc="0" dirty="0" smtClean="0">
                <a:ln w="11430">
                  <a:solidFill>
                    <a:schemeClr val="tx1"/>
                  </a:solidFill>
                </a:ln>
                <a:effectLst>
                  <a:outerShdw blurRad="50800" dist="39000" dir="5460000" algn="tl">
                    <a:srgbClr val="000000">
                      <a:alpha val="38000"/>
                    </a:srgbClr>
                  </a:outerShdw>
                </a:effectLst>
              </a:rPr>
              <a:t>INTRODUCCIÓN</a:t>
            </a:r>
            <a:endParaRPr lang="es-ES" sz="4400" b="1" cap="none" spc="0" dirty="0">
              <a:ln w="11430">
                <a:solidFill>
                  <a:schemeClr val="tx1"/>
                </a:solidFill>
              </a:ln>
              <a:effectLst>
                <a:outerShdw blurRad="50800" dist="39000" dir="5460000" algn="tl">
                  <a:srgbClr val="000000">
                    <a:alpha val="38000"/>
                  </a:srgbClr>
                </a:outerShdw>
              </a:effectLst>
            </a:endParaRPr>
          </a:p>
        </p:txBody>
      </p:sp>
      <p:sp>
        <p:nvSpPr>
          <p:cNvPr id="5" name="4 CuadroTexto"/>
          <p:cNvSpPr txBox="1"/>
          <p:nvPr/>
        </p:nvSpPr>
        <p:spPr>
          <a:xfrm>
            <a:off x="500034" y="2000240"/>
            <a:ext cx="8215370" cy="2554545"/>
          </a:xfrm>
          <a:prstGeom prst="rect">
            <a:avLst/>
          </a:prstGeom>
          <a:noFill/>
        </p:spPr>
        <p:txBody>
          <a:bodyPr wrap="square" rtlCol="0">
            <a:spAutoFit/>
          </a:bodyPr>
          <a:lstStyle/>
          <a:p>
            <a:pPr algn="just"/>
            <a:r>
              <a:rPr lang="es-ES" sz="3200" dirty="0" smtClean="0"/>
              <a:t>Como concepto, la calidad se conoce desde hace milenios.</a:t>
            </a:r>
          </a:p>
          <a:p>
            <a:pPr algn="just"/>
            <a:r>
              <a:rPr lang="es-ES" sz="3200" dirty="0" smtClean="0"/>
              <a:t>Como disciplina apenas está en formación. Inicialmente su calidad era relativa y se dirigía hacia la inspección. (corrección).</a:t>
            </a:r>
            <a:endParaRPr lang="es-ES" sz="3200" dirty="0"/>
          </a:p>
        </p:txBody>
      </p:sp>
      <p:pic>
        <p:nvPicPr>
          <p:cNvPr id="1026" name="Picture 2" descr="H:\Documents and Settings\usuario\Configuración local\Archivos temporales de Internet\Content.IE5\GLMZ8DQ7\MPj04311790000[1].jpg"/>
          <p:cNvPicPr>
            <a:picLocks noChangeAspect="1" noChangeArrowheads="1"/>
          </p:cNvPicPr>
          <p:nvPr/>
        </p:nvPicPr>
        <p:blipFill>
          <a:blip r:embed="rId3" cstate="print"/>
          <a:srcRect/>
          <a:stretch>
            <a:fillRect/>
          </a:stretch>
        </p:blipFill>
        <p:spPr bwMode="auto">
          <a:xfrm>
            <a:off x="3428992" y="4857760"/>
            <a:ext cx="2205482" cy="1710972"/>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071538" y="642918"/>
            <a:ext cx="7232364" cy="1200329"/>
          </a:xfrm>
          <a:prstGeom prst="rect">
            <a:avLst/>
          </a:prstGeom>
          <a:noFill/>
        </p:spPr>
        <p:txBody>
          <a:bodyPr wrap="none" lIns="91440" tIns="45720" rIns="91440" bIns="45720">
            <a:spAutoFit/>
          </a:bodyPr>
          <a:lstStyle/>
          <a:p>
            <a:pPr algn="ctr"/>
            <a:r>
              <a:rPr lang="es-ES" sz="3600" b="1" cap="none" spc="0" dirty="0" smtClean="0">
                <a:ln w="17780" cmpd="sng">
                  <a:solidFill>
                    <a:schemeClr val="tx1"/>
                  </a:solidFill>
                  <a:prstDash val="solid"/>
                  <a:miter lim="800000"/>
                </a:ln>
                <a:effectLst>
                  <a:outerShdw blurRad="50800" algn="tl" rotWithShape="0">
                    <a:srgbClr val="000000"/>
                  </a:outerShdw>
                </a:effectLst>
              </a:rPr>
              <a:t>COMIENZOS DEL CONTROL DE </a:t>
            </a:r>
          </a:p>
          <a:p>
            <a:pPr algn="ctr"/>
            <a:r>
              <a:rPr lang="es-ES" sz="3600" b="1" cap="none" spc="0" dirty="0" smtClean="0">
                <a:ln w="17780" cmpd="sng">
                  <a:solidFill>
                    <a:schemeClr val="tx1"/>
                  </a:solidFill>
                  <a:prstDash val="solid"/>
                  <a:miter lim="800000"/>
                </a:ln>
                <a:effectLst>
                  <a:outerShdw blurRad="50800" algn="tl" rotWithShape="0">
                    <a:srgbClr val="000000"/>
                  </a:outerShdw>
                </a:effectLst>
              </a:rPr>
              <a:t>CALIDAD</a:t>
            </a:r>
            <a:endParaRPr lang="es-ES" sz="3600" b="1" cap="none" spc="0"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500034" y="1928802"/>
            <a:ext cx="8429684" cy="3416320"/>
          </a:xfrm>
          <a:prstGeom prst="rect">
            <a:avLst/>
          </a:prstGeom>
          <a:noFill/>
        </p:spPr>
        <p:txBody>
          <a:bodyPr wrap="square" rtlCol="0">
            <a:spAutoFit/>
          </a:bodyPr>
          <a:lstStyle/>
          <a:p>
            <a:pPr algn="just"/>
            <a:r>
              <a:rPr lang="es-ES" sz="3600" b="1" dirty="0" smtClean="0"/>
              <a:t>Comenzó en los años 30, en Estados Unidos con la aplicación industrial del cuadro de control ideado por el Doctor W.A. Shewhart de Belf Laboratories, después de la segunda guerra mundial.</a:t>
            </a:r>
            <a:endParaRPr lang="es-ES" sz="3600" b="1" dirty="0"/>
          </a:p>
        </p:txBody>
      </p:sp>
      <p:pic>
        <p:nvPicPr>
          <p:cNvPr id="3074" name="Picture 2" descr="H:\Documents and Settings\usuario\Configuración local\Archivos temporales de Internet\Content.IE5\KX0BWRO7\MCj04299050000[1].wmf"/>
          <p:cNvPicPr>
            <a:picLocks noChangeAspect="1" noChangeArrowheads="1"/>
          </p:cNvPicPr>
          <p:nvPr/>
        </p:nvPicPr>
        <p:blipFill>
          <a:blip r:embed="rId2" cstate="print"/>
          <a:srcRect/>
          <a:stretch>
            <a:fillRect/>
          </a:stretch>
        </p:blipFill>
        <p:spPr bwMode="auto">
          <a:xfrm>
            <a:off x="4500562" y="4929198"/>
            <a:ext cx="4071965" cy="178595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71472" y="714356"/>
            <a:ext cx="7858180" cy="1200329"/>
          </a:xfrm>
          <a:prstGeom prst="rect">
            <a:avLst/>
          </a:prstGeom>
        </p:spPr>
        <p:txBody>
          <a:bodyPr wrap="square">
            <a:spAutoFit/>
            <a:scene3d>
              <a:camera prst="orthographicFront"/>
              <a:lightRig rig="threePt" dir="t"/>
            </a:scene3d>
            <a:sp3d extrusionH="57150">
              <a:bevelT w="50800" h="38100" prst="riblet"/>
            </a:sp3d>
          </a:bodyPr>
          <a:lstStyle/>
          <a:p>
            <a:pPr algn="ctr"/>
            <a:r>
              <a:rPr lang="es-ES" sz="3600" b="1" dirty="0" smtClean="0">
                <a:ln w="17780" cmpd="sng">
                  <a:solidFill>
                    <a:schemeClr val="tx1"/>
                  </a:solidFill>
                  <a:prstDash val="solid"/>
                  <a:miter lim="800000"/>
                </a:ln>
                <a:effectLst>
                  <a:outerShdw blurRad="50800" algn="tl" rotWithShape="0">
                    <a:srgbClr val="000000"/>
                  </a:outerShdw>
                </a:effectLst>
              </a:rPr>
              <a:t>CONTROL ESTADÍSTICO DE LA</a:t>
            </a:r>
          </a:p>
          <a:p>
            <a:pPr algn="ctr"/>
            <a:r>
              <a:rPr lang="es-ES" sz="3600" b="1" dirty="0" smtClean="0">
                <a:ln w="17780" cmpd="sng">
                  <a:solidFill>
                    <a:schemeClr val="tx1"/>
                  </a:solidFill>
                  <a:prstDash val="solid"/>
                  <a:miter lim="800000"/>
                </a:ln>
                <a:effectLst>
                  <a:outerShdw blurRad="50800" algn="tl" rotWithShape="0">
                    <a:srgbClr val="000000"/>
                  </a:outerShdw>
                </a:effectLst>
              </a:rPr>
              <a:t>CALIDAD</a:t>
            </a:r>
            <a:endParaRPr lang="es-ES" sz="3600" b="1"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642878" y="2295591"/>
            <a:ext cx="8143964" cy="2062103"/>
          </a:xfrm>
          <a:prstGeom prst="rect">
            <a:avLst/>
          </a:prstGeom>
          <a:noFill/>
        </p:spPr>
        <p:txBody>
          <a:bodyPr wrap="square" rtlCol="0">
            <a:spAutoFit/>
          </a:bodyPr>
          <a:lstStyle/>
          <a:p>
            <a:pPr algn="just"/>
            <a:r>
              <a:rPr lang="es-ES" sz="3200" b="1" dirty="0" smtClean="0"/>
              <a:t>En 1931 fue publicado </a:t>
            </a:r>
            <a:r>
              <a:rPr lang="es-ES" sz="3200" i="1" dirty="0" smtClean="0"/>
              <a:t>Economic Control Quality of Manufactured product </a:t>
            </a:r>
            <a:r>
              <a:rPr lang="es-ES" sz="3200" b="1" dirty="0" smtClean="0"/>
              <a:t>donde por primera vez se ecribía en forma cientifíca de diversos aspectos de la calidad.</a:t>
            </a:r>
            <a:endParaRPr lang="es-ES" sz="3200" i="1" dirty="0"/>
          </a:p>
        </p:txBody>
      </p:sp>
      <p:pic>
        <p:nvPicPr>
          <p:cNvPr id="2050" name="Picture 2" descr="H:\Documents and Settings\usuario\Configuración local\Archivos temporales de Internet\Content.IE5\092J0PQ7\MPj04392990000[1].jpg"/>
          <p:cNvPicPr>
            <a:picLocks noChangeAspect="1" noChangeArrowheads="1"/>
          </p:cNvPicPr>
          <p:nvPr/>
        </p:nvPicPr>
        <p:blipFill>
          <a:blip r:embed="rId2" cstate="print"/>
          <a:srcRect/>
          <a:stretch>
            <a:fillRect/>
          </a:stretch>
        </p:blipFill>
        <p:spPr bwMode="auto">
          <a:xfrm>
            <a:off x="2857488" y="4500570"/>
            <a:ext cx="3929090" cy="209354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285852" y="565832"/>
            <a:ext cx="7000924" cy="1077218"/>
          </a:xfrm>
          <a:prstGeom prst="rect">
            <a:avLst/>
          </a:prstGeom>
        </p:spPr>
        <p:txBody>
          <a:bodyPr wrap="square">
            <a:spAutoFit/>
          </a:bodyPr>
          <a:lstStyle/>
          <a:p>
            <a:pPr algn="ctr"/>
            <a:r>
              <a:rPr lang="es-ES" sz="3200" b="1" dirty="0" smtClean="0">
                <a:ln w="17780" cmpd="sng">
                  <a:solidFill>
                    <a:schemeClr val="tx1"/>
                  </a:solidFill>
                  <a:prstDash val="solid"/>
                  <a:miter lim="800000"/>
                </a:ln>
                <a:effectLst>
                  <a:outerShdw blurRad="50800" algn="tl" rotWithShape="0">
                    <a:srgbClr val="000000"/>
                  </a:outerShdw>
                </a:effectLst>
              </a:rPr>
              <a:t>CONTROL ESTADÍSTICO DE LA</a:t>
            </a:r>
          </a:p>
          <a:p>
            <a:pPr algn="ctr"/>
            <a:r>
              <a:rPr lang="es-ES" sz="3200" b="1" dirty="0" smtClean="0">
                <a:ln w="17780" cmpd="sng">
                  <a:solidFill>
                    <a:schemeClr val="tx1"/>
                  </a:solidFill>
                  <a:prstDash val="solid"/>
                  <a:miter lim="800000"/>
                </a:ln>
                <a:effectLst>
                  <a:outerShdw blurRad="50800" algn="tl" rotWithShape="0">
                    <a:srgbClr val="000000"/>
                  </a:outerShdw>
                </a:effectLst>
              </a:rPr>
              <a:t>CALIDAD</a:t>
            </a:r>
            <a:endParaRPr lang="es-ES" sz="3200" b="1"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571472" y="2327498"/>
            <a:ext cx="8215370" cy="2862322"/>
          </a:xfrm>
          <a:prstGeom prst="rect">
            <a:avLst/>
          </a:prstGeom>
          <a:noFill/>
        </p:spPr>
        <p:txBody>
          <a:bodyPr wrap="square" rtlCol="0">
            <a:spAutoFit/>
          </a:bodyPr>
          <a:lstStyle/>
          <a:p>
            <a:pPr algn="just"/>
            <a:r>
              <a:rPr lang="es-ES" sz="3600" b="1" dirty="0" smtClean="0"/>
              <a:t>Fue escrito por Walter A. Shewart, quien presentó una definición precisa del control de la producción y propuso procedimientos para mejorar la calidad.</a:t>
            </a:r>
            <a:endParaRPr lang="es-ES" sz="3600" b="1" dirty="0"/>
          </a:p>
        </p:txBody>
      </p:sp>
      <p:pic>
        <p:nvPicPr>
          <p:cNvPr id="3074" name="Picture 2" descr="H:\Documents and Settings\usuario\Configuración local\Archivos temporales de Internet\Content.IE5\GLMZ8DQ7\MCj04325070000[1].wmf"/>
          <p:cNvPicPr>
            <a:picLocks noChangeAspect="1" noChangeArrowheads="1"/>
          </p:cNvPicPr>
          <p:nvPr/>
        </p:nvPicPr>
        <p:blipFill>
          <a:blip r:embed="rId2" cstate="print"/>
          <a:srcRect/>
          <a:stretch>
            <a:fillRect/>
          </a:stretch>
        </p:blipFill>
        <p:spPr bwMode="auto">
          <a:xfrm>
            <a:off x="5159392" y="4786322"/>
            <a:ext cx="2270128" cy="1857388"/>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928662" y="2143116"/>
            <a:ext cx="7715304" cy="4401205"/>
          </a:xfrm>
          <a:prstGeom prst="rect">
            <a:avLst/>
          </a:prstGeom>
        </p:spPr>
        <p:txBody>
          <a:bodyPr wrap="square">
            <a:spAutoFit/>
          </a:bodyPr>
          <a:lstStyle/>
          <a:p>
            <a:pPr algn="just"/>
            <a:r>
              <a:rPr lang="es-ES" sz="4000" b="1" dirty="0" smtClean="0"/>
              <a:t>Se puedo aplicar a diversas empresas en Estados Unidos cuando la organización de los sistemas productivos era inadecuada para cumplir las exigencias del estado de guerra.</a:t>
            </a:r>
            <a:endParaRPr lang="es-ES" sz="4000" dirty="0"/>
          </a:p>
        </p:txBody>
      </p:sp>
      <p:sp>
        <p:nvSpPr>
          <p:cNvPr id="3" name="2 Rectángulo"/>
          <p:cNvSpPr/>
          <p:nvPr/>
        </p:nvSpPr>
        <p:spPr>
          <a:xfrm>
            <a:off x="571472" y="605363"/>
            <a:ext cx="8215370" cy="1323439"/>
          </a:xfrm>
          <a:prstGeom prst="rect">
            <a:avLst/>
          </a:prstGeom>
        </p:spPr>
        <p:txBody>
          <a:bodyPr wrap="square">
            <a:spAutoFit/>
          </a:bodyPr>
          <a:lstStyle/>
          <a:p>
            <a:pPr algn="ctr"/>
            <a:r>
              <a:rPr lang="es-ES" sz="4000" b="1" dirty="0" smtClean="0">
                <a:ln w="17780" cmpd="sng">
                  <a:solidFill>
                    <a:schemeClr val="tx1"/>
                  </a:solidFill>
                  <a:prstDash val="solid"/>
                  <a:miter lim="800000"/>
                </a:ln>
                <a:effectLst>
                  <a:outerShdw blurRad="50800" algn="tl" rotWithShape="0">
                    <a:srgbClr val="000000"/>
                  </a:outerShdw>
                </a:effectLst>
              </a:rPr>
              <a:t>COMIENZOS DEL CONTROL DE </a:t>
            </a:r>
          </a:p>
          <a:p>
            <a:pPr algn="ctr"/>
            <a:r>
              <a:rPr lang="es-ES" sz="4000" b="1" dirty="0" smtClean="0">
                <a:ln w="17780" cmpd="sng">
                  <a:solidFill>
                    <a:schemeClr val="tx1"/>
                  </a:solidFill>
                  <a:prstDash val="solid"/>
                  <a:miter lim="800000"/>
                </a:ln>
                <a:effectLst>
                  <a:outerShdw blurRad="50800" algn="tl" rotWithShape="0">
                    <a:srgbClr val="000000"/>
                  </a:outerShdw>
                </a:effectLst>
              </a:rPr>
              <a:t>CALIDAD</a:t>
            </a:r>
            <a:endParaRPr lang="es-ES" sz="4000" b="1" dirty="0">
              <a:ln w="17780" cmpd="sng">
                <a:solidFill>
                  <a:schemeClr val="tx1"/>
                </a:solidFill>
                <a:prstDash val="solid"/>
                <a:miter lim="800000"/>
              </a:ln>
              <a:effectLst>
                <a:outerShdw blurRad="50800" algn="tl" rotWithShape="0">
                  <a:srgbClr val="000000"/>
                </a:outerShdw>
              </a:effectLst>
            </a:endParaRPr>
          </a:p>
        </p:txBody>
      </p:sp>
      <p:pic>
        <p:nvPicPr>
          <p:cNvPr id="14339" name="Picture 3" descr="H:\Documents and Settings\usuario\Configuración local\Archivos temporales de Internet\Content.IE5\IXKFYHM5\MCj04326310000[1].png"/>
          <p:cNvPicPr>
            <a:picLocks noChangeAspect="1" noChangeArrowheads="1"/>
          </p:cNvPicPr>
          <p:nvPr/>
        </p:nvPicPr>
        <p:blipFill>
          <a:blip r:embed="rId2" cstate="print"/>
          <a:srcRect/>
          <a:stretch>
            <a:fillRect/>
          </a:stretch>
        </p:blipFill>
        <p:spPr bwMode="auto">
          <a:xfrm>
            <a:off x="4357686" y="5572146"/>
            <a:ext cx="1357316" cy="1357316"/>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42910" y="357167"/>
            <a:ext cx="8001056" cy="1446550"/>
          </a:xfrm>
          <a:prstGeom prst="rect">
            <a:avLst/>
          </a:prstGeom>
        </p:spPr>
        <p:txBody>
          <a:bodyPr wrap="square">
            <a:spAutoFit/>
          </a:bodyPr>
          <a:lstStyle/>
          <a:p>
            <a:pPr algn="ctr"/>
            <a:r>
              <a:rPr lang="es-ES" sz="4400" b="1" dirty="0" smtClean="0">
                <a:ln w="17780" cmpd="sng">
                  <a:solidFill>
                    <a:schemeClr val="tx1"/>
                  </a:solidFill>
                  <a:prstDash val="solid"/>
                  <a:miter lim="800000"/>
                </a:ln>
                <a:effectLst>
                  <a:outerShdw blurRad="50800" algn="tl" rotWithShape="0">
                    <a:srgbClr val="000000"/>
                  </a:outerShdw>
                </a:effectLst>
              </a:rPr>
              <a:t>COMIENZOS DEL CONTROL DE CALIDAD</a:t>
            </a:r>
            <a:endParaRPr lang="es-ES" sz="4400" b="1" dirty="0">
              <a:ln w="17780" cmpd="sng">
                <a:solidFill>
                  <a:schemeClr val="tx1"/>
                </a:solidFill>
                <a:prstDash val="solid"/>
                <a:miter lim="800000"/>
              </a:ln>
              <a:effectLst>
                <a:outerShdw blurRad="50800" algn="tl" rotWithShape="0">
                  <a:srgbClr val="000000"/>
                </a:outerShdw>
              </a:effectLst>
            </a:endParaRPr>
          </a:p>
        </p:txBody>
      </p:sp>
      <p:sp>
        <p:nvSpPr>
          <p:cNvPr id="4" name="3 CuadroTexto"/>
          <p:cNvSpPr txBox="1"/>
          <p:nvPr/>
        </p:nvSpPr>
        <p:spPr>
          <a:xfrm>
            <a:off x="714348" y="2285992"/>
            <a:ext cx="8358246" cy="3323987"/>
          </a:xfrm>
          <a:prstGeom prst="rect">
            <a:avLst/>
          </a:prstGeom>
          <a:noFill/>
        </p:spPr>
        <p:txBody>
          <a:bodyPr wrap="square" rtlCol="0">
            <a:spAutoFit/>
          </a:bodyPr>
          <a:lstStyle/>
          <a:p>
            <a:pPr algn="just"/>
            <a:r>
              <a:rPr lang="es-ES" sz="4200" b="1" dirty="0" smtClean="0"/>
              <a:t>Japón se había enterado de las primeras normas utilizadas en la guerra y las tradujo al japonés, ya que utilizaban el método Taylor.</a:t>
            </a:r>
            <a:endParaRPr lang="es-ES" sz="4200" b="1" dirty="0"/>
          </a:p>
        </p:txBody>
      </p:sp>
      <p:pic>
        <p:nvPicPr>
          <p:cNvPr id="15362" name="Picture 2" descr="H:\Documents and Settings\usuario\Configuración local\Archivos temporales de Internet\Content.IE5\IXKFYHM5\MCj04338770000[1].png"/>
          <p:cNvPicPr>
            <a:picLocks noChangeAspect="1" noChangeArrowheads="1"/>
          </p:cNvPicPr>
          <p:nvPr/>
        </p:nvPicPr>
        <p:blipFill>
          <a:blip r:embed="rId2" cstate="print"/>
          <a:srcRect/>
          <a:stretch>
            <a:fillRect/>
          </a:stretch>
        </p:blipFill>
        <p:spPr bwMode="auto">
          <a:xfrm>
            <a:off x="4815130" y="5029428"/>
            <a:ext cx="1828572" cy="1828572"/>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 Imagen" descr="W. Edwards Deming Institute"/>
          <p:cNvPicPr/>
          <p:nvPr/>
        </p:nvPicPr>
        <p:blipFill>
          <a:blip r:embed="rId2" cstate="print"/>
          <a:srcRect/>
          <a:stretch>
            <a:fillRect/>
          </a:stretch>
        </p:blipFill>
        <p:spPr bwMode="auto">
          <a:xfrm>
            <a:off x="500034" y="357166"/>
            <a:ext cx="8072494" cy="1500198"/>
          </a:xfrm>
          <a:prstGeom prst="rect">
            <a:avLst/>
          </a:prstGeom>
          <a:noFill/>
          <a:ln w="9525">
            <a:noFill/>
            <a:miter lim="800000"/>
            <a:headEnd/>
            <a:tailEnd/>
          </a:ln>
        </p:spPr>
      </p:pic>
      <p:sp>
        <p:nvSpPr>
          <p:cNvPr id="3" name="2 CuadroTexto"/>
          <p:cNvSpPr txBox="1"/>
          <p:nvPr/>
        </p:nvSpPr>
        <p:spPr>
          <a:xfrm>
            <a:off x="2214546" y="1752889"/>
            <a:ext cx="6429420" cy="461665"/>
          </a:xfrm>
          <a:prstGeom prst="rect">
            <a:avLst/>
          </a:prstGeom>
          <a:noFill/>
        </p:spPr>
        <p:txBody>
          <a:bodyPr wrap="square" rtlCol="0">
            <a:spAutoFit/>
          </a:bodyPr>
          <a:lstStyle/>
          <a:p>
            <a:r>
              <a:rPr lang="es-ES" sz="2400" b="1" dirty="0" smtClean="0"/>
              <a:t>WILLIAM EDWARDS DEMING (1900-1993)</a:t>
            </a:r>
            <a:endParaRPr lang="es-ES" sz="2400" b="1" dirty="0"/>
          </a:p>
        </p:txBody>
      </p:sp>
      <p:sp>
        <p:nvSpPr>
          <p:cNvPr id="4" name="3 CuadroTexto"/>
          <p:cNvSpPr txBox="1"/>
          <p:nvPr/>
        </p:nvSpPr>
        <p:spPr>
          <a:xfrm>
            <a:off x="785786" y="2643182"/>
            <a:ext cx="7643866" cy="3046988"/>
          </a:xfrm>
          <a:prstGeom prst="rect">
            <a:avLst/>
          </a:prstGeom>
          <a:noFill/>
        </p:spPr>
        <p:txBody>
          <a:bodyPr wrap="square" rtlCol="0">
            <a:spAutoFit/>
          </a:bodyPr>
          <a:lstStyle/>
          <a:p>
            <a:pPr algn="just"/>
            <a:r>
              <a:rPr lang="es-ES" sz="3200" b="1" dirty="0" smtClean="0"/>
              <a:t>Estadístico estadounidense, profesor universitario, autor de textos, consultor y difusor  del concepto de calidad total. Su nombre está asociado al desarrollo y crecimiento del Japón después de la segunda guerra mundial.</a:t>
            </a:r>
            <a:endParaRPr lang="es-ES" sz="32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571472" y="1956753"/>
            <a:ext cx="8286808" cy="4401205"/>
          </a:xfrm>
          <a:prstGeom prst="rect">
            <a:avLst/>
          </a:prstGeom>
          <a:noFill/>
        </p:spPr>
        <p:txBody>
          <a:bodyPr wrap="square" rtlCol="0">
            <a:spAutoFit/>
          </a:bodyPr>
          <a:lstStyle/>
          <a:p>
            <a:pPr algn="just"/>
            <a:r>
              <a:rPr lang="es-ES" sz="2800" b="1" dirty="0" smtClean="0"/>
              <a:t>Era de una familia humilde y empezó a trabajar desde los 7 años, cuando tenia 17 empezó a estudiar en la universidad de Wyoming, donde terminó la carrera en 1921. Posteriormente trabajó para el departamento de agricultura en Washington D.C. y como consejero estadístico para la oficina de censo de los Estados Unidos, durante este periodo Deming descubrió el trabajo sobre el control estadístico de los procesos creado por W.A. Shewhart.</a:t>
            </a:r>
            <a:endParaRPr lang="es-ES" sz="2800" b="1" dirty="0"/>
          </a:p>
        </p:txBody>
      </p:sp>
      <p:sp>
        <p:nvSpPr>
          <p:cNvPr id="3" name="2 Rectángulo"/>
          <p:cNvSpPr/>
          <p:nvPr/>
        </p:nvSpPr>
        <p:spPr>
          <a:xfrm>
            <a:off x="928662" y="714356"/>
            <a:ext cx="7456015" cy="707886"/>
          </a:xfrm>
          <a:prstGeom prst="rect">
            <a:avLst/>
          </a:prstGeom>
        </p:spPr>
        <p:txBody>
          <a:bodyPr wrap="none">
            <a:spAutoFit/>
          </a:bodyPr>
          <a:lstStyle/>
          <a:p>
            <a:r>
              <a:rPr lang="es-ES" sz="4000" b="1" dirty="0" smtClean="0"/>
              <a:t>WILLIAM EDWARDS DEMING</a:t>
            </a:r>
            <a:endParaRPr lang="es-ES" sz="40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169418" y="629647"/>
            <a:ext cx="6903044" cy="584775"/>
          </a:xfrm>
          <a:prstGeom prst="rect">
            <a:avLst/>
          </a:prstGeom>
          <a:noFill/>
        </p:spPr>
        <p:txBody>
          <a:bodyPr wrap="none" lIns="91440" tIns="45720" rIns="91440" bIns="45720">
            <a:spAutoFit/>
          </a:bodyPr>
          <a:lstStyle/>
          <a:p>
            <a:pPr algn="ctr"/>
            <a:r>
              <a:rPr lang="es-ES" sz="3200" b="1" cap="none" spc="0" dirty="0" smtClean="0">
                <a:ln w="17780" cmpd="sng">
                  <a:solidFill>
                    <a:schemeClr val="tx1"/>
                  </a:solidFill>
                  <a:prstDash val="solid"/>
                  <a:miter lim="800000"/>
                </a:ln>
                <a:effectLst>
                  <a:outerShdw blurRad="50800" algn="tl" rotWithShape="0">
                    <a:srgbClr val="000000"/>
                  </a:outerShdw>
                </a:effectLst>
              </a:rPr>
              <a:t>INICIOS DEL CONTROL EN JAPON</a:t>
            </a:r>
            <a:endParaRPr lang="es-ES" sz="3200" b="1" cap="none" spc="0"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571472" y="1428736"/>
            <a:ext cx="8215370" cy="3539430"/>
          </a:xfrm>
          <a:prstGeom prst="rect">
            <a:avLst/>
          </a:prstGeom>
          <a:noFill/>
        </p:spPr>
        <p:txBody>
          <a:bodyPr wrap="square" rtlCol="0">
            <a:spAutoFit/>
          </a:bodyPr>
          <a:lstStyle/>
          <a:p>
            <a:pPr algn="just"/>
            <a:r>
              <a:rPr lang="es-ES" sz="3200" b="1" dirty="0" smtClean="0"/>
              <a:t>En 1950 la unión Japonesa de Científicos e Ingenieros invitó a Deming a Tokio a impartir charlas sobre control estadístico. Entre junio y agosto de 1950 Deming forma a ingenieros, directivos y estudiantes en el control de calidad estadístico de los procesos.</a:t>
            </a:r>
            <a:endParaRPr lang="es-ES" sz="3200" b="1" dirty="0"/>
          </a:p>
        </p:txBody>
      </p:sp>
      <p:pic>
        <p:nvPicPr>
          <p:cNvPr id="4098" name="Picture 2" descr="H:\Documents and Settings\usuario\Configuración local\Archivos temporales de Internet\Content.IE5\GLMZ8DQ7\MCj03030420000[1].jpg"/>
          <p:cNvPicPr>
            <a:picLocks noChangeAspect="1" noChangeArrowheads="1"/>
          </p:cNvPicPr>
          <p:nvPr/>
        </p:nvPicPr>
        <p:blipFill>
          <a:blip r:embed="rId2" cstate="print"/>
          <a:srcRect/>
          <a:stretch>
            <a:fillRect/>
          </a:stretch>
        </p:blipFill>
        <p:spPr bwMode="auto">
          <a:xfrm>
            <a:off x="6200812" y="4662020"/>
            <a:ext cx="2157402" cy="2053128"/>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2357422" y="500042"/>
            <a:ext cx="4202754" cy="707886"/>
          </a:xfrm>
          <a:prstGeom prst="rect">
            <a:avLst/>
          </a:prstGeom>
          <a:noFill/>
        </p:spPr>
        <p:txBody>
          <a:bodyPr wrap="none" lIns="91440" tIns="45720" rIns="91440" bIns="45720">
            <a:spAutoFit/>
          </a:bodyPr>
          <a:lstStyle/>
          <a:p>
            <a:pPr algn="ctr"/>
            <a:r>
              <a:rPr lang="es-ES" sz="4000" b="1" cap="none" spc="0" dirty="0" smtClean="0">
                <a:ln w="17780" cmpd="sng">
                  <a:solidFill>
                    <a:schemeClr val="tx1"/>
                  </a:solidFill>
                  <a:prstDash val="solid"/>
                  <a:miter lim="800000"/>
                </a:ln>
                <a:effectLst>
                  <a:outerShdw blurRad="50800" algn="tl" rotWithShape="0">
                    <a:srgbClr val="000000"/>
                  </a:outerShdw>
                </a:effectLst>
              </a:rPr>
              <a:t>PEMIO DEMING</a:t>
            </a:r>
            <a:endParaRPr lang="es-ES" sz="4000" b="1" cap="none" spc="0"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428596" y="1714488"/>
            <a:ext cx="8429684" cy="3785652"/>
          </a:xfrm>
          <a:prstGeom prst="rect">
            <a:avLst/>
          </a:prstGeom>
          <a:noFill/>
        </p:spPr>
        <p:txBody>
          <a:bodyPr wrap="square" rtlCol="0">
            <a:spAutoFit/>
          </a:bodyPr>
          <a:lstStyle/>
          <a:p>
            <a:pPr algn="just"/>
            <a:r>
              <a:rPr lang="es-ES" sz="4000" b="1" dirty="0" smtClean="0"/>
              <a:t>Fue otorgado en septiembre de 1951 en Osaka. En esta ocasión se celebró una conferencia sobre control de calidad y esta reunión vino a ser la primera conferencia anual de CC en el Japón. </a:t>
            </a:r>
            <a:endParaRPr lang="es-ES" sz="4000" b="1" dirty="0"/>
          </a:p>
        </p:txBody>
      </p:sp>
      <p:pic>
        <p:nvPicPr>
          <p:cNvPr id="5122" name="Picture 2" descr="H:\Documents and Settings\usuario\Configuración local\Archivos temporales de Internet\Content.IE5\CX630L6J\MPj04393560000[1].jpg"/>
          <p:cNvPicPr>
            <a:picLocks noChangeAspect="1" noChangeArrowheads="1"/>
          </p:cNvPicPr>
          <p:nvPr/>
        </p:nvPicPr>
        <p:blipFill>
          <a:blip r:embed="rId2" cstate="print"/>
          <a:srcRect/>
          <a:stretch>
            <a:fillRect/>
          </a:stretch>
        </p:blipFill>
        <p:spPr bwMode="auto">
          <a:xfrm>
            <a:off x="6715140" y="4943508"/>
            <a:ext cx="1700202" cy="1700202"/>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00034" y="280080"/>
            <a:ext cx="8286808" cy="1077218"/>
          </a:xfrm>
          <a:prstGeom prst="rect">
            <a:avLst/>
          </a:prstGeom>
          <a:noFill/>
        </p:spPr>
        <p:txBody>
          <a:bodyPr wrap="square" lIns="91440" tIns="45720" rIns="91440" bIns="45720">
            <a:spAutoFit/>
          </a:bodyPr>
          <a:lstStyle/>
          <a:p>
            <a:pPr algn="ctr"/>
            <a:r>
              <a:rPr lang="es-ES" sz="3200" b="1" cap="none" spc="0" dirty="0" smtClean="0">
                <a:ln w="17780" cmpd="sng">
                  <a:solidFill>
                    <a:schemeClr val="tx1"/>
                  </a:solidFill>
                  <a:prstDash val="solid"/>
                  <a:miter lim="800000"/>
                </a:ln>
                <a:effectLst>
                  <a:outerShdw blurRad="50800" algn="tl" rotWithShape="0">
                    <a:srgbClr val="000000"/>
                  </a:outerShdw>
                </a:effectLst>
              </a:rPr>
              <a:t>INTRODUCCIÓN DEL CONTROL </a:t>
            </a:r>
          </a:p>
          <a:p>
            <a:pPr algn="ctr"/>
            <a:r>
              <a:rPr lang="es-ES" sz="3200" b="1" cap="none" spc="0" dirty="0" smtClean="0">
                <a:ln w="17780" cmpd="sng">
                  <a:solidFill>
                    <a:schemeClr val="tx1"/>
                  </a:solidFill>
                  <a:prstDash val="solid"/>
                  <a:miter lim="800000"/>
                </a:ln>
                <a:effectLst>
                  <a:outerShdw blurRad="50800" algn="tl" rotWithShape="0">
                    <a:srgbClr val="000000"/>
                  </a:outerShdw>
                </a:effectLst>
              </a:rPr>
              <a:t>DE CALIDAD (MAYO DE 1946) EN </a:t>
            </a:r>
            <a:r>
              <a:rPr lang="es-ES" sz="3200" b="1" dirty="0" smtClean="0">
                <a:ln w="17780" cmpd="sng">
                  <a:solidFill>
                    <a:schemeClr val="tx1"/>
                  </a:solidFill>
                  <a:prstDash val="solid"/>
                  <a:miter lim="800000"/>
                </a:ln>
                <a:effectLst>
                  <a:outerShdw blurRad="50800" algn="tl" rotWithShape="0">
                    <a:srgbClr val="000000"/>
                  </a:outerShdw>
                </a:effectLst>
              </a:rPr>
              <a:t>JAPON</a:t>
            </a:r>
            <a:endParaRPr lang="es-ES" sz="3200" b="1" cap="none" spc="0"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1071538" y="1714488"/>
            <a:ext cx="7643866" cy="3416320"/>
          </a:xfrm>
          <a:prstGeom prst="rect">
            <a:avLst/>
          </a:prstGeom>
          <a:noFill/>
        </p:spPr>
        <p:txBody>
          <a:bodyPr wrap="square" rtlCol="0">
            <a:spAutoFit/>
          </a:bodyPr>
          <a:lstStyle/>
          <a:p>
            <a:pPr>
              <a:buFont typeface="Arial" pitchFamily="34" charset="0"/>
              <a:buChar char="•"/>
            </a:pPr>
            <a:r>
              <a:rPr lang="es-ES" sz="3600" b="1" dirty="0" smtClean="0"/>
              <a:t> Después de quedar en ruinas.</a:t>
            </a:r>
          </a:p>
          <a:p>
            <a:pPr>
              <a:buFont typeface="Arial" pitchFamily="34" charset="0"/>
              <a:buChar char="•"/>
            </a:pPr>
            <a:r>
              <a:rPr lang="es-ES" sz="3600" b="1" dirty="0" smtClean="0"/>
              <a:t> La llegada de las fuerzas Norteamericanas.</a:t>
            </a:r>
          </a:p>
          <a:p>
            <a:pPr>
              <a:buFont typeface="Arial" pitchFamily="34" charset="0"/>
              <a:buChar char="•"/>
            </a:pPr>
            <a:r>
              <a:rPr lang="es-ES" sz="3600" b="1" dirty="0" smtClean="0"/>
              <a:t> Educación a los industriales.</a:t>
            </a:r>
          </a:p>
          <a:p>
            <a:pPr>
              <a:buFont typeface="Arial" pitchFamily="34" charset="0"/>
              <a:buChar char="•"/>
            </a:pPr>
            <a:r>
              <a:rPr lang="es-ES" sz="3600" b="1" dirty="0" smtClean="0"/>
              <a:t> Transferencia del método Norteamericano.</a:t>
            </a:r>
            <a:endParaRPr lang="es-ES" sz="3600" b="1" dirty="0"/>
          </a:p>
        </p:txBody>
      </p:sp>
      <p:pic>
        <p:nvPicPr>
          <p:cNvPr id="4099" name="Picture 3" descr="H:\Documents and Settings\usuario\Configuración local\Archivos temporales de Internet\Content.IE5\WXGDMN41\MCj02330950000[1].wmf"/>
          <p:cNvPicPr>
            <a:picLocks noChangeAspect="1" noChangeArrowheads="1"/>
          </p:cNvPicPr>
          <p:nvPr/>
        </p:nvPicPr>
        <p:blipFill>
          <a:blip r:embed="rId2" cstate="print"/>
          <a:srcRect/>
          <a:stretch>
            <a:fillRect/>
          </a:stretch>
        </p:blipFill>
        <p:spPr bwMode="auto">
          <a:xfrm>
            <a:off x="6143636" y="4739140"/>
            <a:ext cx="2500380" cy="1833132"/>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71472" y="428604"/>
            <a:ext cx="7808291" cy="1077218"/>
          </a:xfrm>
          <a:prstGeom prst="rect">
            <a:avLst/>
          </a:prstGeom>
          <a:noFill/>
        </p:spPr>
        <p:txBody>
          <a:bodyPr wrap="none" lIns="91440" tIns="45720" rIns="91440" bIns="45720">
            <a:spAutoFit/>
          </a:bodyPr>
          <a:lstStyle/>
          <a:p>
            <a:pPr algn="ctr"/>
            <a:r>
              <a:rPr lang="es-ES" sz="3200" b="1" dirty="0" smtClean="0">
                <a:ln w="17780" cmpd="sng">
                  <a:solidFill>
                    <a:schemeClr val="tx1"/>
                  </a:solidFill>
                  <a:prstDash val="solid"/>
                  <a:miter lim="800000"/>
                </a:ln>
                <a:effectLst>
                  <a:outerShdw blurRad="50800" algn="tl" rotWithShape="0">
                    <a:srgbClr val="000000"/>
                  </a:outerShdw>
                </a:effectLst>
              </a:rPr>
              <a:t>É</a:t>
            </a:r>
            <a:r>
              <a:rPr lang="es-ES" sz="3200" b="1" cap="none" spc="0" dirty="0" smtClean="0">
                <a:ln w="17780" cmpd="sng">
                  <a:solidFill>
                    <a:schemeClr val="tx1"/>
                  </a:solidFill>
                  <a:prstDash val="solid"/>
                  <a:miter lim="800000"/>
                </a:ln>
                <a:effectLst>
                  <a:outerShdw blurRad="50800" algn="tl" rotWithShape="0">
                    <a:srgbClr val="000000"/>
                  </a:outerShdw>
                </a:effectLst>
              </a:rPr>
              <a:t>NFASIS EN EL CC CON LOS 14 PUNTOS</a:t>
            </a:r>
          </a:p>
          <a:p>
            <a:pPr algn="ctr"/>
            <a:r>
              <a:rPr lang="es-ES" sz="3200" b="1" dirty="0" smtClean="0">
                <a:ln w="17780" cmpd="sng">
                  <a:solidFill>
                    <a:schemeClr val="tx1"/>
                  </a:solidFill>
                  <a:prstDash val="solid"/>
                  <a:miter lim="800000"/>
                </a:ln>
                <a:effectLst>
                  <a:outerShdw blurRad="50800" algn="tl" rotWithShape="0">
                    <a:srgbClr val="000000"/>
                  </a:outerShdw>
                </a:effectLst>
              </a:rPr>
              <a:t>DE DEMING</a:t>
            </a:r>
            <a:endParaRPr lang="es-ES" sz="3200" b="1" cap="none" spc="0" dirty="0">
              <a:ln w="17780" cmpd="sng">
                <a:solidFill>
                  <a:schemeClr val="tx1"/>
                </a:solidFill>
                <a:prstDash val="solid"/>
                <a:miter lim="800000"/>
              </a:ln>
              <a:effectLst>
                <a:outerShdw blurRad="50800" algn="tl" rotWithShape="0">
                  <a:srgbClr val="000000"/>
                </a:outerShdw>
              </a:effectLst>
            </a:endParaRPr>
          </a:p>
        </p:txBody>
      </p:sp>
      <p:sp>
        <p:nvSpPr>
          <p:cNvPr id="5" name="4 CuadroTexto"/>
          <p:cNvSpPr txBox="1"/>
          <p:nvPr/>
        </p:nvSpPr>
        <p:spPr>
          <a:xfrm>
            <a:off x="642910" y="2173326"/>
            <a:ext cx="8358246" cy="4401205"/>
          </a:xfrm>
          <a:prstGeom prst="rect">
            <a:avLst/>
          </a:prstGeom>
          <a:noFill/>
        </p:spPr>
        <p:txBody>
          <a:bodyPr wrap="square" rtlCol="0">
            <a:spAutoFit/>
          </a:bodyPr>
          <a:lstStyle/>
          <a:p>
            <a:pPr marL="514350" indent="-514350">
              <a:buFont typeface="+mj-lt"/>
              <a:buAutoNum type="arabicPeriod"/>
            </a:pPr>
            <a:r>
              <a:rPr lang="es-ES" sz="2800" b="1" dirty="0" smtClean="0"/>
              <a:t>Crear constancia en el mejoramiento de productos y servicios.</a:t>
            </a:r>
            <a:r>
              <a:rPr lang="es-ES" sz="2800" dirty="0" smtClean="0"/>
              <a:t> </a:t>
            </a:r>
          </a:p>
          <a:p>
            <a:pPr marL="514350" indent="-514350"/>
            <a:r>
              <a:rPr lang="es-ES" sz="2800" b="1" dirty="0" smtClean="0"/>
              <a:t>2.  Adoptar una nueva filosofía de cooperación.</a:t>
            </a:r>
          </a:p>
          <a:p>
            <a:pPr marL="514350" indent="-514350"/>
            <a:r>
              <a:rPr lang="es-ES" sz="2800" b="1" dirty="0" smtClean="0"/>
              <a:t>3.  Desistir de la dependencia en la inspección en masa para lograr la calidad.</a:t>
            </a:r>
          </a:p>
          <a:p>
            <a:pPr marL="514350" indent="-514350">
              <a:buAutoNum type="arabicPeriod" startAt="4"/>
            </a:pPr>
            <a:r>
              <a:rPr lang="es-ES" sz="2800" b="1" dirty="0" smtClean="0"/>
              <a:t>Terminar con la practica de comprar a los más bajos precios.</a:t>
            </a:r>
          </a:p>
          <a:p>
            <a:pPr marL="514350" indent="-514350">
              <a:buAutoNum type="arabicPeriod" startAt="4"/>
            </a:pPr>
            <a:r>
              <a:rPr lang="es-ES" sz="2800" b="1" dirty="0" smtClean="0"/>
              <a:t> Mejorar constantemente y por siempre los sistemas de producción.</a:t>
            </a:r>
          </a:p>
          <a:p>
            <a:endParaRPr lang="es-ES" sz="2800"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71472" y="428604"/>
            <a:ext cx="7808291" cy="1077218"/>
          </a:xfrm>
          <a:prstGeom prst="rect">
            <a:avLst/>
          </a:prstGeom>
          <a:noFill/>
        </p:spPr>
        <p:txBody>
          <a:bodyPr wrap="none" lIns="91440" tIns="45720" rIns="91440" bIns="45720">
            <a:spAutoFit/>
          </a:bodyPr>
          <a:lstStyle/>
          <a:p>
            <a:pPr algn="ctr"/>
            <a:r>
              <a:rPr lang="es-ES" sz="3200" b="1" dirty="0" smtClean="0">
                <a:ln w="17780" cmpd="sng">
                  <a:solidFill>
                    <a:schemeClr val="tx1"/>
                  </a:solidFill>
                  <a:prstDash val="solid"/>
                  <a:miter lim="800000"/>
                </a:ln>
                <a:effectLst>
                  <a:outerShdw blurRad="50800" algn="tl" rotWithShape="0">
                    <a:srgbClr val="000000"/>
                  </a:outerShdw>
                </a:effectLst>
              </a:rPr>
              <a:t>É</a:t>
            </a:r>
            <a:r>
              <a:rPr lang="es-ES" sz="3200" b="1" cap="none" spc="0" dirty="0" smtClean="0">
                <a:ln w="17780" cmpd="sng">
                  <a:solidFill>
                    <a:schemeClr val="tx1"/>
                  </a:solidFill>
                  <a:prstDash val="solid"/>
                  <a:miter lim="800000"/>
                </a:ln>
                <a:effectLst>
                  <a:outerShdw blurRad="50800" algn="tl" rotWithShape="0">
                    <a:srgbClr val="000000"/>
                  </a:outerShdw>
                </a:effectLst>
              </a:rPr>
              <a:t>NFASIS EN EL CC CON LOS 14 PUNTOS</a:t>
            </a:r>
          </a:p>
          <a:p>
            <a:pPr algn="ctr"/>
            <a:r>
              <a:rPr lang="es-ES" sz="3200" b="1" dirty="0" smtClean="0">
                <a:ln w="17780" cmpd="sng">
                  <a:solidFill>
                    <a:schemeClr val="tx1"/>
                  </a:solidFill>
                  <a:prstDash val="solid"/>
                  <a:miter lim="800000"/>
                </a:ln>
                <a:effectLst>
                  <a:outerShdw blurRad="50800" algn="tl" rotWithShape="0">
                    <a:srgbClr val="000000"/>
                  </a:outerShdw>
                </a:effectLst>
              </a:rPr>
              <a:t>DE DEMING</a:t>
            </a:r>
            <a:endParaRPr lang="es-ES" sz="3200" b="1" cap="none" spc="0"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571472" y="2034969"/>
            <a:ext cx="8358246" cy="3108543"/>
          </a:xfrm>
          <a:prstGeom prst="rect">
            <a:avLst/>
          </a:prstGeom>
          <a:noFill/>
        </p:spPr>
        <p:txBody>
          <a:bodyPr wrap="square" rtlCol="0">
            <a:spAutoFit/>
          </a:bodyPr>
          <a:lstStyle/>
          <a:p>
            <a:pPr marL="514350" indent="-514350">
              <a:buFontTx/>
              <a:buAutoNum type="arabicPeriod" startAt="6"/>
            </a:pPr>
            <a:r>
              <a:rPr lang="es-ES" sz="2800" b="1" dirty="0" smtClean="0"/>
              <a:t>Establecer entrenamiento dentro del trabajo.</a:t>
            </a:r>
          </a:p>
          <a:p>
            <a:pPr marL="514350" indent="-514350">
              <a:buAutoNum type="arabicPeriod" startAt="6"/>
            </a:pPr>
            <a:r>
              <a:rPr lang="es-ES" sz="2800" b="1" dirty="0" smtClean="0"/>
              <a:t> Establecer líderes.</a:t>
            </a:r>
          </a:p>
          <a:p>
            <a:pPr marL="514350" indent="-514350">
              <a:buAutoNum type="arabicPeriod" startAt="6"/>
            </a:pPr>
            <a:r>
              <a:rPr lang="es-ES" sz="2800" b="1" dirty="0" smtClean="0"/>
              <a:t>Eliminar el miedo y construir confianza.</a:t>
            </a:r>
          </a:p>
          <a:p>
            <a:pPr marL="514350" indent="-514350">
              <a:buAutoNum type="arabicPeriod" startAt="6"/>
            </a:pPr>
            <a:r>
              <a:rPr lang="es-ES" sz="2800" b="1" dirty="0" smtClean="0"/>
              <a:t>Borrar las barreras entre los departamentos.</a:t>
            </a:r>
          </a:p>
          <a:p>
            <a:pPr marL="514350" indent="-514350">
              <a:buAutoNum type="arabicPeriod" startAt="6"/>
            </a:pPr>
            <a:r>
              <a:rPr lang="es-ES" sz="2800" b="1" dirty="0" smtClean="0"/>
              <a:t>Eliminar eslóganes y metas pidiendo cero defectos.</a:t>
            </a:r>
          </a:p>
          <a:p>
            <a:endParaRPr lang="es-ES" sz="2800" b="1" dirty="0"/>
          </a:p>
        </p:txBody>
      </p:sp>
      <p:pic>
        <p:nvPicPr>
          <p:cNvPr id="4" name="3 Imagen" descr="http://www.portalplanetasedna.com.ar/paises/paises2foto5.jpg"/>
          <p:cNvPicPr/>
          <p:nvPr/>
        </p:nvPicPr>
        <p:blipFill>
          <a:blip r:embed="rId2" cstate="print"/>
          <a:srcRect/>
          <a:stretch>
            <a:fillRect/>
          </a:stretch>
        </p:blipFill>
        <p:spPr bwMode="auto">
          <a:xfrm>
            <a:off x="3286116" y="4857760"/>
            <a:ext cx="2381250" cy="168592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785786" y="2143116"/>
            <a:ext cx="7858180" cy="3108543"/>
          </a:xfrm>
          <a:prstGeom prst="rect">
            <a:avLst/>
          </a:prstGeom>
        </p:spPr>
        <p:txBody>
          <a:bodyPr wrap="square">
            <a:spAutoFit/>
          </a:bodyPr>
          <a:lstStyle/>
          <a:p>
            <a:pPr marL="514350" indent="-514350">
              <a:buFontTx/>
              <a:buAutoNum type="arabicPeriod" startAt="11"/>
            </a:pPr>
            <a:r>
              <a:rPr lang="es-ES" sz="2800" b="1" dirty="0" smtClean="0"/>
              <a:t>Eliminar cuotas numéricas y la gestión por objetivos.</a:t>
            </a:r>
          </a:p>
          <a:p>
            <a:pPr marL="514350" indent="-514350">
              <a:buAutoNum type="arabicPeriod" startAt="11"/>
            </a:pPr>
            <a:r>
              <a:rPr lang="es-ES" sz="2800" b="1" dirty="0" smtClean="0"/>
              <a:t> Remover barreras para apreciar la mano de obra.</a:t>
            </a:r>
          </a:p>
          <a:p>
            <a:pPr marL="514350" indent="-514350">
              <a:buAutoNum type="arabicPeriod" startAt="11"/>
            </a:pPr>
            <a:r>
              <a:rPr lang="es-ES" sz="2800" b="1" dirty="0" smtClean="0"/>
              <a:t>Instituir un programa de educación.</a:t>
            </a:r>
          </a:p>
          <a:p>
            <a:pPr marL="514350" indent="-514350">
              <a:buAutoNum type="arabicPeriod" startAt="11"/>
            </a:pPr>
            <a:r>
              <a:rPr lang="es-ES" sz="2800" b="1" dirty="0" smtClean="0"/>
              <a:t>Poner a todos a trabajar en la compañía para llevar a cabo la transformación.</a:t>
            </a:r>
          </a:p>
        </p:txBody>
      </p:sp>
      <p:sp>
        <p:nvSpPr>
          <p:cNvPr id="3" name="2 Rectángulo"/>
          <p:cNvSpPr/>
          <p:nvPr/>
        </p:nvSpPr>
        <p:spPr>
          <a:xfrm>
            <a:off x="785786" y="571480"/>
            <a:ext cx="7858180" cy="1077218"/>
          </a:xfrm>
          <a:prstGeom prst="rect">
            <a:avLst/>
          </a:prstGeom>
        </p:spPr>
        <p:txBody>
          <a:bodyPr wrap="square">
            <a:spAutoFit/>
          </a:bodyPr>
          <a:lstStyle/>
          <a:p>
            <a:pPr algn="ctr"/>
            <a:r>
              <a:rPr lang="es-ES" sz="3200" b="1" dirty="0" smtClean="0">
                <a:ln w="17780" cmpd="sng">
                  <a:solidFill>
                    <a:schemeClr val="tx1"/>
                  </a:solidFill>
                  <a:prstDash val="solid"/>
                  <a:miter lim="800000"/>
                </a:ln>
                <a:effectLst>
                  <a:outerShdw blurRad="50800" algn="tl" rotWithShape="0">
                    <a:srgbClr val="000000"/>
                  </a:outerShdw>
                </a:effectLst>
              </a:rPr>
              <a:t>ÉNFASIS EN EL CC CON LOS 14 PUNTOS</a:t>
            </a:r>
          </a:p>
          <a:p>
            <a:pPr algn="ctr"/>
            <a:r>
              <a:rPr lang="es-ES" sz="3200" b="1" dirty="0" smtClean="0">
                <a:ln w="17780" cmpd="sng">
                  <a:solidFill>
                    <a:schemeClr val="tx1"/>
                  </a:solidFill>
                  <a:prstDash val="solid"/>
                  <a:miter lim="800000"/>
                </a:ln>
                <a:effectLst>
                  <a:outerShdw blurRad="50800" algn="tl" rotWithShape="0">
                    <a:srgbClr val="000000"/>
                  </a:outerShdw>
                </a:effectLst>
              </a:rPr>
              <a:t>DE DEMING</a:t>
            </a:r>
            <a:endParaRPr lang="es-E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785786" y="791158"/>
            <a:ext cx="8006231" cy="923330"/>
          </a:xfrm>
          <a:prstGeom prst="rect">
            <a:avLst/>
          </a:prstGeom>
          <a:noFill/>
        </p:spPr>
        <p:txBody>
          <a:bodyPr wrap="none" lIns="91440" tIns="45720" rIns="91440" bIns="45720">
            <a:spAutoFit/>
          </a:bodyPr>
          <a:lstStyle/>
          <a:p>
            <a:pPr algn="ctr"/>
            <a:r>
              <a:rPr lang="es-ES" sz="5400" b="1" cap="none" spc="0" dirty="0" smtClean="0">
                <a:ln w="17780" cmpd="sng">
                  <a:solidFill>
                    <a:schemeClr val="tx1"/>
                  </a:solidFill>
                  <a:prstDash val="solid"/>
                  <a:miter lim="800000"/>
                </a:ln>
                <a:effectLst>
                  <a:outerShdw blurRad="50800" algn="tl" rotWithShape="0">
                    <a:srgbClr val="000000"/>
                  </a:outerShdw>
                </a:effectLst>
              </a:rPr>
              <a:t>COMPRENSIÓN DEL CC</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714348" y="2143116"/>
            <a:ext cx="8072494" cy="3785652"/>
          </a:xfrm>
          <a:prstGeom prst="rect">
            <a:avLst/>
          </a:prstGeom>
          <a:noFill/>
        </p:spPr>
        <p:txBody>
          <a:bodyPr wrap="square" rtlCol="0">
            <a:spAutoFit/>
          </a:bodyPr>
          <a:lstStyle/>
          <a:p>
            <a:pPr algn="just"/>
            <a:r>
              <a:rPr lang="es-ES" sz="4000" b="1" dirty="0" smtClean="0"/>
              <a:t>Al comprender que era el enfoque correcto, optaron porque en los próximos años existiera garantía de calidad para mejorar el control del proceso de fabricación.</a:t>
            </a:r>
            <a:endParaRPr lang="es-ES" sz="4000" b="1" dirty="0"/>
          </a:p>
        </p:txBody>
      </p:sp>
      <p:pic>
        <p:nvPicPr>
          <p:cNvPr id="7173" name="Picture 5" descr="H:\Documents and Settings\usuario\Configuración local\Archivos temporales de Internet\Content.IE5\WXGDMN41\MCj04325150000[1].wmf"/>
          <p:cNvPicPr>
            <a:picLocks noChangeAspect="1" noChangeArrowheads="1"/>
          </p:cNvPicPr>
          <p:nvPr/>
        </p:nvPicPr>
        <p:blipFill>
          <a:blip r:embed="rId2" cstate="print"/>
          <a:srcRect/>
          <a:stretch>
            <a:fillRect/>
          </a:stretch>
        </p:blipFill>
        <p:spPr bwMode="auto">
          <a:xfrm>
            <a:off x="3857620" y="5357826"/>
            <a:ext cx="1552573" cy="1338283"/>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571472" y="2357430"/>
            <a:ext cx="8358246" cy="3416320"/>
          </a:xfrm>
          <a:prstGeom prst="rect">
            <a:avLst/>
          </a:prstGeom>
          <a:noFill/>
        </p:spPr>
        <p:txBody>
          <a:bodyPr wrap="square" rtlCol="0">
            <a:spAutoFit/>
          </a:bodyPr>
          <a:lstStyle/>
          <a:p>
            <a:pPr algn="just"/>
            <a:r>
              <a:rPr lang="es-ES" sz="3600" b="1" dirty="0" smtClean="0"/>
              <a:t>Se han convertido  en maestros de la industria y de la transformación y del desarrollo de productos y del arte de crear valor agregado con base en materiales, recursos e ideas importadas.</a:t>
            </a:r>
            <a:endParaRPr lang="es-ES" sz="3600" b="1" dirty="0"/>
          </a:p>
        </p:txBody>
      </p:sp>
      <p:sp>
        <p:nvSpPr>
          <p:cNvPr id="3" name="2 Rectángulo"/>
          <p:cNvSpPr/>
          <p:nvPr/>
        </p:nvSpPr>
        <p:spPr>
          <a:xfrm>
            <a:off x="1428728" y="934034"/>
            <a:ext cx="6046784" cy="923330"/>
          </a:xfrm>
          <a:prstGeom prst="rect">
            <a:avLst/>
          </a:prstGeom>
          <a:noFill/>
        </p:spPr>
        <p:txBody>
          <a:bodyPr wrap="none" lIns="91440" tIns="45720" rIns="91440" bIns="45720">
            <a:spAutoFit/>
          </a:bodyPr>
          <a:lstStyle/>
          <a:p>
            <a:pPr algn="ctr"/>
            <a:r>
              <a:rPr lang="es-ES" sz="5400" b="1" dirty="0" smtClean="0">
                <a:ln w="17780" cmpd="sng">
                  <a:solidFill>
                    <a:schemeClr val="tx1"/>
                  </a:solidFill>
                  <a:prstDash val="solid"/>
                  <a:miter lim="800000"/>
                </a:ln>
                <a:effectLst>
                  <a:outerShdw blurRad="50800" algn="tl" rotWithShape="0">
                    <a:srgbClr val="000000"/>
                  </a:outerShdw>
                </a:effectLst>
              </a:rPr>
              <a:t>AVANCE JAPONÉS</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pic>
        <p:nvPicPr>
          <p:cNvPr id="9218" name="Picture 2" descr="H:\Documents and Settings\usuario\Configuración local\Archivos temporales de Internet\Content.IE5\WXGDMN41\MCj02953430000[1].wmf"/>
          <p:cNvPicPr>
            <a:picLocks noChangeAspect="1" noChangeArrowheads="1"/>
          </p:cNvPicPr>
          <p:nvPr/>
        </p:nvPicPr>
        <p:blipFill>
          <a:blip r:embed="rId2" cstate="print"/>
          <a:srcRect/>
          <a:stretch>
            <a:fillRect/>
          </a:stretch>
        </p:blipFill>
        <p:spPr bwMode="auto">
          <a:xfrm>
            <a:off x="4214810" y="5077485"/>
            <a:ext cx="1517964" cy="1780515"/>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714348" y="934034"/>
            <a:ext cx="8429652" cy="923330"/>
          </a:xfrm>
          <a:prstGeom prst="rect">
            <a:avLst/>
          </a:prstGeom>
        </p:spPr>
        <p:txBody>
          <a:bodyPr wrap="square">
            <a:spAutoFit/>
          </a:bodyPr>
          <a:lstStyle/>
          <a:p>
            <a:pPr algn="ctr"/>
            <a:r>
              <a:rPr lang="es-ES" sz="5400" b="1" dirty="0" smtClean="0">
                <a:ln w="17780" cmpd="sng">
                  <a:solidFill>
                    <a:schemeClr val="tx1"/>
                  </a:solidFill>
                  <a:prstDash val="solid"/>
                  <a:miter lim="800000"/>
                </a:ln>
                <a:effectLst>
                  <a:outerShdw blurRad="50800" algn="tl" rotWithShape="0">
                    <a:srgbClr val="000000"/>
                  </a:outerShdw>
                </a:effectLst>
              </a:rPr>
              <a:t>AVANCE JAPONÉS</a:t>
            </a:r>
            <a:endParaRPr lang="es-ES" sz="5400" b="1"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428596" y="2357430"/>
            <a:ext cx="8501122" cy="3108543"/>
          </a:xfrm>
          <a:prstGeom prst="rect">
            <a:avLst/>
          </a:prstGeom>
          <a:noFill/>
        </p:spPr>
        <p:txBody>
          <a:bodyPr wrap="square" rtlCol="0">
            <a:spAutoFit/>
          </a:bodyPr>
          <a:lstStyle/>
          <a:p>
            <a:pPr algn="just">
              <a:buFont typeface="Arial" pitchFamily="34" charset="0"/>
              <a:buChar char="•"/>
            </a:pPr>
            <a:r>
              <a:rPr lang="es-ES" sz="2800" b="1" dirty="0" smtClean="0"/>
              <a:t> La cima de la calidad.</a:t>
            </a:r>
          </a:p>
          <a:p>
            <a:pPr algn="just">
              <a:buFont typeface="Arial" pitchFamily="34" charset="0"/>
              <a:buChar char="•"/>
            </a:pPr>
            <a:r>
              <a:rPr lang="es-ES" sz="2800" b="1" dirty="0" smtClean="0"/>
              <a:t> Generan confiabilidad.</a:t>
            </a:r>
          </a:p>
          <a:p>
            <a:pPr algn="just">
              <a:buFont typeface="Arial" pitchFamily="34" charset="0"/>
              <a:buChar char="•"/>
            </a:pPr>
            <a:r>
              <a:rPr lang="es-ES" sz="2800" b="1" dirty="0" smtClean="0"/>
              <a:t> Compiten firmemente con Alemania.</a:t>
            </a:r>
          </a:p>
          <a:p>
            <a:pPr algn="just">
              <a:buFont typeface="Arial" pitchFamily="34" charset="0"/>
              <a:buChar char="•"/>
            </a:pPr>
            <a:r>
              <a:rPr lang="es-ES" sz="2800" b="1" dirty="0" smtClean="0"/>
              <a:t> Duplicación en el comercio con productos de alta tecnología.</a:t>
            </a:r>
          </a:p>
          <a:p>
            <a:pPr algn="just">
              <a:buFont typeface="Arial" pitchFamily="34" charset="0"/>
              <a:buChar char="•"/>
            </a:pPr>
            <a:r>
              <a:rPr lang="es-ES" sz="2800" b="1" dirty="0" smtClean="0"/>
              <a:t> En 1990 controlaron la producción tecnológica y electrónica.</a:t>
            </a:r>
            <a:endParaRPr lang="es-ES" sz="2800" b="1" dirty="0"/>
          </a:p>
        </p:txBody>
      </p:sp>
      <p:pic>
        <p:nvPicPr>
          <p:cNvPr id="10242" name="Picture 2" descr="H:\Documents and Settings\usuario\Configuración local\Archivos temporales de Internet\Content.IE5\IXKFYHM5\MCj02929380000[1].wmf"/>
          <p:cNvPicPr>
            <a:picLocks noChangeAspect="1" noChangeArrowheads="1"/>
          </p:cNvPicPr>
          <p:nvPr/>
        </p:nvPicPr>
        <p:blipFill>
          <a:blip r:embed="rId2" cstate="print"/>
          <a:srcRect/>
          <a:stretch>
            <a:fillRect/>
          </a:stretch>
        </p:blipFill>
        <p:spPr bwMode="auto">
          <a:xfrm>
            <a:off x="3286116" y="5290398"/>
            <a:ext cx="1815998" cy="1353312"/>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428596" y="791158"/>
            <a:ext cx="8390630" cy="923330"/>
          </a:xfrm>
          <a:prstGeom prst="rect">
            <a:avLst/>
          </a:prstGeom>
          <a:noFill/>
        </p:spPr>
        <p:txBody>
          <a:bodyPr wrap="none" lIns="91440" tIns="45720" rIns="91440" bIns="45720">
            <a:spAutoFit/>
          </a:bodyPr>
          <a:lstStyle/>
          <a:p>
            <a:pPr algn="ctr"/>
            <a:r>
              <a:rPr lang="es-ES" sz="5400" b="1" cap="none" spc="0" dirty="0" smtClean="0">
                <a:ln w="17780" cmpd="sng">
                  <a:solidFill>
                    <a:schemeClr val="tx1"/>
                  </a:solidFill>
                  <a:prstDash val="solid"/>
                  <a:miter lim="800000"/>
                </a:ln>
                <a:effectLst>
                  <a:outerShdw blurRad="50800" algn="tl" rotWithShape="0">
                    <a:srgbClr val="000000"/>
                  </a:outerShdw>
                </a:effectLst>
              </a:rPr>
              <a:t>EL PRECIO QUE SE PAGA</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857224" y="2357430"/>
            <a:ext cx="8286808" cy="3539430"/>
          </a:xfrm>
          <a:prstGeom prst="rect">
            <a:avLst/>
          </a:prstGeom>
          <a:noFill/>
        </p:spPr>
        <p:txBody>
          <a:bodyPr wrap="square" rtlCol="0">
            <a:spAutoFit/>
          </a:bodyPr>
          <a:lstStyle/>
          <a:p>
            <a:pPr>
              <a:buFont typeface="Arial" pitchFamily="34" charset="0"/>
              <a:buChar char="•"/>
            </a:pPr>
            <a:r>
              <a:rPr lang="es-ES" sz="2800" dirty="0" smtClean="0"/>
              <a:t> </a:t>
            </a:r>
            <a:r>
              <a:rPr lang="es-ES" sz="2800" b="1" dirty="0" smtClean="0"/>
              <a:t>Un niño Japonés va a la escuela primaria 70 días más por año que un niño occidental.</a:t>
            </a:r>
          </a:p>
          <a:p>
            <a:pPr>
              <a:buFont typeface="Arial" pitchFamily="34" charset="0"/>
              <a:buChar char="•"/>
            </a:pPr>
            <a:r>
              <a:rPr lang="es-ES" sz="2800" b="1" dirty="0" smtClean="0"/>
              <a:t> La universidad cuesta ¼ parte más del ingreso promedio familiar por año.</a:t>
            </a:r>
          </a:p>
          <a:p>
            <a:pPr>
              <a:buFont typeface="Arial" pitchFamily="34" charset="0"/>
              <a:buChar char="•"/>
            </a:pPr>
            <a:r>
              <a:rPr lang="es-ES" sz="2800" b="1" dirty="0" smtClean="0"/>
              <a:t> La semana normal de trabajo es de 55 horas.</a:t>
            </a:r>
          </a:p>
          <a:p>
            <a:pPr>
              <a:buFont typeface="Arial" pitchFamily="34" charset="0"/>
              <a:buChar char="•"/>
            </a:pPr>
            <a:r>
              <a:rPr lang="es-ES" sz="2800" b="1" dirty="0" smtClean="0"/>
              <a:t> Sólo tienen 7 días de vacaciones por año.</a:t>
            </a:r>
          </a:p>
          <a:p>
            <a:endParaRPr lang="es-ES" sz="2800" dirty="0" smtClean="0"/>
          </a:p>
          <a:p>
            <a:pPr>
              <a:buFont typeface="Arial" pitchFamily="34" charset="0"/>
              <a:buChar char="•"/>
            </a:pPr>
            <a:endParaRPr lang="es-ES" sz="2800" dirty="0"/>
          </a:p>
        </p:txBody>
      </p:sp>
      <p:pic>
        <p:nvPicPr>
          <p:cNvPr id="11266" name="Picture 2" descr="H:\Documents and Settings\usuario\Configuración local\Archivos temporales de Internet\Content.IE5\WXGDMN41\MCj04102430000[1].wmf"/>
          <p:cNvPicPr>
            <a:picLocks noChangeAspect="1" noChangeArrowheads="1"/>
          </p:cNvPicPr>
          <p:nvPr/>
        </p:nvPicPr>
        <p:blipFill>
          <a:blip r:embed="rId2" cstate="print"/>
          <a:srcRect/>
          <a:stretch>
            <a:fillRect/>
          </a:stretch>
        </p:blipFill>
        <p:spPr bwMode="auto">
          <a:xfrm>
            <a:off x="3786182" y="5072098"/>
            <a:ext cx="1235075" cy="1643050"/>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42910" y="782405"/>
            <a:ext cx="7643866" cy="707886"/>
          </a:xfrm>
          <a:prstGeom prst="rect">
            <a:avLst/>
          </a:prstGeom>
        </p:spPr>
        <p:txBody>
          <a:bodyPr wrap="square">
            <a:spAutoFit/>
          </a:bodyPr>
          <a:lstStyle/>
          <a:p>
            <a:pPr algn="ctr"/>
            <a:r>
              <a:rPr lang="es-ES" sz="4000" b="1" dirty="0" smtClean="0">
                <a:ln w="17780" cmpd="sng">
                  <a:solidFill>
                    <a:schemeClr val="tx1"/>
                  </a:solidFill>
                  <a:prstDash val="solid"/>
                  <a:miter lim="800000"/>
                </a:ln>
                <a:effectLst>
                  <a:outerShdw blurRad="50800" algn="tl" rotWithShape="0">
                    <a:srgbClr val="000000"/>
                  </a:outerShdw>
                </a:effectLst>
              </a:rPr>
              <a:t>EL PRECIO QUE SE PAGA</a:t>
            </a:r>
            <a:endParaRPr lang="es-ES" sz="4000" b="1"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642910" y="2209752"/>
            <a:ext cx="7929618" cy="2862322"/>
          </a:xfrm>
          <a:prstGeom prst="rect">
            <a:avLst/>
          </a:prstGeom>
          <a:noFill/>
        </p:spPr>
        <p:txBody>
          <a:bodyPr wrap="square" rtlCol="0">
            <a:spAutoFit/>
          </a:bodyPr>
          <a:lstStyle/>
          <a:p>
            <a:pPr>
              <a:buFont typeface="Arial" pitchFamily="34" charset="0"/>
              <a:buChar char="•"/>
            </a:pPr>
            <a:r>
              <a:rPr lang="es-ES" sz="3600" b="1" dirty="0" smtClean="0"/>
              <a:t> No tiene vacaciones, ni descanso, solo alcohol.</a:t>
            </a:r>
          </a:p>
          <a:p>
            <a:pPr>
              <a:buFont typeface="Arial" pitchFamily="34" charset="0"/>
              <a:buChar char="•"/>
            </a:pPr>
            <a:r>
              <a:rPr lang="es-ES" sz="3600" b="1" dirty="0" smtClean="0"/>
              <a:t> Solamente el 15% de los japoneses se considera feliz.</a:t>
            </a:r>
          </a:p>
          <a:p>
            <a:pPr>
              <a:buFont typeface="Arial" pitchFamily="34" charset="0"/>
              <a:buChar char="•"/>
            </a:pPr>
            <a:r>
              <a:rPr lang="es-ES" sz="3600" b="1" dirty="0" smtClean="0"/>
              <a:t> El costo de vida es elevado.</a:t>
            </a:r>
          </a:p>
        </p:txBody>
      </p:sp>
      <p:pic>
        <p:nvPicPr>
          <p:cNvPr id="12290" name="Picture 2" descr="H:\Documents and Settings\usuario\Configuración local\Archivos temporales de Internet\Content.IE5\IXKFYHM5\MCj03981490000[1].wmf"/>
          <p:cNvPicPr>
            <a:picLocks noChangeAspect="1" noChangeArrowheads="1"/>
          </p:cNvPicPr>
          <p:nvPr/>
        </p:nvPicPr>
        <p:blipFill>
          <a:blip r:embed="rId2" cstate="print"/>
          <a:srcRect/>
          <a:stretch>
            <a:fillRect/>
          </a:stretch>
        </p:blipFill>
        <p:spPr bwMode="auto">
          <a:xfrm>
            <a:off x="3286116" y="5214950"/>
            <a:ext cx="1538021" cy="1402579"/>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42910" y="792288"/>
            <a:ext cx="7643866" cy="707886"/>
          </a:xfrm>
          <a:prstGeom prst="rect">
            <a:avLst/>
          </a:prstGeom>
        </p:spPr>
        <p:txBody>
          <a:bodyPr wrap="square">
            <a:spAutoFit/>
          </a:bodyPr>
          <a:lstStyle/>
          <a:p>
            <a:pPr algn="ctr"/>
            <a:r>
              <a:rPr lang="es-ES" sz="4000" b="1" dirty="0" smtClean="0">
                <a:ln w="17780" cmpd="sng">
                  <a:solidFill>
                    <a:schemeClr val="tx1"/>
                  </a:solidFill>
                  <a:prstDash val="solid"/>
                  <a:miter lim="800000"/>
                </a:ln>
                <a:effectLst>
                  <a:outerShdw blurRad="50800" algn="tl" rotWithShape="0">
                    <a:srgbClr val="000000"/>
                  </a:outerShdw>
                </a:effectLst>
              </a:rPr>
              <a:t>EL PRECIO QUE SE PAGA</a:t>
            </a:r>
            <a:endParaRPr lang="es-ES" sz="4000" b="1" dirty="0">
              <a:ln w="17780" cmpd="sng">
                <a:solidFill>
                  <a:schemeClr val="tx1"/>
                </a:solidFill>
                <a:prstDash val="solid"/>
                <a:miter lim="800000"/>
              </a:ln>
              <a:effectLst>
                <a:outerShdw blurRad="50800" algn="tl" rotWithShape="0">
                  <a:srgbClr val="000000"/>
                </a:outerShdw>
              </a:effectLst>
            </a:endParaRPr>
          </a:p>
        </p:txBody>
      </p:sp>
      <p:sp>
        <p:nvSpPr>
          <p:cNvPr id="3" name="2 CuadroTexto"/>
          <p:cNvSpPr txBox="1"/>
          <p:nvPr/>
        </p:nvSpPr>
        <p:spPr>
          <a:xfrm>
            <a:off x="928662" y="2138314"/>
            <a:ext cx="7929618" cy="2862322"/>
          </a:xfrm>
          <a:prstGeom prst="rect">
            <a:avLst/>
          </a:prstGeom>
          <a:noFill/>
        </p:spPr>
        <p:txBody>
          <a:bodyPr wrap="square" rtlCol="0">
            <a:spAutoFit/>
          </a:bodyPr>
          <a:lstStyle/>
          <a:p>
            <a:pPr>
              <a:buFont typeface="Arial" pitchFamily="34" charset="0"/>
              <a:buChar char="•"/>
            </a:pPr>
            <a:r>
              <a:rPr lang="es-ES" sz="3600" b="1" dirty="0" smtClean="0"/>
              <a:t> La vivienda tiene muy poco espacio.</a:t>
            </a:r>
          </a:p>
          <a:p>
            <a:pPr>
              <a:buFont typeface="Arial" pitchFamily="34" charset="0"/>
              <a:buChar char="•"/>
            </a:pPr>
            <a:r>
              <a:rPr lang="es-ES" sz="3600" b="1" dirty="0" smtClean="0"/>
              <a:t> Tiene un transporte pésimo.</a:t>
            </a:r>
          </a:p>
          <a:p>
            <a:pPr>
              <a:buFont typeface="Arial" pitchFamily="34" charset="0"/>
              <a:buChar char="•"/>
            </a:pPr>
            <a:r>
              <a:rPr lang="es-ES" sz="3600" b="1" dirty="0" smtClean="0"/>
              <a:t> Los jóvenes no están interesados en llevar una vida de trabajo.</a:t>
            </a:r>
            <a:endParaRPr lang="es-ES" sz="3600" b="1" dirty="0"/>
          </a:p>
        </p:txBody>
      </p:sp>
      <p:pic>
        <p:nvPicPr>
          <p:cNvPr id="13314" name="Picture 2" descr="H:\Documents and Settings\usuario\Configuración local\Archivos temporales de Internet\Content.IE5\KX0BWRO7\MPj04015670000[1].jpg"/>
          <p:cNvPicPr>
            <a:picLocks noChangeAspect="1" noChangeArrowheads="1"/>
          </p:cNvPicPr>
          <p:nvPr/>
        </p:nvPicPr>
        <p:blipFill>
          <a:blip r:embed="rId2" cstate="print"/>
          <a:srcRect/>
          <a:stretch>
            <a:fillRect/>
          </a:stretch>
        </p:blipFill>
        <p:spPr bwMode="auto">
          <a:xfrm>
            <a:off x="3500430" y="5072074"/>
            <a:ext cx="1826710" cy="1571612"/>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Título"/>
          <p:cNvSpPr>
            <a:spLocks noGrp="1"/>
          </p:cNvSpPr>
          <p:nvPr>
            <p:ph type="title"/>
          </p:nvPr>
        </p:nvSpPr>
        <p:spPr>
          <a:xfrm>
            <a:off x="500034" y="1000108"/>
            <a:ext cx="8305800" cy="4000528"/>
          </a:xfrm>
        </p:spPr>
        <p:txBody>
          <a:bodyPr>
            <a:noAutofit/>
          </a:bodyPr>
          <a:lstStyle/>
          <a:p>
            <a:pPr algn="just"/>
            <a:r>
              <a:rPr lang="es-ES" sz="3200" dirty="0" smtClean="0">
                <a:solidFill>
                  <a:schemeClr val="tx1"/>
                </a:solidFill>
                <a:latin typeface="Arial Unicode MS" pitchFamily="34" charset="-128"/>
                <a:ea typeface="Arial Unicode MS" pitchFamily="34" charset="-128"/>
                <a:cs typeface="Arial Unicode MS" pitchFamily="34" charset="-128"/>
              </a:rPr>
              <a:t>Hay muchas diferencias entre las actividades de Control de Calidad en el Japón y las realizadas en los Estados Unidos, Europa Occidental. Esto se debe en parte a las características socioculturales de cada nación</a:t>
            </a:r>
            <a:r>
              <a:rPr lang="es-ES" sz="2800" dirty="0" smtClean="0">
                <a:latin typeface="Arial Unicode MS" pitchFamily="34" charset="-128"/>
                <a:ea typeface="Arial Unicode MS" pitchFamily="34" charset="-128"/>
                <a:cs typeface="Arial Unicode MS" pitchFamily="34" charset="-128"/>
              </a:rPr>
              <a:t>. </a:t>
            </a:r>
            <a:endParaRPr lang="es-ES" sz="2400" b="1" dirty="0">
              <a:latin typeface="Arial Unicode MS" pitchFamily="34" charset="-128"/>
              <a:ea typeface="Arial Unicode MS" pitchFamily="34" charset="-128"/>
              <a:cs typeface="Arial Unicode MS" pitchFamily="34" charset="-128"/>
            </a:endParaRPr>
          </a:p>
        </p:txBody>
      </p:sp>
      <p:sp>
        <p:nvSpPr>
          <p:cNvPr id="3" name="2 Rectángulo"/>
          <p:cNvSpPr/>
          <p:nvPr/>
        </p:nvSpPr>
        <p:spPr>
          <a:xfrm>
            <a:off x="857224" y="-642966"/>
            <a:ext cx="7858180" cy="2585323"/>
          </a:xfrm>
          <a:prstGeom prst="rect">
            <a:avLst/>
          </a:prstGeom>
          <a:noFill/>
        </p:spPr>
        <p:txBody>
          <a:bodyPr wrap="square" lIns="91440" tIns="45720" rIns="91440" bIns="45720">
            <a:spAutoFit/>
          </a:bodyPr>
          <a:lstStyle/>
          <a:p>
            <a:pPr algn="ctr"/>
            <a:r>
              <a:rPr lang="es-E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Arial Unicode MS" pitchFamily="34" charset="-128"/>
                <a:ea typeface="Arial Unicode MS" pitchFamily="34" charset="-128"/>
                <a:cs typeface="Arial Unicode MS" pitchFamily="34" charset="-128"/>
              </a:rPr>
              <a:t/>
            </a:r>
            <a:br>
              <a:rPr lang="es-E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Arial Unicode MS" pitchFamily="34" charset="-128"/>
                <a:ea typeface="Arial Unicode MS" pitchFamily="34" charset="-128"/>
                <a:cs typeface="Arial Unicode MS" pitchFamily="34" charset="-128"/>
              </a:rPr>
            </a:br>
            <a:r>
              <a:rPr lang="es-ES" sz="3600" b="1" cap="none" spc="0" dirty="0" smtClean="0">
                <a:ln w="17780" cmpd="sng">
                  <a:solidFill>
                    <a:schemeClr val="tx1"/>
                  </a:solidFill>
                  <a:prstDash val="solid"/>
                  <a:miter lim="800000"/>
                </a:ln>
                <a:effectLst>
                  <a:outerShdw blurRad="50800" algn="tl" rotWithShape="0">
                    <a:srgbClr val="000000"/>
                  </a:outerShdw>
                </a:effectLst>
                <a:latin typeface="Arial Unicode MS" pitchFamily="34" charset="-128"/>
                <a:ea typeface="Arial Unicode MS" pitchFamily="34" charset="-128"/>
                <a:cs typeface="Arial Unicode MS" pitchFamily="34" charset="-128"/>
              </a:rPr>
              <a:t>LA EXPERIECIA JAPONESA </a:t>
            </a:r>
          </a:p>
          <a:p>
            <a:pPr algn="ctr"/>
            <a:r>
              <a:rPr lang="es-ES" sz="3600" b="1" cap="none" spc="0" dirty="0" smtClean="0">
                <a:ln w="17780" cmpd="sng">
                  <a:solidFill>
                    <a:schemeClr val="tx1"/>
                  </a:solidFill>
                  <a:prstDash val="solid"/>
                  <a:miter lim="800000"/>
                </a:ln>
                <a:effectLst>
                  <a:outerShdw blurRad="50800" algn="tl" rotWithShape="0">
                    <a:srgbClr val="000000"/>
                  </a:outerShdw>
                </a:effectLst>
                <a:latin typeface="Arial Unicode MS" pitchFamily="34" charset="-128"/>
                <a:ea typeface="Arial Unicode MS" pitchFamily="34" charset="-128"/>
                <a:cs typeface="Arial Unicode MS" pitchFamily="34" charset="-128"/>
              </a:rPr>
              <a:t>VS.</a:t>
            </a:r>
          </a:p>
          <a:p>
            <a:pPr algn="ctr"/>
            <a:r>
              <a:rPr lang="es-ES" sz="3600" b="1" cap="none" spc="0" dirty="0" smtClean="0">
                <a:ln w="17780" cmpd="sng">
                  <a:solidFill>
                    <a:schemeClr val="tx1"/>
                  </a:solidFill>
                  <a:prstDash val="solid"/>
                  <a:miter lim="800000"/>
                </a:ln>
                <a:effectLst>
                  <a:outerShdw blurRad="50800" algn="tl" rotWithShape="0">
                    <a:srgbClr val="000000"/>
                  </a:outerShdw>
                </a:effectLst>
                <a:latin typeface="Arial Unicode MS" pitchFamily="34" charset="-128"/>
                <a:ea typeface="Arial Unicode MS" pitchFamily="34" charset="-128"/>
                <a:cs typeface="Arial Unicode MS" pitchFamily="34" charset="-128"/>
              </a:rPr>
              <a:t> LA EXPERIENCIA OCCIDENTAL</a:t>
            </a:r>
            <a:endParaRPr lang="es-ES" sz="3600" b="1" cap="none" spc="0" dirty="0">
              <a:ln w="17780" cmpd="sng">
                <a:solidFill>
                  <a:schemeClr val="tx1"/>
                </a:solidFill>
                <a:prstDash val="solid"/>
                <a:miter lim="800000"/>
              </a:ln>
              <a:effectLst>
                <a:outerShdw blurRad="50800" algn="tl" rotWithShape="0">
                  <a:srgbClr val="000000"/>
                </a:outerShdw>
              </a:effectLst>
              <a:latin typeface="Arial Unicode MS" pitchFamily="34" charset="-128"/>
              <a:ea typeface="Arial Unicode MS" pitchFamily="34" charset="-128"/>
              <a:cs typeface="Arial Unicode MS" pitchFamily="34" charset="-128"/>
            </a:endParaRPr>
          </a:p>
        </p:txBody>
      </p:sp>
      <p:pic>
        <p:nvPicPr>
          <p:cNvPr id="17411" name="Picture 3" descr="H:\Documents and Settings\usuario\Configuración local\Archivos temporales de Internet\Content.IE5\MRI3UXI7\MCj04113380000[1].wmf"/>
          <p:cNvPicPr>
            <a:picLocks noChangeAspect="1" noChangeArrowheads="1"/>
          </p:cNvPicPr>
          <p:nvPr/>
        </p:nvPicPr>
        <p:blipFill>
          <a:blip r:embed="rId3" cstate="print"/>
          <a:srcRect/>
          <a:stretch>
            <a:fillRect/>
          </a:stretch>
        </p:blipFill>
        <p:spPr bwMode="auto">
          <a:xfrm>
            <a:off x="3000364" y="4643446"/>
            <a:ext cx="2155873" cy="2030521"/>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305800" cy="5439556"/>
          </a:xfrm>
        </p:spPr>
        <p:txBody>
          <a:bodyPr>
            <a:normAutofit/>
          </a:bodyPr>
          <a:lstStyle/>
          <a:p>
            <a:pPr algn="just"/>
            <a:r>
              <a:rPr lang="es-ES" sz="2700" dirty="0" smtClean="0">
                <a:solidFill>
                  <a:schemeClr val="tx1"/>
                </a:solidFill>
                <a:latin typeface="Arial Unicode MS" pitchFamily="34" charset="-128"/>
                <a:ea typeface="Arial Unicode MS" pitchFamily="34" charset="-128"/>
                <a:cs typeface="Arial Unicode MS" pitchFamily="34" charset="-128"/>
              </a:rPr>
              <a:t>El Japón hace escaso hincapié en el profesionalismo. Cuando un ingeniero se vincula a la empresa, se empieza a rotar entre las distintas divisiones. A veces algunos ingenieros pasan a la división de mercadeo. El sistema no crea profesionales de la mas alta competencia, pero el profesionalismo es un legado del antiguo sistema de los gremios, que ha pasado a mejor vida. La gente tiene capacidades muy grandes y el profesionalismo no suele reconocerlas.</a:t>
            </a:r>
            <a:br>
              <a:rPr lang="es-ES" sz="2700" dirty="0" smtClean="0">
                <a:solidFill>
                  <a:schemeClr val="tx1"/>
                </a:solidFill>
                <a:latin typeface="Arial Unicode MS" pitchFamily="34" charset="-128"/>
                <a:ea typeface="Arial Unicode MS" pitchFamily="34" charset="-128"/>
                <a:cs typeface="Arial Unicode MS" pitchFamily="34" charset="-128"/>
              </a:rPr>
            </a:br>
            <a:r>
              <a:rPr lang="es-ES" sz="2700" dirty="0" smtClean="0">
                <a:solidFill>
                  <a:schemeClr val="tx1"/>
                </a:solidFill>
                <a:latin typeface="Arial Unicode MS" pitchFamily="34" charset="-128"/>
                <a:ea typeface="Arial Unicode MS" pitchFamily="34" charset="-128"/>
                <a:cs typeface="Arial Unicode MS" pitchFamily="34" charset="-128"/>
              </a:rPr>
              <a:t> </a:t>
            </a:r>
            <a:r>
              <a:rPr lang="es-ES" sz="2000" dirty="0" smtClean="0">
                <a:latin typeface="Arial Unicode MS" pitchFamily="34" charset="-128"/>
                <a:ea typeface="Arial Unicode MS" pitchFamily="34" charset="-128"/>
                <a:cs typeface="Arial Unicode MS" pitchFamily="34" charset="-128"/>
              </a:rPr>
              <a:t/>
            </a:r>
            <a:br>
              <a:rPr lang="es-ES" sz="2000" dirty="0" smtClean="0">
                <a:latin typeface="Arial Unicode MS" pitchFamily="34" charset="-128"/>
                <a:ea typeface="Arial Unicode MS" pitchFamily="34" charset="-128"/>
                <a:cs typeface="Arial Unicode MS" pitchFamily="34" charset="-128"/>
              </a:rPr>
            </a:br>
            <a:endParaRPr lang="es-ES" sz="2000" dirty="0">
              <a:latin typeface="Arial" pitchFamily="34" charset="0"/>
              <a:cs typeface="Arial" pitchFamily="34" charset="0"/>
            </a:endParaRPr>
          </a:p>
        </p:txBody>
      </p:sp>
      <p:sp>
        <p:nvSpPr>
          <p:cNvPr id="3" name="2 Rectángulo"/>
          <p:cNvSpPr/>
          <p:nvPr/>
        </p:nvSpPr>
        <p:spPr>
          <a:xfrm>
            <a:off x="1214414" y="714356"/>
            <a:ext cx="6918754" cy="923330"/>
          </a:xfrm>
          <a:prstGeom prst="rect">
            <a:avLst/>
          </a:prstGeom>
          <a:noFill/>
        </p:spPr>
        <p:txBody>
          <a:bodyPr wrap="none" lIns="91440" tIns="45720" rIns="91440" bIns="45720">
            <a:spAutoFit/>
          </a:bodyPr>
          <a:lstStyle/>
          <a:p>
            <a:pPr algn="ctr"/>
            <a:r>
              <a:rPr lang="es-ES" sz="5400" b="1" cap="none" spc="0" dirty="0" smtClean="0">
                <a:ln w="17780" cmpd="sng">
                  <a:solidFill>
                    <a:schemeClr val="tx1"/>
                  </a:solidFill>
                  <a:prstDash val="solid"/>
                  <a:miter lim="800000"/>
                </a:ln>
                <a:effectLst>
                  <a:outerShdw blurRad="50800" algn="tl" rotWithShape="0">
                    <a:srgbClr val="000000"/>
                  </a:outerShdw>
                </a:effectLst>
              </a:rPr>
              <a:t>PROFESIONALISMO</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pic>
        <p:nvPicPr>
          <p:cNvPr id="18434" name="Picture 2" descr="H:\Documents and Settings\usuario\Configuración local\Archivos temporales de Internet\Content.IE5\MRI3UXI7\MCj04114640000[1].wmf"/>
          <p:cNvPicPr>
            <a:picLocks noChangeAspect="1" noChangeArrowheads="1"/>
          </p:cNvPicPr>
          <p:nvPr/>
        </p:nvPicPr>
        <p:blipFill>
          <a:blip r:embed="rId3" cstate="print"/>
          <a:srcRect/>
          <a:stretch>
            <a:fillRect/>
          </a:stretch>
        </p:blipFill>
        <p:spPr bwMode="auto">
          <a:xfrm>
            <a:off x="4000496" y="5523429"/>
            <a:ext cx="1065213" cy="1191719"/>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305800" cy="5796746"/>
          </a:xfrm>
        </p:spPr>
        <p:txBody>
          <a:bodyPr>
            <a:normAutofit/>
          </a:bodyPr>
          <a:lstStyle/>
          <a:p>
            <a:pPr algn="just"/>
            <a:r>
              <a:rPr lang="es-ES" sz="2800" dirty="0" smtClean="0">
                <a:solidFill>
                  <a:schemeClr val="tx1"/>
                </a:solidFill>
                <a:latin typeface="Arial Unicode MS" pitchFamily="34" charset="-128"/>
                <a:ea typeface="Arial Unicode MS" pitchFamily="34" charset="-128"/>
                <a:cs typeface="Arial Unicode MS" pitchFamily="34" charset="-128"/>
              </a:rPr>
              <a:t>Se ha dicho que el Japón es una sociedad vertical con una fortísima relación entre los de arriba y los de abajo. En las organizaciones comerciales japonesas, las organizaciones que participan directamente en las actividades comerciales suelen ser fuertes, pero las divisiones administrativas como la de CC son relativamente débiles.</a:t>
            </a:r>
            <a:br>
              <a:rPr lang="es-ES" sz="2800" dirty="0" smtClean="0">
                <a:solidFill>
                  <a:schemeClr val="tx1"/>
                </a:solidFill>
                <a:latin typeface="Arial Unicode MS" pitchFamily="34" charset="-128"/>
                <a:ea typeface="Arial Unicode MS" pitchFamily="34" charset="-128"/>
                <a:cs typeface="Arial Unicode MS" pitchFamily="34" charset="-128"/>
              </a:rPr>
            </a:br>
            <a:r>
              <a:rPr lang="es-ES" sz="2800" dirty="0" smtClean="0">
                <a:solidFill>
                  <a:schemeClr val="tx1"/>
                </a:solidFill>
                <a:latin typeface="Arial Unicode MS" pitchFamily="34" charset="-128"/>
                <a:ea typeface="Arial Unicode MS" pitchFamily="34" charset="-128"/>
                <a:cs typeface="Arial Unicode MS" pitchFamily="34" charset="-128"/>
              </a:rPr>
              <a:t/>
            </a:r>
            <a:br>
              <a:rPr lang="es-ES" sz="2800" dirty="0" smtClean="0">
                <a:solidFill>
                  <a:schemeClr val="tx1"/>
                </a:solidFill>
                <a:latin typeface="Arial Unicode MS" pitchFamily="34" charset="-128"/>
                <a:ea typeface="Arial Unicode MS" pitchFamily="34" charset="-128"/>
                <a:cs typeface="Arial Unicode MS" pitchFamily="34" charset="-128"/>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endParaRPr lang="es-ES" sz="2000" dirty="0">
              <a:latin typeface="Arial" pitchFamily="34" charset="0"/>
              <a:cs typeface="Arial" pitchFamily="34" charset="0"/>
            </a:endParaRPr>
          </a:p>
        </p:txBody>
      </p:sp>
      <p:sp>
        <p:nvSpPr>
          <p:cNvPr id="3" name="2 Rectángulo"/>
          <p:cNvSpPr/>
          <p:nvPr/>
        </p:nvSpPr>
        <p:spPr>
          <a:xfrm>
            <a:off x="1214414" y="857232"/>
            <a:ext cx="6522298" cy="1569660"/>
          </a:xfrm>
          <a:prstGeom prst="rect">
            <a:avLst/>
          </a:prstGeom>
          <a:noFill/>
        </p:spPr>
        <p:txBody>
          <a:bodyPr wrap="none" lIns="91440" tIns="45720" rIns="91440" bIns="45720">
            <a:spAutoFit/>
          </a:bodyPr>
          <a:lstStyle/>
          <a:p>
            <a:pPr algn="ctr"/>
            <a:r>
              <a:rPr lang="es-ES" sz="4800" b="1" cap="none" spc="0" dirty="0" smtClean="0">
                <a:ln w="17780" cmpd="sng">
                  <a:solidFill>
                    <a:schemeClr val="tx1"/>
                  </a:solidFill>
                  <a:prstDash val="solid"/>
                  <a:miter lim="800000"/>
                </a:ln>
                <a:effectLst>
                  <a:outerShdw blurRad="50800" algn="tl" rotWithShape="0">
                    <a:srgbClr val="000000"/>
                  </a:outerShdw>
                </a:effectLst>
              </a:rPr>
              <a:t>EL JAPON ES UNA </a:t>
            </a:r>
          </a:p>
          <a:p>
            <a:pPr algn="ctr"/>
            <a:r>
              <a:rPr lang="es-ES" sz="4800" b="1" cap="none" spc="0" dirty="0" smtClean="0">
                <a:ln w="17780" cmpd="sng">
                  <a:solidFill>
                    <a:schemeClr val="tx1"/>
                  </a:solidFill>
                  <a:prstDash val="solid"/>
                  <a:miter lim="800000"/>
                </a:ln>
                <a:effectLst>
                  <a:outerShdw blurRad="50800" algn="tl" rotWithShape="0">
                    <a:srgbClr val="000000"/>
                  </a:outerShdw>
                </a:effectLst>
              </a:rPr>
              <a:t>SOCIEDAD VERTICAL</a:t>
            </a:r>
            <a:endParaRPr lang="es-ES" sz="4800" b="1" cap="none" spc="0" dirty="0">
              <a:ln w="17780" cmpd="sng">
                <a:solidFill>
                  <a:schemeClr val="tx1"/>
                </a:solidFill>
                <a:prstDash val="solid"/>
                <a:miter lim="800000"/>
              </a:ln>
              <a:effectLst>
                <a:outerShdw blurRad="50800" algn="tl" rotWithShape="0">
                  <a:srgbClr val="000000"/>
                </a:outerShdw>
              </a:effectLst>
            </a:endParaRPr>
          </a:p>
        </p:txBody>
      </p:sp>
      <p:pic>
        <p:nvPicPr>
          <p:cNvPr id="19458" name="Picture 2" descr="H:\Documents and Settings\usuario\Configuración local\Archivos temporales de Internet\Content.IE5\KX0BWRO7\MCj04335860000[1].wmf"/>
          <p:cNvPicPr>
            <a:picLocks noChangeAspect="1" noChangeArrowheads="1"/>
          </p:cNvPicPr>
          <p:nvPr/>
        </p:nvPicPr>
        <p:blipFill>
          <a:blip r:embed="rId2" cstate="print"/>
          <a:srcRect/>
          <a:stretch>
            <a:fillRect/>
          </a:stretch>
        </p:blipFill>
        <p:spPr bwMode="auto">
          <a:xfrm>
            <a:off x="3500430" y="5572140"/>
            <a:ext cx="1766887" cy="1165718"/>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305800" cy="4796614"/>
          </a:xfrm>
        </p:spPr>
        <p:txBody>
          <a:bodyPr>
            <a:normAutofit/>
          </a:bodyPr>
          <a:lstStyle/>
          <a:p>
            <a:pPr algn="just"/>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800" dirty="0" smtClean="0">
                <a:solidFill>
                  <a:schemeClr val="tx1"/>
                </a:solidFill>
                <a:latin typeface="Arial Unicode MS" pitchFamily="34" charset="-128"/>
                <a:ea typeface="Arial Unicode MS" pitchFamily="34" charset="-128"/>
                <a:cs typeface="Arial Unicode MS" pitchFamily="34" charset="-128"/>
              </a:rPr>
              <a:t>En los Estados Unidos y Europa los sindicatos laborales tienen una organización laboral , este sistema también es un legado del antiguo sistema gremial y es sencillamente arcaico.</a:t>
            </a: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endParaRPr lang="es-ES" sz="2000" dirty="0">
              <a:latin typeface="Arial" pitchFamily="34" charset="0"/>
              <a:cs typeface="Arial" pitchFamily="34" charset="0"/>
            </a:endParaRPr>
          </a:p>
        </p:txBody>
      </p:sp>
      <p:sp>
        <p:nvSpPr>
          <p:cNvPr id="3" name="2 Rectángulo"/>
          <p:cNvSpPr/>
          <p:nvPr/>
        </p:nvSpPr>
        <p:spPr>
          <a:xfrm>
            <a:off x="1428728" y="500042"/>
            <a:ext cx="6067879" cy="1754326"/>
          </a:xfrm>
          <a:prstGeom prst="rect">
            <a:avLst/>
          </a:prstGeom>
          <a:noFill/>
        </p:spPr>
        <p:txBody>
          <a:bodyPr wrap="none" lIns="91440" tIns="45720" rIns="91440" bIns="45720">
            <a:spAutoFit/>
          </a:bodyPr>
          <a:lstStyle/>
          <a:p>
            <a:pPr algn="ctr"/>
            <a:r>
              <a:rPr lang="es-ES" sz="5400" b="1" cap="none" spc="0" dirty="0" smtClean="0">
                <a:ln w="17780" cmpd="sng">
                  <a:solidFill>
                    <a:schemeClr val="tx1"/>
                  </a:solidFill>
                  <a:prstDash val="solid"/>
                  <a:miter lim="800000"/>
                </a:ln>
                <a:effectLst>
                  <a:outerShdw blurRad="50800" algn="tl" rotWithShape="0">
                    <a:srgbClr val="000000"/>
                  </a:outerShdw>
                </a:effectLst>
              </a:rPr>
              <a:t>LOS SINDICATOS </a:t>
            </a:r>
          </a:p>
          <a:p>
            <a:pPr algn="ctr"/>
            <a:r>
              <a:rPr lang="es-ES" sz="5400" b="1" cap="none" spc="0" dirty="0" smtClean="0">
                <a:ln w="17780" cmpd="sng">
                  <a:solidFill>
                    <a:schemeClr val="tx1"/>
                  </a:solidFill>
                  <a:prstDash val="solid"/>
                  <a:miter lim="800000"/>
                </a:ln>
                <a:effectLst>
                  <a:outerShdw blurRad="50800" algn="tl" rotWithShape="0">
                    <a:srgbClr val="000000"/>
                  </a:outerShdw>
                </a:effectLst>
              </a:rPr>
              <a:t>LABORALES</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pic>
        <p:nvPicPr>
          <p:cNvPr id="20482" name="Picture 2" descr="H:\Documents and Settings\usuario\Configuración local\Archivos temporales de Internet\Content.IE5\KX0BWRO7\MCj02807290000[1].wmf"/>
          <p:cNvPicPr>
            <a:picLocks noChangeAspect="1" noChangeArrowheads="1"/>
          </p:cNvPicPr>
          <p:nvPr/>
        </p:nvPicPr>
        <p:blipFill>
          <a:blip r:embed="rId2" cstate="print"/>
          <a:srcRect/>
          <a:stretch>
            <a:fillRect/>
          </a:stretch>
        </p:blipFill>
        <p:spPr bwMode="auto">
          <a:xfrm>
            <a:off x="3786182" y="5000636"/>
            <a:ext cx="1301768" cy="1749901"/>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28596" y="1142984"/>
            <a:ext cx="8305800" cy="5010928"/>
          </a:xfrm>
        </p:spPr>
        <p:txBody>
          <a:bodyPr>
            <a:normAutofit/>
          </a:bodyPr>
          <a:lstStyle/>
          <a:p>
            <a:pPr algn="just"/>
            <a:r>
              <a:rPr lang="es-ES" sz="3200" dirty="0" smtClean="0">
                <a:solidFill>
                  <a:schemeClr val="tx1"/>
                </a:solidFill>
                <a:latin typeface="Arial Unicode MS" pitchFamily="34" charset="-128"/>
                <a:ea typeface="Arial Unicode MS" pitchFamily="34" charset="-128"/>
                <a:cs typeface="Arial Unicode MS" pitchFamily="34" charset="-128"/>
              </a:rPr>
              <a:t>En el Japón, la mayoría de los sindicatos abarcar toda la empresa. En las industrias japonesas los trabajadores hábiles reciben capacitación en diversas especialidades y se forman empleados multifuncionales. Esto es imposible en los Estados Unidos y Europa, donde los sindicatos funcionales son demasiado fuertes.</a:t>
            </a:r>
            <a:endParaRPr lang="es-ES" sz="3200" dirty="0">
              <a:solidFill>
                <a:schemeClr val="tx1"/>
              </a:solidFill>
              <a:latin typeface="Arial Unicode MS" pitchFamily="34" charset="-128"/>
              <a:ea typeface="Arial Unicode MS" pitchFamily="34" charset="-128"/>
              <a:cs typeface="Arial Unicode MS" pitchFamily="34" charset="-128"/>
            </a:endParaRPr>
          </a:p>
        </p:txBody>
      </p:sp>
      <p:sp>
        <p:nvSpPr>
          <p:cNvPr id="3" name="2 Rectángulo"/>
          <p:cNvSpPr/>
          <p:nvPr/>
        </p:nvSpPr>
        <p:spPr>
          <a:xfrm>
            <a:off x="1928794" y="642918"/>
            <a:ext cx="4982774" cy="1446550"/>
          </a:xfrm>
          <a:prstGeom prst="rect">
            <a:avLst/>
          </a:prstGeom>
          <a:noFill/>
        </p:spPr>
        <p:txBody>
          <a:bodyPr wrap="none" lIns="91440" tIns="45720" rIns="91440" bIns="45720">
            <a:spAutoFit/>
          </a:bodyPr>
          <a:lstStyle/>
          <a:p>
            <a:pPr algn="ctr"/>
            <a:r>
              <a:rPr lang="es-ES" sz="4400" b="1" cap="none" spc="0" dirty="0" smtClean="0">
                <a:ln w="17780" cmpd="sng">
                  <a:solidFill>
                    <a:schemeClr val="tx1"/>
                  </a:solidFill>
                  <a:prstDash val="solid"/>
                  <a:miter lim="800000"/>
                </a:ln>
                <a:effectLst>
                  <a:outerShdw blurRad="50800" algn="tl" rotWithShape="0">
                    <a:srgbClr val="000000"/>
                  </a:outerShdw>
                </a:effectLst>
              </a:rPr>
              <a:t>LOS SINDICATOS </a:t>
            </a:r>
          </a:p>
          <a:p>
            <a:pPr algn="ctr"/>
            <a:r>
              <a:rPr lang="es-ES" sz="4400" b="1" cap="none" spc="0" dirty="0" smtClean="0">
                <a:ln w="17780" cmpd="sng">
                  <a:solidFill>
                    <a:schemeClr val="tx1"/>
                  </a:solidFill>
                  <a:prstDash val="solid"/>
                  <a:miter lim="800000"/>
                </a:ln>
                <a:effectLst>
                  <a:outerShdw blurRad="50800" algn="tl" rotWithShape="0">
                    <a:srgbClr val="000000"/>
                  </a:outerShdw>
                </a:effectLst>
              </a:rPr>
              <a:t>LABORALES</a:t>
            </a:r>
            <a:endParaRPr lang="es-ES" sz="4400" b="1" cap="none" spc="0" dirty="0">
              <a:ln w="17780" cmpd="sng">
                <a:solidFill>
                  <a:schemeClr val="tx1"/>
                </a:solidFill>
                <a:prstDash val="solid"/>
                <a:miter lim="800000"/>
              </a:ln>
              <a:effectLst>
                <a:outerShdw blurRad="50800" algn="tl" rotWithShape="0">
                  <a:srgbClr val="000000"/>
                </a:outerShdw>
              </a:effectLst>
            </a:endParaRPr>
          </a:p>
        </p:txBody>
      </p:sp>
      <p:pic>
        <p:nvPicPr>
          <p:cNvPr id="21506" name="Picture 2" descr="H:\Documents and Settings\usuario\Configuración local\Archivos temporales de Internet\Content.IE5\MRI3UXI7\MCj00787620000[1].wmf"/>
          <p:cNvPicPr>
            <a:picLocks noChangeAspect="1" noChangeArrowheads="1"/>
          </p:cNvPicPr>
          <p:nvPr/>
        </p:nvPicPr>
        <p:blipFill>
          <a:blip r:embed="rId2" cstate="print"/>
          <a:srcRect/>
          <a:stretch>
            <a:fillRect/>
          </a:stretch>
        </p:blipFill>
        <p:spPr bwMode="auto">
          <a:xfrm>
            <a:off x="4429124" y="5715016"/>
            <a:ext cx="761996" cy="879889"/>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305800" cy="5225242"/>
          </a:xfrm>
        </p:spPr>
        <p:txBody>
          <a:bodyPr>
            <a:normAutofit/>
          </a:bodyPr>
          <a:lstStyle/>
          <a:p>
            <a:pPr algn="just"/>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800" dirty="0" smtClean="0">
                <a:solidFill>
                  <a:schemeClr val="tx1"/>
                </a:solidFill>
                <a:latin typeface="Arial Unicode MS" pitchFamily="34" charset="-128"/>
                <a:ea typeface="Arial Unicode MS" pitchFamily="34" charset="-128"/>
                <a:cs typeface="Arial Unicode MS" pitchFamily="34" charset="-128"/>
              </a:rPr>
              <a:t>No es aplicable al Japón en la actualidad, hace 50 años los ingenieros eran escasos y la mayoría de trabajadores habían terminado apenas sus estudios primarios o bien eran analfabetos.</a:t>
            </a:r>
            <a:br>
              <a:rPr lang="es-ES" sz="2800" dirty="0" smtClean="0">
                <a:solidFill>
                  <a:schemeClr val="tx1"/>
                </a:solidFill>
                <a:latin typeface="Arial Unicode MS" pitchFamily="34" charset="-128"/>
                <a:ea typeface="Arial Unicode MS" pitchFamily="34" charset="-128"/>
                <a:cs typeface="Arial Unicode MS" pitchFamily="34" charset="-128"/>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endParaRPr lang="es-ES" sz="2000" dirty="0">
              <a:latin typeface="Arial" pitchFamily="34" charset="0"/>
              <a:cs typeface="Arial" pitchFamily="34" charset="0"/>
            </a:endParaRPr>
          </a:p>
        </p:txBody>
      </p:sp>
      <p:sp>
        <p:nvSpPr>
          <p:cNvPr id="3" name="2 Rectángulo"/>
          <p:cNvSpPr/>
          <p:nvPr/>
        </p:nvSpPr>
        <p:spPr>
          <a:xfrm>
            <a:off x="571472" y="500042"/>
            <a:ext cx="8299067" cy="1754326"/>
          </a:xfrm>
          <a:prstGeom prst="rect">
            <a:avLst/>
          </a:prstGeom>
          <a:noFill/>
        </p:spPr>
        <p:txBody>
          <a:bodyPr wrap="none" lIns="91440" tIns="45720" rIns="91440" bIns="45720">
            <a:spAutoFit/>
          </a:bodyPr>
          <a:lstStyle/>
          <a:p>
            <a:pPr algn="ctr"/>
            <a:r>
              <a:rPr lang="es-ES" sz="5400" b="1" cap="none" spc="0" dirty="0" smtClean="0">
                <a:ln w="17780" cmpd="sng">
                  <a:solidFill>
                    <a:schemeClr val="tx1"/>
                  </a:solidFill>
                  <a:prstDash val="solid"/>
                  <a:miter lim="800000"/>
                </a:ln>
                <a:effectLst>
                  <a:outerShdw blurRad="50800" algn="tl" rotWithShape="0">
                    <a:srgbClr val="000000"/>
                  </a:outerShdw>
                </a:effectLst>
              </a:rPr>
              <a:t>EL METODO DE TAYLOR</a:t>
            </a:r>
          </a:p>
          <a:p>
            <a:pPr algn="ctr"/>
            <a:r>
              <a:rPr lang="es-ES" sz="5400" b="1" dirty="0" smtClean="0">
                <a:ln w="17780" cmpd="sng">
                  <a:solidFill>
                    <a:schemeClr val="tx1"/>
                  </a:solidFill>
                  <a:prstDash val="solid"/>
                  <a:miter lim="800000"/>
                </a:ln>
                <a:effectLst>
                  <a:outerShdw blurRad="50800" algn="tl" rotWithShape="0">
                    <a:srgbClr val="000000"/>
                  </a:outerShdw>
                </a:effectLst>
              </a:rPr>
              <a:t>Y EL AUSENTISMO</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pic>
        <p:nvPicPr>
          <p:cNvPr id="22531" name="Picture 3" descr="H:\Documents and Settings\usuario\Configuración local\Archivos temporales de Internet\Content.IE5\WXGDMN41\MCj03971940000[1].wmf"/>
          <p:cNvPicPr>
            <a:picLocks noChangeAspect="1" noChangeArrowheads="1"/>
          </p:cNvPicPr>
          <p:nvPr/>
        </p:nvPicPr>
        <p:blipFill>
          <a:blip r:embed="rId2" cstate="print"/>
          <a:srcRect/>
          <a:stretch>
            <a:fillRect/>
          </a:stretch>
        </p:blipFill>
        <p:spPr bwMode="auto">
          <a:xfrm>
            <a:off x="3733614" y="4845200"/>
            <a:ext cx="1481328" cy="1869948"/>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89882"/>
            <a:ext cx="8305800" cy="5368118"/>
          </a:xfrm>
        </p:spPr>
        <p:txBody>
          <a:bodyPr>
            <a:normAutofit/>
          </a:bodyPr>
          <a:lstStyle/>
          <a:p>
            <a:pPr algn="just"/>
            <a:r>
              <a:rPr lang="es-ES" sz="3200" dirty="0" smtClean="0">
                <a:solidFill>
                  <a:schemeClr val="tx1"/>
                </a:solidFill>
                <a:latin typeface="Arial Unicode MS" pitchFamily="34" charset="-128"/>
                <a:ea typeface="Arial Unicode MS" pitchFamily="34" charset="-128"/>
                <a:cs typeface="Arial Unicode MS" pitchFamily="34" charset="-128"/>
              </a:rPr>
              <a:t>En tales circunstancias, el método Taylor probablemente sería eficaz. En el mundo de hoy, con trabajadores educados y conscientes, no se puede imponer este método. Si a las personas se les trata como maquinas, el trabajo pierde todo interés y deja de ser una fuente de satisfacción</a:t>
            </a:r>
            <a:r>
              <a:rPr lang="es-ES" sz="3200" dirty="0" smtClean="0">
                <a:latin typeface="Arial Unicode MS" pitchFamily="34" charset="-128"/>
                <a:ea typeface="Arial Unicode MS" pitchFamily="34" charset="-128"/>
                <a:cs typeface="Arial Unicode MS" pitchFamily="34" charset="-128"/>
              </a:rPr>
              <a:t>.</a:t>
            </a:r>
            <a:br>
              <a:rPr lang="es-ES" sz="3200" dirty="0" smtClean="0">
                <a:latin typeface="Arial Unicode MS" pitchFamily="34" charset="-128"/>
                <a:ea typeface="Arial Unicode MS" pitchFamily="34" charset="-128"/>
                <a:cs typeface="Arial Unicode MS" pitchFamily="34" charset="-128"/>
              </a:rPr>
            </a:br>
            <a:r>
              <a:rPr lang="es-ES" sz="3200" dirty="0" smtClean="0">
                <a:latin typeface="Arial Unicode MS" pitchFamily="34" charset="-128"/>
                <a:ea typeface="Arial Unicode MS" pitchFamily="34" charset="-128"/>
                <a:cs typeface="Arial Unicode MS" pitchFamily="34" charset="-128"/>
              </a:rPr>
              <a:t/>
            </a:r>
            <a:br>
              <a:rPr lang="es-ES" sz="3200" dirty="0" smtClean="0">
                <a:latin typeface="Arial Unicode MS" pitchFamily="34" charset="-128"/>
                <a:ea typeface="Arial Unicode MS" pitchFamily="34" charset="-128"/>
                <a:cs typeface="Arial Unicode MS" pitchFamily="34" charset="-128"/>
              </a:rPr>
            </a:br>
            <a:endParaRPr lang="es-ES" sz="3200" dirty="0">
              <a:latin typeface="Arial Unicode MS" pitchFamily="34" charset="-128"/>
              <a:ea typeface="Arial Unicode MS" pitchFamily="34" charset="-128"/>
              <a:cs typeface="Arial Unicode MS" pitchFamily="34" charset="-128"/>
            </a:endParaRPr>
          </a:p>
        </p:txBody>
      </p:sp>
      <p:sp>
        <p:nvSpPr>
          <p:cNvPr id="3" name="2 Rectángulo"/>
          <p:cNvSpPr/>
          <p:nvPr/>
        </p:nvSpPr>
        <p:spPr>
          <a:xfrm>
            <a:off x="1000100" y="714356"/>
            <a:ext cx="6800515" cy="1446550"/>
          </a:xfrm>
          <a:prstGeom prst="rect">
            <a:avLst/>
          </a:prstGeom>
          <a:noFill/>
        </p:spPr>
        <p:txBody>
          <a:bodyPr wrap="none" lIns="91440" tIns="45720" rIns="91440" bIns="45720">
            <a:spAutoFit/>
          </a:bodyPr>
          <a:lstStyle/>
          <a:p>
            <a:pPr algn="ctr"/>
            <a:r>
              <a:rPr lang="es-ES" sz="4400" b="1" cap="none" spc="0" dirty="0" smtClean="0">
                <a:ln w="17780" cmpd="sng">
                  <a:solidFill>
                    <a:schemeClr val="tx1"/>
                  </a:solidFill>
                  <a:prstDash val="solid"/>
                  <a:miter lim="800000"/>
                </a:ln>
                <a:effectLst>
                  <a:outerShdw blurRad="50800" algn="tl" rotWithShape="0">
                    <a:srgbClr val="000000"/>
                  </a:outerShdw>
                </a:effectLst>
              </a:rPr>
              <a:t>EL METODO DE TAYLOR</a:t>
            </a:r>
          </a:p>
          <a:p>
            <a:pPr algn="ctr"/>
            <a:r>
              <a:rPr lang="es-ES" sz="4400" b="1" dirty="0" smtClean="0">
                <a:ln w="17780" cmpd="sng">
                  <a:solidFill>
                    <a:schemeClr val="tx1"/>
                  </a:solidFill>
                  <a:prstDash val="solid"/>
                  <a:miter lim="800000"/>
                </a:ln>
                <a:effectLst>
                  <a:outerShdw blurRad="50800" algn="tl" rotWithShape="0">
                    <a:srgbClr val="000000"/>
                  </a:outerShdw>
                </a:effectLst>
              </a:rPr>
              <a:t>Y EL AUSENTISMO</a:t>
            </a:r>
            <a:endParaRPr lang="es-ES" sz="4400" b="1" cap="none" spc="0" dirty="0">
              <a:ln w="17780" cmpd="sng">
                <a:solidFill>
                  <a:schemeClr val="tx1"/>
                </a:solidFill>
                <a:prstDash val="solid"/>
                <a:miter lim="800000"/>
              </a:ln>
              <a:effectLst>
                <a:outerShdw blurRad="50800" algn="tl" rotWithShape="0">
                  <a:srgbClr val="000000"/>
                </a:outerShdw>
              </a:effectLs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142984"/>
            <a:ext cx="8305800" cy="5082366"/>
          </a:xfrm>
        </p:spPr>
        <p:txBody>
          <a:bodyPr>
            <a:normAutofit/>
          </a:bodyPr>
          <a:lstStyle/>
          <a:p>
            <a:pPr algn="just"/>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800" dirty="0" smtClean="0">
                <a:solidFill>
                  <a:schemeClr val="tx1"/>
                </a:solidFill>
                <a:latin typeface="Arial Unicode MS" pitchFamily="34" charset="-128"/>
                <a:ea typeface="Arial Unicode MS" pitchFamily="34" charset="-128"/>
                <a:cs typeface="Arial Unicode MS" pitchFamily="34" charset="-128"/>
              </a:rPr>
              <a:t>En Europa, especialmente en Inglaterra y Francia, hay cierta diferencia de clase notoria en los graduados de determinadas universidades y que constituye casi una discriminación contra los menos afortunados. en Francia los jefes de sección y división constituyen una raza diferente de los supervisores.</a:t>
            </a:r>
            <a:br>
              <a:rPr lang="es-ES" sz="2800" dirty="0" smtClean="0">
                <a:solidFill>
                  <a:schemeClr val="tx1"/>
                </a:solidFill>
                <a:latin typeface="Arial Unicode MS" pitchFamily="34" charset="-128"/>
                <a:ea typeface="Arial Unicode MS" pitchFamily="34" charset="-128"/>
                <a:cs typeface="Arial Unicode MS" pitchFamily="34" charset="-128"/>
              </a:rPr>
            </a:br>
            <a:r>
              <a:rPr lang="es-ES" sz="2800" dirty="0" smtClean="0">
                <a:solidFill>
                  <a:schemeClr val="tx1"/>
                </a:solidFill>
                <a:latin typeface="Arial Unicode MS" pitchFamily="34" charset="-128"/>
                <a:ea typeface="Arial Unicode MS" pitchFamily="34" charset="-128"/>
                <a:cs typeface="Arial Unicode MS" pitchFamily="34" charset="-128"/>
              </a:rPr>
              <a:t/>
            </a:r>
            <a:br>
              <a:rPr lang="es-ES" sz="2800" dirty="0" smtClean="0">
                <a:solidFill>
                  <a:schemeClr val="tx1"/>
                </a:solidFill>
                <a:latin typeface="Arial Unicode MS" pitchFamily="34" charset="-128"/>
                <a:ea typeface="Arial Unicode MS" pitchFamily="34" charset="-128"/>
                <a:cs typeface="Arial Unicode MS" pitchFamily="34" charset="-128"/>
              </a:rPr>
            </a:br>
            <a:r>
              <a:rPr lang="es-ES" sz="2000" dirty="0" smtClean="0"/>
              <a:t/>
            </a:r>
            <a:br>
              <a:rPr lang="es-ES" sz="2000" dirty="0" smtClean="0"/>
            </a:br>
            <a:endParaRPr lang="es-ES" sz="2000" dirty="0">
              <a:latin typeface="Arial" pitchFamily="34" charset="0"/>
              <a:cs typeface="Arial" pitchFamily="34" charset="0"/>
            </a:endParaRPr>
          </a:p>
        </p:txBody>
      </p:sp>
      <p:sp>
        <p:nvSpPr>
          <p:cNvPr id="3" name="2 Rectángulo"/>
          <p:cNvSpPr/>
          <p:nvPr/>
        </p:nvSpPr>
        <p:spPr>
          <a:xfrm>
            <a:off x="0" y="285728"/>
            <a:ext cx="8894358" cy="1754326"/>
          </a:xfrm>
          <a:prstGeom prst="rect">
            <a:avLst/>
          </a:prstGeom>
          <a:noFill/>
        </p:spPr>
        <p:txBody>
          <a:bodyPr wrap="square" lIns="91440" tIns="45720" rIns="91440" bIns="45720">
            <a:spAutoFit/>
          </a:bodyPr>
          <a:lstStyle/>
          <a:p>
            <a:pPr algn="ctr"/>
            <a:r>
              <a:rPr lang="es-ES" sz="5400" b="1" cap="none" spc="0" dirty="0" smtClean="0">
                <a:ln w="17780" cmpd="sng">
                  <a:solidFill>
                    <a:schemeClr val="tx1"/>
                  </a:solidFill>
                  <a:prstDash val="solid"/>
                  <a:miter lim="800000"/>
                </a:ln>
                <a:effectLst>
                  <a:outerShdw blurRad="50800" algn="tl" rotWithShape="0">
                    <a:srgbClr val="000000"/>
                  </a:outerShdw>
                </a:effectLst>
              </a:rPr>
              <a:t>ELITISMO Y DIFERENCIAS DE </a:t>
            </a:r>
            <a:r>
              <a:rPr lang="es-ES" sz="5400" b="1" dirty="0" smtClean="0">
                <a:ln w="17780" cmpd="sng">
                  <a:solidFill>
                    <a:schemeClr val="tx1"/>
                  </a:solidFill>
                  <a:prstDash val="solid"/>
                  <a:miter lim="800000"/>
                </a:ln>
                <a:effectLst>
                  <a:outerShdw blurRad="50800" algn="tl" rotWithShape="0">
                    <a:srgbClr val="000000"/>
                  </a:outerShdw>
                </a:effectLst>
              </a:rPr>
              <a:t>CLASES</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pic>
        <p:nvPicPr>
          <p:cNvPr id="23555" name="Picture 3" descr="H:\Documents and Settings\usuario\Configuración local\Archivos temporales de Internet\Content.IE5\KX0BWRO7\MCBD06553_0000[1].wmf"/>
          <p:cNvPicPr>
            <a:picLocks noChangeAspect="1" noChangeArrowheads="1"/>
          </p:cNvPicPr>
          <p:nvPr/>
        </p:nvPicPr>
        <p:blipFill>
          <a:blip r:embed="rId2" cstate="print"/>
          <a:srcRect/>
          <a:stretch>
            <a:fillRect/>
          </a:stretch>
        </p:blipFill>
        <p:spPr bwMode="auto">
          <a:xfrm>
            <a:off x="1000100" y="4857760"/>
            <a:ext cx="1775765" cy="1759306"/>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28596" y="1214422"/>
            <a:ext cx="8305800" cy="4939490"/>
          </a:xfrm>
        </p:spPr>
        <p:txBody>
          <a:bodyPr>
            <a:normAutofit fontScale="90000"/>
          </a:bodyPr>
          <a:lstStyle/>
          <a:p>
            <a:pPr algn="just"/>
            <a:r>
              <a:rPr lang="es-ES" sz="3600" dirty="0" smtClean="0">
                <a:solidFill>
                  <a:schemeClr val="tx1"/>
                </a:solidFill>
                <a:latin typeface="Arial Unicode MS" pitchFamily="34" charset="-128"/>
                <a:ea typeface="Arial Unicode MS" pitchFamily="34" charset="-128"/>
                <a:cs typeface="Arial Unicode MS" pitchFamily="34" charset="-128"/>
              </a:rPr>
              <a:t>En el Japón de la posguerra el numero de graduados ha aumentado tanto que el elitismo parece estar desapareciendo. Las únicas excepciones pueden ser los graduados de la facultad de derecho de la Universidad de Tokio. En términos generales, la tendencia es conveniente: el elitismo es algo parecido al método Taylor.</a:t>
            </a:r>
            <a:endParaRPr lang="es-ES" sz="3600" dirty="0">
              <a:solidFill>
                <a:schemeClr val="tx1"/>
              </a:solidFill>
              <a:latin typeface="Arial Unicode MS" pitchFamily="34" charset="-128"/>
              <a:ea typeface="Arial Unicode MS" pitchFamily="34" charset="-128"/>
              <a:cs typeface="Arial Unicode MS" pitchFamily="34" charset="-128"/>
            </a:endParaRPr>
          </a:p>
        </p:txBody>
      </p:sp>
      <p:sp>
        <p:nvSpPr>
          <p:cNvPr id="3" name="2 Rectángulo"/>
          <p:cNvSpPr/>
          <p:nvPr/>
        </p:nvSpPr>
        <p:spPr>
          <a:xfrm>
            <a:off x="285720" y="857232"/>
            <a:ext cx="8608638" cy="1077218"/>
          </a:xfrm>
          <a:prstGeom prst="rect">
            <a:avLst/>
          </a:prstGeom>
          <a:noFill/>
        </p:spPr>
        <p:txBody>
          <a:bodyPr wrap="square" lIns="91440" tIns="45720" rIns="91440" bIns="45720">
            <a:spAutoFit/>
          </a:bodyPr>
          <a:lstStyle/>
          <a:p>
            <a:pPr algn="ctr"/>
            <a:r>
              <a:rPr lang="es-ES" sz="3200" b="1" cap="none" spc="0" dirty="0" smtClean="0">
                <a:ln w="17780" cmpd="sng">
                  <a:solidFill>
                    <a:schemeClr val="tx1"/>
                  </a:solidFill>
                  <a:prstDash val="solid"/>
                  <a:miter lim="800000"/>
                </a:ln>
                <a:effectLst>
                  <a:outerShdw blurRad="50800" algn="tl" rotWithShape="0">
                    <a:srgbClr val="000000"/>
                  </a:outerShdw>
                </a:effectLst>
              </a:rPr>
              <a:t>ELITISMO Y DIFERENCIAS DE</a:t>
            </a:r>
          </a:p>
          <a:p>
            <a:pPr algn="ctr"/>
            <a:r>
              <a:rPr lang="es-ES" sz="3200" b="1" dirty="0" smtClean="0">
                <a:ln w="17780" cmpd="sng">
                  <a:solidFill>
                    <a:schemeClr val="tx1"/>
                  </a:solidFill>
                  <a:prstDash val="solid"/>
                  <a:miter lim="800000"/>
                </a:ln>
                <a:effectLst>
                  <a:outerShdw blurRad="50800" algn="tl" rotWithShape="0">
                    <a:srgbClr val="000000"/>
                  </a:outerShdw>
                </a:effectLst>
              </a:rPr>
              <a:t>CLASES</a:t>
            </a:r>
            <a:endParaRPr lang="es-ES" sz="3200" b="1" cap="none" spc="0" dirty="0">
              <a:ln w="17780" cmpd="sng">
                <a:solidFill>
                  <a:schemeClr val="tx1"/>
                </a:solidFill>
                <a:prstDash val="solid"/>
                <a:miter lim="800000"/>
              </a:ln>
              <a:effectLst>
                <a:outerShdw blurRad="50800" algn="tl" rotWithShape="0">
                  <a:srgbClr val="000000"/>
                </a:outerShdw>
              </a:effectLst>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305800" cy="5439556"/>
          </a:xfrm>
        </p:spPr>
        <p:txBody>
          <a:bodyPr>
            <a:normAutofit/>
          </a:bodyPr>
          <a:lstStyle/>
          <a:p>
            <a:pPr algn="just"/>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000" dirty="0" smtClean="0">
                <a:latin typeface="Arial" pitchFamily="34" charset="0"/>
                <a:cs typeface="Arial" pitchFamily="34" charset="0"/>
              </a:rPr>
              <a:t/>
            </a:r>
            <a:br>
              <a:rPr lang="es-ES" sz="2000" dirty="0" smtClean="0">
                <a:latin typeface="Arial" pitchFamily="34" charset="0"/>
                <a:cs typeface="Arial" pitchFamily="34" charset="0"/>
              </a:rPr>
            </a:br>
            <a:r>
              <a:rPr lang="es-ES" sz="2400" dirty="0" smtClean="0">
                <a:solidFill>
                  <a:sysClr val="windowText" lastClr="000000"/>
                </a:solidFill>
                <a:latin typeface="Arial Unicode MS" pitchFamily="34" charset="-128"/>
                <a:ea typeface="Arial Unicode MS" pitchFamily="34" charset="-128"/>
                <a:cs typeface="Arial Unicode MS" pitchFamily="34" charset="-128"/>
              </a:rPr>
              <a:t>En los Estados Unidos y Europa Occidental el sistema de pagos se basa en los meritos. Es un sistema que paga mas a quienes son mas eficientes, sin tener en cuenta la edad. Últimamente, el Japón ha estado introduciendo el elemento del merito en su sistema de pagos, pero la antigüedad y la jerarquía siguen predominando. Pienso que el régimen de pagos según los meritos se justifica con el argumento de que el dinero hace que la gente trabaje.</a:t>
            </a:r>
            <a:br>
              <a:rPr lang="es-ES" sz="2400" dirty="0" smtClean="0">
                <a:solidFill>
                  <a:sysClr val="windowText" lastClr="000000"/>
                </a:solidFill>
                <a:latin typeface="Arial Unicode MS" pitchFamily="34" charset="-128"/>
                <a:ea typeface="Arial Unicode MS" pitchFamily="34" charset="-128"/>
                <a:cs typeface="Arial Unicode MS" pitchFamily="34" charset="-128"/>
              </a:rPr>
            </a:br>
            <a:r>
              <a:rPr lang="es-ES" sz="2400" dirty="0" smtClean="0">
                <a:solidFill>
                  <a:sysClr val="windowText" lastClr="000000"/>
                </a:solidFill>
                <a:latin typeface="Arial Unicode MS" pitchFamily="34" charset="-128"/>
                <a:ea typeface="Arial Unicode MS" pitchFamily="34" charset="-128"/>
                <a:cs typeface="Arial Unicode MS" pitchFamily="34" charset="-128"/>
              </a:rPr>
              <a:t/>
            </a:r>
            <a:br>
              <a:rPr lang="es-ES" sz="2400" dirty="0" smtClean="0">
                <a:solidFill>
                  <a:sysClr val="windowText" lastClr="000000"/>
                </a:solidFill>
                <a:latin typeface="Arial Unicode MS" pitchFamily="34" charset="-128"/>
                <a:ea typeface="Arial Unicode MS" pitchFamily="34" charset="-128"/>
                <a:cs typeface="Arial Unicode MS" pitchFamily="34" charset="-128"/>
              </a:rPr>
            </a:br>
            <a:r>
              <a:rPr lang="es-ES" sz="2000" dirty="0" smtClean="0"/>
              <a:t/>
            </a:r>
            <a:br>
              <a:rPr lang="es-ES" sz="2000" dirty="0" smtClean="0"/>
            </a:br>
            <a:r>
              <a:rPr lang="es-ES" sz="2000" dirty="0" smtClean="0"/>
              <a:t/>
            </a:r>
            <a:br>
              <a:rPr lang="es-ES" sz="2000" dirty="0" smtClean="0"/>
            </a:br>
            <a:endParaRPr lang="es-ES" sz="2000" dirty="0">
              <a:latin typeface="Arial" pitchFamily="34" charset="0"/>
              <a:cs typeface="Arial" pitchFamily="34" charset="0"/>
            </a:endParaRPr>
          </a:p>
        </p:txBody>
      </p:sp>
      <p:sp>
        <p:nvSpPr>
          <p:cNvPr id="3" name="2 Rectángulo"/>
          <p:cNvSpPr/>
          <p:nvPr/>
        </p:nvSpPr>
        <p:spPr>
          <a:xfrm>
            <a:off x="857224" y="857232"/>
            <a:ext cx="7679795" cy="923330"/>
          </a:xfrm>
          <a:prstGeom prst="rect">
            <a:avLst/>
          </a:prstGeom>
          <a:noFill/>
        </p:spPr>
        <p:txBody>
          <a:bodyPr wrap="none" lIns="91440" tIns="45720" rIns="91440" bIns="45720">
            <a:spAutoFit/>
          </a:bodyPr>
          <a:lstStyle/>
          <a:p>
            <a:pPr algn="ctr"/>
            <a:r>
              <a:rPr lang="es-ES" sz="5400" b="1" cap="none" spc="0" dirty="0" smtClean="0">
                <a:ln w="17780" cmpd="sng">
                  <a:solidFill>
                    <a:schemeClr val="tx1"/>
                  </a:solidFill>
                  <a:prstDash val="solid"/>
                  <a:miter lim="800000"/>
                </a:ln>
                <a:effectLst>
                  <a:outerShdw blurRad="50800" algn="tl" rotWithShape="0">
                    <a:srgbClr val="000000"/>
                  </a:outerShdw>
                </a:effectLst>
              </a:rPr>
              <a:t>EL SISTEMA DE PAGOS</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pic>
        <p:nvPicPr>
          <p:cNvPr id="24578" name="Picture 2" descr="H:\Documents and Settings\usuario\Configuración local\Archivos temporales de Internet\Content.IE5\GZJJEWXX\MCj04403910000[1].png"/>
          <p:cNvPicPr>
            <a:picLocks noChangeAspect="1" noChangeArrowheads="1"/>
          </p:cNvPicPr>
          <p:nvPr/>
        </p:nvPicPr>
        <p:blipFill>
          <a:blip r:embed="rId2" cstate="print"/>
          <a:srcRect/>
          <a:stretch>
            <a:fillRect/>
          </a:stretch>
        </p:blipFill>
        <p:spPr bwMode="auto">
          <a:xfrm>
            <a:off x="3000364" y="4843458"/>
            <a:ext cx="2014542" cy="2014542"/>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23918" y="989840"/>
            <a:ext cx="8305800" cy="5939622"/>
          </a:xfrm>
        </p:spPr>
        <p:txBody>
          <a:bodyPr>
            <a:normAutofit/>
          </a:bodyPr>
          <a:lstStyle/>
          <a:p>
            <a:r>
              <a:rPr lang="es-ES" sz="2000" b="1" dirty="0" smtClean="0"/>
              <a:t/>
            </a:r>
            <a:br>
              <a:rPr lang="es-ES" sz="2000" b="1" dirty="0" smtClean="0"/>
            </a:br>
            <a:r>
              <a:rPr lang="es-ES" sz="2000" b="1" dirty="0" smtClean="0">
                <a:solidFill>
                  <a:schemeClr val="tx1"/>
                </a:solidFill>
                <a:latin typeface="Arial Unicode MS" pitchFamily="34" charset="-128"/>
                <a:ea typeface="Arial Unicode MS" pitchFamily="34" charset="-128"/>
                <a:cs typeface="Arial Unicode MS" pitchFamily="34" charset="-128"/>
              </a:rPr>
              <a:t/>
            </a:r>
            <a:br>
              <a:rPr lang="es-ES" sz="2000" b="1" dirty="0" smtClean="0">
                <a:solidFill>
                  <a:schemeClr val="tx1"/>
                </a:solidFill>
                <a:latin typeface="Arial Unicode MS" pitchFamily="34" charset="-128"/>
                <a:ea typeface="Arial Unicode MS" pitchFamily="34" charset="-128"/>
                <a:cs typeface="Arial Unicode MS" pitchFamily="34" charset="-128"/>
              </a:rPr>
            </a:br>
            <a:r>
              <a:rPr lang="es-ES" sz="2000" dirty="0" smtClean="0">
                <a:solidFill>
                  <a:schemeClr val="tx1"/>
                </a:solidFill>
                <a:latin typeface="Arial Unicode MS" pitchFamily="34" charset="-128"/>
                <a:ea typeface="Arial Unicode MS" pitchFamily="34" charset="-128"/>
                <a:cs typeface="Arial Unicode MS" pitchFamily="34" charset="-128"/>
              </a:rPr>
              <a:t>Al promover las actividades de Control de Calidad, nos dimos cuenta de las diferencias ya descritas entre el  Japón y los países occidentales.</a:t>
            </a:r>
            <a:br>
              <a:rPr lang="es-ES" sz="2000" dirty="0" smtClean="0">
                <a:solidFill>
                  <a:schemeClr val="tx1"/>
                </a:solidFill>
                <a:latin typeface="Arial Unicode MS" pitchFamily="34" charset="-128"/>
                <a:ea typeface="Arial Unicode MS" pitchFamily="34" charset="-128"/>
                <a:cs typeface="Arial Unicode MS" pitchFamily="34" charset="-128"/>
              </a:rPr>
            </a:br>
            <a:r>
              <a:rPr lang="es-ES" sz="2000" dirty="0" smtClean="0">
                <a:solidFill>
                  <a:schemeClr val="tx1"/>
                </a:solidFill>
                <a:latin typeface="Arial Unicode MS" pitchFamily="34" charset="-128"/>
                <a:ea typeface="Arial Unicode MS" pitchFamily="34" charset="-128"/>
                <a:cs typeface="Arial Unicode MS" pitchFamily="34" charset="-128"/>
              </a:rPr>
              <a:t> </a:t>
            </a:r>
            <a:br>
              <a:rPr lang="es-ES" sz="2000" dirty="0" smtClean="0">
                <a:solidFill>
                  <a:schemeClr val="tx1"/>
                </a:solidFill>
                <a:latin typeface="Arial Unicode MS" pitchFamily="34" charset="-128"/>
                <a:ea typeface="Arial Unicode MS" pitchFamily="34" charset="-128"/>
                <a:cs typeface="Arial Unicode MS" pitchFamily="34" charset="-128"/>
              </a:rPr>
            </a:br>
            <a:r>
              <a:rPr lang="es-ES" sz="2000" dirty="0" smtClean="0">
                <a:solidFill>
                  <a:schemeClr val="tx1"/>
                </a:solidFill>
                <a:latin typeface="Arial Unicode MS" pitchFamily="34" charset="-128"/>
                <a:ea typeface="Arial Unicode MS" pitchFamily="34" charset="-128"/>
                <a:cs typeface="Arial Unicode MS" pitchFamily="34" charset="-128"/>
              </a:rPr>
              <a:t>En diciembre de 1967 el séptimo Simposio sobre CC determinó seis características :</a:t>
            </a:r>
            <a:br>
              <a:rPr lang="es-ES" sz="2000" dirty="0" smtClean="0">
                <a:solidFill>
                  <a:schemeClr val="tx1"/>
                </a:solidFill>
                <a:latin typeface="Arial Unicode MS" pitchFamily="34" charset="-128"/>
                <a:ea typeface="Arial Unicode MS" pitchFamily="34" charset="-128"/>
                <a:cs typeface="Arial Unicode MS" pitchFamily="34" charset="-128"/>
              </a:rPr>
            </a:br>
            <a:r>
              <a:rPr lang="es-ES" sz="2000" dirty="0" smtClean="0">
                <a:solidFill>
                  <a:schemeClr val="tx1"/>
                </a:solidFill>
                <a:latin typeface="Arial Unicode MS" pitchFamily="34" charset="-128"/>
                <a:ea typeface="Arial Unicode MS" pitchFamily="34" charset="-128"/>
                <a:cs typeface="Arial Unicode MS" pitchFamily="34" charset="-128"/>
              </a:rPr>
              <a:t/>
            </a:r>
            <a:br>
              <a:rPr lang="es-ES" sz="2000" dirty="0" smtClean="0">
                <a:solidFill>
                  <a:schemeClr val="tx1"/>
                </a:solidFill>
                <a:latin typeface="Arial Unicode MS" pitchFamily="34" charset="-128"/>
                <a:ea typeface="Arial Unicode MS" pitchFamily="34" charset="-128"/>
                <a:cs typeface="Arial Unicode MS" pitchFamily="34" charset="-128"/>
              </a:rPr>
            </a:br>
            <a:r>
              <a:rPr lang="es-ES" sz="2000" dirty="0" smtClean="0">
                <a:solidFill>
                  <a:schemeClr val="tx1"/>
                </a:solidFill>
                <a:latin typeface="Arial Unicode MS" pitchFamily="34" charset="-128"/>
                <a:ea typeface="Arial Unicode MS" pitchFamily="34" charset="-128"/>
                <a:cs typeface="Arial Unicode MS" pitchFamily="34" charset="-128"/>
              </a:rPr>
              <a:t>1. Control de calidad en toda empresa: participación de todos los miembros de la organización.</a:t>
            </a:r>
            <a:br>
              <a:rPr lang="es-ES" sz="2000" dirty="0" smtClean="0">
                <a:solidFill>
                  <a:schemeClr val="tx1"/>
                </a:solidFill>
                <a:latin typeface="Arial Unicode MS" pitchFamily="34" charset="-128"/>
                <a:ea typeface="Arial Unicode MS" pitchFamily="34" charset="-128"/>
                <a:cs typeface="Arial Unicode MS" pitchFamily="34" charset="-128"/>
              </a:rPr>
            </a:br>
            <a:r>
              <a:rPr lang="es-ES" sz="2000" b="1" dirty="0" smtClean="0">
                <a:solidFill>
                  <a:schemeClr val="tx1"/>
                </a:solidFill>
                <a:latin typeface="Arial Unicode MS" pitchFamily="34" charset="-128"/>
                <a:ea typeface="Arial Unicode MS" pitchFamily="34" charset="-128"/>
                <a:cs typeface="Arial Unicode MS" pitchFamily="34" charset="-128"/>
              </a:rPr>
              <a:t>2. Educación y capacitación en Control de Calidad.</a:t>
            </a:r>
            <a:r>
              <a:rPr lang="es-ES" sz="2000" dirty="0" smtClean="0">
                <a:solidFill>
                  <a:schemeClr val="tx1"/>
                </a:solidFill>
                <a:latin typeface="Arial Unicode MS" pitchFamily="34" charset="-128"/>
                <a:ea typeface="Arial Unicode MS" pitchFamily="34" charset="-128"/>
                <a:cs typeface="Arial Unicode MS" pitchFamily="34" charset="-128"/>
              </a:rPr>
              <a:t/>
            </a:r>
            <a:br>
              <a:rPr lang="es-ES" sz="2000" dirty="0" smtClean="0">
                <a:solidFill>
                  <a:schemeClr val="tx1"/>
                </a:solidFill>
                <a:latin typeface="Arial Unicode MS" pitchFamily="34" charset="-128"/>
                <a:ea typeface="Arial Unicode MS" pitchFamily="34" charset="-128"/>
                <a:cs typeface="Arial Unicode MS" pitchFamily="34" charset="-128"/>
              </a:rPr>
            </a:br>
            <a:r>
              <a:rPr lang="es-ES" sz="2000" dirty="0" smtClean="0">
                <a:solidFill>
                  <a:schemeClr val="tx1"/>
                </a:solidFill>
                <a:latin typeface="Arial Unicode MS" pitchFamily="34" charset="-128"/>
                <a:ea typeface="Arial Unicode MS" pitchFamily="34" charset="-128"/>
                <a:cs typeface="Arial Unicode MS" pitchFamily="34" charset="-128"/>
              </a:rPr>
              <a:t>3. Actividades en los círculos de Control de Calidad.</a:t>
            </a:r>
            <a:br>
              <a:rPr lang="es-ES" sz="2000" dirty="0" smtClean="0">
                <a:solidFill>
                  <a:schemeClr val="tx1"/>
                </a:solidFill>
                <a:latin typeface="Arial Unicode MS" pitchFamily="34" charset="-128"/>
                <a:ea typeface="Arial Unicode MS" pitchFamily="34" charset="-128"/>
                <a:cs typeface="Arial Unicode MS" pitchFamily="34" charset="-128"/>
              </a:rPr>
            </a:br>
            <a:r>
              <a:rPr lang="es-ES" sz="2000" dirty="0" smtClean="0">
                <a:solidFill>
                  <a:schemeClr val="tx1"/>
                </a:solidFill>
                <a:latin typeface="Arial Unicode MS" pitchFamily="34" charset="-128"/>
                <a:ea typeface="Arial Unicode MS" pitchFamily="34" charset="-128"/>
                <a:cs typeface="Arial Unicode MS" pitchFamily="34" charset="-128"/>
              </a:rPr>
              <a:t>4. Auditoria de Control de Calidad.</a:t>
            </a:r>
            <a:br>
              <a:rPr lang="es-ES" sz="2000" dirty="0" smtClean="0">
                <a:solidFill>
                  <a:schemeClr val="tx1"/>
                </a:solidFill>
                <a:latin typeface="Arial Unicode MS" pitchFamily="34" charset="-128"/>
                <a:ea typeface="Arial Unicode MS" pitchFamily="34" charset="-128"/>
                <a:cs typeface="Arial Unicode MS" pitchFamily="34" charset="-128"/>
              </a:rPr>
            </a:br>
            <a:r>
              <a:rPr lang="es-ES" sz="2000" dirty="0" smtClean="0">
                <a:solidFill>
                  <a:schemeClr val="tx1"/>
                </a:solidFill>
                <a:latin typeface="Arial Unicode MS" pitchFamily="34" charset="-128"/>
                <a:ea typeface="Arial Unicode MS" pitchFamily="34" charset="-128"/>
                <a:cs typeface="Arial Unicode MS" pitchFamily="34" charset="-128"/>
              </a:rPr>
              <a:t>5. Utilización de métodos estadísticos.</a:t>
            </a:r>
            <a:br>
              <a:rPr lang="es-ES" sz="2000" dirty="0" smtClean="0">
                <a:solidFill>
                  <a:schemeClr val="tx1"/>
                </a:solidFill>
                <a:latin typeface="Arial Unicode MS" pitchFamily="34" charset="-128"/>
                <a:ea typeface="Arial Unicode MS" pitchFamily="34" charset="-128"/>
                <a:cs typeface="Arial Unicode MS" pitchFamily="34" charset="-128"/>
              </a:rPr>
            </a:br>
            <a:r>
              <a:rPr lang="es-ES" sz="2000" dirty="0" smtClean="0">
                <a:solidFill>
                  <a:schemeClr val="tx1"/>
                </a:solidFill>
                <a:latin typeface="Arial Unicode MS" pitchFamily="34" charset="-128"/>
                <a:ea typeface="Arial Unicode MS" pitchFamily="34" charset="-128"/>
                <a:cs typeface="Arial Unicode MS" pitchFamily="34" charset="-128"/>
              </a:rPr>
              <a:t/>
            </a:r>
            <a:br>
              <a:rPr lang="es-ES" sz="2000" dirty="0" smtClean="0">
                <a:solidFill>
                  <a:schemeClr val="tx1"/>
                </a:solidFill>
                <a:latin typeface="Arial Unicode MS" pitchFamily="34" charset="-128"/>
                <a:ea typeface="Arial Unicode MS" pitchFamily="34" charset="-128"/>
                <a:cs typeface="Arial Unicode MS" pitchFamily="34" charset="-128"/>
              </a:rPr>
            </a:br>
            <a:r>
              <a:rPr lang="es-ES" sz="2000" dirty="0" smtClean="0">
                <a:solidFill>
                  <a:schemeClr val="tx1"/>
                </a:solidFill>
                <a:latin typeface="Arial Unicode MS" pitchFamily="34" charset="-128"/>
                <a:ea typeface="Arial Unicode MS" pitchFamily="34" charset="-128"/>
                <a:cs typeface="Arial Unicode MS" pitchFamily="34" charset="-128"/>
              </a:rPr>
              <a:t>6. Actividades de promoción del Control de Calidad a escala nacional.</a:t>
            </a:r>
            <a:br>
              <a:rPr lang="es-ES" sz="2000" dirty="0" smtClean="0">
                <a:solidFill>
                  <a:schemeClr val="tx1"/>
                </a:solidFill>
                <a:latin typeface="Arial Unicode MS" pitchFamily="34" charset="-128"/>
                <a:ea typeface="Arial Unicode MS" pitchFamily="34" charset="-128"/>
                <a:cs typeface="Arial Unicode MS" pitchFamily="34" charset="-128"/>
              </a:rPr>
            </a:br>
            <a:r>
              <a:rPr lang="es-ES" sz="2000" dirty="0" smtClean="0"/>
              <a:t/>
            </a:r>
            <a:br>
              <a:rPr lang="es-ES" sz="2000" dirty="0" smtClean="0"/>
            </a:br>
            <a:endParaRPr lang="es-ES" sz="2000" dirty="0">
              <a:latin typeface="Arial" pitchFamily="34" charset="0"/>
              <a:cs typeface="Arial" pitchFamily="34" charset="0"/>
            </a:endParaRPr>
          </a:p>
        </p:txBody>
      </p:sp>
      <p:sp>
        <p:nvSpPr>
          <p:cNvPr id="3" name="2 Rectángulo"/>
          <p:cNvSpPr/>
          <p:nvPr/>
        </p:nvSpPr>
        <p:spPr>
          <a:xfrm>
            <a:off x="357158" y="642918"/>
            <a:ext cx="8595173" cy="1323439"/>
          </a:xfrm>
          <a:prstGeom prst="rect">
            <a:avLst/>
          </a:prstGeom>
          <a:noFill/>
        </p:spPr>
        <p:txBody>
          <a:bodyPr wrap="none" lIns="91440" tIns="45720" rIns="91440" bIns="45720">
            <a:spAutoFit/>
          </a:bodyPr>
          <a:lstStyle/>
          <a:p>
            <a:pPr algn="ctr"/>
            <a:r>
              <a:rPr lang="es-ES" sz="4000" b="1" cap="none" spc="0" dirty="0" smtClean="0">
                <a:ln w="17780" cmpd="sng">
                  <a:solidFill>
                    <a:schemeClr val="tx1"/>
                  </a:solidFill>
                  <a:prstDash val="solid"/>
                  <a:miter lim="800000"/>
                </a:ln>
                <a:effectLst>
                  <a:outerShdw blurRad="50800" algn="tl" rotWithShape="0">
                    <a:srgbClr val="000000"/>
                  </a:outerShdw>
                </a:effectLst>
              </a:rPr>
              <a:t>CARACTERÍSTICAS DEL CONTROL</a:t>
            </a:r>
          </a:p>
          <a:p>
            <a:pPr algn="ctr"/>
            <a:r>
              <a:rPr lang="es-ES" sz="4000" b="1" cap="none" spc="0" dirty="0" smtClean="0">
                <a:ln w="17780" cmpd="sng">
                  <a:solidFill>
                    <a:schemeClr val="tx1"/>
                  </a:solidFill>
                  <a:prstDash val="solid"/>
                  <a:miter lim="800000"/>
                </a:ln>
                <a:effectLst>
                  <a:outerShdw blurRad="50800" algn="tl" rotWithShape="0">
                    <a:srgbClr val="000000"/>
                  </a:outerShdw>
                </a:effectLst>
              </a:rPr>
              <a:t> DE CALIDA JAPONES</a:t>
            </a:r>
            <a:endParaRPr lang="es-ES" sz="4000" b="1" cap="none" spc="0" dirty="0">
              <a:ln w="17780" cmpd="sng">
                <a:solidFill>
                  <a:schemeClr val="tx1"/>
                </a:solidFill>
                <a:prstDash val="solid"/>
                <a:miter lim="800000"/>
              </a:ln>
              <a:effectLst>
                <a:outerShdw blurRad="50800" algn="tl" rotWithShape="0">
                  <a:srgbClr val="000000"/>
                </a:outerShdw>
              </a:effectLst>
            </a:endParaRPr>
          </a:p>
        </p:txBody>
      </p:sp>
      <p:pic>
        <p:nvPicPr>
          <p:cNvPr id="25603" name="Picture 3" descr="H:\Documents and Settings\usuario\Configuración local\Archivos temporales de Internet\Content.IE5\WXGDMN41\MCBD05078_0000[1].wmf"/>
          <p:cNvPicPr>
            <a:picLocks noChangeAspect="1" noChangeArrowheads="1"/>
          </p:cNvPicPr>
          <p:nvPr/>
        </p:nvPicPr>
        <p:blipFill>
          <a:blip r:embed="rId2" cstate="print"/>
          <a:srcRect/>
          <a:stretch>
            <a:fillRect/>
          </a:stretch>
        </p:blipFill>
        <p:spPr bwMode="auto">
          <a:xfrm>
            <a:off x="7072330" y="4357694"/>
            <a:ext cx="1686540" cy="1575508"/>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00034" y="2071678"/>
            <a:ext cx="8229600" cy="4389120"/>
          </a:xfrm>
        </p:spPr>
        <p:txBody>
          <a:bodyPr>
            <a:normAutofit fontScale="92500" lnSpcReduction="20000"/>
          </a:bodyPr>
          <a:lstStyle/>
          <a:p>
            <a:pPr algn="just">
              <a:buNone/>
            </a:pPr>
            <a:r>
              <a:rPr lang="es-ES" dirty="0" smtClean="0"/>
              <a:t>	</a:t>
            </a:r>
            <a:r>
              <a:rPr lang="es-ES" dirty="0" smtClean="0">
                <a:latin typeface="Arial Unicode MS" pitchFamily="34" charset="-128"/>
                <a:ea typeface="Arial Unicode MS" pitchFamily="34" charset="-128"/>
                <a:cs typeface="Arial Unicode MS" pitchFamily="34" charset="-128"/>
              </a:rPr>
              <a:t>“</a:t>
            </a:r>
            <a:r>
              <a:rPr lang="es-ES" sz="2800" dirty="0" smtClean="0">
                <a:latin typeface="Arial Unicode MS" pitchFamily="34" charset="-128"/>
                <a:ea typeface="Arial Unicode MS" pitchFamily="34" charset="-128"/>
                <a:cs typeface="Arial Unicode MS" pitchFamily="34" charset="-128"/>
              </a:rPr>
              <a:t>El control de calidad empieza con educarnos y termina con educación”</a:t>
            </a:r>
          </a:p>
          <a:p>
            <a:pPr>
              <a:buNone/>
            </a:pPr>
            <a:r>
              <a:rPr lang="es-ES" sz="2800" dirty="0" smtClean="0">
                <a:latin typeface="Arial Unicode MS" pitchFamily="34" charset="-128"/>
                <a:ea typeface="Arial Unicode MS" pitchFamily="34" charset="-128"/>
                <a:cs typeface="Arial Unicode MS" pitchFamily="34" charset="-128"/>
              </a:rPr>
              <a:t/>
            </a:r>
            <a:br>
              <a:rPr lang="es-ES" sz="2800" dirty="0" smtClean="0">
                <a:latin typeface="Arial Unicode MS" pitchFamily="34" charset="-128"/>
                <a:ea typeface="Arial Unicode MS" pitchFamily="34" charset="-128"/>
                <a:cs typeface="Arial Unicode MS" pitchFamily="34" charset="-128"/>
              </a:rPr>
            </a:br>
            <a:r>
              <a:rPr lang="es-ES" sz="2800" dirty="0" smtClean="0">
                <a:latin typeface="Arial Unicode MS" pitchFamily="34" charset="-128"/>
                <a:ea typeface="Arial Unicode MS" pitchFamily="34" charset="-128"/>
                <a:cs typeface="Arial Unicode MS" pitchFamily="34" charset="-128"/>
              </a:rPr>
              <a:t>para promover el control de calidad con participación de todos, hay quedar educación en control de calidad a todos los empleados desde el presidente hasta los obreros en línea. </a:t>
            </a:r>
            <a:br>
              <a:rPr lang="es-ES" sz="2800" dirty="0" smtClean="0">
                <a:latin typeface="Arial Unicode MS" pitchFamily="34" charset="-128"/>
                <a:ea typeface="Arial Unicode MS" pitchFamily="34" charset="-128"/>
                <a:cs typeface="Arial Unicode MS" pitchFamily="34" charset="-128"/>
              </a:rPr>
            </a:br>
            <a:r>
              <a:rPr lang="es-ES" sz="2800" dirty="0" smtClean="0">
                <a:latin typeface="Arial Unicode MS" pitchFamily="34" charset="-128"/>
                <a:ea typeface="Arial Unicode MS" pitchFamily="34" charset="-128"/>
                <a:cs typeface="Arial Unicode MS" pitchFamily="34" charset="-128"/>
              </a:rPr>
              <a:t/>
            </a:r>
            <a:br>
              <a:rPr lang="es-ES" sz="2800" dirty="0" smtClean="0">
                <a:latin typeface="Arial Unicode MS" pitchFamily="34" charset="-128"/>
                <a:ea typeface="Arial Unicode MS" pitchFamily="34" charset="-128"/>
                <a:cs typeface="Arial Unicode MS" pitchFamily="34" charset="-128"/>
              </a:rPr>
            </a:br>
            <a:r>
              <a:rPr lang="es-ES" sz="2800" dirty="0" smtClean="0">
                <a:latin typeface="Arial Unicode MS" pitchFamily="34" charset="-128"/>
                <a:ea typeface="Arial Unicode MS" pitchFamily="34" charset="-128"/>
                <a:cs typeface="Arial Unicode MS" pitchFamily="34" charset="-128"/>
              </a:rPr>
              <a:t>Ningún país ha promovido la educación en control de calidad con tanta diligencia como el Japón. En el Japón ustedes tienen el sistema de empleo vitalicio, es decir, de por vida.</a:t>
            </a:r>
            <a:endParaRPr lang="es-ES" dirty="0"/>
          </a:p>
        </p:txBody>
      </p:sp>
      <p:sp>
        <p:nvSpPr>
          <p:cNvPr id="4" name="3 Rectángulo"/>
          <p:cNvSpPr/>
          <p:nvPr/>
        </p:nvSpPr>
        <p:spPr>
          <a:xfrm>
            <a:off x="142844" y="357166"/>
            <a:ext cx="8675404" cy="1323439"/>
          </a:xfrm>
          <a:prstGeom prst="rect">
            <a:avLst/>
          </a:prstGeom>
          <a:noFill/>
        </p:spPr>
        <p:txBody>
          <a:bodyPr wrap="square" lIns="91440" tIns="45720" rIns="91440" bIns="45720">
            <a:spAutoFit/>
          </a:bodyPr>
          <a:lstStyle/>
          <a:p>
            <a:pPr marL="914400" indent="-914400" algn="ctr">
              <a:buAutoNum type="arabicPeriod"/>
            </a:pPr>
            <a:r>
              <a:rPr lang="es-ES" sz="4000" b="1" cap="none" spc="0" dirty="0" smtClean="0">
                <a:ln w="17780" cmpd="sng">
                  <a:solidFill>
                    <a:schemeClr val="tx1"/>
                  </a:solidFill>
                  <a:prstDash val="solid"/>
                  <a:miter lim="800000"/>
                </a:ln>
                <a:effectLst>
                  <a:outerShdw blurRad="50800" algn="tl" rotWithShape="0">
                    <a:srgbClr val="000000"/>
                  </a:outerShdw>
                </a:effectLst>
                <a:latin typeface="Arial" pitchFamily="34" charset="0"/>
                <a:cs typeface="Arial" pitchFamily="34" charset="0"/>
              </a:rPr>
              <a:t>EDUCACION Y CAPACITACION </a:t>
            </a:r>
          </a:p>
          <a:p>
            <a:pPr marL="914400" indent="-914400" algn="ctr"/>
            <a:r>
              <a:rPr lang="es-ES" sz="4000" b="1" cap="none" spc="0" dirty="0" smtClean="0">
                <a:ln w="17780" cmpd="sng">
                  <a:solidFill>
                    <a:schemeClr val="tx1"/>
                  </a:solidFill>
                  <a:prstDash val="solid"/>
                  <a:miter lim="800000"/>
                </a:ln>
                <a:effectLst>
                  <a:outerShdw blurRad="50800" algn="tl" rotWithShape="0">
                    <a:srgbClr val="000000"/>
                  </a:outerShdw>
                </a:effectLst>
                <a:latin typeface="Arial" pitchFamily="34" charset="0"/>
                <a:cs typeface="Arial" pitchFamily="34" charset="0"/>
              </a:rPr>
              <a:t>EN CONTROL DE CALIDAD</a:t>
            </a:r>
            <a:endParaRPr lang="es-ES" sz="4000" b="1" cap="none" spc="0" dirty="0">
              <a:ln w="17780" cmpd="sng">
                <a:solidFill>
                  <a:schemeClr val="tx1"/>
                </a:solidFill>
                <a:prstDash val="solid"/>
                <a:miter lim="800000"/>
              </a:ln>
              <a:effectLst>
                <a:outerShdw blurRad="50800" algn="tl" rotWithShape="0">
                  <a:srgbClr val="000000"/>
                </a:outerShdw>
              </a:effectLst>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00034" y="2428868"/>
            <a:ext cx="8229600" cy="3786190"/>
          </a:xfrm>
        </p:spPr>
        <p:txBody>
          <a:bodyPr/>
          <a:lstStyle/>
          <a:p>
            <a:pPr>
              <a:buFont typeface="Wingdings" pitchFamily="2" charset="2"/>
              <a:buChar char="v"/>
            </a:pPr>
            <a:endParaRPr lang="es-ES" dirty="0" smtClean="0"/>
          </a:p>
          <a:p>
            <a:pPr algn="just">
              <a:buClr>
                <a:srgbClr val="7030A0"/>
              </a:buClr>
              <a:buFont typeface="Wingdings" pitchFamily="2" charset="2"/>
              <a:buChar char="v"/>
            </a:pPr>
            <a:r>
              <a:rPr lang="es-ES" dirty="0" smtClean="0">
                <a:latin typeface="Arial Unicode MS" pitchFamily="34" charset="-128"/>
                <a:ea typeface="Arial Unicode MS" pitchFamily="34" charset="-128"/>
                <a:cs typeface="Arial Unicode MS" pitchFamily="34" charset="-128"/>
              </a:rPr>
              <a:t>Educación en control de calidad para cada nivel.</a:t>
            </a:r>
          </a:p>
          <a:p>
            <a:pPr algn="just">
              <a:buClr>
                <a:srgbClr val="7030A0"/>
              </a:buClr>
              <a:buFont typeface="Wingdings" pitchFamily="2" charset="2"/>
              <a:buChar char="v"/>
            </a:pPr>
            <a:r>
              <a:rPr lang="es-ES" dirty="0" smtClean="0">
                <a:latin typeface="Arial Unicode MS" pitchFamily="34" charset="-128"/>
                <a:ea typeface="Arial Unicode MS" pitchFamily="34" charset="-128"/>
                <a:cs typeface="Arial Unicode MS" pitchFamily="34" charset="-128"/>
              </a:rPr>
              <a:t>Educación a largo plazo.</a:t>
            </a:r>
          </a:p>
          <a:p>
            <a:pPr algn="just">
              <a:buClr>
                <a:srgbClr val="7030A0"/>
              </a:buClr>
              <a:buFont typeface="Wingdings" pitchFamily="2" charset="2"/>
              <a:buChar char="v"/>
            </a:pPr>
            <a:r>
              <a:rPr lang="es-ES" dirty="0" smtClean="0">
                <a:latin typeface="Arial Unicode MS" pitchFamily="34" charset="-128"/>
                <a:ea typeface="Arial Unicode MS" pitchFamily="34" charset="-128"/>
                <a:cs typeface="Arial Unicode MS" pitchFamily="34" charset="-128"/>
              </a:rPr>
              <a:t>Educación y capacitación dentro de la empresa.</a:t>
            </a:r>
          </a:p>
          <a:p>
            <a:pPr algn="just">
              <a:buClr>
                <a:srgbClr val="7030A0"/>
              </a:buClr>
              <a:buFont typeface="Wingdings" pitchFamily="2" charset="2"/>
              <a:buChar char="v"/>
            </a:pPr>
            <a:r>
              <a:rPr lang="es-ES" dirty="0" smtClean="0">
                <a:latin typeface="Arial Unicode MS" pitchFamily="34" charset="-128"/>
                <a:ea typeface="Arial Unicode MS" pitchFamily="34" charset="-128"/>
                <a:cs typeface="Arial Unicode MS" pitchFamily="34" charset="-128"/>
              </a:rPr>
              <a:t>La educación debe continuarse indefinidamente .</a:t>
            </a:r>
          </a:p>
          <a:p>
            <a:pPr algn="just">
              <a:buClr>
                <a:srgbClr val="7030A0"/>
              </a:buClr>
              <a:buFont typeface="Wingdings" pitchFamily="2" charset="2"/>
              <a:buChar char="v"/>
            </a:pPr>
            <a:r>
              <a:rPr lang="es-ES" dirty="0" smtClean="0">
                <a:latin typeface="Arial Unicode MS" pitchFamily="34" charset="-128"/>
                <a:ea typeface="Arial Unicode MS" pitchFamily="34" charset="-128"/>
                <a:cs typeface="Arial Unicode MS" pitchFamily="34" charset="-128"/>
              </a:rPr>
              <a:t>La educación formal.</a:t>
            </a:r>
            <a:endParaRPr lang="es-ES" dirty="0">
              <a:latin typeface="Arial Unicode MS" pitchFamily="34" charset="-128"/>
              <a:ea typeface="Arial Unicode MS" pitchFamily="34" charset="-128"/>
              <a:cs typeface="Arial Unicode MS" pitchFamily="34" charset="-128"/>
            </a:endParaRPr>
          </a:p>
        </p:txBody>
      </p:sp>
      <p:sp>
        <p:nvSpPr>
          <p:cNvPr id="4" name="3 Rectángulo"/>
          <p:cNvSpPr/>
          <p:nvPr/>
        </p:nvSpPr>
        <p:spPr>
          <a:xfrm>
            <a:off x="357158" y="500042"/>
            <a:ext cx="8443337" cy="2308324"/>
          </a:xfrm>
          <a:prstGeom prst="rect">
            <a:avLst/>
          </a:prstGeom>
          <a:noFill/>
        </p:spPr>
        <p:txBody>
          <a:bodyPr wrap="none" lIns="91440" tIns="45720" rIns="91440" bIns="45720">
            <a:spAutoFit/>
          </a:bodyPr>
          <a:lstStyle/>
          <a:p>
            <a:pPr algn="ctr"/>
            <a:r>
              <a:rPr lang="es-ES" sz="4800" b="1" cap="none" spc="0" dirty="0" smtClean="0">
                <a:ln w="17780" cmpd="sng">
                  <a:solidFill>
                    <a:schemeClr val="tx1"/>
                  </a:solidFill>
                  <a:prstDash val="solid"/>
                  <a:miter lim="800000"/>
                </a:ln>
                <a:effectLst>
                  <a:outerShdw blurRad="50800" algn="tl" rotWithShape="0">
                    <a:srgbClr val="000000"/>
                  </a:outerShdw>
                </a:effectLst>
                <a:latin typeface="Arial" pitchFamily="34" charset="0"/>
                <a:cs typeface="Arial" pitchFamily="34" charset="0"/>
              </a:rPr>
              <a:t>De esta se desprenden </a:t>
            </a:r>
          </a:p>
          <a:p>
            <a:pPr algn="ctr"/>
            <a:r>
              <a:rPr lang="es-ES" sz="4800" b="1" cap="none" spc="0" dirty="0" smtClean="0">
                <a:ln w="17780" cmpd="sng">
                  <a:solidFill>
                    <a:schemeClr val="tx1"/>
                  </a:solidFill>
                  <a:prstDash val="solid"/>
                  <a:miter lim="800000"/>
                </a:ln>
                <a:effectLst>
                  <a:outerShdw blurRad="50800" algn="tl" rotWithShape="0">
                    <a:srgbClr val="000000"/>
                  </a:outerShdw>
                </a:effectLst>
                <a:latin typeface="Arial" pitchFamily="34" charset="0"/>
                <a:cs typeface="Arial" pitchFamily="34" charset="0"/>
              </a:rPr>
              <a:t>otras educaciones</a:t>
            </a:r>
          </a:p>
          <a:p>
            <a:pPr algn="ctr"/>
            <a:r>
              <a:rPr lang="es-ES" sz="4800" b="1" cap="none" spc="0" dirty="0" smtClean="0">
                <a:ln w="17780" cmpd="sng">
                  <a:solidFill>
                    <a:schemeClr val="tx1"/>
                  </a:solidFill>
                  <a:prstDash val="solid"/>
                  <a:miter lim="800000"/>
                </a:ln>
                <a:effectLst>
                  <a:outerShdw blurRad="50800" algn="tl" rotWithShape="0">
                    <a:srgbClr val="000000"/>
                  </a:outerShdw>
                </a:effectLst>
                <a:latin typeface="Arial" pitchFamily="34" charset="0"/>
                <a:cs typeface="Arial" pitchFamily="34" charset="0"/>
              </a:rPr>
              <a:t> como lo son las siguientes:</a:t>
            </a:r>
            <a:endParaRPr lang="es-ES" sz="4800" b="1" cap="none" spc="0" dirty="0">
              <a:ln w="17780" cmpd="sng">
                <a:solidFill>
                  <a:schemeClr val="tx1"/>
                </a:solidFill>
                <a:prstDash val="solid"/>
                <a:miter lim="800000"/>
              </a:ln>
              <a:effectLst>
                <a:outerShdw blurRad="50800" algn="tl" rotWithShape="0">
                  <a:srgbClr val="000000"/>
                </a:outerShdw>
              </a:effectLst>
            </a:endParaRPr>
          </a:p>
        </p:txBody>
      </p:sp>
      <p:pic>
        <p:nvPicPr>
          <p:cNvPr id="26628" name="Picture 4" descr="H:\Documents and Settings\usuario\Configuración local\Archivos temporales de Internet\Content.IE5\MRI3UXI7\MPj04394610000[1].jpg"/>
          <p:cNvPicPr>
            <a:picLocks noChangeAspect="1" noChangeArrowheads="1"/>
          </p:cNvPicPr>
          <p:nvPr/>
        </p:nvPicPr>
        <p:blipFill>
          <a:blip r:embed="rId2" cstate="print"/>
          <a:srcRect/>
          <a:stretch>
            <a:fillRect/>
          </a:stretch>
        </p:blipFill>
        <p:spPr bwMode="auto">
          <a:xfrm>
            <a:off x="4357686" y="4857760"/>
            <a:ext cx="2343144" cy="1800874"/>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2357430"/>
            <a:ext cx="8229600" cy="4031954"/>
          </a:xfrm>
        </p:spPr>
        <p:txBody>
          <a:bodyPr/>
          <a:lstStyle/>
          <a:p>
            <a:pPr algn="just">
              <a:buNone/>
            </a:pPr>
            <a:r>
              <a:rPr lang="es-ES" dirty="0" smtClean="0">
                <a:latin typeface="Arial Unicode MS" pitchFamily="34" charset="-128"/>
                <a:ea typeface="Arial Unicode MS" pitchFamily="34" charset="-128"/>
                <a:cs typeface="Arial Unicode MS" pitchFamily="34" charset="-128"/>
              </a:rPr>
              <a:t>   Japón una de las principales naciones industriales del mundo. Ha adoptado practicas administrativas bastantes diferentes de las que se utilizan en los países  económicamente avanzados en el mundo occidental.</a:t>
            </a:r>
          </a:p>
          <a:p>
            <a:pPr algn="just">
              <a:buNone/>
            </a:pPr>
            <a:r>
              <a:rPr lang="es-ES" dirty="0" smtClean="0">
                <a:latin typeface="Arial Unicode MS" pitchFamily="34" charset="-128"/>
                <a:ea typeface="Arial Unicode MS" pitchFamily="34" charset="-128"/>
                <a:cs typeface="Arial Unicode MS" pitchFamily="34" charset="-128"/>
              </a:rPr>
              <a:t>	Obtienen  practicas japonesas comunes:</a:t>
            </a:r>
          </a:p>
          <a:p>
            <a:pPr lvl="1" algn="just">
              <a:buClr>
                <a:srgbClr val="7030A0"/>
              </a:buClr>
              <a:buFont typeface="Wingdings" pitchFamily="2" charset="2"/>
              <a:buChar char="q"/>
            </a:pPr>
            <a:r>
              <a:rPr lang="es-ES" dirty="0" smtClean="0">
                <a:latin typeface="Arial Unicode MS" pitchFamily="34" charset="-128"/>
                <a:ea typeface="Arial Unicode MS" pitchFamily="34" charset="-128"/>
                <a:cs typeface="Arial Unicode MS" pitchFamily="34" charset="-128"/>
              </a:rPr>
              <a:t>Empleo vitalicio</a:t>
            </a:r>
          </a:p>
          <a:p>
            <a:pPr lvl="1" algn="just">
              <a:buClr>
                <a:srgbClr val="7030A0"/>
              </a:buClr>
              <a:buFont typeface="Wingdings" pitchFamily="2" charset="2"/>
              <a:buChar char="q"/>
            </a:pPr>
            <a:r>
              <a:rPr lang="es-ES" dirty="0" smtClean="0">
                <a:latin typeface="Arial Unicode MS" pitchFamily="34" charset="-128"/>
                <a:ea typeface="Arial Unicode MS" pitchFamily="34" charset="-128"/>
                <a:cs typeface="Arial Unicode MS" pitchFamily="34" charset="-128"/>
              </a:rPr>
              <a:t>Toma de decisiones</a:t>
            </a:r>
          </a:p>
          <a:p>
            <a:pPr lvl="1" algn="just">
              <a:buClr>
                <a:srgbClr val="7030A0"/>
              </a:buClr>
              <a:buFont typeface="Wingdings" pitchFamily="2" charset="2"/>
              <a:buChar char="q"/>
            </a:pPr>
            <a:r>
              <a:rPr lang="es-ES" dirty="0" smtClean="0">
                <a:latin typeface="Arial Unicode MS" pitchFamily="34" charset="-128"/>
                <a:ea typeface="Arial Unicode MS" pitchFamily="34" charset="-128"/>
                <a:cs typeface="Arial Unicode MS" pitchFamily="34" charset="-128"/>
              </a:rPr>
              <a:t>Teoría z</a:t>
            </a:r>
          </a:p>
          <a:p>
            <a:pPr>
              <a:buNone/>
            </a:pPr>
            <a:endParaRPr lang="es-ES" dirty="0"/>
          </a:p>
        </p:txBody>
      </p:sp>
      <p:sp>
        <p:nvSpPr>
          <p:cNvPr id="4" name="3 Rectángulo"/>
          <p:cNvSpPr/>
          <p:nvPr/>
        </p:nvSpPr>
        <p:spPr>
          <a:xfrm>
            <a:off x="785786" y="642918"/>
            <a:ext cx="7572428" cy="1446550"/>
          </a:xfrm>
          <a:prstGeom prst="rect">
            <a:avLst/>
          </a:prstGeom>
          <a:noFill/>
        </p:spPr>
        <p:txBody>
          <a:bodyPr wrap="square" lIns="91440" tIns="45720" rIns="91440" bIns="45720">
            <a:spAutoFit/>
          </a:bodyPr>
          <a:lstStyle/>
          <a:p>
            <a:pPr algn="ctr"/>
            <a:r>
              <a:rPr lang="es-ES" sz="4400" b="1" cap="none" spc="0" dirty="0" smtClean="0">
                <a:ln w="17780" cmpd="sng">
                  <a:solidFill>
                    <a:schemeClr val="tx1"/>
                  </a:solidFill>
                  <a:prstDash val="solid"/>
                  <a:miter lim="800000"/>
                </a:ln>
                <a:effectLst>
                  <a:outerShdw blurRad="50800" algn="tl" rotWithShape="0">
                    <a:srgbClr val="000000"/>
                  </a:outerShdw>
                </a:effectLst>
                <a:latin typeface="Arial" pitchFamily="34" charset="0"/>
                <a:cs typeface="Arial" pitchFamily="34" charset="0"/>
              </a:rPr>
              <a:t>LA ADMINISTRACION </a:t>
            </a:r>
          </a:p>
          <a:p>
            <a:pPr algn="ctr"/>
            <a:r>
              <a:rPr lang="es-ES" sz="4400" b="1" cap="none" spc="0" dirty="0" smtClean="0">
                <a:ln w="17780" cmpd="sng">
                  <a:solidFill>
                    <a:schemeClr val="tx1"/>
                  </a:solidFill>
                  <a:prstDash val="solid"/>
                  <a:miter lim="800000"/>
                </a:ln>
                <a:effectLst>
                  <a:outerShdw blurRad="50800" algn="tl" rotWithShape="0">
                    <a:srgbClr val="000000"/>
                  </a:outerShdw>
                </a:effectLst>
                <a:latin typeface="Arial" pitchFamily="34" charset="0"/>
                <a:cs typeface="Arial" pitchFamily="34" charset="0"/>
              </a:rPr>
              <a:t>JAPONESA Y LA TEORIA Z</a:t>
            </a:r>
            <a:endParaRPr lang="es-ES" sz="4400" b="1" cap="none" spc="0" dirty="0">
              <a:ln w="17780" cmpd="sng">
                <a:solidFill>
                  <a:schemeClr val="tx1"/>
                </a:solidFill>
                <a:prstDash val="solid"/>
                <a:miter lim="800000"/>
              </a:ln>
              <a:effectLst>
                <a:outerShdw blurRad="50800" algn="tl" rotWithShape="0">
                  <a:srgbClr val="000000"/>
                </a:outerShdw>
              </a:effectLst>
            </a:endParaRPr>
          </a:p>
        </p:txBody>
      </p:sp>
      <p:pic>
        <p:nvPicPr>
          <p:cNvPr id="27650" name="Picture 2" descr="H:\Documents and Settings\usuario\Configuración local\Archivos temporales de Internet\Content.IE5\MRI3UXI7\MCBD05039_0000[1].wmf"/>
          <p:cNvPicPr>
            <a:picLocks noChangeAspect="1" noChangeArrowheads="1"/>
          </p:cNvPicPr>
          <p:nvPr/>
        </p:nvPicPr>
        <p:blipFill>
          <a:blip r:embed="rId2" cstate="print"/>
          <a:srcRect/>
          <a:stretch>
            <a:fillRect/>
          </a:stretch>
        </p:blipFill>
        <p:spPr bwMode="auto">
          <a:xfrm>
            <a:off x="4143372" y="4929198"/>
            <a:ext cx="4313976" cy="1857388"/>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571744"/>
            <a:ext cx="8229600" cy="3752856"/>
          </a:xfrm>
        </p:spPr>
        <p:txBody>
          <a:bodyPr/>
          <a:lstStyle/>
          <a:p>
            <a:pPr algn="just">
              <a:buNone/>
            </a:pPr>
            <a:r>
              <a:rPr lang="es-ES" dirty="0" smtClean="0"/>
              <a:t>	</a:t>
            </a:r>
            <a:r>
              <a:rPr lang="es-ES" dirty="0" smtClean="0">
                <a:latin typeface="Arial Unicode MS" pitchFamily="34" charset="-128"/>
                <a:ea typeface="Arial Unicode MS" pitchFamily="34" charset="-128"/>
                <a:cs typeface="Arial Unicode MS" pitchFamily="34" charset="-128"/>
              </a:rPr>
              <a:t>La practica administrativa japonesa son el empleo vitalicio para los empleados permanentes. Una gran preocupación por el empleado individual e insistencia en la antigüedad.</a:t>
            </a:r>
          </a:p>
          <a:p>
            <a:pPr algn="just">
              <a:buNone/>
            </a:pPr>
            <a:r>
              <a:rPr lang="es-ES" dirty="0" smtClean="0">
                <a:latin typeface="Arial Unicode MS" pitchFamily="34" charset="-128"/>
                <a:ea typeface="Arial Unicode MS" pitchFamily="34" charset="-128"/>
                <a:cs typeface="Arial Unicode MS" pitchFamily="34" charset="-128"/>
              </a:rPr>
              <a:t>	Normalmente los empleados pasan toda su vida laboral en una sola empresa, la cual a su vez proporciona seguridad y una sensación de pertenencia. </a:t>
            </a:r>
            <a:endParaRPr lang="es-ES" dirty="0">
              <a:latin typeface="Arial Unicode MS" pitchFamily="34" charset="-128"/>
              <a:ea typeface="Arial Unicode MS" pitchFamily="34" charset="-128"/>
              <a:cs typeface="Arial Unicode MS" pitchFamily="34" charset="-128"/>
            </a:endParaRPr>
          </a:p>
        </p:txBody>
      </p:sp>
      <p:sp>
        <p:nvSpPr>
          <p:cNvPr id="4" name="3 Rectángulo"/>
          <p:cNvSpPr/>
          <p:nvPr/>
        </p:nvSpPr>
        <p:spPr>
          <a:xfrm>
            <a:off x="1142976" y="785794"/>
            <a:ext cx="6760185" cy="923330"/>
          </a:xfrm>
          <a:prstGeom prst="rect">
            <a:avLst/>
          </a:prstGeom>
          <a:noFill/>
        </p:spPr>
        <p:txBody>
          <a:bodyPr wrap="none" lIns="91440" tIns="45720" rIns="91440" bIns="45720">
            <a:spAutoFit/>
          </a:bodyPr>
          <a:lstStyle/>
          <a:p>
            <a:pPr algn="ctr"/>
            <a:r>
              <a:rPr lang="es-ES" sz="5400" b="1" cap="none" spc="0" dirty="0" smtClean="0">
                <a:ln w="17780" cmpd="sng">
                  <a:solidFill>
                    <a:schemeClr val="tx1"/>
                  </a:solidFill>
                  <a:prstDash val="solid"/>
                  <a:miter lim="800000"/>
                </a:ln>
                <a:effectLst>
                  <a:outerShdw blurRad="50800" algn="tl" rotWithShape="0">
                    <a:srgbClr val="000000"/>
                  </a:outerShdw>
                </a:effectLst>
              </a:rPr>
              <a:t>EMPLEO VITALICIO</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00034" y="2357430"/>
            <a:ext cx="8229600" cy="3181352"/>
          </a:xfrm>
        </p:spPr>
        <p:txBody>
          <a:bodyPr>
            <a:normAutofit/>
          </a:bodyPr>
          <a:lstStyle/>
          <a:p>
            <a:pPr>
              <a:buNone/>
            </a:pPr>
            <a:r>
              <a:rPr lang="es-ES" dirty="0" smtClean="0"/>
              <a:t>	</a:t>
            </a:r>
          </a:p>
          <a:p>
            <a:pPr algn="just">
              <a:buNone/>
            </a:pPr>
            <a:r>
              <a:rPr lang="es-ES" dirty="0" smtClean="0"/>
              <a:t>	</a:t>
            </a:r>
            <a:r>
              <a:rPr lang="es-ES" sz="2800" dirty="0" smtClean="0">
                <a:latin typeface="Arial Unicode MS" pitchFamily="34" charset="-128"/>
                <a:ea typeface="Arial Unicode MS" pitchFamily="34" charset="-128"/>
                <a:cs typeface="Arial Unicode MS" pitchFamily="34" charset="-128"/>
              </a:rPr>
              <a:t>la toma de decisiones en Japón es la gran cantidad de esfuerzo que se dedica a definir la pregunta o el problema; existe demasiada comunicación antes de que realmente se tome una decisión.</a:t>
            </a:r>
            <a:endParaRPr lang="es-ES" sz="2800" dirty="0">
              <a:latin typeface="Arial Unicode MS" pitchFamily="34" charset="-128"/>
              <a:ea typeface="Arial Unicode MS" pitchFamily="34" charset="-128"/>
              <a:cs typeface="Arial Unicode MS" pitchFamily="34" charset="-128"/>
            </a:endParaRPr>
          </a:p>
        </p:txBody>
      </p:sp>
      <p:sp>
        <p:nvSpPr>
          <p:cNvPr id="4" name="3 Rectángulo"/>
          <p:cNvSpPr/>
          <p:nvPr/>
        </p:nvSpPr>
        <p:spPr>
          <a:xfrm>
            <a:off x="785786" y="1000108"/>
            <a:ext cx="7765779" cy="1754326"/>
          </a:xfrm>
          <a:prstGeom prst="rect">
            <a:avLst/>
          </a:prstGeom>
          <a:noFill/>
        </p:spPr>
        <p:txBody>
          <a:bodyPr wrap="none" lIns="91440" tIns="45720" rIns="91440" bIns="45720">
            <a:spAutoFit/>
          </a:bodyPr>
          <a:lstStyle/>
          <a:p>
            <a:pPr algn="ctr"/>
            <a:r>
              <a:rPr lang="es-ES" sz="5400" b="1" cap="none" spc="0" dirty="0" smtClean="0">
                <a:ln w="17780" cmpd="sng">
                  <a:solidFill>
                    <a:schemeClr val="tx1"/>
                  </a:solidFill>
                  <a:prstDash val="solid"/>
                  <a:miter lim="800000"/>
                </a:ln>
                <a:effectLst>
                  <a:outerShdw blurRad="50800" algn="tl" rotWithShape="0">
                    <a:srgbClr val="000000"/>
                  </a:outerShdw>
                </a:effectLst>
              </a:rPr>
              <a:t>TOMA DE DECISIONES</a:t>
            </a:r>
          </a:p>
          <a:p>
            <a:pPr algn="ctr"/>
            <a:r>
              <a:rPr lang="es-ES" sz="5400" b="1" cap="none" spc="0" dirty="0" smtClean="0">
                <a:ln w="17780" cmpd="sng">
                  <a:solidFill>
                    <a:schemeClr val="tx1"/>
                  </a:solidFill>
                  <a:prstDash val="solid"/>
                  <a:miter lim="800000"/>
                </a:ln>
                <a:effectLst>
                  <a:outerShdw blurRad="50800" algn="tl" rotWithShape="0">
                    <a:srgbClr val="000000"/>
                  </a:outerShdw>
                </a:effectLst>
              </a:rPr>
              <a:t> EN JAPON</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pic>
        <p:nvPicPr>
          <p:cNvPr id="28674" name="Picture 2" descr="H:\Documents and Settings\usuario\Configuración local\Archivos temporales de Internet\Content.IE5\WXGDMN41\MMj03005950000[1].gif"/>
          <p:cNvPicPr>
            <a:picLocks noChangeAspect="1" noChangeArrowheads="1" noCrop="1"/>
          </p:cNvPicPr>
          <p:nvPr/>
        </p:nvPicPr>
        <p:blipFill>
          <a:blip r:embed="rId2" cstate="print"/>
          <a:srcRect/>
          <a:stretch>
            <a:fillRect/>
          </a:stretch>
        </p:blipFill>
        <p:spPr bwMode="auto">
          <a:xfrm>
            <a:off x="3571868" y="4929198"/>
            <a:ext cx="1666879" cy="1533528"/>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00034" y="2500306"/>
            <a:ext cx="8229600" cy="4389120"/>
          </a:xfrm>
        </p:spPr>
        <p:txBody>
          <a:bodyPr/>
          <a:lstStyle/>
          <a:p>
            <a:pPr algn="just">
              <a:buNone/>
            </a:pPr>
            <a:r>
              <a:rPr lang="es-ES" dirty="0" smtClean="0"/>
              <a:t>	</a:t>
            </a:r>
            <a:r>
              <a:rPr lang="es-ES" dirty="0" smtClean="0">
                <a:latin typeface="Arial Unicode MS" pitchFamily="34" charset="-128"/>
                <a:ea typeface="Arial Unicode MS" pitchFamily="34" charset="-128"/>
                <a:cs typeface="Arial Unicode MS" pitchFamily="34" charset="-128"/>
              </a:rPr>
              <a:t>Las negociaciones con japoneses pueden ser muy frustrantes debido básicamente a la particularidad japonesa de no manejar términos concretos, sino por el contrario, mantienen las discusiones en términos difusos sobre todo en la etapa de familiarización y creación de confianza, en donde es más importante conocer a la contraparte que discutir las condiciones del negocio.</a:t>
            </a:r>
            <a:endParaRPr lang="es-ES" dirty="0">
              <a:latin typeface="Arial Unicode MS" pitchFamily="34" charset="-128"/>
              <a:ea typeface="Arial Unicode MS" pitchFamily="34" charset="-128"/>
              <a:cs typeface="Arial Unicode MS" pitchFamily="34" charset="-128"/>
            </a:endParaRPr>
          </a:p>
        </p:txBody>
      </p:sp>
      <p:sp>
        <p:nvSpPr>
          <p:cNvPr id="4" name="3 Rectángulo"/>
          <p:cNvSpPr/>
          <p:nvPr/>
        </p:nvSpPr>
        <p:spPr>
          <a:xfrm>
            <a:off x="0" y="857232"/>
            <a:ext cx="9144000" cy="1569660"/>
          </a:xfrm>
          <a:prstGeom prst="rect">
            <a:avLst/>
          </a:prstGeom>
          <a:noFill/>
        </p:spPr>
        <p:txBody>
          <a:bodyPr wrap="square" lIns="91440" tIns="45720" rIns="91440" bIns="45720">
            <a:spAutoFit/>
          </a:bodyPr>
          <a:lstStyle/>
          <a:p>
            <a:pPr algn="ctr"/>
            <a:r>
              <a:rPr lang="es-ES" sz="4800" b="1" cap="none" spc="0" dirty="0" smtClean="0">
                <a:ln w="17780" cmpd="sng">
                  <a:solidFill>
                    <a:schemeClr val="tx1"/>
                  </a:solidFill>
                  <a:prstDash val="solid"/>
                  <a:miter lim="800000"/>
                </a:ln>
                <a:effectLst>
                  <a:outerShdw blurRad="50800" algn="tl" rotWithShape="0">
                    <a:srgbClr val="000000"/>
                  </a:outerShdw>
                </a:effectLst>
              </a:rPr>
              <a:t>JAPON: COMPORTAMIENTO </a:t>
            </a:r>
          </a:p>
          <a:p>
            <a:pPr algn="ctr"/>
            <a:r>
              <a:rPr lang="es-ES" sz="4800" b="1" cap="none" spc="0" dirty="0" smtClean="0">
                <a:ln w="17780" cmpd="sng">
                  <a:solidFill>
                    <a:schemeClr val="tx1"/>
                  </a:solidFill>
                  <a:prstDash val="solid"/>
                  <a:miter lim="800000"/>
                </a:ln>
                <a:effectLst>
                  <a:outerShdw blurRad="50800" algn="tl" rotWithShape="0">
                    <a:srgbClr val="000000"/>
                  </a:outerShdw>
                </a:effectLst>
              </a:rPr>
              <a:t>DURANTE LA NEGACION</a:t>
            </a:r>
            <a:endParaRPr lang="es-ES" sz="4800" b="1" cap="none" spc="0" dirty="0">
              <a:ln w="17780" cmpd="sng">
                <a:solidFill>
                  <a:schemeClr val="tx1"/>
                </a:solidFill>
                <a:prstDash val="solid"/>
                <a:miter lim="800000"/>
              </a:ln>
              <a:effectLst>
                <a:outerShdw blurRad="50800" algn="tl" rotWithShape="0">
                  <a:srgbClr val="000000"/>
                </a:outerShdw>
              </a:effectLst>
            </a:endParaRPr>
          </a:p>
        </p:txBody>
      </p:sp>
      <p:pic>
        <p:nvPicPr>
          <p:cNvPr id="29698" name="Picture 2" descr="H:\Documents and Settings\usuario\Configuración local\Archivos temporales de Internet\Content.IE5\IXKFYHM5\MCj02420010000[1].wmf"/>
          <p:cNvPicPr>
            <a:picLocks noChangeAspect="1" noChangeArrowheads="1"/>
          </p:cNvPicPr>
          <p:nvPr/>
        </p:nvPicPr>
        <p:blipFill>
          <a:blip r:embed="rId2" cstate="print"/>
          <a:srcRect/>
          <a:stretch>
            <a:fillRect/>
          </a:stretch>
        </p:blipFill>
        <p:spPr bwMode="auto">
          <a:xfrm>
            <a:off x="5143504" y="5357826"/>
            <a:ext cx="1164257" cy="1303940"/>
          </a:xfrm>
          <a:prstGeom prst="rect">
            <a:avLst/>
          </a:prstGeo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1071546"/>
            <a:ext cx="8229600" cy="4389120"/>
          </a:xfrm>
        </p:spPr>
        <p:txBody>
          <a:bodyPr>
            <a:normAutofit/>
          </a:bodyPr>
          <a:lstStyle/>
          <a:p>
            <a:pPr algn="just">
              <a:buNone/>
            </a:pPr>
            <a:endParaRPr lang="es-ES" dirty="0" smtClean="0">
              <a:latin typeface="Arial Unicode MS" pitchFamily="34" charset="-128"/>
              <a:ea typeface="Arial Unicode MS" pitchFamily="34" charset="-128"/>
              <a:cs typeface="Arial Unicode MS" pitchFamily="34" charset="-128"/>
            </a:endParaRPr>
          </a:p>
          <a:p>
            <a:pPr algn="just">
              <a:buNone/>
            </a:pPr>
            <a:endParaRPr lang="es-ES" dirty="0" smtClean="0">
              <a:latin typeface="Arial Unicode MS" pitchFamily="34" charset="-128"/>
              <a:ea typeface="Arial Unicode MS" pitchFamily="34" charset="-128"/>
              <a:cs typeface="Arial Unicode MS" pitchFamily="34" charset="-128"/>
            </a:endParaRPr>
          </a:p>
          <a:p>
            <a:pPr algn="just">
              <a:buNone/>
            </a:pPr>
            <a:r>
              <a:rPr lang="es-ES" dirty="0" smtClean="0">
                <a:latin typeface="Arial Unicode MS" pitchFamily="34" charset="-128"/>
                <a:ea typeface="Arial Unicode MS" pitchFamily="34" charset="-128"/>
                <a:cs typeface="Arial Unicode MS" pitchFamily="34" charset="-128"/>
              </a:rPr>
              <a:t> 	Es una teoría administrativa desarrollada por William Ouchi. Sugiere que los individuos no separa su condición de seres humanos a la de empleados y que la humanización de las condiciones de trabajo aumenta la productividad de la empresa y a la vez la autoestima de los empleados.</a:t>
            </a:r>
          </a:p>
          <a:p>
            <a:pPr>
              <a:buNone/>
            </a:pPr>
            <a:endParaRPr lang="es-ES" dirty="0"/>
          </a:p>
        </p:txBody>
      </p:sp>
      <p:sp>
        <p:nvSpPr>
          <p:cNvPr id="4" name="3 Rectángulo"/>
          <p:cNvSpPr/>
          <p:nvPr/>
        </p:nvSpPr>
        <p:spPr>
          <a:xfrm>
            <a:off x="2643174" y="1071546"/>
            <a:ext cx="3925819" cy="923330"/>
          </a:xfrm>
          <a:prstGeom prst="rect">
            <a:avLst/>
          </a:prstGeom>
          <a:noFill/>
        </p:spPr>
        <p:txBody>
          <a:bodyPr wrap="none" lIns="91440" tIns="45720" rIns="91440" bIns="45720">
            <a:spAutoFit/>
          </a:bodyPr>
          <a:lstStyle/>
          <a:p>
            <a:pPr algn="ctr"/>
            <a:r>
              <a:rPr lang="es-ES" sz="5400" b="1" cap="none" spc="0" dirty="0" smtClean="0">
                <a:ln w="17780" cmpd="sng">
                  <a:solidFill>
                    <a:schemeClr val="tx1"/>
                  </a:solidFill>
                  <a:prstDash val="solid"/>
                  <a:miter lim="800000"/>
                </a:ln>
                <a:effectLst>
                  <a:outerShdw blurRad="50800" algn="tl" rotWithShape="0">
                    <a:srgbClr val="000000"/>
                  </a:outerShdw>
                </a:effectLst>
              </a:rPr>
              <a:t>TEORIA “Z”</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pic>
        <p:nvPicPr>
          <p:cNvPr id="30722" name="Picture 2" descr="H:\Documents and Settings\usuario\Configuración local\Archivos temporales de Internet\Content.IE5\IXKFYHM5\MCSY01170_0000[1].wmf"/>
          <p:cNvPicPr>
            <a:picLocks noChangeAspect="1" noChangeArrowheads="1"/>
          </p:cNvPicPr>
          <p:nvPr/>
        </p:nvPicPr>
        <p:blipFill>
          <a:blip r:embed="rId2" cstate="print"/>
          <a:srcRect/>
          <a:stretch>
            <a:fillRect/>
          </a:stretch>
        </p:blipFill>
        <p:spPr bwMode="auto">
          <a:xfrm>
            <a:off x="3500430" y="4643446"/>
            <a:ext cx="1794967" cy="1735531"/>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71472" y="1500174"/>
            <a:ext cx="8229600" cy="4389120"/>
          </a:xfrm>
        </p:spPr>
        <p:txBody>
          <a:bodyPr/>
          <a:lstStyle/>
          <a:p>
            <a:pPr>
              <a:buNone/>
            </a:pPr>
            <a:endParaRPr lang="es-ES" dirty="0" smtClean="0"/>
          </a:p>
          <a:p>
            <a:pPr>
              <a:buNone/>
            </a:pPr>
            <a:endParaRPr lang="es-ES" dirty="0" smtClean="0"/>
          </a:p>
          <a:p>
            <a:pPr>
              <a:buNone/>
            </a:pPr>
            <a:r>
              <a:rPr lang="es-ES" sz="3200" dirty="0" smtClean="0">
                <a:latin typeface="Arial Unicode MS" pitchFamily="34" charset="-128"/>
                <a:ea typeface="Arial Unicode MS" pitchFamily="34" charset="-128"/>
                <a:cs typeface="Arial Unicode MS" pitchFamily="34" charset="-128"/>
              </a:rPr>
              <a:t>Esta cultura Z esta llena de características poco aplicadas en las empresas de occidente de la época y mas bien  recoge ciertas características comunes  a  las de las compañías japonesas.</a:t>
            </a:r>
          </a:p>
          <a:p>
            <a:endParaRPr lang="es-ES" dirty="0"/>
          </a:p>
        </p:txBody>
      </p:sp>
      <p:sp>
        <p:nvSpPr>
          <p:cNvPr id="5" name="4 Rectángulo"/>
          <p:cNvSpPr/>
          <p:nvPr/>
        </p:nvSpPr>
        <p:spPr>
          <a:xfrm>
            <a:off x="2643174" y="857232"/>
            <a:ext cx="3925819" cy="923330"/>
          </a:xfrm>
          <a:prstGeom prst="rect">
            <a:avLst/>
          </a:prstGeom>
          <a:noFill/>
        </p:spPr>
        <p:txBody>
          <a:bodyPr wrap="none" lIns="91440" tIns="45720" rIns="91440" bIns="45720">
            <a:spAutoFit/>
          </a:bodyPr>
          <a:lstStyle/>
          <a:p>
            <a:pPr algn="ctr"/>
            <a:r>
              <a:rPr lang="es-ES" sz="5400" b="1" cap="none" spc="0" dirty="0" smtClean="0">
                <a:ln w="17780" cmpd="sng">
                  <a:solidFill>
                    <a:schemeClr val="tx1"/>
                  </a:solidFill>
                  <a:prstDash val="solid"/>
                  <a:miter lim="800000"/>
                </a:ln>
                <a:effectLst>
                  <a:outerShdw blurRad="50800" algn="tl" rotWithShape="0">
                    <a:srgbClr val="000000"/>
                  </a:outerShdw>
                </a:effectLst>
              </a:rPr>
              <a:t>TEORIA “Z”</a:t>
            </a:r>
            <a:endParaRPr lang="es-ES" sz="5400" b="1" cap="none" spc="0" dirty="0">
              <a:ln w="17780" cmpd="sng">
                <a:solidFill>
                  <a:schemeClr val="tx1"/>
                </a:solidFill>
                <a:prstDash val="solid"/>
                <a:miter lim="800000"/>
              </a:ln>
              <a:effectLst>
                <a:outerShdw blurRad="50800" algn="tl" rotWithShape="0">
                  <a:srgbClr val="000000"/>
                </a:outerShdw>
              </a:effectLst>
            </a:endParaRPr>
          </a:p>
        </p:txBody>
      </p:sp>
      <p:pic>
        <p:nvPicPr>
          <p:cNvPr id="31746" name="Picture 2" descr="H:\Documents and Settings\usuario\Configuración local\Archivos temporales de Internet\Content.IE5\KX0BWRO7\MCj03204080000[1].wmf"/>
          <p:cNvPicPr>
            <a:picLocks noChangeAspect="1" noChangeArrowheads="1"/>
          </p:cNvPicPr>
          <p:nvPr/>
        </p:nvPicPr>
        <p:blipFill>
          <a:blip r:embed="rId2" cstate="print"/>
          <a:srcRect/>
          <a:stretch>
            <a:fillRect/>
          </a:stretch>
        </p:blipFill>
        <p:spPr bwMode="auto">
          <a:xfrm>
            <a:off x="6143636" y="4929198"/>
            <a:ext cx="942746" cy="913486"/>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buNone/>
            </a:pPr>
            <a:endParaRPr lang="es-ES" dirty="0" smtClean="0"/>
          </a:p>
          <a:p>
            <a:pPr algn="ctr">
              <a:buClr>
                <a:srgbClr val="7030A0"/>
              </a:buClr>
              <a:buFont typeface="Wingdings" pitchFamily="2" charset="2"/>
              <a:buChar char="§"/>
            </a:pPr>
            <a:r>
              <a:rPr lang="es-ES" dirty="0" smtClean="0">
                <a:latin typeface="Arial Unicode MS" pitchFamily="34" charset="-128"/>
                <a:ea typeface="Arial Unicode MS" pitchFamily="34" charset="-128"/>
                <a:cs typeface="Arial Unicode MS" pitchFamily="34" charset="-128"/>
              </a:rPr>
              <a:t>Confianza</a:t>
            </a:r>
          </a:p>
          <a:p>
            <a:pPr algn="ctr">
              <a:buClr>
                <a:srgbClr val="7030A0"/>
              </a:buClr>
              <a:buFont typeface="Wingdings" pitchFamily="2" charset="2"/>
              <a:buChar char="§"/>
            </a:pPr>
            <a:r>
              <a:rPr lang="es-ES" dirty="0" smtClean="0">
                <a:latin typeface="Arial Unicode MS" pitchFamily="34" charset="-128"/>
                <a:ea typeface="Arial Unicode MS" pitchFamily="34" charset="-128"/>
                <a:cs typeface="Arial Unicode MS" pitchFamily="34" charset="-128"/>
              </a:rPr>
              <a:t>Atención a las relaciones humanas</a:t>
            </a:r>
          </a:p>
          <a:p>
            <a:pPr algn="ctr">
              <a:buClr>
                <a:srgbClr val="7030A0"/>
              </a:buClr>
              <a:buFont typeface="Wingdings" pitchFamily="2" charset="2"/>
              <a:buChar char="§"/>
            </a:pPr>
            <a:r>
              <a:rPr lang="es-ES" dirty="0" smtClean="0">
                <a:latin typeface="Arial Unicode MS" pitchFamily="34" charset="-128"/>
                <a:ea typeface="Arial Unicode MS" pitchFamily="34" charset="-128"/>
                <a:cs typeface="Arial Unicode MS" pitchFamily="34" charset="-128"/>
              </a:rPr>
              <a:t>Relaciones humanas estrechas</a:t>
            </a:r>
          </a:p>
          <a:p>
            <a:pPr algn="ctr">
              <a:buNone/>
            </a:pPr>
            <a:endParaRPr lang="es-ES" dirty="0" smtClean="0">
              <a:latin typeface="Arial Unicode MS" pitchFamily="34" charset="-128"/>
              <a:ea typeface="Arial Unicode MS" pitchFamily="34" charset="-128"/>
              <a:cs typeface="Arial Unicode MS" pitchFamily="34" charset="-128"/>
            </a:endParaRPr>
          </a:p>
          <a:p>
            <a:pPr algn="ctr">
              <a:buNone/>
            </a:pPr>
            <a:r>
              <a:rPr lang="es-ES" dirty="0" smtClean="0">
                <a:latin typeface="Arial Unicode MS" pitchFamily="34" charset="-128"/>
                <a:ea typeface="Arial Unicode MS" pitchFamily="34" charset="-128"/>
                <a:cs typeface="Arial Unicode MS" pitchFamily="34" charset="-128"/>
              </a:rPr>
              <a:t>“la teoría Z es por lo tanto, junto a otras, una respuesta a esa necesidad de entender la formula del éxito que había desarrollado Japón”</a:t>
            </a:r>
            <a:endParaRPr lang="es-ES" dirty="0">
              <a:latin typeface="Arial Unicode MS" pitchFamily="34" charset="-128"/>
              <a:ea typeface="Arial Unicode MS" pitchFamily="34" charset="-128"/>
              <a:cs typeface="Arial Unicode MS" pitchFamily="34" charset="-128"/>
            </a:endParaRPr>
          </a:p>
        </p:txBody>
      </p:sp>
      <p:sp>
        <p:nvSpPr>
          <p:cNvPr id="4" name="3 Rectángulo"/>
          <p:cNvSpPr/>
          <p:nvPr/>
        </p:nvSpPr>
        <p:spPr>
          <a:xfrm>
            <a:off x="785786" y="928670"/>
            <a:ext cx="7818038" cy="1323439"/>
          </a:xfrm>
          <a:prstGeom prst="rect">
            <a:avLst/>
          </a:prstGeom>
          <a:noFill/>
        </p:spPr>
        <p:txBody>
          <a:bodyPr wrap="none" lIns="91440" tIns="45720" rIns="91440" bIns="45720">
            <a:spAutoFit/>
          </a:bodyPr>
          <a:lstStyle/>
          <a:p>
            <a:pPr algn="ctr"/>
            <a:r>
              <a:rPr lang="es-ES" sz="4000" b="1" cap="none" spc="0" dirty="0" smtClean="0">
                <a:ln w="17780" cmpd="sng">
                  <a:solidFill>
                    <a:schemeClr val="tx1"/>
                  </a:solidFill>
                  <a:prstDash val="solid"/>
                  <a:miter lim="800000"/>
                </a:ln>
                <a:effectLst>
                  <a:outerShdw blurRad="50800" algn="tl" rotWithShape="0">
                    <a:srgbClr val="000000"/>
                  </a:outerShdw>
                </a:effectLst>
              </a:rPr>
              <a:t>PRINCIPIOS FUNDAMENTALES</a:t>
            </a:r>
          </a:p>
          <a:p>
            <a:pPr algn="ctr"/>
            <a:r>
              <a:rPr lang="es-ES" sz="4000" b="1" cap="none" spc="0" dirty="0" smtClean="0">
                <a:ln w="17780" cmpd="sng">
                  <a:solidFill>
                    <a:schemeClr val="tx1"/>
                  </a:solidFill>
                  <a:prstDash val="solid"/>
                  <a:miter lim="800000"/>
                </a:ln>
                <a:effectLst>
                  <a:outerShdw blurRad="50800" algn="tl" rotWithShape="0">
                    <a:srgbClr val="000000"/>
                  </a:outerShdw>
                </a:effectLst>
              </a:rPr>
              <a:t> DE LA TEORIA “Z”</a:t>
            </a:r>
            <a:endParaRPr lang="es-ES" sz="4000" b="1" cap="none" spc="0" dirty="0">
              <a:ln w="17780" cmpd="sng">
                <a:solidFill>
                  <a:schemeClr val="tx1"/>
                </a:solidFill>
                <a:prstDash val="solid"/>
                <a:miter lim="800000"/>
              </a:ln>
              <a:effectLst>
                <a:outerShdw blurRad="50800" algn="tl" rotWithShape="0">
                  <a:srgbClr val="000000"/>
                </a:outerShdw>
              </a:effectLst>
            </a:endParaRPr>
          </a:p>
        </p:txBody>
      </p:sp>
      <p:pic>
        <p:nvPicPr>
          <p:cNvPr id="32770" name="Picture 2" descr="H:\Documents and Settings\usuario\Configuración local\Archivos temporales de Internet\Content.IE5\MRI3UXI7\MCj04257920000[1].wmf"/>
          <p:cNvPicPr>
            <a:picLocks noChangeAspect="1" noChangeArrowheads="1"/>
          </p:cNvPicPr>
          <p:nvPr/>
        </p:nvPicPr>
        <p:blipFill>
          <a:blip r:embed="rId2" cstate="print"/>
          <a:srcRect/>
          <a:stretch>
            <a:fillRect/>
          </a:stretch>
        </p:blipFill>
        <p:spPr bwMode="auto">
          <a:xfrm>
            <a:off x="7143768" y="1928802"/>
            <a:ext cx="1500166" cy="1319331"/>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ES" dirty="0"/>
          </a:p>
        </p:txBody>
      </p:sp>
      <p:pic>
        <p:nvPicPr>
          <p:cNvPr id="1026" name="Picture 2"/>
          <p:cNvPicPr>
            <a:picLocks noGrp="1" noChangeAspect="1" noChangeArrowheads="1"/>
          </p:cNvPicPr>
          <p:nvPr>
            <p:ph idx="1"/>
          </p:nvPr>
        </p:nvPicPr>
        <p:blipFill>
          <a:blip r:embed="rId2" cstate="print"/>
          <a:srcRect b="4123"/>
          <a:stretch>
            <a:fillRect/>
          </a:stretch>
        </p:blipFill>
        <p:spPr bwMode="auto">
          <a:xfrm>
            <a:off x="357158" y="285728"/>
            <a:ext cx="8429684" cy="628654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ujo">
  <a:themeElements>
    <a:clrScheme name="Flujo">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ujo">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ujo">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400</TotalTime>
  <Words>1419</Words>
  <Application>Microsoft Office PowerPoint</Application>
  <PresentationFormat>Presentación en pantalla (4:3)</PresentationFormat>
  <Paragraphs>156</Paragraphs>
  <Slides>43</Slides>
  <Notes>3</Notes>
  <HiddenSlides>0</HiddenSlides>
  <MMClips>0</MMClips>
  <ScaleCrop>false</ScaleCrop>
  <HeadingPairs>
    <vt:vector size="4" baseType="variant">
      <vt:variant>
        <vt:lpstr>Tema</vt:lpstr>
      </vt:variant>
      <vt:variant>
        <vt:i4>1</vt:i4>
      </vt:variant>
      <vt:variant>
        <vt:lpstr>Títulos de diapositiva</vt:lpstr>
      </vt:variant>
      <vt:variant>
        <vt:i4>43</vt:i4>
      </vt:variant>
    </vt:vector>
  </HeadingPairs>
  <TitlesOfParts>
    <vt:vector size="44" baseType="lpstr">
      <vt:lpstr>Flujo</vt:lpstr>
      <vt:lpstr>ADMINISTRACIÓN JAPONESA  INTEGRANTES: NIDYA YECELL COLORADO CAROLINA JARAMILLO KATERIN MURCIA   “NO HAY MÁS RIQUEZA QUE LA REPRESENTADA EN TÉRMINOS DE HOMBRES”    </vt:lpstr>
      <vt:lpstr>        </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Hay muchas diferencias entre las actividades de Control de Calidad en el Japón y las realizadas en los Estados Unidos, Europa Occidental. Esto se debe en parte a las características socioculturales de cada nación. </vt:lpstr>
      <vt:lpstr>El Japón hace escaso hincapié en el profesionalismo. Cuando un ingeniero se vincula a la empresa, se empieza a rotar entre las distintas divisiones. A veces algunos ingenieros pasan a la división de mercadeo. El sistema no crea profesionales de la mas alta competencia, pero el profesionalismo es un legado del antiguo sistema de los gremios, que ha pasado a mejor vida. La gente tiene capacidades muy grandes y el profesionalismo no suele reconocerlas.   </vt:lpstr>
      <vt:lpstr>Se ha dicho que el Japón es una sociedad vertical con una fortísima relación entre los de arriba y los de abajo. En las organizaciones comerciales japonesas, las organizaciones que participan directamente en las actividades comerciales suelen ser fuertes, pero las divisiones administrativas como la de CC son relativamente débiles.   </vt:lpstr>
      <vt:lpstr>   En los Estados Unidos y Europa los sindicatos laborales tienen una organización laboral , este sistema también es un legado del antiguo sistema gremial y es sencillamente arcaico.  </vt:lpstr>
      <vt:lpstr>En el Japón, la mayoría de los sindicatos abarcar toda la empresa. En las industrias japonesas los trabajadores hábiles reciben capacitación en diversas especialidades y se forman empleados multifuncionales. Esto es imposible en los Estados Unidos y Europa, donde los sindicatos funcionales son demasiado fuertes.</vt:lpstr>
      <vt:lpstr>   No es aplicable al Japón en la actualidad, hace 50 años los ingenieros eran escasos y la mayoría de trabajadores habían terminado apenas sus estudios primarios o bien eran analfabetos.    </vt:lpstr>
      <vt:lpstr>En tales circunstancias, el método Taylor probablemente sería eficaz. En el mundo de hoy, con trabajadores educados y conscientes, no se puede imponer este método. Si a las personas se les trata como maquinas, el trabajo pierde todo interés y deja de ser una fuente de satisfacción.  </vt:lpstr>
      <vt:lpstr>  En Europa, especialmente en Inglaterra y Francia, hay cierta diferencia de clase notoria en los graduados de determinadas universidades y que constituye casi una discriminación contra los menos afortunados. en Francia los jefes de sección y división constituyen una raza diferente de los supervisores.   </vt:lpstr>
      <vt:lpstr>En el Japón de la posguerra el numero de graduados ha aumentado tanto que el elitismo parece estar desapareciendo. Las únicas excepciones pueden ser los graduados de la facultad de derecho de la Universidad de Tokio. En términos generales, la tendencia es conveniente: el elitismo es algo parecido al método Taylor.</vt:lpstr>
      <vt:lpstr>  En los Estados Unidos y Europa Occidental el sistema de pagos se basa en los meritos. Es un sistema que paga mas a quienes son mas eficientes, sin tener en cuenta la edad. Últimamente, el Japón ha estado introduciendo el elemento del merito en su sistema de pagos, pero la antigüedad y la jerarquía siguen predominando. Pienso que el régimen de pagos según los meritos se justifica con el argumento de que el dinero hace que la gente trabaje.    </vt:lpstr>
      <vt:lpstr>  Al promover las actividades de Control de Calidad, nos dimos cuenta de las diferencias ya descritas entre el  Japón y los países occidentales.   En diciembre de 1967 el séptimo Simposio sobre CC determinó seis características :  1. Control de calidad en toda empresa: participación de todos los miembros de la organización. 2. Educación y capacitación en Control de Calidad. 3. Actividades en los círculos de Control de Calidad. 4. Auditoria de Control de Calidad. 5. Utilización de métodos estadísticos.  6. Actividades de promoción del Control de Calidad a escala nacional.  </vt:lpstr>
      <vt:lpstr>Diapositiva 34</vt:lpstr>
      <vt:lpstr>Diapositiva 35</vt:lpstr>
      <vt:lpstr>Diapositiva 36</vt:lpstr>
      <vt:lpstr>Diapositiva 37</vt:lpstr>
      <vt:lpstr>Diapositiva 38</vt:lpstr>
      <vt:lpstr>Diapositiva 39</vt:lpstr>
      <vt:lpstr>Diapositiva 40</vt:lpstr>
      <vt:lpstr>Diapositiva 41</vt:lpstr>
      <vt:lpstr>Diapositiva 42</vt:lpstr>
      <vt:lpstr>Diapositiva 43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obrero japonés es un obrero leal. Nunca se enferma, trabaja doce horas del día si su patrón se lo demanda, nunca protesta ni hace huelgas. Solo toma siete días de vacaciones por año. Y su sindicato siempre aprueba las decisiones de la administración.</dc:title>
  <dc:creator>.</dc:creator>
  <cp:lastModifiedBy>jorge lopez</cp:lastModifiedBy>
  <cp:revision>45</cp:revision>
  <dcterms:created xsi:type="dcterms:W3CDTF">2009-11-05T16:38:05Z</dcterms:created>
  <dcterms:modified xsi:type="dcterms:W3CDTF">2009-11-11T16:25:53Z</dcterms:modified>
</cp:coreProperties>
</file>