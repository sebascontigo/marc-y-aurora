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2"/>
  </p:sldMasterIdLst>
  <p:sldIdLst>
    <p:sldId id="296" r:id="rId3"/>
    <p:sldId id="297" r:id="rId4"/>
    <p:sldId id="298" r:id="rId5"/>
    <p:sldId id="299" r:id="rId6"/>
    <p:sldId id="300" r:id="rId7"/>
    <p:sldId id="301" r:id="rId8"/>
    <p:sldId id="302" r:id="rId9"/>
    <p:sldId id="303" r:id="rId10"/>
    <p:sldId id="304" r:id="rId11"/>
    <p:sldId id="305" r:id="rId12"/>
    <p:sldId id="306" r:id="rId13"/>
    <p:sldId id="307" r:id="rId14"/>
    <p:sldId id="308" r:id="rId15"/>
    <p:sldId id="309" r:id="rId16"/>
    <p:sldId id="256" r:id="rId17"/>
    <p:sldId id="257" r:id="rId18"/>
    <p:sldId id="258" r:id="rId19"/>
    <p:sldId id="259" r:id="rId20"/>
    <p:sldId id="260"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extLst>
    <p:ext uri="{E76CE94A-603C-4142-B9EB-6D1370010A27}">
      <p14:discardImageEditData xmlns="" xmlns:p14="http://schemas.microsoft.com/office/powerpoint/2007/7/12/main" val="0"/>
    </p:ext>
    <p:ext uri="{D31A062A-798A-4329-ABDD-BBA856620510}">
      <p14:defaultImageDpi xmlns="" xmlns:p14="http://schemas.microsoft.com/office/powerpoint/2007/7/12/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4" d="100"/>
          <a:sy n="84" d="100"/>
        </p:scale>
        <p:origin x="-1152" y="-162"/>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19" name="Footer Placeholder 18"/>
          <p:cNvSpPr>
            <a:spLocks noGrp="1"/>
          </p:cNvSpPr>
          <p:nvPr>
            <p:ph type="ftr" sz="quarter" idx="11"/>
          </p:nvPr>
        </p:nvSpPr>
        <p:spPr/>
        <p:txBody>
          <a:bodyPr/>
          <a:lstStyle/>
          <a:p>
            <a:endParaRPr lang="es-CO"/>
          </a:p>
        </p:txBody>
      </p:sp>
      <p:sp>
        <p:nvSpPr>
          <p:cNvPr id="27" name="Slide Number Placeholder 26"/>
          <p:cNvSpPr>
            <a:spLocks noGrp="1"/>
          </p:cNvSpPr>
          <p:nvPr>
            <p:ph type="sldNum" sz="quarter" idx="12"/>
          </p:nvPr>
        </p:nvSpPr>
        <p:spPr/>
        <p:txBody>
          <a:bodyPr/>
          <a:lstStyle/>
          <a:p>
            <a:fld id="{D3B9808C-9AA6-4CEE-803D-349DA637422E}" type="slidenum">
              <a:rPr lang="es-CO" smtClean="0"/>
              <a:pPr/>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3B9808C-9AA6-4CEE-803D-349DA637422E}" type="slidenum">
              <a:rPr lang="es-CO" smtClean="0"/>
              <a:pPr/>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8" name="Slide Number Placeholder 7"/>
          <p:cNvSpPr>
            <a:spLocks noGrp="1"/>
          </p:cNvSpPr>
          <p:nvPr>
            <p:ph type="sldNum" sz="quarter" idx="11"/>
          </p:nvPr>
        </p:nvSpPr>
        <p:spPr/>
        <p:txBody>
          <a:bodyPr/>
          <a:lstStyle/>
          <a:p>
            <a:fld id="{D3B9808C-9AA6-4CEE-803D-349DA637422E}" type="slidenum">
              <a:rPr lang="es-CO" smtClean="0"/>
              <a:pPr/>
              <a:t>‹Nº›</a:t>
            </a:fld>
            <a:endParaRPr lang="es-CO"/>
          </a:p>
        </p:txBody>
      </p:sp>
      <p:sp>
        <p:nvSpPr>
          <p:cNvPr id="9" name="Footer Placeholder 8"/>
          <p:cNvSpPr>
            <a:spLocks noGrp="1"/>
          </p:cNvSpPr>
          <p:nvPr>
            <p:ph type="ftr" sz="quarter" idx="12"/>
          </p:nvPr>
        </p:nvSpPr>
        <p:spPr/>
        <p:txBody>
          <a:bodyPr/>
          <a:lstStyle/>
          <a:p>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a:xfrm>
            <a:off x="8156448" y="6422064"/>
            <a:ext cx="762000" cy="365125"/>
          </a:xfrm>
        </p:spPr>
        <p:txBody>
          <a:bodyPr/>
          <a:lstStyle/>
          <a:p>
            <a:fld id="{D3B9808C-9AA6-4CEE-803D-349DA637422E}"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D670E9CA-C94B-4A7F-9257-A7EFDF5C3464}" type="datetimeFigureOut">
              <a:rPr lang="es-CO" smtClean="0"/>
              <a:pPr/>
              <a:t>13/10/2010</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70E9CA-C94B-4A7F-9257-A7EFDF5C3464}" type="datetimeFigureOut">
              <a:rPr lang="es-CO" smtClean="0"/>
              <a:pPr/>
              <a:t>13/10/2010</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3B9808C-9AA6-4CEE-803D-349DA637422E}" type="slidenum">
              <a:rPr lang="es-CO" smtClean="0"/>
              <a:pPr/>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D670E9CA-C94B-4A7F-9257-A7EFDF5C3464}" type="datetimeFigureOut">
              <a:rPr lang="es-CO" smtClean="0"/>
              <a:pPr/>
              <a:t>13/10/2010</a:t>
            </a:fld>
            <a:endParaRPr lang="es-CO"/>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s-CO"/>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D3B9808C-9AA6-4CEE-803D-349DA637422E}" type="slidenum">
              <a:rPr lang="es-CO" smtClean="0"/>
              <a:pPr/>
              <a:t>‹Nº›</a:t>
            </a:fld>
            <a:endParaRPr lang="es-CO"/>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14348" y="785794"/>
            <a:ext cx="7851648" cy="1828800"/>
          </a:xfrm>
        </p:spPr>
        <p:txBody>
          <a:bodyPr/>
          <a:lstStyle/>
          <a:p>
            <a:r>
              <a:rPr lang="es-AR" dirty="0" smtClean="0"/>
              <a:t>Peter </a:t>
            </a:r>
            <a:r>
              <a:rPr lang="es-AR" dirty="0" err="1" smtClean="0"/>
              <a:t>Drucker</a:t>
            </a:r>
            <a:endParaRPr lang="es-ES" dirty="0"/>
          </a:p>
        </p:txBody>
      </p:sp>
      <p:sp>
        <p:nvSpPr>
          <p:cNvPr id="3" name="2 Subtítulo"/>
          <p:cNvSpPr>
            <a:spLocks noGrp="1"/>
          </p:cNvSpPr>
          <p:nvPr>
            <p:ph type="subTitle" idx="1"/>
          </p:nvPr>
        </p:nvSpPr>
        <p:spPr>
          <a:xfrm>
            <a:off x="500034" y="2714620"/>
            <a:ext cx="8253442" cy="2700794"/>
          </a:xfrm>
        </p:spPr>
        <p:txBody>
          <a:bodyPr>
            <a:normAutofit/>
          </a:bodyPr>
          <a:lstStyle/>
          <a:p>
            <a:r>
              <a:rPr lang="es-AR" sz="2400" dirty="0" smtClean="0">
                <a:latin typeface="Arial" pitchFamily="34" charset="0"/>
                <a:cs typeface="Arial" pitchFamily="34" charset="0"/>
              </a:rPr>
              <a:t>Nació el 19 de noviembre de 1909 en Viena (Austria) de nacionalidad Norteamericana por adopción; considerado el padre del </a:t>
            </a:r>
            <a:r>
              <a:rPr lang="es-AR" sz="2400" dirty="0" err="1" smtClean="0">
                <a:latin typeface="Arial" pitchFamily="34" charset="0"/>
                <a:cs typeface="Arial" pitchFamily="34" charset="0"/>
              </a:rPr>
              <a:t>management</a:t>
            </a:r>
            <a:r>
              <a:rPr lang="es-AR" sz="2400" dirty="0" smtClean="0">
                <a:latin typeface="Arial" pitchFamily="34" charset="0"/>
                <a:cs typeface="Arial" pitchFamily="34" charset="0"/>
              </a:rPr>
              <a:t>; el mas grande pensador y líder en el campo de la administración de empresas del siglo XX. Ha creado conceptos como privatización, emprendimiento, y trabajador del conocimiento y a definido la administración por objetivos (APO). </a:t>
            </a:r>
            <a:endParaRPr lang="es-ES" sz="2400" dirty="0"/>
          </a:p>
        </p:txBody>
      </p:sp>
      <p:pic>
        <p:nvPicPr>
          <p:cNvPr id="1026" name="Picture 2"/>
          <p:cNvPicPr>
            <a:picLocks noChangeAspect="1" noChangeArrowheads="1"/>
          </p:cNvPicPr>
          <p:nvPr/>
        </p:nvPicPr>
        <p:blipFill>
          <a:blip r:embed="rId2" cstate="print"/>
          <a:srcRect/>
          <a:stretch>
            <a:fillRect/>
          </a:stretch>
        </p:blipFill>
        <p:spPr bwMode="auto">
          <a:xfrm>
            <a:off x="428596" y="357166"/>
            <a:ext cx="2571768" cy="2143140"/>
          </a:xfrm>
          <a:prstGeom prst="rect">
            <a:avLst/>
          </a:prstGeom>
          <a:noFill/>
          <a:ln w="9525">
            <a:noFill/>
            <a:miter lim="800000"/>
            <a:headEnd/>
            <a:tailEnd/>
          </a:ln>
          <a:effectLst/>
        </p:spPr>
      </p:pic>
    </p:spTree>
    <p:extLst>
      <p:ext uri="{BB962C8B-B14F-4D97-AF65-F5344CB8AC3E}">
        <p14:creationId xmlns="" xmlns:p14="http://schemas.microsoft.com/office/powerpoint/2007/7/12/main" val="1082485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ORIGEN DE LA ADMINISTRACION POR OBJETIVOS.</a:t>
            </a:r>
            <a:endParaRPr lang="es-ES" dirty="0"/>
          </a:p>
        </p:txBody>
      </p:sp>
      <p:sp>
        <p:nvSpPr>
          <p:cNvPr id="3" name="2 Marcador de contenido"/>
          <p:cNvSpPr>
            <a:spLocks noGrp="1"/>
          </p:cNvSpPr>
          <p:nvPr>
            <p:ph idx="1"/>
          </p:nvPr>
        </p:nvSpPr>
        <p:spPr/>
        <p:txBody>
          <a:bodyPr>
            <a:normAutofit fontScale="92500" lnSpcReduction="20000"/>
          </a:bodyPr>
          <a:lstStyle/>
          <a:p>
            <a:r>
              <a:rPr lang="es-AR" dirty="0" smtClean="0"/>
              <a:t>Su aparición ocurrió en 1954, cuando Peter  F. </a:t>
            </a:r>
            <a:r>
              <a:rPr lang="es-AR" dirty="0" err="1" smtClean="0"/>
              <a:t>Druker</a:t>
            </a:r>
            <a:r>
              <a:rPr lang="es-AR" dirty="0" smtClean="0"/>
              <a:t> publico un libro sobre APO . </a:t>
            </a:r>
          </a:p>
          <a:p>
            <a:r>
              <a:rPr lang="es-AR" dirty="0" smtClean="0"/>
              <a:t>Intervención keynesiana durante la crisis de 1929.</a:t>
            </a:r>
          </a:p>
          <a:p>
            <a:r>
              <a:rPr lang="es-AR" dirty="0" smtClean="0"/>
              <a:t>Los empresarios vieron caer su margen de utilidades y aumentar la necesidad de reducir gastos .</a:t>
            </a:r>
          </a:p>
          <a:p>
            <a:r>
              <a:rPr lang="es-AR" dirty="0" smtClean="0"/>
              <a:t>La presión económica. </a:t>
            </a:r>
          </a:p>
          <a:p>
            <a:r>
              <a:rPr lang="es-AR" dirty="0" smtClean="0"/>
              <a:t>Las presiones fuertes con intervenciones y controles  gubernamentales.</a:t>
            </a:r>
          </a:p>
          <a:p>
            <a:pPr>
              <a:buNone/>
            </a:pPr>
            <a:endParaRPr lang="es-ES" dirty="0"/>
          </a:p>
        </p:txBody>
      </p:sp>
    </p:spTree>
    <p:extLst>
      <p:ext uri="{BB962C8B-B14F-4D97-AF65-F5344CB8AC3E}">
        <p14:creationId xmlns="" xmlns:p14="http://schemas.microsoft.com/office/powerpoint/2007/7/12/main" val="14079452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71480"/>
            <a:ext cx="8229600" cy="5753120"/>
          </a:xfrm>
        </p:spPr>
        <p:txBody>
          <a:bodyPr/>
          <a:lstStyle/>
          <a:p>
            <a:r>
              <a:rPr lang="es-AR" dirty="0" smtClean="0">
                <a:latin typeface="Arial" pitchFamily="34" charset="0"/>
                <a:cs typeface="Arial" pitchFamily="34" charset="0"/>
              </a:rPr>
              <a:t>Las empresas buscaron una forma de equilibrar objetivos, de aumentar la participación, descentralizar decisiones , de permitir el auto -control y la auto -evaluación, de tener mayor libertad y de relajar los controles. Así surgió la descentralización y la administración por resultados.</a:t>
            </a:r>
          </a:p>
          <a:p>
            <a:r>
              <a:rPr lang="es-ES" dirty="0" smtClean="0">
                <a:latin typeface="Arial" pitchFamily="34" charset="0"/>
                <a:cs typeface="Arial" pitchFamily="34" charset="0"/>
              </a:rPr>
              <a:t>Surgió como método de evaluación y control sobre el desempeño de áreas y organizaciones en crecimiento rápido</a:t>
            </a:r>
            <a:endParaRPr lang="es-ES" dirty="0">
              <a:latin typeface="Arial" pitchFamily="34" charset="0"/>
              <a:cs typeface="Arial" pitchFamily="34" charset="0"/>
            </a:endParaRPr>
          </a:p>
        </p:txBody>
      </p:sp>
    </p:spTree>
    <p:extLst>
      <p:ext uri="{BB962C8B-B14F-4D97-AF65-F5344CB8AC3E}">
        <p14:creationId xmlns="" xmlns:p14="http://schemas.microsoft.com/office/powerpoint/2007/7/12/main" val="2690146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214290"/>
            <a:ext cx="8229600" cy="928694"/>
          </a:xfrm>
        </p:spPr>
        <p:txBody>
          <a:bodyPr>
            <a:normAutofit/>
          </a:bodyPr>
          <a:lstStyle/>
          <a:p>
            <a:r>
              <a:rPr lang="es-AR" dirty="0" smtClean="0"/>
              <a:t>CARACTERISTICAS DE LA APO</a:t>
            </a:r>
            <a:endParaRPr lang="es-ES" dirty="0"/>
          </a:p>
        </p:txBody>
      </p:sp>
      <p:sp>
        <p:nvSpPr>
          <p:cNvPr id="3" name="2 Marcador de contenido"/>
          <p:cNvSpPr>
            <a:spLocks noGrp="1"/>
          </p:cNvSpPr>
          <p:nvPr>
            <p:ph idx="1"/>
          </p:nvPr>
        </p:nvSpPr>
        <p:spPr>
          <a:xfrm>
            <a:off x="428596" y="1428736"/>
            <a:ext cx="8229600" cy="4389120"/>
          </a:xfrm>
        </p:spPr>
        <p:txBody>
          <a:bodyPr>
            <a:normAutofit fontScale="85000" lnSpcReduction="20000"/>
          </a:bodyPr>
          <a:lstStyle/>
          <a:p>
            <a:r>
              <a:rPr lang="es-AR" dirty="0" smtClean="0">
                <a:latin typeface="Arial" pitchFamily="34" charset="0"/>
                <a:cs typeface="Arial" pitchFamily="34" charset="0"/>
              </a:rPr>
              <a:t>Establecimiento conjunto de objetivos entre el gerente y su superior.</a:t>
            </a:r>
          </a:p>
          <a:p>
            <a:r>
              <a:rPr lang="es-AR" dirty="0" smtClean="0">
                <a:latin typeface="Arial" pitchFamily="34" charset="0"/>
                <a:cs typeface="Arial" pitchFamily="34" charset="0"/>
              </a:rPr>
              <a:t>Establecer objetivos para cada departamento o posición </a:t>
            </a:r>
          </a:p>
          <a:p>
            <a:r>
              <a:rPr lang="es-AR" dirty="0" smtClean="0">
                <a:latin typeface="Arial" pitchFamily="34" charset="0"/>
                <a:cs typeface="Arial" pitchFamily="34" charset="0"/>
              </a:rPr>
              <a:t>Interrelaciones entre los objetivos departamentales</a:t>
            </a:r>
          </a:p>
          <a:p>
            <a:r>
              <a:rPr lang="es-AR" dirty="0" smtClean="0">
                <a:latin typeface="Arial" pitchFamily="34" charset="0"/>
                <a:cs typeface="Arial" pitchFamily="34" charset="0"/>
              </a:rPr>
              <a:t>Énfasis en la medición y el control de resultados</a:t>
            </a:r>
          </a:p>
          <a:p>
            <a:r>
              <a:rPr lang="es-AR" dirty="0" smtClean="0">
                <a:latin typeface="Arial" pitchFamily="34" charset="0"/>
                <a:cs typeface="Arial" pitchFamily="34" charset="0"/>
              </a:rPr>
              <a:t>Continua evaluación, revisión y modificación de los planes</a:t>
            </a:r>
          </a:p>
          <a:p>
            <a:r>
              <a:rPr lang="es-AR" dirty="0" smtClean="0">
                <a:latin typeface="Arial" pitchFamily="34" charset="0"/>
                <a:cs typeface="Arial" pitchFamily="34" charset="0"/>
              </a:rPr>
              <a:t>Participación activa de las gerencias y de los subordinados</a:t>
            </a:r>
          </a:p>
          <a:p>
            <a:r>
              <a:rPr lang="es-AR" dirty="0" smtClean="0">
                <a:latin typeface="Arial" pitchFamily="34" charset="0"/>
                <a:cs typeface="Arial" pitchFamily="34" charset="0"/>
              </a:rPr>
              <a:t>Apoyo intensivo del personal</a:t>
            </a:r>
          </a:p>
          <a:p>
            <a:endParaRPr lang="es-ES" dirty="0"/>
          </a:p>
        </p:txBody>
      </p:sp>
    </p:spTree>
    <p:extLst>
      <p:ext uri="{BB962C8B-B14F-4D97-AF65-F5344CB8AC3E}">
        <p14:creationId xmlns="" xmlns:p14="http://schemas.microsoft.com/office/powerpoint/2007/7/12/main" val="25250010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357166"/>
            <a:ext cx="8229600" cy="1071570"/>
          </a:xfrm>
        </p:spPr>
        <p:txBody>
          <a:bodyPr/>
          <a:lstStyle/>
          <a:p>
            <a:r>
              <a:rPr lang="es-AR" dirty="0" smtClean="0"/>
              <a:t>Fijación de objetivos</a:t>
            </a:r>
            <a:endParaRPr lang="es-ES" dirty="0"/>
          </a:p>
        </p:txBody>
      </p:sp>
      <p:sp>
        <p:nvSpPr>
          <p:cNvPr id="3" name="2 Marcador de contenido"/>
          <p:cNvSpPr>
            <a:spLocks noGrp="1"/>
          </p:cNvSpPr>
          <p:nvPr>
            <p:ph idx="1"/>
          </p:nvPr>
        </p:nvSpPr>
        <p:spPr>
          <a:xfrm>
            <a:off x="428596" y="1714488"/>
            <a:ext cx="8229600" cy="4389120"/>
          </a:xfrm>
        </p:spPr>
        <p:txBody>
          <a:bodyPr/>
          <a:lstStyle/>
          <a:p>
            <a:pPr marL="0" indent="0" algn="just">
              <a:buNone/>
            </a:pPr>
            <a:r>
              <a:rPr lang="es-AR" dirty="0" smtClean="0">
                <a:latin typeface="Arial" pitchFamily="34" charset="0"/>
                <a:cs typeface="Arial" pitchFamily="34" charset="0"/>
              </a:rPr>
              <a:t>la administración por objetivos es un modelo de administración por medio del cual las gerencias de una organización establecen metas para sus administraciones al principio de cada periodo. “un objetivo es un enunciado por escrito sobre los resultados que serán alcanzados en un determinado periodo. Debe ser cuantificable, difícil, relevante y compatible.</a:t>
            </a:r>
            <a:endParaRPr lang="es-ES" dirty="0">
              <a:latin typeface="Arial" pitchFamily="34" charset="0"/>
              <a:cs typeface="Arial" pitchFamily="34" charset="0"/>
            </a:endParaRPr>
          </a:p>
        </p:txBody>
      </p:sp>
    </p:spTree>
    <p:extLst>
      <p:ext uri="{BB962C8B-B14F-4D97-AF65-F5344CB8AC3E}">
        <p14:creationId xmlns="" xmlns:p14="http://schemas.microsoft.com/office/powerpoint/2007/7/12/main" val="8589108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AR" sz="4000" dirty="0" smtClean="0"/>
              <a:t>La importancia de los objetivos pueden evaluarse por los siguientes aspectos </a:t>
            </a:r>
            <a:endParaRPr lang="es-ES" sz="4000" dirty="0"/>
          </a:p>
        </p:txBody>
      </p:sp>
      <p:sp>
        <p:nvSpPr>
          <p:cNvPr id="3" name="2 Marcador de contenido"/>
          <p:cNvSpPr>
            <a:spLocks noGrp="1"/>
          </p:cNvSpPr>
          <p:nvPr>
            <p:ph idx="1"/>
          </p:nvPr>
        </p:nvSpPr>
        <p:spPr>
          <a:xfrm>
            <a:off x="500034" y="2071678"/>
            <a:ext cx="8229600" cy="4389120"/>
          </a:xfrm>
        </p:spPr>
        <p:txBody>
          <a:bodyPr/>
          <a:lstStyle/>
          <a:p>
            <a:r>
              <a:rPr lang="es-AR" dirty="0" smtClean="0">
                <a:latin typeface="Arial" pitchFamily="34" charset="0"/>
                <a:cs typeface="Arial" pitchFamily="34" charset="0"/>
              </a:rPr>
              <a:t>los objetivos proporcionan una directriz o una finalidad común.</a:t>
            </a:r>
          </a:p>
          <a:p>
            <a:r>
              <a:rPr lang="es-AR" dirty="0" smtClean="0">
                <a:latin typeface="Arial" pitchFamily="34" charset="0"/>
                <a:cs typeface="Arial" pitchFamily="34" charset="0"/>
              </a:rPr>
              <a:t>Permiten el trabajo en equipo y eliminan las tendencias egocéntricas de grupos existentes en la organización.</a:t>
            </a:r>
          </a:p>
          <a:p>
            <a:r>
              <a:rPr lang="es-AR" dirty="0" smtClean="0">
                <a:latin typeface="Arial" pitchFamily="34" charset="0"/>
                <a:cs typeface="Arial" pitchFamily="34" charset="0"/>
              </a:rPr>
              <a:t>Sirve de base para evaluar planes y evitan errores debido a la omisión.</a:t>
            </a:r>
          </a:p>
          <a:p>
            <a:pPr>
              <a:buNone/>
            </a:pPr>
            <a:r>
              <a:rPr lang="es-AR" dirty="0" smtClean="0">
                <a:latin typeface="Arial" pitchFamily="34" charset="0"/>
                <a:cs typeface="Arial" pitchFamily="34" charset="0"/>
              </a:rPr>
              <a:t> </a:t>
            </a:r>
          </a:p>
        </p:txBody>
      </p:sp>
    </p:spTree>
    <p:extLst>
      <p:ext uri="{BB962C8B-B14F-4D97-AF65-F5344CB8AC3E}">
        <p14:creationId xmlns="" xmlns:p14="http://schemas.microsoft.com/office/powerpoint/2007/7/12/main" val="28036258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500174"/>
            <a:ext cx="8229600" cy="3429024"/>
          </a:xfrm>
        </p:spPr>
        <p:txBody>
          <a:bodyPr/>
          <a:lstStyle/>
          <a:p>
            <a:r>
              <a:rPr lang="es-AR" dirty="0" smtClean="0">
                <a:latin typeface="Arial" pitchFamily="34" charset="0"/>
                <a:cs typeface="Arial" pitchFamily="34" charset="0"/>
              </a:rPr>
              <a:t>Mejoran las posibilidades de previsión del futuro. La organización debe dirigir su destino, En lugar de someterse a las fatalidades o la casualidad. </a:t>
            </a:r>
          </a:p>
          <a:p>
            <a:r>
              <a:rPr lang="es-AR" dirty="0" smtClean="0">
                <a:latin typeface="Arial" pitchFamily="34" charset="0"/>
                <a:cs typeface="Arial" pitchFamily="34" charset="0"/>
              </a:rPr>
              <a:t>Cuando los recursos son escasos, los objetivos ayudan a orientar y a prever su distribución con criterio.</a:t>
            </a:r>
          </a:p>
          <a:p>
            <a:endParaRPr lang="es-AR" dirty="0" smtClean="0">
              <a:latin typeface="Arial" pitchFamily="34" charset="0"/>
              <a:cs typeface="Arial" pitchFamily="34" charset="0"/>
            </a:endParaRPr>
          </a:p>
        </p:txBody>
      </p:sp>
    </p:spTree>
    <p:extLst>
      <p:ext uri="{BB962C8B-B14F-4D97-AF65-F5344CB8AC3E}">
        <p14:creationId xmlns="" xmlns:p14="http://schemas.microsoft.com/office/powerpoint/2007/7/12/main" val="34808066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285728"/>
            <a:ext cx="8229600" cy="1428752"/>
          </a:xfrm>
        </p:spPr>
        <p:txBody>
          <a:bodyPr>
            <a:normAutofit fontScale="90000"/>
          </a:bodyPr>
          <a:lstStyle/>
          <a:p>
            <a:r>
              <a:rPr lang="es-AR" dirty="0" smtClean="0"/>
              <a:t>Criterios  de selección de los objetivos.</a:t>
            </a:r>
            <a:endParaRPr lang="es-ES" dirty="0"/>
          </a:p>
        </p:txBody>
      </p:sp>
      <p:sp>
        <p:nvSpPr>
          <p:cNvPr id="3" name="2 Marcador de contenido"/>
          <p:cNvSpPr>
            <a:spLocks noGrp="1"/>
          </p:cNvSpPr>
          <p:nvPr>
            <p:ph idx="1"/>
          </p:nvPr>
        </p:nvSpPr>
        <p:spPr/>
        <p:txBody>
          <a:bodyPr>
            <a:normAutofit fontScale="92500"/>
          </a:bodyPr>
          <a:lstStyle/>
          <a:p>
            <a:r>
              <a:rPr lang="es-ES" dirty="0" smtClean="0">
                <a:latin typeface="Arial" pitchFamily="34" charset="0"/>
                <a:cs typeface="Arial" pitchFamily="34" charset="0"/>
              </a:rPr>
              <a:t>buscar las actividades que tengan mayor impacto sobre los resultados.</a:t>
            </a:r>
          </a:p>
          <a:p>
            <a:r>
              <a:rPr lang="es-ES" dirty="0" smtClean="0">
                <a:latin typeface="Arial" pitchFamily="34" charset="0"/>
                <a:cs typeface="Arial" pitchFamily="34" charset="0"/>
              </a:rPr>
              <a:t>el objetivo debe ser específico en cuanto a los datos concretos: qué, cuánto, cuándo. </a:t>
            </a:r>
          </a:p>
          <a:p>
            <a:r>
              <a:rPr lang="es-AR" dirty="0" smtClean="0">
                <a:latin typeface="Arial" pitchFamily="34" charset="0"/>
                <a:cs typeface="Arial" pitchFamily="34" charset="0"/>
              </a:rPr>
              <a:t>Enfocar los objetivos en la actividad y no en la persona.</a:t>
            </a:r>
          </a:p>
          <a:p>
            <a:r>
              <a:rPr lang="es-AR" dirty="0" smtClean="0">
                <a:latin typeface="Arial" pitchFamily="34" charset="0"/>
                <a:cs typeface="Arial" pitchFamily="34" charset="0"/>
              </a:rPr>
              <a:t>Detallar en cada objetivo metas parciales.</a:t>
            </a:r>
          </a:p>
          <a:p>
            <a:r>
              <a:rPr lang="es-AR" dirty="0" smtClean="0">
                <a:latin typeface="Arial" pitchFamily="34" charset="0"/>
                <a:cs typeface="Arial" pitchFamily="34" charset="0"/>
              </a:rPr>
              <a:t>Usar lenguaje comprensible para los gerentes.</a:t>
            </a:r>
            <a:endParaRPr lang="es-ES" dirty="0" smtClean="0">
              <a:latin typeface="Arial" pitchFamily="34" charset="0"/>
              <a:cs typeface="Arial" pitchFamily="34" charset="0"/>
            </a:endParaRPr>
          </a:p>
          <a:p>
            <a:pPr>
              <a:buNone/>
            </a:pPr>
            <a:endParaRPr lang="es-ES" dirty="0"/>
          </a:p>
        </p:txBody>
      </p:sp>
    </p:spTree>
    <p:extLst>
      <p:ext uri="{BB962C8B-B14F-4D97-AF65-F5344CB8AC3E}">
        <p14:creationId xmlns="" xmlns:p14="http://schemas.microsoft.com/office/powerpoint/2007/7/12/main" val="42862187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714356"/>
            <a:ext cx="8229600" cy="4286280"/>
          </a:xfrm>
        </p:spPr>
        <p:txBody>
          <a:bodyPr>
            <a:normAutofit lnSpcReduction="10000"/>
          </a:bodyPr>
          <a:lstStyle/>
          <a:p>
            <a:r>
              <a:rPr lang="es-AR" dirty="0" smtClean="0">
                <a:latin typeface="Arial" pitchFamily="34" charset="0"/>
                <a:cs typeface="Arial" pitchFamily="34" charset="0"/>
              </a:rPr>
              <a:t>Mantenerse dentro de los principios de la administración. Concentrarse en los blancos vitales del negocio  y no dispersarse en actividades secundarias.</a:t>
            </a:r>
          </a:p>
          <a:p>
            <a:pPr>
              <a:buNone/>
            </a:pPr>
            <a:endParaRPr lang="es-AR" dirty="0" smtClean="0">
              <a:latin typeface="Arial" pitchFamily="34" charset="0"/>
              <a:cs typeface="Arial" pitchFamily="34" charset="0"/>
            </a:endParaRPr>
          </a:p>
          <a:p>
            <a:r>
              <a:rPr lang="es-AR" dirty="0" smtClean="0">
                <a:latin typeface="Arial" pitchFamily="34" charset="0"/>
                <a:cs typeface="Arial" pitchFamily="34" charset="0"/>
              </a:rPr>
              <a:t>El objetivos debe indicar los resultados que deben alcanzarse, pero no deben limitar la libertad de selección de los métodos. </a:t>
            </a:r>
            <a:r>
              <a:rPr lang="es-ES" dirty="0" smtClean="0">
                <a:latin typeface="Arial" pitchFamily="34" charset="0"/>
                <a:cs typeface="Arial" pitchFamily="34" charset="0"/>
              </a:rPr>
              <a:t>Indicar el cuanto, pero no el como.</a:t>
            </a:r>
            <a:endParaRPr lang="es-AR" dirty="0" smtClean="0">
              <a:latin typeface="Arial" pitchFamily="34" charset="0"/>
              <a:cs typeface="Arial" pitchFamily="34" charset="0"/>
            </a:endParaRPr>
          </a:p>
        </p:txBody>
      </p:sp>
    </p:spTree>
    <p:extLst>
      <p:ext uri="{BB962C8B-B14F-4D97-AF65-F5344CB8AC3E}">
        <p14:creationId xmlns="" xmlns:p14="http://schemas.microsoft.com/office/powerpoint/2007/7/12/main" val="42310646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071546"/>
            <a:ext cx="8229600" cy="4357718"/>
          </a:xfrm>
        </p:spPr>
        <p:txBody>
          <a:bodyPr>
            <a:normAutofit lnSpcReduction="10000"/>
          </a:bodyPr>
          <a:lstStyle/>
          <a:p>
            <a:r>
              <a:rPr lang="es-AR" dirty="0" smtClean="0">
                <a:latin typeface="Arial" pitchFamily="34" charset="0"/>
                <a:cs typeface="Arial" pitchFamily="34" charset="0"/>
              </a:rPr>
              <a:t>El objetivos debe ser difícil de alcanzar,  requerir de un esfuerzo especial, pero no hasta el punto de ser imposible.</a:t>
            </a:r>
          </a:p>
          <a:p>
            <a:r>
              <a:rPr lang="es-AR" dirty="0" smtClean="0">
                <a:latin typeface="Arial" pitchFamily="34" charset="0"/>
                <a:cs typeface="Arial" pitchFamily="34" charset="0"/>
              </a:rPr>
              <a:t>El objetivo debe representar una tarea suficiente para todo el ejercicio fiscal de la empresa.</a:t>
            </a:r>
          </a:p>
          <a:p>
            <a:r>
              <a:rPr lang="es-AR" dirty="0" smtClean="0">
                <a:latin typeface="Arial" pitchFamily="34" charset="0"/>
                <a:cs typeface="Arial" pitchFamily="34" charset="0"/>
              </a:rPr>
              <a:t>El objetivo debe estar conectado al plan de utilidades de la empresa , que debe ser, para algunos autores el ultimo objetivo.</a:t>
            </a:r>
            <a:endParaRPr lang="es-ES" dirty="0">
              <a:latin typeface="Arial" pitchFamily="34" charset="0"/>
              <a:cs typeface="Arial" pitchFamily="34" charset="0"/>
            </a:endParaRPr>
          </a:p>
        </p:txBody>
      </p:sp>
    </p:spTree>
    <p:extLst>
      <p:ext uri="{BB962C8B-B14F-4D97-AF65-F5344CB8AC3E}">
        <p14:creationId xmlns="" xmlns:p14="http://schemas.microsoft.com/office/powerpoint/2007/7/12/main" val="25283912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214290"/>
            <a:ext cx="8229600" cy="1000132"/>
          </a:xfrm>
        </p:spPr>
        <p:txBody>
          <a:bodyPr/>
          <a:lstStyle/>
          <a:p>
            <a:r>
              <a:rPr lang="es-AR" dirty="0" smtClean="0"/>
              <a:t>Objetivos mas comunes</a:t>
            </a:r>
            <a:endParaRPr lang="es-ES" dirty="0"/>
          </a:p>
        </p:txBody>
      </p:sp>
      <p:sp>
        <p:nvSpPr>
          <p:cNvPr id="3" name="2 Marcador de contenido"/>
          <p:cNvSpPr>
            <a:spLocks noGrp="1"/>
          </p:cNvSpPr>
          <p:nvPr>
            <p:ph idx="1"/>
          </p:nvPr>
        </p:nvSpPr>
        <p:spPr>
          <a:xfrm>
            <a:off x="428596" y="1714488"/>
            <a:ext cx="8229600" cy="4643470"/>
          </a:xfrm>
        </p:spPr>
        <p:txBody>
          <a:bodyPr/>
          <a:lstStyle/>
          <a:p>
            <a:r>
              <a:rPr lang="es-AR" dirty="0" smtClean="0"/>
              <a:t>Posición competitiva en el mercado.</a:t>
            </a:r>
          </a:p>
          <a:p>
            <a:r>
              <a:rPr lang="es-AR" dirty="0" smtClean="0"/>
              <a:t>Innovación y creatividad en los productos.</a:t>
            </a:r>
          </a:p>
          <a:p>
            <a:r>
              <a:rPr lang="es-AR" dirty="0" smtClean="0"/>
              <a:t>Productividad, eficiencia y calidad</a:t>
            </a:r>
            <a:r>
              <a:rPr lang="es-ES" dirty="0" smtClean="0"/>
              <a:t>.</a:t>
            </a:r>
          </a:p>
          <a:p>
            <a:r>
              <a:rPr lang="es-AR" dirty="0" smtClean="0"/>
              <a:t>Aplicación rentable de los recursos materiales y financieros.</a:t>
            </a:r>
          </a:p>
          <a:p>
            <a:r>
              <a:rPr lang="es-AR" dirty="0" smtClean="0"/>
              <a:t>Tasa de dividendos o índice de retorno del capital invertido “utilidades”.</a:t>
            </a:r>
          </a:p>
        </p:txBody>
      </p:sp>
    </p:spTree>
    <p:extLst>
      <p:ext uri="{BB962C8B-B14F-4D97-AF65-F5344CB8AC3E}">
        <p14:creationId xmlns="" xmlns:p14="http://schemas.microsoft.com/office/powerpoint/2007/7/12/main" val="37653272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214422"/>
            <a:ext cx="8229600" cy="4286280"/>
          </a:xfrm>
        </p:spPr>
        <p:txBody>
          <a:bodyPr>
            <a:normAutofit fontScale="92500"/>
          </a:bodyPr>
          <a:lstStyle/>
          <a:p>
            <a:r>
              <a:rPr lang="es-AR" dirty="0" smtClean="0"/>
              <a:t>Calidad de la administración y desarrollo de los ejecutivos.</a:t>
            </a:r>
          </a:p>
          <a:p>
            <a:pPr>
              <a:buNone/>
            </a:pPr>
            <a:endParaRPr lang="es-AR" dirty="0" smtClean="0"/>
          </a:p>
          <a:p>
            <a:r>
              <a:rPr lang="es-AR" dirty="0" smtClean="0"/>
              <a:t>Responsabilidad publica y social de la empresa.</a:t>
            </a:r>
          </a:p>
          <a:p>
            <a:pPr>
              <a:buNone/>
            </a:pPr>
            <a:endParaRPr lang="es-AR" dirty="0" smtClean="0"/>
          </a:p>
          <a:p>
            <a:r>
              <a:rPr lang="es-AR" dirty="0" smtClean="0"/>
              <a:t>Satisfacción del cliente</a:t>
            </a:r>
          </a:p>
          <a:p>
            <a:pPr>
              <a:buNone/>
            </a:pPr>
            <a:endParaRPr lang="es-AR" dirty="0" smtClean="0"/>
          </a:p>
          <a:p>
            <a:r>
              <a:rPr lang="es-AR" dirty="0" smtClean="0"/>
              <a:t>Competitividad en el escenario globalizado.</a:t>
            </a:r>
          </a:p>
          <a:p>
            <a:endParaRPr lang="es-ES" dirty="0"/>
          </a:p>
        </p:txBody>
      </p:sp>
    </p:spTree>
    <p:extLst>
      <p:ext uri="{BB962C8B-B14F-4D97-AF65-F5344CB8AC3E}">
        <p14:creationId xmlns="" xmlns:p14="http://schemas.microsoft.com/office/powerpoint/2007/7/12/main" val="5551015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85786" y="285728"/>
            <a:ext cx="7467600" cy="1143000"/>
          </a:xfrm>
        </p:spPr>
        <p:txBody>
          <a:bodyPr>
            <a:normAutofit/>
          </a:bodyPr>
          <a:lstStyle/>
          <a:p>
            <a:pPr algn="ctr"/>
            <a:r>
              <a:rPr lang="es-AR" dirty="0" smtClean="0">
                <a:solidFill>
                  <a:schemeClr val="accent1"/>
                </a:solidFill>
              </a:rPr>
              <a:t>Jerarquía de objetivos</a:t>
            </a:r>
            <a:endParaRPr lang="es-ES" dirty="0">
              <a:solidFill>
                <a:schemeClr val="accent1"/>
              </a:solidFill>
            </a:endParaRPr>
          </a:p>
        </p:txBody>
      </p:sp>
      <p:sp>
        <p:nvSpPr>
          <p:cNvPr id="3" name="2 Marcador de contenido"/>
          <p:cNvSpPr>
            <a:spLocks noGrp="1"/>
          </p:cNvSpPr>
          <p:nvPr>
            <p:ph idx="1"/>
          </p:nvPr>
        </p:nvSpPr>
        <p:spPr>
          <a:xfrm>
            <a:off x="500034" y="2000240"/>
            <a:ext cx="8229600" cy="3929090"/>
          </a:xfrm>
        </p:spPr>
        <p:txBody>
          <a:bodyPr>
            <a:normAutofit lnSpcReduction="10000"/>
          </a:bodyPr>
          <a:lstStyle/>
          <a:p>
            <a:pPr marL="0" indent="0" algn="just">
              <a:buNone/>
            </a:pPr>
            <a:r>
              <a:rPr lang="es-AR" dirty="0" smtClean="0"/>
              <a:t>Como las organizaciones  persiguen varios objetivos surge el problema de cuales son los mas importantes y prioritarios. Cada organización tiene su jerarquía de objetivos. </a:t>
            </a:r>
          </a:p>
          <a:p>
            <a:pPr marL="0" indent="0" algn="just">
              <a:buNone/>
            </a:pPr>
            <a:endParaRPr lang="es-AR" dirty="0"/>
          </a:p>
          <a:p>
            <a:pPr marL="0" indent="0" algn="just">
              <a:buNone/>
            </a:pPr>
            <a:r>
              <a:rPr lang="es-AR" b="1" dirty="0" smtClean="0">
                <a:solidFill>
                  <a:srgbClr val="0070C0"/>
                </a:solidFill>
              </a:rPr>
              <a:t>Los objetivos estratégicos están por encima de los tácticos y estos por encima de los operacionales</a:t>
            </a:r>
            <a:r>
              <a:rPr lang="es-AR" dirty="0" smtClean="0"/>
              <a:t>. </a:t>
            </a:r>
            <a:endParaRPr lang="es-ES" dirty="0"/>
          </a:p>
        </p:txBody>
      </p:sp>
    </p:spTree>
    <p:extLst>
      <p:ext uri="{BB962C8B-B14F-4D97-AF65-F5344CB8AC3E}">
        <p14:creationId xmlns="" xmlns:p14="http://schemas.microsoft.com/office/powerpoint/2007/7/12/main" val="10915249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smtClean="0"/>
              <a:t>Niveles de objetivos</a:t>
            </a:r>
            <a:endParaRPr lang="es-ES" dirty="0"/>
          </a:p>
        </p:txBody>
      </p:sp>
      <p:sp>
        <p:nvSpPr>
          <p:cNvPr id="3" name="2 Marcador de contenido"/>
          <p:cNvSpPr>
            <a:spLocks noGrp="1"/>
          </p:cNvSpPr>
          <p:nvPr>
            <p:ph idx="1"/>
          </p:nvPr>
        </p:nvSpPr>
        <p:spPr/>
        <p:txBody>
          <a:bodyPr/>
          <a:lstStyle/>
          <a:p>
            <a:endParaRPr lang="es-AR" dirty="0" smtClean="0"/>
          </a:p>
          <a:p>
            <a:r>
              <a:rPr lang="es-AR" dirty="0" smtClean="0"/>
              <a:t>Objetivos estratégicos.</a:t>
            </a:r>
          </a:p>
          <a:p>
            <a:pPr>
              <a:buNone/>
            </a:pPr>
            <a:endParaRPr lang="es-AR" dirty="0" smtClean="0"/>
          </a:p>
          <a:p>
            <a:r>
              <a:rPr lang="es-AR" dirty="0" smtClean="0"/>
              <a:t>Objetivos tácticos</a:t>
            </a:r>
          </a:p>
          <a:p>
            <a:pPr>
              <a:buNone/>
            </a:pPr>
            <a:endParaRPr lang="es-AR" dirty="0" smtClean="0"/>
          </a:p>
          <a:p>
            <a:r>
              <a:rPr lang="es-AR" dirty="0" smtClean="0"/>
              <a:t>Objetivos operacionales</a:t>
            </a:r>
          </a:p>
          <a:p>
            <a:pPr>
              <a:buNone/>
            </a:pPr>
            <a:endParaRPr lang="es-AR" dirty="0" smtClean="0"/>
          </a:p>
        </p:txBody>
      </p:sp>
    </p:spTree>
    <p:extLst>
      <p:ext uri="{BB962C8B-B14F-4D97-AF65-F5344CB8AC3E}">
        <p14:creationId xmlns="" xmlns:p14="http://schemas.microsoft.com/office/powerpoint/2007/7/12/main" val="28148087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 xmlns:a14="http://schemas.microsoft.com/office/drawing/2007/7/7/main" val="0"/>
              </a:ext>
            </a:extLst>
          </a:blip>
          <a:stretch>
            <a:fillRect/>
          </a:stretch>
        </p:blipFill>
        <p:spPr>
          <a:xfrm>
            <a:off x="285720" y="1857364"/>
            <a:ext cx="5143536" cy="4000528"/>
          </a:xfrm>
          <a:prstGeom prst="rect">
            <a:avLst/>
          </a:prstGeom>
        </p:spPr>
      </p:pic>
      <p:sp>
        <p:nvSpPr>
          <p:cNvPr id="2" name="Title 1"/>
          <p:cNvSpPr>
            <a:spLocks noGrp="1"/>
          </p:cNvSpPr>
          <p:nvPr>
            <p:ph type="ctrTitle"/>
          </p:nvPr>
        </p:nvSpPr>
        <p:spPr>
          <a:xfrm>
            <a:off x="1428728" y="500042"/>
            <a:ext cx="6480048" cy="1071570"/>
          </a:xfrm>
        </p:spPr>
        <p:txBody>
          <a:bodyPr>
            <a:normAutofit fontScale="90000"/>
          </a:bodyPr>
          <a:lstStyle/>
          <a:p>
            <a:pPr algn="ctr"/>
            <a:r>
              <a:rPr lang="es-CO" sz="6000" dirty="0"/>
              <a:t>CICLO DE LA  APO</a:t>
            </a:r>
            <a:r>
              <a:rPr lang="es-CO" dirty="0"/>
              <a:t/>
            </a:r>
            <a:br>
              <a:rPr lang="es-CO" dirty="0"/>
            </a:br>
            <a:endParaRPr lang="es-CO" dirty="0"/>
          </a:p>
        </p:txBody>
      </p:sp>
      <p:sp>
        <p:nvSpPr>
          <p:cNvPr id="6" name="TextBox 5"/>
          <p:cNvSpPr txBox="1"/>
          <p:nvPr/>
        </p:nvSpPr>
        <p:spPr>
          <a:xfrm>
            <a:off x="5357818" y="2143116"/>
            <a:ext cx="3571900" cy="2862322"/>
          </a:xfrm>
          <a:prstGeom prst="rect">
            <a:avLst/>
          </a:prstGeom>
          <a:noFill/>
        </p:spPr>
        <p:txBody>
          <a:bodyPr wrap="square" rtlCol="0">
            <a:spAutoFit/>
          </a:bodyPr>
          <a:lstStyle/>
          <a:p>
            <a:pPr marL="285750" indent="-285750" algn="just">
              <a:buFont typeface="Arial" pitchFamily="34" charset="0"/>
              <a:buChar char="•"/>
            </a:pPr>
            <a:r>
              <a:rPr lang="es-CO" dirty="0" smtClean="0"/>
              <a:t>La APO involucra un proceso cíclico.</a:t>
            </a:r>
          </a:p>
          <a:p>
            <a:pPr marL="285750" indent="-285750">
              <a:buFont typeface="Arial" pitchFamily="34" charset="0"/>
              <a:buChar char="•"/>
            </a:pPr>
            <a:endParaRPr lang="es-CO" dirty="0" smtClean="0"/>
          </a:p>
          <a:p>
            <a:pPr marL="285750" indent="-285750" algn="just">
              <a:buFont typeface="Arial" pitchFamily="34" charset="0"/>
              <a:buChar char="•"/>
            </a:pPr>
            <a:r>
              <a:rPr lang="es-CO" dirty="0" smtClean="0"/>
              <a:t>Este ciclo corresponde al ejercicio fiscal de la empresa.</a:t>
            </a:r>
          </a:p>
          <a:p>
            <a:pPr marL="285750" indent="-285750">
              <a:buFont typeface="Arial" pitchFamily="34" charset="0"/>
              <a:buChar char="•"/>
            </a:pPr>
            <a:endParaRPr lang="es-CO" dirty="0" smtClean="0"/>
          </a:p>
          <a:p>
            <a:pPr marL="285750" indent="-285750" algn="just">
              <a:buFont typeface="Arial" pitchFamily="34" charset="0"/>
              <a:buChar char="•"/>
            </a:pPr>
            <a:r>
              <a:rPr lang="es-CO" b="1" i="1" dirty="0" smtClean="0">
                <a:solidFill>
                  <a:schemeClr val="accent1">
                    <a:lumMod val="75000"/>
                  </a:schemeClr>
                </a:solidFill>
              </a:rPr>
              <a:t>Humble</a:t>
            </a:r>
            <a:r>
              <a:rPr lang="es-CO" dirty="0" smtClean="0"/>
              <a:t> y </a:t>
            </a:r>
            <a:r>
              <a:rPr lang="es-CO" b="1" i="1" dirty="0" smtClean="0">
                <a:solidFill>
                  <a:schemeClr val="accent1"/>
                </a:solidFill>
              </a:rPr>
              <a:t>Odiorne</a:t>
            </a:r>
            <a:r>
              <a:rPr lang="es-CO" dirty="0" smtClean="0"/>
              <a:t>, presentan  modelos muy variados cuyos ciclos muestran contenidos diferentes</a:t>
            </a:r>
            <a:endParaRPr lang="es-CO" dirty="0"/>
          </a:p>
        </p:txBody>
      </p:sp>
    </p:spTree>
    <p:extLst>
      <p:ext uri="{BB962C8B-B14F-4D97-AF65-F5344CB8AC3E}">
        <p14:creationId xmlns="" xmlns:p14="http://schemas.microsoft.com/office/powerpoint/2007/7/12/main" val="5657568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s-CO" b="1" dirty="0" smtClean="0">
                <a:solidFill>
                  <a:srgbClr val="33CCFF"/>
                </a:solidFill>
              </a:rPr>
              <a:t>MODELO DE HUMBLE</a:t>
            </a:r>
            <a:endParaRPr lang="es-CO" b="1" dirty="0">
              <a:solidFill>
                <a:srgbClr val="33CCFF"/>
              </a:solidFill>
            </a:endParaRPr>
          </a:p>
        </p:txBody>
      </p:sp>
      <p:pic>
        <p:nvPicPr>
          <p:cNvPr id="4" name="Content Placeholder 3"/>
          <p:cNvPicPr>
            <a:picLocks noGrp="1" noChangeAspect="1"/>
          </p:cNvPicPr>
          <p:nvPr>
            <p:ph idx="1"/>
          </p:nvPr>
        </p:nvPicPr>
        <p:blipFill rotWithShape="1">
          <a:blip r:embed="rId2" cstate="print">
            <a:extLst>
              <a:ext uri="28A0092B-C50C-407e-A947-70E740481C1C">
                <a14:useLocalDpi xmlns="" xmlns:a14="http://schemas.microsoft.com/office/drawing/2007/7/7/main" val="0"/>
              </a:ext>
            </a:extLst>
          </a:blip>
          <a:srcRect l="4445" r="17821"/>
          <a:stretch/>
        </p:blipFill>
        <p:spPr>
          <a:xfrm>
            <a:off x="357158" y="1571612"/>
            <a:ext cx="4165600" cy="4168871"/>
          </a:xfrm>
        </p:spPr>
      </p:pic>
      <p:sp>
        <p:nvSpPr>
          <p:cNvPr id="5" name="TextBox 4"/>
          <p:cNvSpPr txBox="1"/>
          <p:nvPr/>
        </p:nvSpPr>
        <p:spPr>
          <a:xfrm>
            <a:off x="5072066" y="1857364"/>
            <a:ext cx="3786214" cy="2585323"/>
          </a:xfrm>
          <a:prstGeom prst="rect">
            <a:avLst/>
          </a:prstGeom>
          <a:noFill/>
        </p:spPr>
        <p:txBody>
          <a:bodyPr wrap="square" rtlCol="0">
            <a:spAutoFit/>
          </a:bodyPr>
          <a:lstStyle/>
          <a:p>
            <a:pPr marL="285750" indent="-285750" algn="just">
              <a:buFont typeface="Arial" pitchFamily="34" charset="0"/>
              <a:buChar char="•"/>
            </a:pPr>
            <a:r>
              <a:rPr lang="es-CO" dirty="0" smtClean="0"/>
              <a:t>Humble define la APO, como un sistema dinámico.</a:t>
            </a:r>
          </a:p>
          <a:p>
            <a:pPr marL="285750" indent="-285750" algn="just">
              <a:buFont typeface="Arial" pitchFamily="34" charset="0"/>
              <a:buChar char="•"/>
            </a:pPr>
            <a:endParaRPr lang="es-CO" dirty="0" smtClean="0"/>
          </a:p>
          <a:p>
            <a:pPr algn="just"/>
            <a:endParaRPr lang="es-CO" dirty="0" smtClean="0"/>
          </a:p>
          <a:p>
            <a:pPr algn="just"/>
            <a:endParaRPr lang="es-CO" dirty="0"/>
          </a:p>
          <a:p>
            <a:pPr algn="just"/>
            <a:endParaRPr lang="es-CO" dirty="0"/>
          </a:p>
          <a:p>
            <a:pPr algn="just"/>
            <a:endParaRPr lang="es-CO" dirty="0" smtClean="0"/>
          </a:p>
          <a:p>
            <a:pPr marL="285750" indent="-285750" algn="just">
              <a:buFont typeface="Arial" pitchFamily="34" charset="0"/>
              <a:buChar char="•"/>
            </a:pPr>
            <a:r>
              <a:rPr lang="es-CO" dirty="0" smtClean="0"/>
              <a:t>Estilo de Gerencia exigente y remunerador.</a:t>
            </a:r>
            <a:endParaRPr lang="es-CO" dirty="0"/>
          </a:p>
        </p:txBody>
      </p:sp>
      <p:sp>
        <p:nvSpPr>
          <p:cNvPr id="6" name="Down Arrow 5"/>
          <p:cNvSpPr/>
          <p:nvPr/>
        </p:nvSpPr>
        <p:spPr>
          <a:xfrm>
            <a:off x="6572264" y="2786058"/>
            <a:ext cx="1071570" cy="8572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 xmlns:p14="http://schemas.microsoft.com/office/powerpoint/2007/7/12/main" val="31920345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24" y="285728"/>
            <a:ext cx="7467600" cy="1143000"/>
          </a:xfrm>
        </p:spPr>
        <p:txBody>
          <a:bodyPr/>
          <a:lstStyle/>
          <a:p>
            <a:pPr algn="ctr"/>
            <a:r>
              <a:rPr lang="es-CO" b="1" dirty="0" smtClean="0">
                <a:solidFill>
                  <a:schemeClr val="accent1"/>
                </a:solidFill>
              </a:rPr>
              <a:t>MODELO DE HUMBLE (Cont..)</a:t>
            </a:r>
            <a:endParaRPr lang="es-CO" b="1" dirty="0">
              <a:solidFill>
                <a:schemeClr val="accent1"/>
              </a:solidFill>
            </a:endParaRPr>
          </a:p>
        </p:txBody>
      </p:sp>
      <p:sp>
        <p:nvSpPr>
          <p:cNvPr id="3" name="Content Placeholder 2"/>
          <p:cNvSpPr>
            <a:spLocks noGrp="1"/>
          </p:cNvSpPr>
          <p:nvPr>
            <p:ph idx="1"/>
          </p:nvPr>
        </p:nvSpPr>
        <p:spPr/>
        <p:txBody>
          <a:bodyPr>
            <a:normAutofit fontScale="85000" lnSpcReduction="20000"/>
          </a:bodyPr>
          <a:lstStyle/>
          <a:p>
            <a:pPr marL="36576" indent="0" algn="just">
              <a:buNone/>
            </a:pPr>
            <a:r>
              <a:rPr lang="es-CO" dirty="0" smtClean="0"/>
              <a:t>El funcionamiento de un programa de APO requiere de los siguientes cuidados:</a:t>
            </a:r>
          </a:p>
          <a:p>
            <a:pPr algn="just"/>
            <a:endParaRPr lang="es-CO" dirty="0"/>
          </a:p>
          <a:p>
            <a:pPr algn="just"/>
            <a:r>
              <a:rPr lang="es-CO" dirty="0" smtClean="0"/>
              <a:t>1. Revisión </a:t>
            </a:r>
            <a:r>
              <a:rPr lang="es-CO" dirty="0"/>
              <a:t>critica de los planes estratégicos y tácticos de la empresa</a:t>
            </a:r>
            <a:r>
              <a:rPr lang="es-CO" dirty="0" smtClean="0"/>
              <a:t>.</a:t>
            </a:r>
          </a:p>
          <a:p>
            <a:pPr marL="36576" indent="0" algn="just">
              <a:buNone/>
            </a:pPr>
            <a:endParaRPr lang="es-CO" dirty="0"/>
          </a:p>
          <a:p>
            <a:pPr algn="just"/>
            <a:r>
              <a:rPr lang="es-CO" dirty="0" smtClean="0"/>
              <a:t>2. Esclarecimiento </a:t>
            </a:r>
            <a:r>
              <a:rPr lang="es-CO" dirty="0"/>
              <a:t>para cada gerente, de los resultados claves y lo estándares de desempeño que él necesita alcanzar</a:t>
            </a:r>
            <a:r>
              <a:rPr lang="es-CO" dirty="0" smtClean="0"/>
              <a:t>.</a:t>
            </a:r>
          </a:p>
          <a:p>
            <a:pPr marL="36576" indent="0" algn="just">
              <a:buNone/>
            </a:pPr>
            <a:endParaRPr lang="es-CO" dirty="0"/>
          </a:p>
          <a:p>
            <a:pPr algn="just"/>
            <a:r>
              <a:rPr lang="es-CO" dirty="0" smtClean="0"/>
              <a:t>3. Creación </a:t>
            </a:r>
            <a:r>
              <a:rPr lang="es-CO" dirty="0"/>
              <a:t>de un plan para mejorar las </a:t>
            </a:r>
            <a:r>
              <a:rPr lang="es-CO" dirty="0" smtClean="0"/>
              <a:t>funciones</a:t>
            </a:r>
            <a:r>
              <a:rPr lang="es-CO" dirty="0"/>
              <a:t>.</a:t>
            </a:r>
          </a:p>
          <a:p>
            <a:pPr algn="just"/>
            <a:endParaRPr lang="es-CO" dirty="0"/>
          </a:p>
        </p:txBody>
      </p:sp>
    </p:spTree>
    <p:extLst>
      <p:ext uri="{BB962C8B-B14F-4D97-AF65-F5344CB8AC3E}">
        <p14:creationId xmlns="" xmlns:p14="http://schemas.microsoft.com/office/powerpoint/2007/7/12/main" val="3274269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24" y="285728"/>
            <a:ext cx="7467600" cy="1143000"/>
          </a:xfrm>
        </p:spPr>
        <p:txBody>
          <a:bodyPr/>
          <a:lstStyle/>
          <a:p>
            <a:pPr algn="ctr"/>
            <a:r>
              <a:rPr lang="es-CO" b="1" dirty="0">
                <a:solidFill>
                  <a:schemeClr val="accent1"/>
                </a:solidFill>
              </a:rPr>
              <a:t>MODELO DE HUMBLE (Cont..)</a:t>
            </a:r>
            <a:endParaRPr lang="es-CO" dirty="0"/>
          </a:p>
        </p:txBody>
      </p:sp>
      <p:sp>
        <p:nvSpPr>
          <p:cNvPr id="3" name="Content Placeholder 2"/>
          <p:cNvSpPr>
            <a:spLocks noGrp="1"/>
          </p:cNvSpPr>
          <p:nvPr>
            <p:ph idx="1"/>
          </p:nvPr>
        </p:nvSpPr>
        <p:spPr/>
        <p:txBody>
          <a:bodyPr>
            <a:normAutofit/>
          </a:bodyPr>
          <a:lstStyle/>
          <a:p>
            <a:pPr algn="just"/>
            <a:r>
              <a:rPr lang="es-CO" dirty="0" smtClean="0"/>
              <a:t>4. Proporcionar condiciones que permitan alcanzar los resultados claves.</a:t>
            </a:r>
          </a:p>
          <a:p>
            <a:pPr algn="just"/>
            <a:endParaRPr lang="es-CO" dirty="0"/>
          </a:p>
          <a:p>
            <a:pPr algn="just"/>
            <a:r>
              <a:rPr lang="es-CO" dirty="0" smtClean="0"/>
              <a:t>5.</a:t>
            </a:r>
            <a:r>
              <a:rPr lang="es-CO" dirty="0"/>
              <a:t>	U</a:t>
            </a:r>
            <a:r>
              <a:rPr lang="es-CO" dirty="0" smtClean="0"/>
              <a:t>so sistemático de la evaluación del desempeño.</a:t>
            </a:r>
          </a:p>
          <a:p>
            <a:pPr marL="36576" indent="0" algn="just">
              <a:buNone/>
            </a:pPr>
            <a:endParaRPr lang="es-CO" dirty="0" smtClean="0"/>
          </a:p>
          <a:p>
            <a:pPr algn="just"/>
            <a:r>
              <a:rPr lang="es-CO" dirty="0" smtClean="0"/>
              <a:t>6. Aumento de la motivación del Gerente</a:t>
            </a:r>
          </a:p>
          <a:p>
            <a:pPr algn="just"/>
            <a:endParaRPr lang="es-CO" dirty="0"/>
          </a:p>
          <a:p>
            <a:pPr algn="just"/>
            <a:endParaRPr lang="es-CO" dirty="0"/>
          </a:p>
        </p:txBody>
      </p:sp>
    </p:spTree>
    <p:extLst>
      <p:ext uri="{BB962C8B-B14F-4D97-AF65-F5344CB8AC3E}">
        <p14:creationId xmlns="" xmlns:p14="http://schemas.microsoft.com/office/powerpoint/2007/7/12/main" val="10056442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s-CO" sz="4800" b="1" dirty="0" smtClean="0">
                <a:solidFill>
                  <a:schemeClr val="accent1"/>
                </a:solidFill>
              </a:rPr>
              <a:t>MODELO ODIORNE</a:t>
            </a:r>
            <a:endParaRPr lang="es-CO" sz="4800" b="1" dirty="0">
              <a:solidFill>
                <a:schemeClr val="accent1"/>
              </a:solidFill>
            </a:endParaRPr>
          </a:p>
        </p:txBody>
      </p:sp>
      <p:sp>
        <p:nvSpPr>
          <p:cNvPr id="3" name="Content Placeholder 2"/>
          <p:cNvSpPr>
            <a:spLocks noGrp="1"/>
          </p:cNvSpPr>
          <p:nvPr>
            <p:ph idx="1"/>
          </p:nvPr>
        </p:nvSpPr>
        <p:spPr>
          <a:xfrm>
            <a:off x="4786314" y="1600201"/>
            <a:ext cx="4071966" cy="1614486"/>
          </a:xfrm>
        </p:spPr>
        <p:txBody>
          <a:bodyPr>
            <a:normAutofit/>
          </a:bodyPr>
          <a:lstStyle/>
          <a:p>
            <a:pPr algn="just"/>
            <a:r>
              <a:rPr lang="es-CO" sz="2800" dirty="0" smtClean="0"/>
              <a:t>Propone un modelo compuesto por un ciclo de 7 etapas.</a:t>
            </a:r>
            <a:endParaRPr lang="es-CO" sz="2800" dirty="0"/>
          </a:p>
        </p:txBody>
      </p:sp>
      <p:pic>
        <p:nvPicPr>
          <p:cNvPr id="4" name="Picture 3"/>
          <p:cNvPicPr>
            <a:picLocks noChangeAspect="1"/>
          </p:cNvPicPr>
          <p:nvPr/>
        </p:nvPicPr>
        <p:blipFill rotWithShape="1">
          <a:blip r:embed="rId2" cstate="print">
            <a:extLst>
              <a:ext uri="28A0092B-C50C-407e-A947-70E740481C1C">
                <a14:useLocalDpi xmlns="" xmlns:a14="http://schemas.microsoft.com/office/drawing/2007/7/7/main" val="0"/>
              </a:ext>
            </a:extLst>
          </a:blip>
          <a:srcRect l="5220" r="14725"/>
          <a:stretch/>
        </p:blipFill>
        <p:spPr>
          <a:xfrm>
            <a:off x="285720" y="1428735"/>
            <a:ext cx="4643470" cy="4348557"/>
          </a:xfrm>
          <a:prstGeom prst="rect">
            <a:avLst/>
          </a:prstGeom>
        </p:spPr>
      </p:pic>
    </p:spTree>
    <p:extLst>
      <p:ext uri="{BB962C8B-B14F-4D97-AF65-F5344CB8AC3E}">
        <p14:creationId xmlns="" xmlns:p14="http://schemas.microsoft.com/office/powerpoint/2007/7/12/main" val="2378407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285728"/>
            <a:ext cx="7467600" cy="1143000"/>
          </a:xfrm>
        </p:spPr>
        <p:txBody>
          <a:bodyPr>
            <a:normAutofit/>
          </a:bodyPr>
          <a:lstStyle/>
          <a:p>
            <a:pPr algn="ctr"/>
            <a:r>
              <a:rPr lang="es-CO" sz="4800" b="1" dirty="0">
                <a:solidFill>
                  <a:schemeClr val="accent1"/>
                </a:solidFill>
              </a:rPr>
              <a:t>MODELO </a:t>
            </a:r>
            <a:r>
              <a:rPr lang="es-CO" sz="4800" b="1" dirty="0" smtClean="0">
                <a:solidFill>
                  <a:schemeClr val="accent1"/>
                </a:solidFill>
              </a:rPr>
              <a:t>ODIORNE (Cont..)</a:t>
            </a:r>
            <a:endParaRPr lang="es-CO" sz="4800" dirty="0"/>
          </a:p>
        </p:txBody>
      </p:sp>
      <p:sp>
        <p:nvSpPr>
          <p:cNvPr id="3" name="Content Placeholder 2"/>
          <p:cNvSpPr>
            <a:spLocks noGrp="1"/>
          </p:cNvSpPr>
          <p:nvPr>
            <p:ph idx="1"/>
          </p:nvPr>
        </p:nvSpPr>
        <p:spPr/>
        <p:txBody>
          <a:bodyPr>
            <a:normAutofit fontScale="77500" lnSpcReduction="20000"/>
          </a:bodyPr>
          <a:lstStyle/>
          <a:p>
            <a:pPr marL="36576" indent="0" algn="just">
              <a:buNone/>
            </a:pPr>
            <a:r>
              <a:rPr lang="es-CO" dirty="0" smtClean="0"/>
              <a:t>Para que este modelo funcione necesita de lo siguiente:</a:t>
            </a:r>
          </a:p>
          <a:p>
            <a:pPr algn="just"/>
            <a:endParaRPr lang="es-CO" dirty="0"/>
          </a:p>
          <a:p>
            <a:pPr algn="just"/>
            <a:endParaRPr lang="es-CO" dirty="0" smtClean="0"/>
          </a:p>
          <a:p>
            <a:pPr lvl="0" algn="just"/>
            <a:r>
              <a:rPr lang="es-ES" dirty="0"/>
              <a:t>Revisión de la estructura de la organización, en función de los objetivos propuestos</a:t>
            </a:r>
            <a:r>
              <a:rPr lang="es-ES" dirty="0" smtClean="0"/>
              <a:t>.</a:t>
            </a:r>
          </a:p>
          <a:p>
            <a:pPr marL="36576" lvl="0" indent="0" algn="just">
              <a:buNone/>
            </a:pPr>
            <a:endParaRPr lang="es-CO" dirty="0"/>
          </a:p>
          <a:p>
            <a:pPr lvl="0" algn="just"/>
            <a:r>
              <a:rPr lang="es-ES" dirty="0"/>
              <a:t>A partir de las dos etapas anteriores, cada directivo establece propósitos y medidas de evaluación para sus subordinados, que a su vez, propone objetivos</a:t>
            </a:r>
            <a:r>
              <a:rPr lang="es-ES" dirty="0" smtClean="0"/>
              <a:t>.</a:t>
            </a:r>
          </a:p>
          <a:p>
            <a:pPr lvl="0" algn="just"/>
            <a:endParaRPr lang="es-CO" dirty="0"/>
          </a:p>
          <a:p>
            <a:pPr lvl="0" algn="just"/>
            <a:r>
              <a:rPr lang="es-ES" dirty="0"/>
              <a:t>El superior y cada uno de sus subordinados llegan a un mismo acuerdo de los objetivos y medidas de evaluación de su propio trabajo</a:t>
            </a:r>
            <a:r>
              <a:rPr lang="es-ES" dirty="0" smtClean="0"/>
              <a:t>.</a:t>
            </a:r>
          </a:p>
          <a:p>
            <a:pPr lvl="0" algn="just"/>
            <a:endParaRPr lang="es-CO" dirty="0"/>
          </a:p>
          <a:p>
            <a:pPr algn="just"/>
            <a:endParaRPr lang="es-CO" dirty="0"/>
          </a:p>
        </p:txBody>
      </p:sp>
    </p:spTree>
    <p:extLst>
      <p:ext uri="{BB962C8B-B14F-4D97-AF65-F5344CB8AC3E}">
        <p14:creationId xmlns="" xmlns:p14="http://schemas.microsoft.com/office/powerpoint/2007/7/12/main" val="28943323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285728"/>
            <a:ext cx="7467600" cy="1143000"/>
          </a:xfrm>
        </p:spPr>
        <p:txBody>
          <a:bodyPr/>
          <a:lstStyle/>
          <a:p>
            <a:pPr algn="ctr"/>
            <a:r>
              <a:rPr lang="es-CO" sz="4800" b="1" dirty="0">
                <a:solidFill>
                  <a:schemeClr val="accent1"/>
                </a:solidFill>
              </a:rPr>
              <a:t>MODELO ODIORNE (Cont..)</a:t>
            </a:r>
            <a:endParaRPr lang="es-CO" dirty="0"/>
          </a:p>
        </p:txBody>
      </p:sp>
      <p:sp>
        <p:nvSpPr>
          <p:cNvPr id="3" name="Content Placeholder 2"/>
          <p:cNvSpPr>
            <a:spLocks noGrp="1"/>
          </p:cNvSpPr>
          <p:nvPr>
            <p:ph idx="1"/>
          </p:nvPr>
        </p:nvSpPr>
        <p:spPr/>
        <p:txBody>
          <a:bodyPr>
            <a:normAutofit fontScale="92500"/>
          </a:bodyPr>
          <a:lstStyle/>
          <a:p>
            <a:pPr lvl="0" algn="just"/>
            <a:r>
              <a:rPr lang="es-ES" dirty="0"/>
              <a:t>Seguimiento continuo efectuado sobre los resultados periódicos del trabajo del </a:t>
            </a:r>
            <a:r>
              <a:rPr lang="es-ES" dirty="0" smtClean="0"/>
              <a:t>subordinado.</a:t>
            </a:r>
          </a:p>
          <a:p>
            <a:pPr lvl="0" algn="just"/>
            <a:endParaRPr lang="es-CO" dirty="0"/>
          </a:p>
          <a:p>
            <a:pPr lvl="0" algn="just"/>
            <a:r>
              <a:rPr lang="es-ES" dirty="0"/>
              <a:t>Evaluación periódica y acumulativa de los resultados del trabajo del </a:t>
            </a:r>
            <a:r>
              <a:rPr lang="es-ES" dirty="0" smtClean="0"/>
              <a:t>subordinado</a:t>
            </a:r>
            <a:r>
              <a:rPr lang="es-ES" dirty="0"/>
              <a:t>.</a:t>
            </a:r>
            <a:endParaRPr lang="es-ES" dirty="0" smtClean="0"/>
          </a:p>
          <a:p>
            <a:pPr lvl="0" algn="just"/>
            <a:endParaRPr lang="es-CO" dirty="0"/>
          </a:p>
          <a:p>
            <a:pPr lvl="0" algn="just"/>
            <a:r>
              <a:rPr lang="es-ES" dirty="0"/>
              <a:t>Evaluación del desempeño de la organización como un todo.</a:t>
            </a:r>
            <a:endParaRPr lang="es-CO" dirty="0"/>
          </a:p>
          <a:p>
            <a:pPr algn="just"/>
            <a:endParaRPr lang="es-CO" dirty="0"/>
          </a:p>
        </p:txBody>
      </p:sp>
    </p:spTree>
    <p:extLst>
      <p:ext uri="{BB962C8B-B14F-4D97-AF65-F5344CB8AC3E}">
        <p14:creationId xmlns="" xmlns:p14="http://schemas.microsoft.com/office/powerpoint/2007/7/12/main" val="38117766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fontScale="90000"/>
          </a:bodyPr>
          <a:lstStyle/>
          <a:p>
            <a:pPr algn="ctr"/>
            <a:r>
              <a:rPr lang="es-CO" dirty="0" smtClean="0">
                <a:solidFill>
                  <a:schemeClr val="accent1"/>
                </a:solidFill>
              </a:rPr>
              <a:t>Alcances, limites y criticas ala administración por objetivos</a:t>
            </a:r>
            <a:endParaRPr lang="es-CO" dirty="0">
              <a:solidFill>
                <a:schemeClr val="accent1"/>
              </a:solidFill>
            </a:endParaRPr>
          </a:p>
        </p:txBody>
      </p:sp>
      <p:sp>
        <p:nvSpPr>
          <p:cNvPr id="5" name="4 Marcador de contenido"/>
          <p:cNvSpPr>
            <a:spLocks noGrp="1"/>
          </p:cNvSpPr>
          <p:nvPr>
            <p:ph idx="1"/>
          </p:nvPr>
        </p:nvSpPr>
        <p:spPr/>
        <p:txBody>
          <a:bodyPr>
            <a:normAutofit/>
          </a:bodyPr>
          <a:lstStyle/>
          <a:p>
            <a:pPr>
              <a:buFont typeface="Wingdings" pitchFamily="2" charset="2"/>
              <a:buChar char="ü"/>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La evaluación de los subordinados : </a:t>
            </a:r>
          </a:p>
          <a:p>
            <a:pPr>
              <a:buNone/>
            </a:pPr>
            <a:r>
              <a:rPr lang="es-CO" sz="2200" dirty="0">
                <a:latin typeface="Century Gothic" pitchFamily="34" charset="0"/>
              </a:rPr>
              <a:t> </a:t>
            </a:r>
            <a:r>
              <a:rPr lang="es-CO" sz="2200" dirty="0" smtClean="0">
                <a:latin typeface="Century Gothic" pitchFamily="34" charset="0"/>
              </a:rPr>
              <a:t>   Puede generar tensión y resentimiento </a:t>
            </a: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Estilo y apoyo de los gerentes:</a:t>
            </a:r>
          </a:p>
          <a:p>
            <a:pPr>
              <a:buNone/>
            </a:pPr>
            <a:r>
              <a:rPr lang="es-CO" sz="2200" dirty="0" smtClean="0">
                <a:latin typeface="Century Gothic" pitchFamily="34" charset="0"/>
              </a:rPr>
              <a:t>     Si son autoritarios habrá que reducirlos antes que de implantarlos APO</a:t>
            </a: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Adaptación al cambio :</a:t>
            </a:r>
          </a:p>
          <a:p>
            <a:pPr>
              <a:buNone/>
            </a:pPr>
            <a:r>
              <a:rPr lang="es-CO" sz="2200" dirty="0" smtClean="0">
                <a:latin typeface="Century Gothic" pitchFamily="34" charset="0"/>
              </a:rPr>
              <a:t>     La APO  requiere cambios en </a:t>
            </a:r>
            <a:r>
              <a:rPr lang="es-CO" sz="2000" dirty="0" smtClean="0">
                <a:latin typeface="Century Gothic" pitchFamily="34" charset="0"/>
              </a:rPr>
              <a:t>la estructura de la empresa</a:t>
            </a:r>
          </a:p>
          <a:p>
            <a:pPr>
              <a:buFont typeface="Wingdings" pitchFamily="2" charset="2"/>
              <a:buChar char="ü"/>
            </a:pPr>
            <a:endParaRPr lang="es-CO" dirty="0" smtClean="0"/>
          </a:p>
        </p:txBody>
      </p:sp>
    </p:spTree>
    <p:extLst>
      <p:ext uri="{BB962C8B-B14F-4D97-AF65-F5344CB8AC3E}">
        <p14:creationId xmlns="" xmlns:p14="http://schemas.microsoft.com/office/powerpoint/2007/7/12/main" val="21465763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ctr"/>
            <a:r>
              <a:rPr lang="es-CO" dirty="0" smtClean="0">
                <a:solidFill>
                  <a:schemeClr val="accent1"/>
                </a:solidFill>
              </a:rPr>
              <a:t>Alcances, limites y criticas ala administración por objetivos</a:t>
            </a:r>
            <a:endParaRPr lang="es-CO" dirty="0">
              <a:solidFill>
                <a:schemeClr val="accent1"/>
              </a:solidFill>
            </a:endParaRPr>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Destreza interpersonales :</a:t>
            </a:r>
          </a:p>
          <a:p>
            <a:pPr>
              <a:buNone/>
            </a:pPr>
            <a:r>
              <a:rPr lang="es-CO" sz="2200" dirty="0">
                <a:latin typeface="Century Gothic" pitchFamily="34" charset="0"/>
              </a:rPr>
              <a:t> </a:t>
            </a:r>
            <a:r>
              <a:rPr lang="es-CO" sz="2200" dirty="0" smtClean="0">
                <a:latin typeface="Century Gothic" pitchFamily="34" charset="0"/>
              </a:rPr>
              <a:t>    El proceso de establecimiento de metas y de evaluación requieren de alto grado de habilidades en las relaciones interpersonales</a:t>
            </a: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Descripción del trabajo </a:t>
            </a:r>
          </a:p>
          <a:p>
            <a:pPr>
              <a:buNone/>
            </a:pPr>
            <a:r>
              <a:rPr lang="es-CO" sz="2200" dirty="0">
                <a:latin typeface="Century Gothic" pitchFamily="34" charset="0"/>
              </a:rPr>
              <a:t> </a:t>
            </a:r>
            <a:r>
              <a:rPr lang="es-CO" sz="2200" dirty="0" smtClean="0">
                <a:latin typeface="Century Gothic" pitchFamily="34" charset="0"/>
              </a:rPr>
              <a:t>   Deben ser evaluadas y revisadas conforme las condiciones de la empr</a:t>
            </a:r>
            <a:r>
              <a:rPr lang="es-CO" sz="2000" dirty="0" smtClean="0">
                <a:latin typeface="Century Gothic" pitchFamily="34" charset="0"/>
              </a:rPr>
              <a:t>esa</a:t>
            </a:r>
          </a:p>
          <a:p>
            <a:pPr>
              <a:buNone/>
            </a:pPr>
            <a:endParaRPr lang="es-CO" dirty="0"/>
          </a:p>
        </p:txBody>
      </p:sp>
    </p:spTree>
    <p:extLst>
      <p:ext uri="{BB962C8B-B14F-4D97-AF65-F5344CB8AC3E}">
        <p14:creationId xmlns="" xmlns:p14="http://schemas.microsoft.com/office/powerpoint/2007/7/12/main" val="12179296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Alcances, limites y criticas ala administración por objetivos</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Establecimiento y coordinación de los objetivos: </a:t>
            </a:r>
          </a:p>
          <a:p>
            <a:pPr>
              <a:buNone/>
            </a:pPr>
            <a:r>
              <a:rPr lang="es-CO" sz="2200" dirty="0">
                <a:latin typeface="Century Gothic" pitchFamily="34" charset="0"/>
              </a:rPr>
              <a:t> </a:t>
            </a:r>
            <a:r>
              <a:rPr lang="es-CO" sz="2200" dirty="0" smtClean="0">
                <a:latin typeface="Century Gothic" pitchFamily="34" charset="0"/>
              </a:rPr>
              <a:t>   Establecer objetivos interesantes y realistas y a la vez suele ser confusión para los gerentes difícil de coordinar los objetivos globales </a:t>
            </a:r>
          </a:p>
          <a:p>
            <a:pPr>
              <a:buNone/>
            </a:pPr>
            <a:endParaRPr lang="es-CO" sz="2200" dirty="0" smtClean="0">
              <a:latin typeface="Century Gothic" pitchFamily="34" charset="0"/>
            </a:endParaRP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Control de los métodos para alcanzar los objetivos:</a:t>
            </a:r>
          </a:p>
          <a:p>
            <a:pPr>
              <a:buNone/>
            </a:pPr>
            <a:r>
              <a:rPr lang="es-CO" sz="2200" dirty="0">
                <a:latin typeface="Century Gothic" pitchFamily="34" charset="0"/>
              </a:rPr>
              <a:t> </a:t>
            </a:r>
            <a:r>
              <a:rPr lang="es-CO" sz="2200" dirty="0" smtClean="0">
                <a:latin typeface="Century Gothic" pitchFamily="34" charset="0"/>
              </a:rPr>
              <a:t>   Los gerentes pueden frustrasen si el logro de sus objetivos dependen del éxito de los miembro de  la empresa </a:t>
            </a:r>
          </a:p>
          <a:p>
            <a:pPr>
              <a:buNone/>
            </a:pPr>
            <a:endParaRPr lang="es-CO" dirty="0" smtClean="0"/>
          </a:p>
          <a:p>
            <a:pPr>
              <a:buNone/>
            </a:pPr>
            <a:endParaRPr lang="es-CO" dirty="0"/>
          </a:p>
        </p:txBody>
      </p:sp>
    </p:spTree>
    <p:extLst>
      <p:ext uri="{BB962C8B-B14F-4D97-AF65-F5344CB8AC3E}">
        <p14:creationId xmlns="" xmlns:p14="http://schemas.microsoft.com/office/powerpoint/2007/7/12/main" val="5364367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Alcances, limites y criticas ala administración por objetivos</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000" dirty="0" smtClean="0">
              <a:latin typeface="Century Gothic" pitchFamily="34" charset="0"/>
            </a:endParaRPr>
          </a:p>
          <a:p>
            <a:pPr>
              <a:buFont typeface="Wingdings" pitchFamily="2" charset="2"/>
              <a:buChar char="ü"/>
            </a:pPr>
            <a:endParaRPr lang="es-CO" sz="2000" dirty="0">
              <a:latin typeface="Century Gothic" pitchFamily="34" charset="0"/>
            </a:endParaRPr>
          </a:p>
          <a:p>
            <a:pPr>
              <a:buFont typeface="Wingdings" pitchFamily="2" charset="2"/>
              <a:buChar char="ü"/>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Confito entre creatividad y APO:</a:t>
            </a:r>
          </a:p>
          <a:p>
            <a:pPr>
              <a:buNone/>
            </a:pPr>
            <a:r>
              <a:rPr lang="es-CO" sz="2000" dirty="0">
                <a:latin typeface="Century Gothic" pitchFamily="34" charset="0"/>
              </a:rPr>
              <a:t> </a:t>
            </a:r>
            <a:r>
              <a:rPr lang="es-CO" sz="2000" dirty="0" smtClean="0">
                <a:latin typeface="Century Gothic" pitchFamily="34" charset="0"/>
              </a:rPr>
              <a:t>   Si los gerentes no ensayan cosas nuevas ni corren riesgos perderán oportunidades     </a:t>
            </a:r>
            <a:endParaRPr lang="es-CO" sz="2000" dirty="0">
              <a:latin typeface="Century Gothic" pitchFamily="34" charset="0"/>
            </a:endParaRPr>
          </a:p>
        </p:txBody>
      </p:sp>
    </p:spTree>
    <p:extLst>
      <p:ext uri="{BB962C8B-B14F-4D97-AF65-F5344CB8AC3E}">
        <p14:creationId xmlns="" xmlns:p14="http://schemas.microsoft.com/office/powerpoint/2007/7/12/main" val="6181593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Alcances, limites y criticas ala administración por objetivos</a:t>
            </a:r>
            <a:endParaRPr lang="es-CO" dirty="0"/>
          </a:p>
        </p:txBody>
      </p:sp>
      <p:sp>
        <p:nvSpPr>
          <p:cNvPr id="3" name="2 Marcador de contenido"/>
          <p:cNvSpPr>
            <a:spLocks noGrp="1"/>
          </p:cNvSpPr>
          <p:nvPr>
            <p:ph idx="1"/>
          </p:nvPr>
        </p:nvSpPr>
        <p:spPr/>
        <p:txBody>
          <a:bodyPr/>
          <a:lstStyle/>
          <a:p>
            <a:endParaRPr lang="es-CO" dirty="0" smtClean="0"/>
          </a:p>
          <a:p>
            <a:pPr>
              <a:buNone/>
            </a:pPr>
            <a:endParaRPr lang="es-CO" dirty="0"/>
          </a:p>
          <a:p>
            <a:r>
              <a:rPr lang="es-CO" dirty="0" smtClean="0"/>
              <a:t>Aunque la aplicación de la dirección de los objetivo plantea algunas dificultades de cuantificación de los objetivos, en principio es aplicable a todos los niveles</a:t>
            </a:r>
            <a:endParaRPr lang="es-CO" dirty="0"/>
          </a:p>
        </p:txBody>
      </p:sp>
    </p:spTree>
    <p:extLst>
      <p:ext uri="{BB962C8B-B14F-4D97-AF65-F5344CB8AC3E}">
        <p14:creationId xmlns="" xmlns:p14="http://schemas.microsoft.com/office/powerpoint/2007/7/12/main" val="2703632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smtClean="0"/>
              <a:t>Autores críticos de la APO</a:t>
            </a:r>
            <a:endParaRPr lang="es-CO" dirty="0"/>
          </a:p>
        </p:txBody>
      </p:sp>
      <p:sp>
        <p:nvSpPr>
          <p:cNvPr id="4" name="3 Subtítulo"/>
          <p:cNvSpPr>
            <a:spLocks noGrp="1"/>
          </p:cNvSpPr>
          <p:nvPr>
            <p:ph type="subTitle" idx="1"/>
          </p:nvPr>
        </p:nvSpPr>
        <p:spPr/>
        <p:txBody>
          <a:bodyPr/>
          <a:lstStyle/>
          <a:p>
            <a:r>
              <a:rPr lang="es-CO" dirty="0" smtClean="0"/>
              <a:t>LOS DIEZ PECADOS CAPITALES PARA FRACASAR EN LA APO</a:t>
            </a:r>
            <a:endParaRPr lang="es-CO" dirty="0"/>
          </a:p>
        </p:txBody>
      </p:sp>
    </p:spTree>
    <p:extLst>
      <p:ext uri="{BB962C8B-B14F-4D97-AF65-F5344CB8AC3E}">
        <p14:creationId xmlns="" xmlns:p14="http://schemas.microsoft.com/office/powerpoint/2007/7/12/main" val="42580024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JOHN W.HUMBLE</a:t>
            </a:r>
            <a:endParaRPr lang="es-CO" dirty="0"/>
          </a:p>
        </p:txBody>
      </p:sp>
      <p:sp>
        <p:nvSpPr>
          <p:cNvPr id="3" name="2 Marcador de contenido"/>
          <p:cNvSpPr>
            <a:spLocks noGrp="1"/>
          </p:cNvSpPr>
          <p:nvPr>
            <p:ph idx="1"/>
          </p:nvPr>
        </p:nvSpPr>
        <p:spPr>
          <a:xfrm>
            <a:off x="642910" y="1571612"/>
            <a:ext cx="8229600" cy="4525963"/>
          </a:xfrm>
        </p:spPr>
        <p:txBody>
          <a:bodyPr>
            <a:normAutofit/>
          </a:bodyPr>
          <a:lstStyle/>
          <a:p>
            <a:pPr>
              <a:buFont typeface="Wingdings" pitchFamily="2" charset="2"/>
              <a:buChar char="ü"/>
            </a:pPr>
            <a:endParaRPr lang="es-CO" dirty="0" smtClean="0"/>
          </a:p>
          <a:p>
            <a:pPr>
              <a:buFont typeface="Wingdings" pitchFamily="2" charset="2"/>
              <a:buChar char="ü"/>
            </a:pPr>
            <a:r>
              <a:rPr lang="es-CO" sz="2200" dirty="0" smtClean="0">
                <a:latin typeface="Century Gothic" pitchFamily="34" charset="0"/>
              </a:rPr>
              <a:t>No obtener participación de la alta gerencia</a:t>
            </a: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Decir a todos que la administración por objetivos es una técnica capaz de resolver problemas </a:t>
            </a: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Fijar solamente los objetivos cuantificable</a:t>
            </a: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Delegar todo el proyecto de APO al personal del nivel inferior </a:t>
            </a:r>
          </a:p>
          <a:p>
            <a:pPr>
              <a:buFont typeface="Wingdings" pitchFamily="2" charset="2"/>
              <a:buChar char="ü"/>
            </a:pPr>
            <a:endParaRPr lang="es-CO" dirty="0"/>
          </a:p>
        </p:txBody>
      </p:sp>
    </p:spTree>
    <p:extLst>
      <p:ext uri="{BB962C8B-B14F-4D97-AF65-F5344CB8AC3E}">
        <p14:creationId xmlns="" xmlns:p14="http://schemas.microsoft.com/office/powerpoint/2007/7/12/main" val="26892514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JOHN W.HUMBLE</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dirty="0" smtClean="0"/>
          </a:p>
          <a:p>
            <a:pPr>
              <a:buFont typeface="Wingdings" pitchFamily="2" charset="2"/>
              <a:buChar char="ü"/>
            </a:pPr>
            <a:r>
              <a:rPr lang="es-CO" sz="2000" dirty="0" smtClean="0">
                <a:latin typeface="Century Gothic" pitchFamily="34" charset="0"/>
              </a:rPr>
              <a:t>Adoptar la APO dentro de un programa acelerado </a:t>
            </a:r>
          </a:p>
          <a:p>
            <a:pPr>
              <a:buNone/>
            </a:pPr>
            <a:endParaRPr lang="es-CO" sz="2000" dirty="0" smtClean="0">
              <a:latin typeface="Century Gothic" pitchFamily="34" charset="0"/>
            </a:endParaRPr>
          </a:p>
          <a:p>
            <a:pPr>
              <a:buNone/>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Simplificar a los extremos todos los procedimientos</a:t>
            </a:r>
          </a:p>
          <a:p>
            <a:pPr>
              <a:buNone/>
            </a:pPr>
            <a:endParaRPr lang="es-CO" sz="2000" dirty="0" smtClean="0">
              <a:latin typeface="Century Gothic" pitchFamily="34" charset="0"/>
            </a:endParaRPr>
          </a:p>
          <a:p>
            <a:pPr>
              <a:buNone/>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Aplicar la APO  en aéreas aisladas</a:t>
            </a:r>
            <a:r>
              <a:rPr lang="es-CO" dirty="0" smtClean="0"/>
              <a:t> </a:t>
            </a:r>
          </a:p>
          <a:p>
            <a:pPr>
              <a:buNone/>
            </a:pPr>
            <a:endParaRPr lang="es-CO" dirty="0"/>
          </a:p>
        </p:txBody>
      </p:sp>
    </p:spTree>
    <p:extLst>
      <p:ext uri="{BB962C8B-B14F-4D97-AF65-F5344CB8AC3E}">
        <p14:creationId xmlns="" xmlns:p14="http://schemas.microsoft.com/office/powerpoint/2007/7/12/main" val="16058375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JOHN W.HUMBLE</a:t>
            </a:r>
            <a:endParaRPr lang="es-CO" dirty="0"/>
          </a:p>
        </p:txBody>
      </p:sp>
      <p:sp>
        <p:nvSpPr>
          <p:cNvPr id="3" name="2 Marcador de contenido"/>
          <p:cNvSpPr>
            <a:spLocks noGrp="1"/>
          </p:cNvSpPr>
          <p:nvPr>
            <p:ph idx="1"/>
          </p:nvPr>
        </p:nvSpPr>
        <p:spPr/>
        <p:txBody>
          <a:bodyPr>
            <a:normAutofit/>
          </a:bodyPr>
          <a:lstStyle/>
          <a:p>
            <a:pPr>
              <a:buNone/>
            </a:pPr>
            <a:endParaRPr lang="es-CO" dirty="0" smtClean="0"/>
          </a:p>
          <a:p>
            <a:pPr>
              <a:buFont typeface="Wingdings" pitchFamily="2" charset="2"/>
              <a:buChar char="ü"/>
            </a:pPr>
            <a:r>
              <a:rPr lang="es-CO" sz="2200" dirty="0" smtClean="0">
                <a:latin typeface="Century Gothic" pitchFamily="34" charset="0"/>
              </a:rPr>
              <a:t>Ignorar las metas personales de los gerentes </a:t>
            </a:r>
          </a:p>
          <a:p>
            <a:pPr>
              <a:buFont typeface="Wingdings" pitchFamily="2" charset="2"/>
              <a:buChar char="ü"/>
            </a:pPr>
            <a:endParaRPr lang="es-CO" sz="2200" dirty="0" smtClean="0">
              <a:latin typeface="Century Gothic" pitchFamily="34" charset="0"/>
            </a:endParaRP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Inaugurar el sistema con una fiesta y después dejarlo solo</a:t>
            </a:r>
          </a:p>
          <a:p>
            <a:pPr>
              <a:buNone/>
            </a:pPr>
            <a:endParaRPr lang="es-CO" sz="2200" dirty="0" smtClean="0">
              <a:latin typeface="Century Gothic" pitchFamily="34" charset="0"/>
            </a:endParaRPr>
          </a:p>
          <a:p>
            <a:pPr>
              <a:buNone/>
            </a:pPr>
            <a:endParaRPr lang="es-CO" sz="2200" dirty="0" smtClean="0">
              <a:latin typeface="Century Gothic" pitchFamily="34" charset="0"/>
            </a:endParaRPr>
          </a:p>
          <a:p>
            <a:pPr>
              <a:buFont typeface="Wingdings" pitchFamily="2" charset="2"/>
              <a:buChar char="ü"/>
            </a:pPr>
            <a:r>
              <a:rPr lang="es-CO" sz="2200" dirty="0" smtClean="0">
                <a:latin typeface="Century Gothic" pitchFamily="34" charset="0"/>
              </a:rPr>
              <a:t> Concentrarse en individuos e ignorar los problemas en grupo </a:t>
            </a:r>
          </a:p>
          <a:p>
            <a:pPr>
              <a:buNone/>
            </a:pPr>
            <a:endParaRPr lang="es-CO" dirty="0"/>
          </a:p>
        </p:txBody>
      </p:sp>
    </p:spTree>
    <p:extLst>
      <p:ext uri="{BB962C8B-B14F-4D97-AF65-F5344CB8AC3E}">
        <p14:creationId xmlns="" xmlns:p14="http://schemas.microsoft.com/office/powerpoint/2007/7/12/main" val="32969374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p:txBody>
          <a:bodyPr/>
          <a:lstStyle/>
          <a:p>
            <a:r>
              <a:rPr lang="es-CO" dirty="0" smtClean="0"/>
              <a:t>HARRY LEVINSON</a:t>
            </a:r>
            <a:endParaRPr lang="es-CO" dirty="0"/>
          </a:p>
        </p:txBody>
      </p:sp>
      <p:sp>
        <p:nvSpPr>
          <p:cNvPr id="5" name="4 Subtítulo"/>
          <p:cNvSpPr>
            <a:spLocks noGrp="1"/>
          </p:cNvSpPr>
          <p:nvPr>
            <p:ph type="subTitle" idx="1"/>
          </p:nvPr>
        </p:nvSpPr>
        <p:spPr/>
        <p:txBody>
          <a:bodyPr/>
          <a:lstStyle/>
          <a:p>
            <a:r>
              <a:rPr lang="es-CO" dirty="0" smtClean="0"/>
              <a:t>“Lo ideal es que este contacto se frecuente y este separado por análisis salarial”</a:t>
            </a:r>
            <a:endParaRPr lang="es-CO" dirty="0"/>
          </a:p>
        </p:txBody>
      </p:sp>
    </p:spTree>
    <p:extLst>
      <p:ext uri="{BB962C8B-B14F-4D97-AF65-F5344CB8AC3E}">
        <p14:creationId xmlns="" xmlns:p14="http://schemas.microsoft.com/office/powerpoint/2007/7/12/main" val="34057279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HARRY LEVINSON</a:t>
            </a:r>
            <a:endParaRPr lang="es-CO" dirty="0"/>
          </a:p>
        </p:txBody>
      </p:sp>
      <p:sp>
        <p:nvSpPr>
          <p:cNvPr id="3" name="2 Marcador de contenido"/>
          <p:cNvSpPr>
            <a:spLocks noGrp="1"/>
          </p:cNvSpPr>
          <p:nvPr>
            <p:ph idx="1"/>
          </p:nvPr>
        </p:nvSpPr>
        <p:spPr/>
        <p:txBody>
          <a:bodyPr/>
          <a:lstStyle/>
          <a:p>
            <a:pPr>
              <a:buFont typeface="Wingdings" pitchFamily="2" charset="2"/>
              <a:buChar char="ü"/>
            </a:pPr>
            <a:endParaRPr lang="es-CO" dirty="0" smtClean="0"/>
          </a:p>
          <a:p>
            <a:pPr>
              <a:buFont typeface="Wingdings" pitchFamily="2" charset="2"/>
              <a:buChar char="ü"/>
            </a:pPr>
            <a:r>
              <a:rPr lang="es-CO" dirty="0" smtClean="0"/>
              <a:t> </a:t>
            </a:r>
            <a:r>
              <a:rPr lang="es-CO" sz="2000" dirty="0" smtClean="0">
                <a:latin typeface="Century Gothic" pitchFamily="34" charset="0"/>
              </a:rPr>
              <a:t>Mas alta la  jerarquía del empleado y variadas sus funciones, mas difícil identificar bien los objetivos </a:t>
            </a:r>
          </a:p>
          <a:p>
            <a:pPr>
              <a:buNone/>
            </a:pPr>
            <a:endParaRPr lang="es-CO" sz="2000" dirty="0" smtClean="0">
              <a:latin typeface="Century Gothic" pitchFamily="34" charset="0"/>
            </a:endParaRPr>
          </a:p>
          <a:p>
            <a:pPr>
              <a:buNone/>
            </a:pPr>
            <a:endParaRPr lang="es-CO" sz="2000" dirty="0" smtClean="0">
              <a:latin typeface="Century Gothic" pitchFamily="34" charset="0"/>
            </a:endParaRPr>
          </a:p>
          <a:p>
            <a:pPr>
              <a:buNone/>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Como la APO no tiene una visión sistemática de la empresa no toma en consideración la interdependencia entre las funciones </a:t>
            </a:r>
            <a:endParaRPr lang="es-CO" sz="2000" dirty="0">
              <a:latin typeface="Century Gothic" pitchFamily="34" charset="0"/>
            </a:endParaRPr>
          </a:p>
        </p:txBody>
      </p:sp>
    </p:spTree>
    <p:extLst>
      <p:ext uri="{BB962C8B-B14F-4D97-AF65-F5344CB8AC3E}">
        <p14:creationId xmlns="" xmlns:p14="http://schemas.microsoft.com/office/powerpoint/2007/7/12/main" val="29397248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JOAO LODI</a:t>
            </a:r>
            <a:endParaRPr lang="es-CO" dirty="0"/>
          </a:p>
        </p:txBody>
      </p:sp>
      <p:sp>
        <p:nvSpPr>
          <p:cNvPr id="3" name="2 Marcador de contenido"/>
          <p:cNvSpPr>
            <a:spLocks noGrp="1"/>
          </p:cNvSpPr>
          <p:nvPr>
            <p:ph idx="1"/>
          </p:nvPr>
        </p:nvSpPr>
        <p:spPr/>
        <p:txBody>
          <a:bodyPr/>
          <a:lstStyle/>
          <a:p>
            <a:pPr>
              <a:buNone/>
            </a:pPr>
            <a:endParaRPr lang="es-CO" dirty="0"/>
          </a:p>
          <a:p>
            <a:pPr>
              <a:buFont typeface="Wingdings" pitchFamily="2" charset="2"/>
              <a:buChar char="ü"/>
            </a:pPr>
            <a:r>
              <a:rPr lang="es-CO" dirty="0" smtClean="0"/>
              <a:t>La APO  tiene a exigir mucho de cada uno y que las personas deben ser preparadas para recibir el método y aplicarlas con criterio </a:t>
            </a:r>
            <a:endParaRPr lang="es-CO" dirty="0"/>
          </a:p>
        </p:txBody>
      </p:sp>
    </p:spTree>
    <p:extLst>
      <p:ext uri="{BB962C8B-B14F-4D97-AF65-F5344CB8AC3E}">
        <p14:creationId xmlns="" xmlns:p14="http://schemas.microsoft.com/office/powerpoint/2007/7/12/main" val="4026363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p:txBody>
          <a:bodyPr/>
          <a:lstStyle/>
          <a:p>
            <a:r>
              <a:rPr lang="es-CO" dirty="0" smtClean="0"/>
              <a:t>R. WIEHE</a:t>
            </a:r>
            <a:endParaRPr lang="es-CO" dirty="0"/>
          </a:p>
        </p:txBody>
      </p:sp>
      <p:sp>
        <p:nvSpPr>
          <p:cNvPr id="5" name="4 Subtítulo"/>
          <p:cNvSpPr>
            <a:spLocks noGrp="1"/>
          </p:cNvSpPr>
          <p:nvPr>
            <p:ph type="subTitle" idx="1"/>
          </p:nvPr>
        </p:nvSpPr>
        <p:spPr/>
        <p:txBody>
          <a:bodyPr/>
          <a:lstStyle/>
          <a:p>
            <a:r>
              <a:rPr lang="es-CO" dirty="0" smtClean="0"/>
              <a:t>“Los términos básicos en la APO son la misión, objetivos, metas y planes</a:t>
            </a:r>
            <a:endParaRPr lang="es-CO" dirty="0"/>
          </a:p>
        </p:txBody>
      </p:sp>
    </p:spTree>
    <p:extLst>
      <p:ext uri="{BB962C8B-B14F-4D97-AF65-F5344CB8AC3E}">
        <p14:creationId xmlns="" xmlns:p14="http://schemas.microsoft.com/office/powerpoint/2007/7/12/main" val="329247984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R. WIEHE</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dirty="0" smtClean="0"/>
          </a:p>
          <a:p>
            <a:pPr>
              <a:buFont typeface="Wingdings" pitchFamily="2" charset="2"/>
              <a:buChar char="ü"/>
            </a:pPr>
            <a:r>
              <a:rPr lang="es-CO" dirty="0" smtClean="0"/>
              <a:t> </a:t>
            </a:r>
            <a:r>
              <a:rPr lang="es-CO" sz="2000" dirty="0" smtClean="0">
                <a:latin typeface="Century Gothic" pitchFamily="34" charset="0"/>
              </a:rPr>
              <a:t>La misión describe el propósito de la organización, la razón para ella existir </a:t>
            </a:r>
          </a:p>
          <a:p>
            <a:pPr>
              <a:buFont typeface="Wingdings" pitchFamily="2" charset="2"/>
              <a:buChar char="ü"/>
            </a:pPr>
            <a:endParaRPr lang="es-CO" sz="2000" dirty="0">
              <a:latin typeface="Century Gothic" pitchFamily="34" charset="0"/>
            </a:endParaRPr>
          </a:p>
          <a:p>
            <a:pPr>
              <a:buFont typeface="Wingdings" pitchFamily="2" charset="2"/>
              <a:buChar char="ü"/>
            </a:pPr>
            <a:r>
              <a:rPr lang="es-CO" sz="2000" dirty="0" smtClean="0">
                <a:latin typeface="Century Gothic" pitchFamily="34" charset="0"/>
              </a:rPr>
              <a:t>Los objetivos son el resultado anhelado llevando a cabo el orden </a:t>
            </a:r>
          </a:p>
          <a:p>
            <a:pPr>
              <a:buFont typeface="Wingdings" pitchFamily="2" charset="2"/>
              <a:buChar char="ü"/>
            </a:pPr>
            <a:endParaRPr lang="es-CO" sz="2000" dirty="0">
              <a:latin typeface="Century Gothic" pitchFamily="34" charset="0"/>
            </a:endParaRPr>
          </a:p>
          <a:p>
            <a:pPr>
              <a:buFont typeface="Wingdings" pitchFamily="2" charset="2"/>
              <a:buChar char="ü"/>
            </a:pPr>
            <a:r>
              <a:rPr lang="es-CO" sz="2000" dirty="0" smtClean="0">
                <a:latin typeface="Century Gothic" pitchFamily="34" charset="0"/>
              </a:rPr>
              <a:t>Las metas es un programa APO  son el resultado final a ser llevado a cabo dentro de un periodo de tiempo </a:t>
            </a:r>
            <a:endParaRPr lang="es-CO" sz="2000" dirty="0">
              <a:latin typeface="Century Gothic" pitchFamily="34" charset="0"/>
            </a:endParaRPr>
          </a:p>
        </p:txBody>
      </p:sp>
    </p:spTree>
    <p:extLst>
      <p:ext uri="{BB962C8B-B14F-4D97-AF65-F5344CB8AC3E}">
        <p14:creationId xmlns="" xmlns:p14="http://schemas.microsoft.com/office/powerpoint/2007/7/12/main" val="33299431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R. WIEHE</a:t>
            </a:r>
            <a:endParaRPr lang="es-CO" dirty="0"/>
          </a:p>
        </p:txBody>
      </p:sp>
      <p:sp>
        <p:nvSpPr>
          <p:cNvPr id="3" name="2 Marcador de contenido"/>
          <p:cNvSpPr>
            <a:spLocks noGrp="1"/>
          </p:cNvSpPr>
          <p:nvPr>
            <p:ph idx="1"/>
          </p:nvPr>
        </p:nvSpPr>
        <p:spPr/>
        <p:txBody>
          <a:bodyPr/>
          <a:lstStyle/>
          <a:p>
            <a:pPr>
              <a:buFont typeface="Wingdings" pitchFamily="2" charset="2"/>
              <a:buChar char="ü"/>
            </a:pPr>
            <a:endParaRPr lang="es-CO" sz="2000" dirty="0" smtClean="0">
              <a:latin typeface="Century Gothic" pitchFamily="34" charset="0"/>
            </a:endParaRPr>
          </a:p>
          <a:p>
            <a:pPr>
              <a:buFont typeface="Wingdings" pitchFamily="2" charset="2"/>
              <a:buChar char="ü"/>
            </a:pPr>
            <a:endParaRPr lang="es-CO" sz="2000" dirty="0">
              <a:latin typeface="Century Gothic" pitchFamily="34" charset="0"/>
            </a:endParaRPr>
          </a:p>
          <a:p>
            <a:pPr>
              <a:buFont typeface="Wingdings" pitchFamily="2" charset="2"/>
              <a:buChar char="ü"/>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Las metas es un programa APO  son el resultado final a ser llevado a cabo dentro de un periodo de tiempo </a:t>
            </a:r>
          </a:p>
          <a:p>
            <a:pPr>
              <a:buNone/>
            </a:pPr>
            <a:endParaRPr lang="es-CO" sz="2000" dirty="0" smtClean="0">
              <a:latin typeface="Century Gothic" pitchFamily="34" charset="0"/>
            </a:endParaRPr>
          </a:p>
          <a:p>
            <a:pPr>
              <a:buNone/>
            </a:pPr>
            <a:endParaRPr lang="es-CO" sz="2000" dirty="0">
              <a:latin typeface="Century Gothic" pitchFamily="34" charset="0"/>
            </a:endParaRPr>
          </a:p>
          <a:p>
            <a:pPr>
              <a:buFont typeface="Wingdings" pitchFamily="2" charset="2"/>
              <a:buChar char="ü"/>
            </a:pPr>
            <a:r>
              <a:rPr lang="es-CO" sz="2000" dirty="0" smtClean="0">
                <a:latin typeface="Century Gothic" pitchFamily="34" charset="0"/>
              </a:rPr>
              <a:t>La formulación de los planes para alcanzar una meta es similar al funcionamiento de un concepto en investigación quien indicara la ruta</a:t>
            </a:r>
          </a:p>
          <a:p>
            <a:endParaRPr lang="es-CO" dirty="0"/>
          </a:p>
        </p:txBody>
      </p:sp>
    </p:spTree>
    <p:extLst>
      <p:ext uri="{BB962C8B-B14F-4D97-AF65-F5344CB8AC3E}">
        <p14:creationId xmlns="" xmlns:p14="http://schemas.microsoft.com/office/powerpoint/2007/7/12/main" val="35543470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rmAutofit/>
          </a:bodyPr>
          <a:lstStyle/>
          <a:p>
            <a:r>
              <a:rPr lang="es-CO" dirty="0" smtClean="0"/>
              <a:t>MODELO DE ANALISIS ORGANIZACIONAL </a:t>
            </a:r>
            <a:endParaRPr lang="es-CO" dirty="0"/>
          </a:p>
        </p:txBody>
      </p:sp>
      <p:sp>
        <p:nvSpPr>
          <p:cNvPr id="5" name="4 Subtítulo"/>
          <p:cNvSpPr>
            <a:spLocks noGrp="1"/>
          </p:cNvSpPr>
          <p:nvPr>
            <p:ph type="subTitle" idx="1"/>
          </p:nvPr>
        </p:nvSpPr>
        <p:spPr/>
        <p:txBody>
          <a:bodyPr>
            <a:normAutofit/>
          </a:bodyPr>
          <a:lstStyle/>
          <a:p>
            <a:r>
              <a:rPr lang="es-CO" dirty="0" smtClean="0"/>
              <a:t>Dentro del estudio del desarrollo empresariales se logro consolidar mejores practicas estrategias con el direccionamiento  empresarial </a:t>
            </a:r>
            <a:endParaRPr lang="es-CO" dirty="0"/>
          </a:p>
        </p:txBody>
      </p:sp>
    </p:spTree>
    <p:extLst>
      <p:ext uri="{BB962C8B-B14F-4D97-AF65-F5344CB8AC3E}">
        <p14:creationId xmlns="" xmlns:p14="http://schemas.microsoft.com/office/powerpoint/2007/7/12/main" val="15149970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000" dirty="0" smtClean="0">
              <a:latin typeface="Century Gothic" pitchFamily="34" charset="0"/>
            </a:endParaRPr>
          </a:p>
          <a:p>
            <a:pPr>
              <a:buFont typeface="Wingdings" pitchFamily="2" charset="2"/>
              <a:buChar char="ü"/>
            </a:pPr>
            <a:endParaRPr lang="es-CO" sz="2000" b="1" dirty="0" smtClean="0">
              <a:latin typeface="Century Gothic" pitchFamily="34" charset="0"/>
            </a:endParaRPr>
          </a:p>
          <a:p>
            <a:pPr>
              <a:buFont typeface="Wingdings" pitchFamily="2" charset="2"/>
              <a:buChar char="ü"/>
            </a:pPr>
            <a:r>
              <a:rPr lang="es-CO" sz="2000" b="1" dirty="0" smtClean="0">
                <a:latin typeface="Century Gothic" pitchFamily="34" charset="0"/>
              </a:rPr>
              <a:t>HISTORIA DE LA ORGANIZACIÓN:</a:t>
            </a:r>
          </a:p>
          <a:p>
            <a:pPr>
              <a:buNone/>
            </a:pPr>
            <a:r>
              <a:rPr lang="es-CO" sz="2000" dirty="0">
                <a:latin typeface="Century Gothic" pitchFamily="34" charset="0"/>
              </a:rPr>
              <a:t> </a:t>
            </a:r>
            <a:r>
              <a:rPr lang="es-CO" sz="2000" dirty="0" smtClean="0">
                <a:latin typeface="Century Gothic" pitchFamily="34" charset="0"/>
              </a:rPr>
              <a:t>     Incluir un análisis de la creación e identificación de los cambios ocurridos en su estructura </a:t>
            </a:r>
          </a:p>
          <a:p>
            <a:pPr>
              <a:buFont typeface="Wingdings" pitchFamily="2" charset="2"/>
              <a:buChar char="ü"/>
            </a:pPr>
            <a:endParaRPr lang="es-CO" sz="2000" dirty="0">
              <a:latin typeface="Century Gothic" pitchFamily="34" charset="0"/>
            </a:endParaRPr>
          </a:p>
          <a:p>
            <a:pPr>
              <a:buFont typeface="Wingdings" pitchFamily="2" charset="2"/>
              <a:buChar char="ü"/>
            </a:pPr>
            <a:endParaRPr lang="es-CO" sz="2000" dirty="0" smtClean="0">
              <a:latin typeface="Century Gothic" pitchFamily="34" charset="0"/>
            </a:endParaRPr>
          </a:p>
          <a:p>
            <a:pPr>
              <a:buFont typeface="Wingdings" pitchFamily="2" charset="2"/>
              <a:buChar char="ü"/>
            </a:pPr>
            <a:r>
              <a:rPr lang="es-CO" sz="2000" b="1" dirty="0" smtClean="0">
                <a:latin typeface="Century Gothic" pitchFamily="34" charset="0"/>
              </a:rPr>
              <a:t>CULTURA ORGANIZACIONAL: </a:t>
            </a:r>
          </a:p>
          <a:p>
            <a:pPr>
              <a:buNone/>
            </a:pPr>
            <a:r>
              <a:rPr lang="es-CO" sz="2000" dirty="0" smtClean="0">
                <a:latin typeface="Century Gothic" pitchFamily="34" charset="0"/>
              </a:rPr>
              <a:t>   Analizar los principales componentes de la cultura compartida por los miembros dela organización </a:t>
            </a:r>
            <a:endParaRPr lang="es-CO" sz="2000" dirty="0">
              <a:latin typeface="Century Gothic" pitchFamily="34" charset="0"/>
            </a:endParaRPr>
          </a:p>
        </p:txBody>
      </p:sp>
    </p:spTree>
    <p:extLst>
      <p:ext uri="{BB962C8B-B14F-4D97-AF65-F5344CB8AC3E}">
        <p14:creationId xmlns="" xmlns:p14="http://schemas.microsoft.com/office/powerpoint/2007/7/12/main" val="8596718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lnSpcReduction="10000"/>
          </a:bodyPr>
          <a:lstStyle/>
          <a:p>
            <a:pPr>
              <a:buFont typeface="Wingdings" pitchFamily="2" charset="2"/>
              <a:buChar char="ü"/>
            </a:pPr>
            <a:endParaRPr lang="es-CO" sz="2000" b="1" dirty="0" smtClean="0">
              <a:latin typeface="Century Gothic" pitchFamily="34" charset="0"/>
            </a:endParaRPr>
          </a:p>
          <a:p>
            <a:pPr>
              <a:buFont typeface="Wingdings" pitchFamily="2" charset="2"/>
              <a:buChar char="ü"/>
            </a:pPr>
            <a:r>
              <a:rPr lang="es-CO" sz="2000" b="1" dirty="0" smtClean="0">
                <a:latin typeface="Century Gothic" pitchFamily="34" charset="0"/>
              </a:rPr>
              <a:t>ANALISIS DEL MACROAMBIENTE</a:t>
            </a:r>
          </a:p>
          <a:p>
            <a:pPr>
              <a:buNone/>
            </a:pPr>
            <a:r>
              <a:rPr lang="es-CO" sz="2000" dirty="0">
                <a:latin typeface="Century Gothic" pitchFamily="34" charset="0"/>
              </a:rPr>
              <a:t> </a:t>
            </a:r>
            <a:r>
              <a:rPr lang="es-CO" sz="2000" dirty="0" smtClean="0">
                <a:latin typeface="Century Gothic" pitchFamily="34" charset="0"/>
              </a:rPr>
              <a:t>   Comprende un estudio exhaustivo de la variables que determinan la organización y el sistema social Demográficas.</a:t>
            </a:r>
          </a:p>
          <a:p>
            <a:pPr>
              <a:buNone/>
            </a:pPr>
            <a:endParaRPr lang="es-CO" sz="2000" dirty="0" smtClean="0">
              <a:latin typeface="Century Gothic" pitchFamily="34" charset="0"/>
            </a:endParaRPr>
          </a:p>
          <a:p>
            <a:pPr marL="514350" indent="-514350">
              <a:buFont typeface="+mj-lt"/>
              <a:buAutoNum type="arabicPeriod"/>
            </a:pPr>
            <a:r>
              <a:rPr lang="es-CO" sz="2000" dirty="0" smtClean="0">
                <a:latin typeface="Century Gothic" pitchFamily="34" charset="0"/>
              </a:rPr>
              <a:t>Geográficas</a:t>
            </a:r>
          </a:p>
          <a:p>
            <a:pPr marL="514350" indent="-514350">
              <a:buFont typeface="+mj-lt"/>
              <a:buAutoNum type="arabicPeriod"/>
            </a:pPr>
            <a:r>
              <a:rPr lang="es-CO" sz="2000" dirty="0" smtClean="0">
                <a:latin typeface="Century Gothic" pitchFamily="34" charset="0"/>
              </a:rPr>
              <a:t>Sociales</a:t>
            </a:r>
          </a:p>
          <a:p>
            <a:pPr marL="514350" indent="-514350">
              <a:buFont typeface="+mj-lt"/>
              <a:buAutoNum type="arabicPeriod"/>
            </a:pPr>
            <a:r>
              <a:rPr lang="es-CO" sz="2000" dirty="0" smtClean="0">
                <a:latin typeface="Century Gothic" pitchFamily="34" charset="0"/>
              </a:rPr>
              <a:t>Políticas</a:t>
            </a:r>
          </a:p>
          <a:p>
            <a:pPr marL="514350" indent="-514350">
              <a:buFont typeface="+mj-lt"/>
              <a:buAutoNum type="arabicPeriod"/>
            </a:pPr>
            <a:r>
              <a:rPr lang="es-CO" sz="2000" dirty="0" smtClean="0">
                <a:latin typeface="Century Gothic" pitchFamily="34" charset="0"/>
              </a:rPr>
              <a:t>Jurídicas</a:t>
            </a:r>
          </a:p>
          <a:p>
            <a:pPr marL="514350" indent="-514350">
              <a:buFont typeface="+mj-lt"/>
              <a:buAutoNum type="arabicPeriod"/>
            </a:pPr>
            <a:r>
              <a:rPr lang="es-CO" sz="2000" dirty="0" smtClean="0">
                <a:latin typeface="Century Gothic" pitchFamily="34" charset="0"/>
              </a:rPr>
              <a:t>Culturales</a:t>
            </a:r>
          </a:p>
          <a:p>
            <a:pPr marL="514350" indent="-514350">
              <a:buFont typeface="+mj-lt"/>
              <a:buAutoNum type="arabicPeriod"/>
            </a:pPr>
            <a:r>
              <a:rPr lang="es-CO" sz="2000" dirty="0" smtClean="0">
                <a:latin typeface="Century Gothic" pitchFamily="34" charset="0"/>
              </a:rPr>
              <a:t>Ecológicas</a:t>
            </a:r>
          </a:p>
          <a:p>
            <a:pPr marL="514350" indent="-514350">
              <a:buFont typeface="+mj-lt"/>
              <a:buAutoNum type="arabicPeriod"/>
            </a:pPr>
            <a:r>
              <a:rPr lang="es-CO" sz="2000" dirty="0" smtClean="0">
                <a:latin typeface="Century Gothic" pitchFamily="34" charset="0"/>
              </a:rPr>
              <a:t>Tecnológicas</a:t>
            </a:r>
          </a:p>
          <a:p>
            <a:pPr marL="514350" indent="-514350">
              <a:buNone/>
            </a:pPr>
            <a:endParaRPr lang="es-CO" dirty="0" smtClean="0"/>
          </a:p>
          <a:p>
            <a:pPr marL="514350" indent="-514350">
              <a:buNone/>
            </a:pPr>
            <a:endParaRPr lang="es-CO" dirty="0"/>
          </a:p>
        </p:txBody>
      </p:sp>
    </p:spTree>
    <p:extLst>
      <p:ext uri="{BB962C8B-B14F-4D97-AF65-F5344CB8AC3E}">
        <p14:creationId xmlns="" xmlns:p14="http://schemas.microsoft.com/office/powerpoint/2007/7/12/main" val="13626907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000" b="1" dirty="0" smtClean="0">
              <a:latin typeface="Century Gothic" pitchFamily="34" charset="0"/>
            </a:endParaRPr>
          </a:p>
          <a:p>
            <a:pPr>
              <a:buFont typeface="Wingdings" pitchFamily="2" charset="2"/>
              <a:buChar char="ü"/>
            </a:pPr>
            <a:r>
              <a:rPr lang="es-CO" sz="2000" b="1" dirty="0" smtClean="0">
                <a:latin typeface="Century Gothic" pitchFamily="34" charset="0"/>
              </a:rPr>
              <a:t>Análisis del sector de la actividad económica de la organización </a:t>
            </a:r>
          </a:p>
          <a:p>
            <a:pPr>
              <a:buNone/>
            </a:pPr>
            <a:r>
              <a:rPr lang="es-CO" sz="2000" dirty="0">
                <a:latin typeface="Century Gothic" pitchFamily="34" charset="0"/>
              </a:rPr>
              <a:t> </a:t>
            </a:r>
            <a:r>
              <a:rPr lang="es-CO" sz="2000" dirty="0" smtClean="0">
                <a:latin typeface="Century Gothic" pitchFamily="34" charset="0"/>
              </a:rPr>
              <a:t>  comprende un estudio exhaustivo de la estructura del sector,</a:t>
            </a:r>
          </a:p>
          <a:p>
            <a:pPr>
              <a:buNone/>
            </a:pPr>
            <a:r>
              <a:rPr lang="es-CO" sz="2000" dirty="0">
                <a:latin typeface="Century Gothic" pitchFamily="34" charset="0"/>
              </a:rPr>
              <a:t> </a:t>
            </a:r>
            <a:r>
              <a:rPr lang="es-CO" sz="2000" dirty="0" smtClean="0">
                <a:latin typeface="Century Gothic" pitchFamily="34" charset="0"/>
              </a:rPr>
              <a:t>  tales factores son:</a:t>
            </a:r>
          </a:p>
          <a:p>
            <a:pPr>
              <a:buNone/>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Competidores potenciales</a:t>
            </a:r>
          </a:p>
          <a:p>
            <a:pPr marL="457200" indent="-457200">
              <a:buFont typeface="+mj-lt"/>
              <a:buAutoNum type="arabicPeriod"/>
            </a:pPr>
            <a:r>
              <a:rPr lang="es-CO" sz="2000" dirty="0" smtClean="0">
                <a:latin typeface="Century Gothic" pitchFamily="34" charset="0"/>
              </a:rPr>
              <a:t>Competidores existentes</a:t>
            </a:r>
          </a:p>
          <a:p>
            <a:pPr marL="457200" indent="-457200">
              <a:buFont typeface="+mj-lt"/>
              <a:buAutoNum type="arabicPeriod"/>
            </a:pPr>
            <a:r>
              <a:rPr lang="es-CO" sz="2000" dirty="0" smtClean="0">
                <a:latin typeface="Century Gothic" pitchFamily="34" charset="0"/>
              </a:rPr>
              <a:t>Productos sustitutos</a:t>
            </a:r>
          </a:p>
          <a:p>
            <a:pPr marL="457200" indent="-457200">
              <a:buFont typeface="+mj-lt"/>
              <a:buAutoNum type="arabicPeriod"/>
            </a:pPr>
            <a:r>
              <a:rPr lang="es-CO" sz="2000" dirty="0" smtClean="0">
                <a:latin typeface="Century Gothic" pitchFamily="34" charset="0"/>
              </a:rPr>
              <a:t>Consumidores, clientes y/o usuarios </a:t>
            </a:r>
          </a:p>
          <a:p>
            <a:pPr marL="457200" indent="-457200">
              <a:buFont typeface="+mj-lt"/>
              <a:buAutoNum type="arabicPeriod"/>
            </a:pPr>
            <a:r>
              <a:rPr lang="es-CO" sz="2000" dirty="0" smtClean="0">
                <a:latin typeface="Century Gothic" pitchFamily="34" charset="0"/>
              </a:rPr>
              <a:t>Proveedores de recursos y de insumos </a:t>
            </a:r>
            <a:endParaRPr lang="es-CO" sz="2000" dirty="0">
              <a:latin typeface="Century Gothic" pitchFamily="34" charset="0"/>
            </a:endParaRPr>
          </a:p>
        </p:txBody>
      </p:sp>
    </p:spTree>
    <p:extLst>
      <p:ext uri="{BB962C8B-B14F-4D97-AF65-F5344CB8AC3E}">
        <p14:creationId xmlns="" xmlns:p14="http://schemas.microsoft.com/office/powerpoint/2007/7/12/main" val="14049296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000" b="1" dirty="0" smtClean="0">
              <a:latin typeface="Century Gothic" pitchFamily="34" charset="0"/>
            </a:endParaRPr>
          </a:p>
          <a:p>
            <a:pPr>
              <a:buFont typeface="Wingdings" pitchFamily="2" charset="2"/>
              <a:buChar char="ü"/>
            </a:pPr>
            <a:endParaRPr lang="es-CO" sz="2000" b="1" dirty="0" smtClean="0">
              <a:latin typeface="Century Gothic" pitchFamily="34" charset="0"/>
            </a:endParaRPr>
          </a:p>
          <a:p>
            <a:pPr>
              <a:buFont typeface="Wingdings" pitchFamily="2" charset="2"/>
              <a:buChar char="ü"/>
            </a:pPr>
            <a:r>
              <a:rPr lang="es-CO" sz="2000" b="1" dirty="0" smtClean="0">
                <a:latin typeface="Century Gothic" pitchFamily="34" charset="0"/>
              </a:rPr>
              <a:t>Análisis interno de la organización </a:t>
            </a:r>
            <a:r>
              <a:rPr lang="es-CO" sz="2000" dirty="0" smtClean="0">
                <a:latin typeface="Century Gothic" pitchFamily="34" charset="0"/>
              </a:rPr>
              <a:t>:</a:t>
            </a:r>
          </a:p>
          <a:p>
            <a:pPr>
              <a:buFont typeface="Wingdings" pitchFamily="2" charset="2"/>
              <a:buChar char="ü"/>
            </a:pPr>
            <a:endParaRPr lang="es-CO" sz="2000" dirty="0">
              <a:latin typeface="Century Gothic" pitchFamily="34" charset="0"/>
            </a:endParaRPr>
          </a:p>
          <a:p>
            <a:pPr>
              <a:buNone/>
            </a:pPr>
            <a:r>
              <a:rPr lang="es-CO" sz="2000" dirty="0" smtClean="0">
                <a:latin typeface="Century Gothic" pitchFamily="34" charset="0"/>
              </a:rPr>
              <a:t>    comprende una descripción y diagnostico de manera de organizaciones administrativas</a:t>
            </a:r>
          </a:p>
          <a:p>
            <a:pPr>
              <a:buNone/>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Planeación </a:t>
            </a:r>
          </a:p>
          <a:p>
            <a:pPr marL="457200" indent="-457200">
              <a:buFont typeface="+mj-lt"/>
              <a:buAutoNum type="arabicPeriod"/>
            </a:pPr>
            <a:r>
              <a:rPr lang="es-CO" sz="2000" dirty="0" smtClean="0">
                <a:latin typeface="Century Gothic" pitchFamily="34" charset="0"/>
              </a:rPr>
              <a:t>Organización </a:t>
            </a:r>
          </a:p>
          <a:p>
            <a:pPr marL="457200" indent="-457200">
              <a:buFont typeface="+mj-lt"/>
              <a:buAutoNum type="arabicPeriod"/>
            </a:pPr>
            <a:r>
              <a:rPr lang="es-CO" sz="2000" dirty="0" smtClean="0">
                <a:latin typeface="Century Gothic" pitchFamily="34" charset="0"/>
              </a:rPr>
              <a:t>Dirección</a:t>
            </a:r>
          </a:p>
          <a:p>
            <a:pPr marL="457200" indent="-457200">
              <a:buFont typeface="+mj-lt"/>
              <a:buAutoNum type="arabicPeriod"/>
            </a:pPr>
            <a:r>
              <a:rPr lang="es-CO" sz="2000" dirty="0" smtClean="0">
                <a:latin typeface="Century Gothic" pitchFamily="34" charset="0"/>
              </a:rPr>
              <a:t>Contro</a:t>
            </a:r>
            <a:r>
              <a:rPr lang="es-CO" sz="2000" dirty="0">
                <a:latin typeface="Century Gothic" pitchFamily="34" charset="0"/>
              </a:rPr>
              <a:t>l</a:t>
            </a:r>
          </a:p>
        </p:txBody>
      </p:sp>
    </p:spTree>
    <p:extLst>
      <p:ext uri="{BB962C8B-B14F-4D97-AF65-F5344CB8AC3E}">
        <p14:creationId xmlns="" xmlns:p14="http://schemas.microsoft.com/office/powerpoint/2007/7/12/main" val="15308568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b="1" dirty="0" smtClean="0">
                <a:latin typeface="Century Gothic" pitchFamily="34" charset="0"/>
              </a:rPr>
              <a:t>Análisis interno de la organización </a:t>
            </a:r>
            <a:r>
              <a:rPr lang="es-CO" dirty="0" smtClean="0">
                <a:latin typeface="Century Gothic" pitchFamily="34" charset="0"/>
              </a:rPr>
              <a:t>:</a:t>
            </a:r>
          </a:p>
        </p:txBody>
      </p:sp>
      <p:sp>
        <p:nvSpPr>
          <p:cNvPr id="3" name="2 Marcador de contenido"/>
          <p:cNvSpPr>
            <a:spLocks noGrp="1"/>
          </p:cNvSpPr>
          <p:nvPr>
            <p:ph idx="1"/>
          </p:nvPr>
        </p:nvSpPr>
        <p:spPr/>
        <p:txBody>
          <a:bodyPr/>
          <a:lstStyle/>
          <a:p>
            <a:pPr>
              <a:buFont typeface="Wingdings" pitchFamily="2" charset="2"/>
              <a:buChar char="ü"/>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Y</a:t>
            </a:r>
            <a:r>
              <a:rPr lang="es-CO" dirty="0" smtClean="0"/>
              <a:t> </a:t>
            </a:r>
            <a:r>
              <a:rPr lang="es-CO" sz="2000" dirty="0" smtClean="0">
                <a:latin typeface="Century Gothic" pitchFamily="34" charset="0"/>
              </a:rPr>
              <a:t>la descripción y diagnostico de manera de la organización la gestión </a:t>
            </a:r>
            <a:endParaRPr lang="es-CO" sz="2000" dirty="0">
              <a:latin typeface="Century Gothic" pitchFamily="34" charset="0"/>
            </a:endParaRPr>
          </a:p>
          <a:p>
            <a:pPr>
              <a:buFont typeface="Wingdings" pitchFamily="2" charset="2"/>
              <a:buChar char="ü"/>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Personal </a:t>
            </a:r>
          </a:p>
          <a:p>
            <a:pPr marL="457200" indent="-457200">
              <a:buFont typeface="+mj-lt"/>
              <a:buAutoNum type="arabicPeriod"/>
            </a:pPr>
            <a:r>
              <a:rPr lang="es-CO" sz="2000" dirty="0" smtClean="0">
                <a:latin typeface="Century Gothic" pitchFamily="34" charset="0"/>
              </a:rPr>
              <a:t>Mercadeo </a:t>
            </a:r>
          </a:p>
          <a:p>
            <a:pPr marL="457200" indent="-457200">
              <a:buFont typeface="+mj-lt"/>
              <a:buAutoNum type="arabicPeriod"/>
            </a:pPr>
            <a:r>
              <a:rPr lang="es-CO" sz="2000" dirty="0" smtClean="0">
                <a:latin typeface="Century Gothic" pitchFamily="34" charset="0"/>
              </a:rPr>
              <a:t>Finanzas</a:t>
            </a:r>
          </a:p>
          <a:p>
            <a:pPr marL="457200" indent="-457200">
              <a:buFont typeface="+mj-lt"/>
              <a:buAutoNum type="arabicPeriod"/>
            </a:pPr>
            <a:r>
              <a:rPr lang="es-CO" sz="2000" dirty="0" smtClean="0">
                <a:latin typeface="Century Gothic" pitchFamily="34" charset="0"/>
              </a:rPr>
              <a:t>Servicio y/o Producción </a:t>
            </a:r>
          </a:p>
          <a:p>
            <a:pPr marL="457200" indent="-457200">
              <a:buFont typeface="+mj-lt"/>
              <a:buAutoNum type="arabicPeriod"/>
            </a:pPr>
            <a:r>
              <a:rPr lang="es-CO" sz="2000" dirty="0" smtClean="0">
                <a:latin typeface="Century Gothic" pitchFamily="34" charset="0"/>
              </a:rPr>
              <a:t>Sistemas de información </a:t>
            </a:r>
          </a:p>
          <a:p>
            <a:pPr marL="457200" indent="-457200">
              <a:buFont typeface="+mj-lt"/>
              <a:buAutoNum type="arabicPeriod"/>
            </a:pPr>
            <a:r>
              <a:rPr lang="es-CO" sz="2000" dirty="0" smtClean="0">
                <a:latin typeface="Century Gothic" pitchFamily="34" charset="0"/>
              </a:rPr>
              <a:t>Investigación y desarrollo </a:t>
            </a:r>
          </a:p>
          <a:p>
            <a:pPr marL="457200" indent="-457200">
              <a:buFont typeface="+mj-lt"/>
              <a:buAutoNum type="arabicPeriod"/>
            </a:pPr>
            <a:endParaRPr lang="es-CO" sz="2000" dirty="0">
              <a:latin typeface="Century Gothic" pitchFamily="34" charset="0"/>
            </a:endParaRPr>
          </a:p>
        </p:txBody>
      </p:sp>
    </p:spTree>
    <p:extLst>
      <p:ext uri="{BB962C8B-B14F-4D97-AF65-F5344CB8AC3E}">
        <p14:creationId xmlns="" xmlns:p14="http://schemas.microsoft.com/office/powerpoint/2007/7/12/main" val="14090896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INTEGRACION Y ANALISIS DE SITUACION </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endParaRPr lang="es-CO" sz="2000" b="1" dirty="0" smtClean="0">
              <a:latin typeface="Century Gothic" pitchFamily="34" charset="0"/>
            </a:endParaRPr>
          </a:p>
          <a:p>
            <a:pPr>
              <a:buFont typeface="Wingdings" pitchFamily="2" charset="2"/>
              <a:buChar char="ü"/>
            </a:pPr>
            <a:endParaRPr lang="es-CO" sz="2000" b="1" dirty="0">
              <a:latin typeface="Century Gothic" pitchFamily="34" charset="0"/>
            </a:endParaRPr>
          </a:p>
          <a:p>
            <a:pPr>
              <a:buFont typeface="Wingdings" pitchFamily="2" charset="2"/>
              <a:buChar char="ü"/>
            </a:pPr>
            <a:r>
              <a:rPr lang="es-CO" sz="2000" b="1" dirty="0" smtClean="0">
                <a:latin typeface="Century Gothic" pitchFamily="34" charset="0"/>
              </a:rPr>
              <a:t>Elaboración de la matriz DOFA </a:t>
            </a:r>
          </a:p>
          <a:p>
            <a:pPr>
              <a:buNone/>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Identificación de oportunidades y amenazas </a:t>
            </a:r>
          </a:p>
          <a:p>
            <a:pPr marL="457200" indent="-457200">
              <a:buFont typeface="+mj-lt"/>
              <a:buAutoNum type="arabicPeriod"/>
            </a:pPr>
            <a:endParaRPr lang="es-CO" sz="2000" dirty="0">
              <a:latin typeface="Century Gothic" pitchFamily="34" charset="0"/>
            </a:endParaRPr>
          </a:p>
          <a:p>
            <a:pPr marL="457200" indent="-457200">
              <a:buFont typeface="+mj-lt"/>
              <a:buAutoNum type="arabicPeriod"/>
            </a:pPr>
            <a:r>
              <a:rPr lang="es-CO" sz="2000" dirty="0" smtClean="0">
                <a:latin typeface="Century Gothic" pitchFamily="34" charset="0"/>
              </a:rPr>
              <a:t>identificación de fortalezas y debilidades </a:t>
            </a:r>
          </a:p>
          <a:p>
            <a:pPr marL="457200" indent="-457200">
              <a:buFont typeface="+mj-lt"/>
              <a:buAutoNum type="arabicPeriod"/>
            </a:pPr>
            <a:endParaRPr lang="es-CO" sz="2000" dirty="0">
              <a:latin typeface="Century Gothic" pitchFamily="34" charset="0"/>
            </a:endParaRPr>
          </a:p>
          <a:p>
            <a:pPr marL="457200" indent="-457200">
              <a:buFont typeface="+mj-lt"/>
              <a:buAutoNum type="arabicPeriod"/>
            </a:pPr>
            <a:r>
              <a:rPr lang="es-CO" sz="2000" dirty="0" smtClean="0">
                <a:latin typeface="Century Gothic" pitchFamily="34" charset="0"/>
              </a:rPr>
              <a:t>Identificación de estrategias FA,FO,DA, DO</a:t>
            </a:r>
          </a:p>
          <a:p>
            <a:pPr marL="457200" indent="-457200">
              <a:buNone/>
            </a:pPr>
            <a:endParaRPr lang="es-CO" sz="2000" dirty="0" smtClean="0">
              <a:latin typeface="Century Gothic" pitchFamily="34" charset="0"/>
            </a:endParaRPr>
          </a:p>
          <a:p>
            <a:pPr marL="457200" indent="-457200">
              <a:buFont typeface="+mj-lt"/>
              <a:buAutoNum type="arabicPeriod"/>
            </a:pPr>
            <a:endParaRPr lang="es-CO" sz="2000" dirty="0" smtClean="0">
              <a:latin typeface="Century Gothic" pitchFamily="34" charset="0"/>
            </a:endParaRPr>
          </a:p>
          <a:p>
            <a:pPr marL="457200" indent="-457200">
              <a:buNone/>
            </a:pPr>
            <a:endParaRPr lang="es-CO" sz="2000" dirty="0" smtClean="0">
              <a:latin typeface="Century Gothic" pitchFamily="34" charset="0"/>
            </a:endParaRPr>
          </a:p>
          <a:p>
            <a:pPr marL="457200" indent="-457200">
              <a:buFont typeface="+mj-lt"/>
              <a:buAutoNum type="arabicPeriod"/>
            </a:pPr>
            <a:endParaRPr lang="es-CO" sz="2000" dirty="0">
              <a:latin typeface="Century Gothic" pitchFamily="34" charset="0"/>
            </a:endParaRP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endParaRPr lang="es-CO" sz="2000" dirty="0">
              <a:latin typeface="Century Gothic" pitchFamily="34" charset="0"/>
            </a:endParaRPr>
          </a:p>
        </p:txBody>
      </p:sp>
    </p:spTree>
    <p:extLst>
      <p:ext uri="{BB962C8B-B14F-4D97-AF65-F5344CB8AC3E}">
        <p14:creationId xmlns="" xmlns:p14="http://schemas.microsoft.com/office/powerpoint/2007/7/12/main" val="31512470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a:bodyPr>
          <a:lstStyle/>
          <a:p>
            <a:pPr marL="457200" indent="-457200">
              <a:buNone/>
            </a:pPr>
            <a:endParaRPr lang="es-CO" sz="2000" dirty="0" smtClean="0">
              <a:latin typeface="Century Gothic" pitchFamily="34" charset="0"/>
            </a:endParaRPr>
          </a:p>
          <a:p>
            <a:pPr marL="457200" indent="-457200">
              <a:buFont typeface="Wingdings" pitchFamily="2" charset="2"/>
              <a:buChar char="ü"/>
            </a:pPr>
            <a:r>
              <a:rPr lang="es-CO" sz="2000" b="1" dirty="0" smtClean="0"/>
              <a:t>FORMULACION DEL CREDO ORGANIZACIONAL </a:t>
            </a:r>
            <a:endParaRPr lang="es-CO" sz="2000" b="1" dirty="0">
              <a:latin typeface="Century Gothic" pitchFamily="34" charset="0"/>
            </a:endParaRPr>
          </a:p>
          <a:p>
            <a:pPr marL="457200" indent="-457200">
              <a:buNone/>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1.Redencion de la misión de la organización </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Visión </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Declaración del principios y valores</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Formulación del propósito estratégico </a:t>
            </a:r>
            <a:endParaRPr lang="es-CO" sz="2000" dirty="0">
              <a:latin typeface="Century Gothic" pitchFamily="34" charset="0"/>
            </a:endParaRPr>
          </a:p>
        </p:txBody>
      </p:sp>
    </p:spTree>
    <p:extLst>
      <p:ext uri="{BB962C8B-B14F-4D97-AF65-F5344CB8AC3E}">
        <p14:creationId xmlns="" xmlns:p14="http://schemas.microsoft.com/office/powerpoint/2007/7/12/main" val="37476911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lstStyle/>
          <a:p>
            <a:pPr>
              <a:buFont typeface="Wingdings" pitchFamily="2" charset="2"/>
              <a:buChar char="ü"/>
            </a:pPr>
            <a:r>
              <a:rPr lang="es-CO" sz="2000" b="1" dirty="0" smtClean="0"/>
              <a:t>FORMULACION PLAN DE DESARROLLO </a:t>
            </a:r>
          </a:p>
          <a:p>
            <a:endParaRPr lang="es-CO" dirty="0"/>
          </a:p>
          <a:p>
            <a:pPr marL="514350" indent="-514350">
              <a:buFont typeface="+mj-lt"/>
              <a:buAutoNum type="arabicPeriod"/>
            </a:pPr>
            <a:r>
              <a:rPr lang="es-CO" sz="2000" dirty="0" smtClean="0">
                <a:latin typeface="Century Gothic" pitchFamily="34" charset="0"/>
              </a:rPr>
              <a:t>Objetivos estratégicos corporativos </a:t>
            </a:r>
          </a:p>
          <a:p>
            <a:pPr marL="514350" indent="-514350">
              <a:buFont typeface="+mj-lt"/>
              <a:buAutoNum type="arabicPeriod"/>
            </a:pPr>
            <a:endParaRPr lang="es-CO" sz="2000" dirty="0" smtClean="0">
              <a:latin typeface="Century Gothic" pitchFamily="34" charset="0"/>
            </a:endParaRPr>
          </a:p>
          <a:p>
            <a:pPr marL="514350" indent="-514350">
              <a:buFont typeface="+mj-lt"/>
              <a:buAutoNum type="arabicPeriod"/>
            </a:pPr>
            <a:r>
              <a:rPr lang="es-CO" sz="2000" dirty="0" smtClean="0">
                <a:latin typeface="Century Gothic" pitchFamily="34" charset="0"/>
              </a:rPr>
              <a:t>Objetivos por aéreas o unidades de estrategias </a:t>
            </a:r>
          </a:p>
          <a:p>
            <a:pPr marL="514350" indent="-514350">
              <a:buFont typeface="+mj-lt"/>
              <a:buAutoNum type="arabicPeriod"/>
            </a:pPr>
            <a:endParaRPr lang="es-CO" sz="2000" dirty="0" smtClean="0">
              <a:latin typeface="Century Gothic" pitchFamily="34" charset="0"/>
            </a:endParaRPr>
          </a:p>
          <a:p>
            <a:pPr marL="514350" indent="-514350">
              <a:buFont typeface="+mj-lt"/>
              <a:buAutoNum type="arabicPeriod"/>
            </a:pPr>
            <a:r>
              <a:rPr lang="es-CO" sz="2000" dirty="0" smtClean="0">
                <a:latin typeface="Century Gothic" pitchFamily="34" charset="0"/>
              </a:rPr>
              <a:t>Estrategias necesarias para lograr </a:t>
            </a:r>
          </a:p>
          <a:p>
            <a:pPr marL="514350" indent="-514350">
              <a:buFont typeface="+mj-lt"/>
              <a:buAutoNum type="arabicPeriod"/>
            </a:pPr>
            <a:endParaRPr lang="es-CO" sz="2000" dirty="0" smtClean="0">
              <a:latin typeface="Century Gothic" pitchFamily="34" charset="0"/>
            </a:endParaRPr>
          </a:p>
          <a:p>
            <a:pPr marL="514350" indent="-514350">
              <a:buFont typeface="+mj-lt"/>
              <a:buAutoNum type="arabicPeriod"/>
            </a:pPr>
            <a:r>
              <a:rPr lang="es-CO" sz="2000" dirty="0" smtClean="0">
                <a:latin typeface="Century Gothic" pitchFamily="34" charset="0"/>
              </a:rPr>
              <a:t>Definir la estructura organizacional que siga estrategias formuladas</a:t>
            </a:r>
            <a:endParaRPr lang="es-CO" sz="2000" dirty="0">
              <a:latin typeface="Century Gothic" pitchFamily="34" charset="0"/>
            </a:endParaRPr>
          </a:p>
        </p:txBody>
      </p:sp>
    </p:spTree>
    <p:extLst>
      <p:ext uri="{BB962C8B-B14F-4D97-AF65-F5344CB8AC3E}">
        <p14:creationId xmlns="" xmlns:p14="http://schemas.microsoft.com/office/powerpoint/2007/7/12/main" val="13491942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a:bodyPr>
          <a:lstStyle/>
          <a:p>
            <a:pPr>
              <a:buFont typeface="Wingdings" pitchFamily="2" charset="2"/>
              <a:buChar char="ü"/>
            </a:pPr>
            <a:r>
              <a:rPr lang="es-CO" sz="2000" b="1" dirty="0" smtClean="0">
                <a:latin typeface="Century Gothic" pitchFamily="34" charset="0"/>
              </a:rPr>
              <a:t>FORMULACION DE PLAN OPERATIVO ANUAL </a:t>
            </a:r>
          </a:p>
          <a:p>
            <a:endParaRPr lang="es-CO" sz="2000" dirty="0">
              <a:latin typeface="Century Gothic" pitchFamily="34" charset="0"/>
            </a:endParaRPr>
          </a:p>
          <a:p>
            <a:pPr marL="457200" indent="-457200">
              <a:buFont typeface="+mj-lt"/>
              <a:buAutoNum type="arabicPeriod"/>
            </a:pPr>
            <a:r>
              <a:rPr lang="es-CO" sz="2000" dirty="0" smtClean="0">
                <a:latin typeface="Century Gothic" pitchFamily="34" charset="0"/>
              </a:rPr>
              <a:t>Metas</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Programas</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Actividades</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Asignación de recursos </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Presupuestos</a:t>
            </a:r>
          </a:p>
          <a:p>
            <a:pPr marL="457200" indent="-457200">
              <a:buNone/>
            </a:pPr>
            <a:endParaRPr lang="es-CO" sz="2000" dirty="0">
              <a:latin typeface="Century Gothic" pitchFamily="34" charset="0"/>
            </a:endParaRPr>
          </a:p>
        </p:txBody>
      </p:sp>
    </p:spTree>
    <p:extLst>
      <p:ext uri="{BB962C8B-B14F-4D97-AF65-F5344CB8AC3E}">
        <p14:creationId xmlns="" xmlns:p14="http://schemas.microsoft.com/office/powerpoint/2007/7/12/main" val="279097276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MODELO DE ANALISIS DE UN PLAN ESTRATEGICO </a:t>
            </a:r>
            <a:endParaRPr lang="es-CO" dirty="0"/>
          </a:p>
        </p:txBody>
      </p:sp>
      <p:sp>
        <p:nvSpPr>
          <p:cNvPr id="3" name="2 Marcador de contenido"/>
          <p:cNvSpPr>
            <a:spLocks noGrp="1"/>
          </p:cNvSpPr>
          <p:nvPr>
            <p:ph idx="1"/>
          </p:nvPr>
        </p:nvSpPr>
        <p:spPr/>
        <p:txBody>
          <a:bodyPr>
            <a:normAutofit fontScale="92500" lnSpcReduction="10000"/>
          </a:bodyPr>
          <a:lstStyle/>
          <a:p>
            <a:pPr>
              <a:buFont typeface="Wingdings" pitchFamily="2" charset="2"/>
              <a:buChar char="ü"/>
            </a:pPr>
            <a:r>
              <a:rPr lang="es-CO" sz="2000" b="1" dirty="0" smtClean="0">
                <a:latin typeface="Century Gothic" pitchFamily="34" charset="0"/>
              </a:rPr>
              <a:t>DEFINIR UN SISTEMA DE CONTROL Y EVALUACION DEL PLAN ESTRATEGICO Y DEL PLAN OPERATIVO </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Objetivos del sistema de control de gestión </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Áreas y claves que controlen para el cumplimiento de los objetivos</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Indicadores de comportamientos</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 Responsabilidad que debe ser asumidas por el área</a:t>
            </a:r>
          </a:p>
          <a:p>
            <a:pPr marL="457200" indent="-457200">
              <a:buFont typeface="+mj-lt"/>
              <a:buAutoNum type="arabicPeriod"/>
            </a:pPr>
            <a:endParaRPr lang="es-CO" sz="2000" dirty="0" smtClean="0">
              <a:latin typeface="Century Gothic" pitchFamily="34" charset="0"/>
            </a:endParaRPr>
          </a:p>
          <a:p>
            <a:pPr marL="457200" indent="-457200">
              <a:buFont typeface="+mj-lt"/>
              <a:buAutoNum type="arabicPeriod"/>
            </a:pPr>
            <a:r>
              <a:rPr lang="es-CO" sz="2000" dirty="0" smtClean="0">
                <a:latin typeface="Century Gothic" pitchFamily="34" charset="0"/>
              </a:rPr>
              <a:t>Mecanismos de retroalimentación para el mejoramiento de la gestión global de la organización  </a:t>
            </a:r>
            <a:endParaRPr lang="es-CO" sz="2000" dirty="0">
              <a:latin typeface="Century Gothic" pitchFamily="34" charset="0"/>
            </a:endParaRPr>
          </a:p>
        </p:txBody>
      </p:sp>
    </p:spTree>
    <p:extLst>
      <p:ext uri="{BB962C8B-B14F-4D97-AF65-F5344CB8AC3E}">
        <p14:creationId xmlns="" xmlns:p14="http://schemas.microsoft.com/office/powerpoint/2007/7/12/main" val="40638392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rmAutofit/>
          </a:bodyPr>
          <a:lstStyle/>
          <a:p>
            <a:r>
              <a:rPr lang="es-CO" sz="4000" dirty="0" smtClean="0"/>
              <a:t>EJEMPLO DE APLICACIÓN POR OBJETIVO</a:t>
            </a:r>
            <a:endParaRPr lang="es-CO" dirty="0"/>
          </a:p>
        </p:txBody>
      </p:sp>
      <p:sp>
        <p:nvSpPr>
          <p:cNvPr id="4" name="3 Subtítulo"/>
          <p:cNvSpPr>
            <a:spLocks noGrp="1"/>
          </p:cNvSpPr>
          <p:nvPr>
            <p:ph type="subTitle" idx="1"/>
          </p:nvPr>
        </p:nvSpPr>
        <p:spPr/>
        <p:txBody>
          <a:bodyPr/>
          <a:lstStyle/>
          <a:p>
            <a:r>
              <a:rPr lang="es-CO" dirty="0" smtClean="0"/>
              <a:t>DE LA ADMINISTRACION EN COLOMBIA </a:t>
            </a:r>
            <a:endParaRPr lang="es-CO" dirty="0"/>
          </a:p>
        </p:txBody>
      </p:sp>
    </p:spTree>
    <p:extLst>
      <p:ext uri="{BB962C8B-B14F-4D97-AF65-F5344CB8AC3E}">
        <p14:creationId xmlns="" xmlns:p14="http://schemas.microsoft.com/office/powerpoint/2007/7/12/main" val="15268443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ALGUNAS EMPRESAS </a:t>
            </a:r>
            <a:endParaRPr lang="es-CO" dirty="0"/>
          </a:p>
        </p:txBody>
      </p:sp>
      <p:sp>
        <p:nvSpPr>
          <p:cNvPr id="3" name="2 Marcador de contenido"/>
          <p:cNvSpPr>
            <a:spLocks noGrp="1"/>
          </p:cNvSpPr>
          <p:nvPr>
            <p:ph type="body" idx="1"/>
          </p:nvPr>
        </p:nvSpPr>
        <p:spPr/>
        <p:txBody>
          <a:bodyPr>
            <a:normAutofit fontScale="92500" lnSpcReduction="10000"/>
          </a:bodyPr>
          <a:lstStyle/>
          <a:p>
            <a:r>
              <a:rPr lang="es-CO" sz="2000" dirty="0" smtClean="0">
                <a:latin typeface="Century Gothic" pitchFamily="34" charset="0"/>
              </a:rPr>
              <a:t>BOMLAN ANDINA , EMPRESA ALOCCIDENTE  S.A, HOSPITAL UNIVERSITARIO HERNANDO MONCALEANO PERDOMO , LOTERIA DEL DEPARTAMENTO DEL HUILA , EMPRESARALES S.A.</a:t>
            </a:r>
            <a:endParaRPr lang="es-CO" sz="2000" dirty="0">
              <a:latin typeface="Century Gothic" pitchFamily="34" charset="0"/>
            </a:endParaRPr>
          </a:p>
        </p:txBody>
      </p:sp>
    </p:spTree>
    <p:extLst>
      <p:ext uri="{BB962C8B-B14F-4D97-AF65-F5344CB8AC3E}">
        <p14:creationId xmlns="" xmlns:p14="http://schemas.microsoft.com/office/powerpoint/2007/7/12/main" val="354312608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HOSPITAL UNIVERSITARIO HERNANDO MONCALENO PERDOMO </a:t>
            </a:r>
            <a:endParaRPr lang="es-CO" dirty="0"/>
          </a:p>
        </p:txBody>
      </p:sp>
      <p:sp>
        <p:nvSpPr>
          <p:cNvPr id="3" name="2 Marcador de contenido"/>
          <p:cNvSpPr>
            <a:spLocks noGrp="1"/>
          </p:cNvSpPr>
          <p:nvPr>
            <p:ph idx="1"/>
          </p:nvPr>
        </p:nvSpPr>
        <p:spPr/>
        <p:txBody>
          <a:bodyPr>
            <a:normAutofit/>
          </a:bodyPr>
          <a:lstStyle/>
          <a:p>
            <a:endParaRPr lang="es-CO" sz="2000" dirty="0" smtClean="0">
              <a:latin typeface="Century Gothic" pitchFamily="34" charset="0"/>
            </a:endParaRPr>
          </a:p>
          <a:p>
            <a:pPr>
              <a:buNone/>
            </a:pPr>
            <a:r>
              <a:rPr lang="es-CO" sz="2000" dirty="0" smtClean="0">
                <a:latin typeface="Century Gothic" pitchFamily="34" charset="0"/>
              </a:rPr>
              <a:t>     Es una entidad de tercer nivel de atención integral de los pacientes a través de diagnósticos, tratamientos, etc.</a:t>
            </a:r>
          </a:p>
          <a:p>
            <a:pPr>
              <a:buNone/>
            </a:pPr>
            <a:r>
              <a:rPr lang="es-CO" sz="2000" dirty="0" smtClean="0">
                <a:latin typeface="Century Gothic" pitchFamily="34" charset="0"/>
              </a:rPr>
              <a:t>     brinda atención personalizada a la región personalizada la región surcolombia, afiliados a los regímenes contributivo y subsidiado de salud.</a:t>
            </a:r>
          </a:p>
          <a:p>
            <a:pPr>
              <a:buNone/>
            </a:pPr>
            <a:endParaRPr lang="es-CO" sz="2000" dirty="0" smtClean="0">
              <a:latin typeface="Century Gothic" pitchFamily="34" charset="0"/>
            </a:endParaRPr>
          </a:p>
          <a:p>
            <a:pPr>
              <a:buNone/>
            </a:pPr>
            <a:r>
              <a:rPr lang="es-CO" sz="2000" dirty="0" smtClean="0">
                <a:latin typeface="Century Gothic" pitchFamily="34" charset="0"/>
              </a:rPr>
              <a:t>     Esta organización se centra en analizar la evolución  que ha tenido la </a:t>
            </a:r>
            <a:r>
              <a:rPr lang="es-CO" sz="2000" b="1" dirty="0" smtClean="0">
                <a:latin typeface="Century Gothic" pitchFamily="34" charset="0"/>
              </a:rPr>
              <a:t>Administración por Objetivos </a:t>
            </a:r>
            <a:r>
              <a:rPr lang="es-CO" sz="2000" dirty="0" smtClean="0">
                <a:latin typeface="Century Gothic" pitchFamily="34" charset="0"/>
              </a:rPr>
              <a:t>en la oficina de recursos humanos</a:t>
            </a:r>
            <a:endParaRPr lang="es-CO" sz="2000" dirty="0">
              <a:latin typeface="Century Gothic" pitchFamily="34" charset="0"/>
            </a:endParaRPr>
          </a:p>
        </p:txBody>
      </p:sp>
    </p:spTree>
    <p:extLst>
      <p:ext uri="{BB962C8B-B14F-4D97-AF65-F5344CB8AC3E}">
        <p14:creationId xmlns="" xmlns:p14="http://schemas.microsoft.com/office/powerpoint/2007/7/12/main" val="23837804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HERNANDO MONCALENO PERDOMO</a:t>
            </a:r>
            <a:endParaRPr lang="es-CO" dirty="0"/>
          </a:p>
        </p:txBody>
      </p:sp>
      <p:sp>
        <p:nvSpPr>
          <p:cNvPr id="3" name="2 Marcador de contenido"/>
          <p:cNvSpPr>
            <a:spLocks noGrp="1"/>
          </p:cNvSpPr>
          <p:nvPr>
            <p:ph idx="1"/>
          </p:nvPr>
        </p:nvSpPr>
        <p:spPr/>
        <p:txBody>
          <a:bodyPr/>
          <a:lstStyle/>
          <a:p>
            <a:pPr algn="ctr">
              <a:buNone/>
            </a:pPr>
            <a:r>
              <a:rPr lang="es-CO" dirty="0" smtClean="0"/>
              <a:t>    </a:t>
            </a:r>
            <a:r>
              <a:rPr lang="es-CO" sz="2000" b="1" dirty="0" smtClean="0">
                <a:latin typeface="Century Gothic" pitchFamily="34" charset="0"/>
              </a:rPr>
              <a:t>La institución cuenta con varios objetivo los cuales son:</a:t>
            </a:r>
          </a:p>
          <a:p>
            <a:pPr>
              <a:buNone/>
            </a:pPr>
            <a:endParaRPr lang="es-CO" sz="2000" dirty="0" smtClean="0">
              <a:latin typeface="Century Gothic" pitchFamily="34" charset="0"/>
            </a:endParaRPr>
          </a:p>
          <a:p>
            <a:pPr>
              <a:buFont typeface="Wingdings" pitchFamily="2" charset="2"/>
              <a:buChar char="ü"/>
            </a:pPr>
            <a:r>
              <a:rPr lang="es-CO" dirty="0" smtClean="0">
                <a:latin typeface="Century Gothic" pitchFamily="34" charset="0"/>
              </a:rPr>
              <a:t>Objetivos organizacionales </a:t>
            </a:r>
          </a:p>
          <a:p>
            <a:pPr>
              <a:buNone/>
            </a:pPr>
            <a:endParaRPr lang="es-CO" dirty="0" smtClean="0">
              <a:latin typeface="Century Gothic" pitchFamily="34" charset="0"/>
            </a:endParaRPr>
          </a:p>
          <a:p>
            <a:pPr>
              <a:buNone/>
            </a:pPr>
            <a:endParaRPr lang="es-CO" dirty="0" smtClean="0">
              <a:latin typeface="Century Gothic" pitchFamily="34" charset="0"/>
            </a:endParaRPr>
          </a:p>
          <a:p>
            <a:pPr>
              <a:buFont typeface="Wingdings" pitchFamily="2" charset="2"/>
              <a:buChar char="ü"/>
            </a:pPr>
            <a:r>
              <a:rPr lang="es-CO" dirty="0" smtClean="0">
                <a:latin typeface="Century Gothic" pitchFamily="34" charset="0"/>
              </a:rPr>
              <a:t>Objetivos sociales</a:t>
            </a:r>
          </a:p>
          <a:p>
            <a:endParaRPr lang="es-CO" sz="2000" dirty="0" smtClean="0">
              <a:latin typeface="Century Gothic" pitchFamily="34" charset="0"/>
            </a:endParaRPr>
          </a:p>
          <a:p>
            <a:endParaRPr lang="es-CO" dirty="0"/>
          </a:p>
        </p:txBody>
      </p:sp>
    </p:spTree>
    <p:extLst>
      <p:ext uri="{BB962C8B-B14F-4D97-AF65-F5344CB8AC3E}">
        <p14:creationId xmlns="" xmlns:p14="http://schemas.microsoft.com/office/powerpoint/2007/7/12/main" val="20539860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smtClean="0"/>
              <a:t>HERNANDO MONCALENO PERDOMO</a:t>
            </a:r>
            <a:endParaRPr lang="es-CO" dirty="0"/>
          </a:p>
        </p:txBody>
      </p:sp>
      <p:sp>
        <p:nvSpPr>
          <p:cNvPr id="3" name="2 Marcador de contenido"/>
          <p:cNvSpPr>
            <a:spLocks noGrp="1"/>
          </p:cNvSpPr>
          <p:nvPr>
            <p:ph idx="1"/>
          </p:nvPr>
        </p:nvSpPr>
        <p:spPr/>
        <p:txBody>
          <a:bodyPr/>
          <a:lstStyle/>
          <a:p>
            <a:pPr>
              <a:buNone/>
            </a:pPr>
            <a:r>
              <a:rPr lang="es-CO" b="1" dirty="0" smtClean="0"/>
              <a:t>El objetivo de  organizacional</a:t>
            </a:r>
          </a:p>
          <a:p>
            <a:pPr>
              <a:buFont typeface="Wingdings" pitchFamily="2" charset="2"/>
              <a:buChar char="ü"/>
            </a:pPr>
            <a:endParaRPr lang="es-CO" sz="2000" b="1" dirty="0" smtClean="0">
              <a:latin typeface="Century Gothic" pitchFamily="34" charset="0"/>
            </a:endParaRPr>
          </a:p>
          <a:p>
            <a:pPr>
              <a:buFont typeface="Wingdings" pitchFamily="2" charset="2"/>
              <a:buChar char="ü"/>
            </a:pPr>
            <a:r>
              <a:rPr lang="es-CO" sz="2000" dirty="0" smtClean="0">
                <a:latin typeface="Century Gothic" pitchFamily="34" charset="0"/>
              </a:rPr>
              <a:t>Mejorar el ambiente interno de trabajo </a:t>
            </a:r>
          </a:p>
          <a:p>
            <a:pPr>
              <a:buNone/>
            </a:pPr>
            <a:endParaRPr lang="es-CO" sz="2000" dirty="0" smtClean="0">
              <a:latin typeface="Century Gothic" pitchFamily="34" charset="0"/>
            </a:endParaRPr>
          </a:p>
          <a:p>
            <a:pPr>
              <a:buFont typeface="Wingdings" pitchFamily="2" charset="2"/>
              <a:buChar char="ü"/>
            </a:pPr>
            <a:r>
              <a:rPr lang="es-CO" sz="2000" dirty="0" smtClean="0">
                <a:latin typeface="Century Gothic" pitchFamily="34" charset="0"/>
              </a:rPr>
              <a:t>Posicionamiento hospitalario </a:t>
            </a:r>
          </a:p>
          <a:p>
            <a:pPr>
              <a:buFont typeface="Wingdings" pitchFamily="2" charset="2"/>
              <a:buChar char="ü"/>
            </a:pPr>
            <a:endParaRPr lang="es-CO" sz="2000" dirty="0" smtClean="0">
              <a:latin typeface="Century Gothic" pitchFamily="34" charset="0"/>
            </a:endParaRPr>
          </a:p>
          <a:p>
            <a:pPr>
              <a:buNone/>
            </a:pPr>
            <a:r>
              <a:rPr lang="es-CO" b="1" dirty="0" smtClean="0">
                <a:latin typeface="Century Gothic" pitchFamily="34" charset="0"/>
              </a:rPr>
              <a:t>El objetivo  social </a:t>
            </a:r>
          </a:p>
          <a:p>
            <a:pPr>
              <a:buNone/>
            </a:pPr>
            <a:endParaRPr lang="es-CO" sz="2000" b="1" dirty="0" smtClean="0">
              <a:latin typeface="Century Gothic" pitchFamily="34" charset="0"/>
            </a:endParaRPr>
          </a:p>
          <a:p>
            <a:pPr>
              <a:buFont typeface="Wingdings" pitchFamily="2" charset="2"/>
              <a:buChar char="ü"/>
            </a:pPr>
            <a:r>
              <a:rPr lang="es-CO" sz="2000" dirty="0" smtClean="0">
                <a:latin typeface="Century Gothic" pitchFamily="34" charset="0"/>
              </a:rPr>
              <a:t>Diseño e implementación del programa de capacitación semestral ( necesidades especificas del área)</a:t>
            </a:r>
          </a:p>
          <a:p>
            <a:pPr>
              <a:buNone/>
            </a:pPr>
            <a:endParaRPr lang="es-CO" dirty="0" smtClean="0"/>
          </a:p>
        </p:txBody>
      </p:sp>
    </p:spTree>
    <p:extLst>
      <p:ext uri="{BB962C8B-B14F-4D97-AF65-F5344CB8AC3E}">
        <p14:creationId xmlns="" xmlns:p14="http://schemas.microsoft.com/office/powerpoint/2007/7/12/main" val="28617116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outs:outSpaceData xmlns:outs="http://schemas.microsoft.com/office/2009/outspace/metadata">
  <outs:relatedDates>
    <outs:relatedDate>
      <outs:type>3</outs:type>
      <outs:displayName>Last Modified</outs:displayName>
      <outs:dateTime>2009-10-28T22:45:55Z</outs:dateTime>
      <outs:isPinned>true</outs:isPinned>
    </outs:relatedDate>
    <outs:relatedDate>
      <outs:type>2</outs:type>
      <outs:displayName>Created</outs:displayName>
      <outs:dateTime>2009-10-28T20:09:32Z</outs:dateTime>
      <outs:isPinned>true</outs:isPinned>
    </outs:relatedDate>
    <outs:relatedDate>
      <outs:type>4</outs:type>
      <outs:displayName>Last Printed</outs:displayName>
      <outs:dateTime/>
      <outs:isPinned>true</outs:isPinned>
    </outs:relatedDate>
  </outs:relatedDates>
  <outs:relatedDocuments>
    <outs:relatedDocument>
      <outs:type>2</outs:type>
      <outs:displayName>Other documents in current folder</outs:displayName>
      <outs:uri/>
      <outs:isPinned>true</outs:isPinned>
    </outs:relatedDocument>
  </outs:relatedDocuments>
  <outs:relatedPeople>
    <outs:relatedPeopleItem>
      <outs:category>Author</outs:category>
      <outs:people>
        <outs:relatedPerson>
          <outs:displayName>Geiner Romero Zapata</outs:displayName>
          <outs:accountName/>
        </outs:relatedPerson>
      </outs:people>
      <outs:source>0</outs:source>
      <outs:isPinned>true</outs:isPinned>
    </outs:relatedPeopleItem>
    <outs:relatedPeopleItem>
      <outs:category>Last modified by</outs:category>
      <outs:people>
        <outs:relatedPerson>
          <outs:displayName>Geiner Romero Zapata</outs:displayName>
          <outs:accountName/>
        </outs:relatedPerson>
      </outs:people>
      <outs:source>0</outs:source>
      <outs:isPinned>true</outs:isPinned>
    </outs:relatedPeopleItem>
    <outs:relatedPeopleItem>
      <outs:category>Manager</outs:category>
      <outs:people/>
      <outs:source>0</outs:source>
      <outs:isPinned>false</outs:isPinned>
    </outs:relatedPeopleItem>
  </outs:relatedPeople>
  <propertyMetadataList xmlns="http://schemas.microsoft.com/office/2009/outspace/metadata">
    <propertyMetadata>
      <type>0</type>
      <propertyId>2228224</propertyId>
      <propertyName/>
      <isPinned>true</isPinned>
    </propertyMetadata>
    <propertyMetadata>
      <type>0</type>
      <propertyId>1114115</propertyId>
      <propertyName/>
      <isPinned>true</isPinned>
    </propertyMetadata>
    <propertyMetadata>
      <type>0</type>
      <propertyId>1114117</propertyId>
      <propertyName/>
      <isPinned>true</isPinned>
    </propertyMetadata>
    <propertyMetadata>
      <type>0</type>
      <propertyId>589825</propertyId>
      <propertyName/>
      <isPinned>false</isPinned>
    </propertyMetadata>
    <propertyMetadata>
      <type>0</type>
      <propertyId>1114116</propertyId>
      <propertyName/>
      <isPinned>false</isPinned>
    </propertyMetadata>
    <propertyMetadata>
      <type>0</type>
      <propertyId>14</propertyId>
      <propertyName/>
      <isPinned>true</isPinned>
    </propertyMetadata>
    <propertyMetadata>
      <type>0</type>
      <propertyId>8</propertyId>
      <propertyName/>
      <isPinned>true</isPinned>
    </propertyMetadata>
    <propertyMetadata>
      <type>0</type>
      <propertyId>6</propertyId>
      <propertyName/>
      <isPinned>false</isPinned>
    </propertyMetadata>
    <propertyMetadata>
      <type>0</type>
      <propertyId>1114118</propertyId>
      <propertyName/>
      <isPinned>false</isPinned>
    </propertyMetadata>
    <propertyMetadata>
      <type>0</type>
      <propertyId>1179649</propertyId>
      <propertyName/>
      <isPinned>false</isPinned>
    </propertyMetadata>
    <propertyMetadata>
      <type>0</type>
      <propertyId>655365</propertyId>
      <propertyName/>
      <isPinned>false</isPinned>
    </propertyMetadata>
    <propertyMetadata>
      <type>0</type>
      <propertyId>1</propertyId>
      <propertyName/>
      <isPinned>false</isPinned>
    </propertyMetadata>
    <propertyMetadata>
      <type>0</type>
      <propertyId>0</propertyId>
      <propertyName/>
      <isPinned>true</isPinned>
    </propertyMetadata>
    <propertyMetadata>
      <type>0</type>
      <propertyId>13</propertyId>
      <propertyName/>
      <isPinned>false</isPinned>
    </propertyMetadata>
    <propertyMetadata>
      <type>0</type>
      <propertyId>1179653</propertyId>
      <propertyName/>
      <isPinned>false</isPinned>
    </propertyMetadata>
    <propertyMetadata>
      <type>0</type>
      <propertyId>22</propertyId>
      <propertyName/>
      <isPinned>false</isPinned>
    </propertyMetadata>
  </propertyMetadataList>
  <outs:corruptMetadataWasLost/>
</outs:outSpaceData>
</file>

<file path=customXml/itemProps1.xml><?xml version="1.0" encoding="utf-8"?>
<ds:datastoreItem xmlns:ds="http://schemas.openxmlformats.org/officeDocument/2006/customXml" ds:itemID="{EF907169-E227-4114-A547-5209ABD47BE7}">
  <ds:schemaRefs>
    <ds:schemaRef ds:uri="http://schemas.microsoft.com/office/2009/outspace/metadata"/>
  </ds:schemaRefs>
</ds:datastoreItem>
</file>

<file path=docProps/app.xml><?xml version="1.0" encoding="utf-8"?>
<Properties xmlns="http://schemas.openxmlformats.org/officeDocument/2006/extended-properties" xmlns:vt="http://schemas.openxmlformats.org/officeDocument/2006/docPropsVTypes">
  <Template>Technic</Template>
  <TotalTime>204</TotalTime>
  <Words>2059</Words>
  <Application>Microsoft Office PowerPoint</Application>
  <PresentationFormat>Presentación en pantalla (4:3)</PresentationFormat>
  <Paragraphs>342</Paragraphs>
  <Slides>52</Slides>
  <Notes>0</Notes>
  <HiddenSlides>0</HiddenSlides>
  <MMClips>0</MMClips>
  <ScaleCrop>false</ScaleCrop>
  <HeadingPairs>
    <vt:vector size="4" baseType="variant">
      <vt:variant>
        <vt:lpstr>Tema</vt:lpstr>
      </vt:variant>
      <vt:variant>
        <vt:i4>1</vt:i4>
      </vt:variant>
      <vt:variant>
        <vt:lpstr>Títulos de diapositiva</vt:lpstr>
      </vt:variant>
      <vt:variant>
        <vt:i4>52</vt:i4>
      </vt:variant>
    </vt:vector>
  </HeadingPairs>
  <TitlesOfParts>
    <vt:vector size="53" baseType="lpstr">
      <vt:lpstr>Technic</vt:lpstr>
      <vt:lpstr>Peter Drucker</vt:lpstr>
      <vt:lpstr>ORIGEN DE LA ADMINISTRACION POR OBJETIVOS.</vt:lpstr>
      <vt:lpstr>Diapositiva 3</vt:lpstr>
      <vt:lpstr>CARACTERISTICAS DE LA APO</vt:lpstr>
      <vt:lpstr>Fijación de objetivos</vt:lpstr>
      <vt:lpstr>La importancia de los objetivos pueden evaluarse por los siguientes aspectos </vt:lpstr>
      <vt:lpstr>Diapositiva 7</vt:lpstr>
      <vt:lpstr>Criterios  de selección de los objetivos.</vt:lpstr>
      <vt:lpstr>Diapositiva 9</vt:lpstr>
      <vt:lpstr>Diapositiva 10</vt:lpstr>
      <vt:lpstr>Objetivos mas comunes</vt:lpstr>
      <vt:lpstr>Diapositiva 12</vt:lpstr>
      <vt:lpstr>Jerarquía de objetivos</vt:lpstr>
      <vt:lpstr>Niveles de objetivos</vt:lpstr>
      <vt:lpstr>CICLO DE LA  APO </vt:lpstr>
      <vt:lpstr>MODELO DE HUMBLE</vt:lpstr>
      <vt:lpstr>MODELO DE HUMBLE (Cont..)</vt:lpstr>
      <vt:lpstr>MODELO DE HUMBLE (Cont..)</vt:lpstr>
      <vt:lpstr>MODELO ODIORNE</vt:lpstr>
      <vt:lpstr>MODELO ODIORNE (Cont..)</vt:lpstr>
      <vt:lpstr>MODELO ODIORNE (Cont..)</vt:lpstr>
      <vt:lpstr>Alcances, limites y criticas ala administración por objetivos</vt:lpstr>
      <vt:lpstr>Alcances, limites y criticas ala administración por objetivos</vt:lpstr>
      <vt:lpstr>Alcances, limites y criticas ala administración por objetivos</vt:lpstr>
      <vt:lpstr>Alcances, limites y criticas ala administración por objetivos</vt:lpstr>
      <vt:lpstr>Alcances, limites y criticas ala administración por objetivos</vt:lpstr>
      <vt:lpstr>Autores críticos de la APO</vt:lpstr>
      <vt:lpstr>JOHN W.HUMBLE</vt:lpstr>
      <vt:lpstr>JOHN W.HUMBLE</vt:lpstr>
      <vt:lpstr>JOHN W.HUMBLE</vt:lpstr>
      <vt:lpstr>HARRY LEVINSON</vt:lpstr>
      <vt:lpstr>HARRY LEVINSON</vt:lpstr>
      <vt:lpstr>JOAO LODI</vt:lpstr>
      <vt:lpstr>R. WIEHE</vt:lpstr>
      <vt:lpstr>R. WIEHE</vt:lpstr>
      <vt:lpstr>R. WIEHE</vt:lpstr>
      <vt:lpstr>MODELO DE ANALISIS ORGANIZACIONAL </vt:lpstr>
      <vt:lpstr>MODELO DE ANALISIS DE UN PLAN ESTRATEGICO </vt:lpstr>
      <vt:lpstr>MODELO DE ANALISIS DE UN PLAN ESTRATEGICO </vt:lpstr>
      <vt:lpstr>MODELO DE ANALISIS DE UN PLAN ESTRATEGICO </vt:lpstr>
      <vt:lpstr>MODELO DE ANALISIS DE UN PLAN ESTRATEGICO </vt:lpstr>
      <vt:lpstr>Análisis interno de la organización :</vt:lpstr>
      <vt:lpstr>INTEGRACION Y ANALISIS DE SITUACION </vt:lpstr>
      <vt:lpstr>MODELO DE ANALISIS DE UN PLAN ESTRATEGICO </vt:lpstr>
      <vt:lpstr>MODELO DE ANALISIS DE UN PLAN ESTRATEGICO </vt:lpstr>
      <vt:lpstr>MODELO DE ANALISIS DE UN PLAN ESTRATEGICO </vt:lpstr>
      <vt:lpstr>MODELO DE ANALISIS DE UN PLAN ESTRATEGICO </vt:lpstr>
      <vt:lpstr>EJEMPLO DE APLICACIÓN POR OBJETIVO</vt:lpstr>
      <vt:lpstr>ALGUNAS EMPRESAS </vt:lpstr>
      <vt:lpstr>HOSPITAL UNIVERSITARIO HERNANDO MONCALENO PERDOMO </vt:lpstr>
      <vt:lpstr>HERNANDO MONCALENO PERDOMO</vt:lpstr>
      <vt:lpstr>HERNANDO MONCALENO PERDOMO</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Geiner Romero Zapata</dc:creator>
  <cp:lastModifiedBy>jorge lopez</cp:lastModifiedBy>
  <cp:revision>14</cp:revision>
  <dcterms:created xsi:type="dcterms:W3CDTF">2009-10-28T20:09:32Z</dcterms:created>
  <dcterms:modified xsi:type="dcterms:W3CDTF">2010-10-13T23:45:05Z</dcterms:modified>
</cp:coreProperties>
</file>