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54" autoAdjust="0"/>
    <p:restoredTop sz="94660"/>
  </p:normalViewPr>
  <p:slideViewPr>
    <p:cSldViewPr>
      <p:cViewPr varScale="1">
        <p:scale>
          <a:sx n="53" d="100"/>
          <a:sy n="53" d="100"/>
        </p:scale>
        <p:origin x="-111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9855A4-BE7A-4B60-9995-BE689BB3E42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683CAB-2939-4AB4-A8A1-E7E35398F5B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705E2A-BF80-47A9-A54F-73B39C2F6548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1628FF-32FD-480D-B714-546B6D7C214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6F0C7E-6465-4376-86F5-0D3A0A9983A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C5AADF-C6D0-45D6-AD3C-DEDEA56FD122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168961-22DE-41F4-A077-7072C757A95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5EA424-2540-40EE-9C59-80CF50FD55B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CO" noProof="0" smtClean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CB7C36-4541-4F4F-B8D4-7E249ED9589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D04380-FB19-441A-ABE9-B09A7880F940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38FD08-6A79-40C2-9DB0-13D94A0EC36C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/>
            </a:gs>
            <a:gs pos="50000">
              <a:srgbClr val="9CB86E"/>
            </a:gs>
            <a:gs pos="100000">
              <a:srgbClr val="156B13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B559A7EE-6594-4642-B6D2-0EE4BED593F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3" Type="http://schemas.openxmlformats.org/officeDocument/2006/relationships/slide" Target="slide4.xml"/><Relationship Id="rId7" Type="http://schemas.openxmlformats.org/officeDocument/2006/relationships/slide" Target="slide1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0.xml"/><Relationship Id="rId5" Type="http://schemas.openxmlformats.org/officeDocument/2006/relationships/slide" Target="slide8.xml"/><Relationship Id="rId4" Type="http://schemas.openxmlformats.org/officeDocument/2006/relationships/slide" Target="slide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s-ES" b="1" smtClean="0">
                <a:latin typeface="Algerian" pitchFamily="82" charset="0"/>
              </a:rPr>
              <a:t>MAX WEBER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s-ES" b="1" smtClean="0">
                <a:latin typeface="Algerian" pitchFamily="82" charset="0"/>
              </a:rPr>
              <a:t>KATHERINE OBREGON</a:t>
            </a:r>
          </a:p>
          <a:p>
            <a:pPr eaLnBrk="1" hangingPunct="1"/>
            <a:r>
              <a:rPr lang="es-ES" b="1" smtClean="0">
                <a:latin typeface="Algerian" pitchFamily="82" charset="0"/>
              </a:rPr>
              <a:t>ANGELA PEREZ</a:t>
            </a:r>
          </a:p>
          <a:p>
            <a:pPr eaLnBrk="1" hangingPunct="1"/>
            <a:r>
              <a:rPr lang="es-ES" b="1" smtClean="0">
                <a:latin typeface="Algerian" pitchFamily="82" charset="0"/>
              </a:rPr>
              <a:t>CARLOS MUÑOZ</a:t>
            </a:r>
          </a:p>
          <a:p>
            <a:pPr eaLnBrk="1" hangingPunct="1"/>
            <a:endParaRPr lang="es-E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mtClean="0"/>
              <a:t>CONTENIDO</a:t>
            </a:r>
          </a:p>
        </p:txBody>
      </p:sp>
      <p:sp>
        <p:nvSpPr>
          <p:cNvPr id="3075" name="Rectangle 5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s-ES" sz="2400" dirty="0" smtClean="0">
                <a:hlinkClick r:id="rId2" action="ppaction://hlinksldjump"/>
              </a:rPr>
              <a:t>MAX WEBER</a:t>
            </a:r>
            <a:endParaRPr lang="es-ES" sz="2400" dirty="0" smtClean="0"/>
          </a:p>
          <a:p>
            <a:pPr eaLnBrk="1" hangingPunct="1"/>
            <a:r>
              <a:rPr lang="es-ES" sz="2400" dirty="0" smtClean="0">
                <a:hlinkClick r:id="rId3" action="ppaction://hlinksldjump"/>
              </a:rPr>
              <a:t>ORIGEN DE LA TEORIA DE LA BUROCRACIA</a:t>
            </a:r>
            <a:endParaRPr lang="es-ES" sz="2400" dirty="0" smtClean="0"/>
          </a:p>
          <a:p>
            <a:pPr eaLnBrk="1" hangingPunct="1"/>
            <a:r>
              <a:rPr lang="es-ES" sz="2400" dirty="0" smtClean="0">
                <a:hlinkClick r:id="rId4" action="ppaction://hlinksldjump"/>
              </a:rPr>
              <a:t>LOS TIPOS DE AUTORIDAD</a:t>
            </a:r>
            <a:endParaRPr lang="es-ES" sz="2400" dirty="0" smtClean="0"/>
          </a:p>
          <a:p>
            <a:pPr eaLnBrk="1" hangingPunct="1">
              <a:buFontTx/>
              <a:buNone/>
            </a:pPr>
            <a:endParaRPr lang="es-ES" sz="2400" dirty="0" smtClean="0"/>
          </a:p>
        </p:txBody>
      </p:sp>
      <p:sp>
        <p:nvSpPr>
          <p:cNvPr id="3076" name="Rectangle 6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/>
            <a:r>
              <a:rPr lang="es-ES" smtClean="0"/>
              <a:t> </a:t>
            </a:r>
            <a:r>
              <a:rPr lang="es-ES" smtClean="0">
                <a:hlinkClick r:id="rId5" action="ppaction://hlinksldjump"/>
              </a:rPr>
              <a:t>CARACTERISTICAS</a:t>
            </a:r>
            <a:endParaRPr lang="es-ES" smtClean="0"/>
          </a:p>
          <a:p>
            <a:pPr eaLnBrk="1" hangingPunct="1"/>
            <a:r>
              <a:rPr lang="es-ES" smtClean="0">
                <a:hlinkClick r:id="rId6" action="ppaction://hlinksldjump"/>
              </a:rPr>
              <a:t>LAS VENTAJAS</a:t>
            </a:r>
            <a:endParaRPr lang="es-ES" smtClean="0"/>
          </a:p>
          <a:p>
            <a:pPr eaLnBrk="1" hangingPunct="1"/>
            <a:r>
              <a:rPr lang="es-ES" smtClean="0">
                <a:hlinkClick r:id="rId7" action="ppaction://hlinksldjump"/>
              </a:rPr>
              <a:t>RACIONALIDAD Y DILEMAS</a:t>
            </a:r>
            <a:r>
              <a:rPr lang="es-ES" smtClean="0"/>
              <a:t>.</a:t>
            </a:r>
          </a:p>
          <a:p>
            <a:pPr eaLnBrk="1" hangingPunct="1"/>
            <a:r>
              <a:rPr lang="es-ES" smtClean="0">
                <a:hlinkClick r:id="rId8" action="ppaction://hlinksldjump"/>
              </a:rPr>
              <a:t>LAS DIFUSIONES</a:t>
            </a:r>
            <a:endParaRPr lang="es-ES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/>
      <p:bldP spid="3075" grpId="0"/>
      <p:bldP spid="307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b="1" smtClean="0">
                <a:latin typeface="Algerian" pitchFamily="82" charset="0"/>
              </a:rPr>
              <a:t>MAX WEBER (1864-1920)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s-ES" sz="20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NACIO EN ERFURT Y MURIO EN MUNICH.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s-ES" sz="2000" i="1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s-ES" sz="20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FILOSOFO , ECONOMISTA, JURISTA, HISTORIADOR, POLITOLOGO Y SOCIOLOGO.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s-ES" sz="2000" i="1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s-ES" sz="2000" smtClean="0"/>
              <a:t> </a:t>
            </a:r>
            <a:r>
              <a:rPr lang="es-ES" sz="20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SU OBRA MAS IMPORTANTE FUE  EL ENSAYO LA ETICA PROTESTANTE Y EL ESPIRITU DEL CAPITALISMO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s-ES" sz="20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. </a:t>
            </a:r>
          </a:p>
          <a:p>
            <a:pPr eaLnBrk="1" hangingPunct="1">
              <a:lnSpc>
                <a:spcPct val="90000"/>
              </a:lnSpc>
              <a:defRPr/>
            </a:pPr>
            <a:endParaRPr lang="es-ES" sz="2000" smtClean="0"/>
          </a:p>
        </p:txBody>
      </p:sp>
      <p:pic>
        <p:nvPicPr>
          <p:cNvPr id="5126" name="Picture 6" descr="weber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86314" y="1785926"/>
            <a:ext cx="3525838" cy="3878272"/>
          </a:xfrm>
          <a:prstGeom prst="rect">
            <a:avLst/>
          </a:prstGeom>
          <a:ln w="34925"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  <a:outerShdw blurRad="225425" dist="50800" dir="5220000" algn="ctr">
              <a:srgbClr val="000000">
                <a:alpha val="33000"/>
              </a:srgbClr>
            </a:outerShdw>
            <a:reflection blurRad="6350" stA="50000" endA="300" endPos="90000" dist="50800" dir="5400000" sy="-100000" algn="bl" rotWithShape="0"/>
          </a:effectLst>
          <a:scene3d>
            <a:camera prst="perspectiveContrastingLeftFacing"/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  <p:bldP spid="5124" grpId="0"/>
      <p:bldP spid="51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4000" smtClean="0"/>
              <a:t>ORIGEN DE LA TEORIA  DE LA BUROGRACIA</a:t>
            </a:r>
          </a:p>
        </p:txBody>
      </p:sp>
      <p:sp>
        <p:nvSpPr>
          <p:cNvPr id="5123" name="Rectangle 4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s-ES" b="1" smtClean="0"/>
              <a:t>La frágil y parcialidad de la teoría clásica  y la teoría de las relaciones humanas.</a:t>
            </a:r>
          </a:p>
          <a:p>
            <a:pPr eaLnBrk="1" hangingPunct="1"/>
            <a:r>
              <a:rPr lang="es-ES" b="1" smtClean="0"/>
              <a:t>La necesidad de un modelo de organización racional.</a:t>
            </a:r>
          </a:p>
          <a:p>
            <a:pPr eaLnBrk="1" hangingPunct="1"/>
            <a:endParaRPr lang="es-ES" b="1" smtClean="0"/>
          </a:p>
        </p:txBody>
      </p:sp>
      <p:sp>
        <p:nvSpPr>
          <p:cNvPr id="5124" name="Rectangle 5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/>
            <a:r>
              <a:rPr lang="es-ES" b="1" smtClean="0"/>
              <a:t>El creciente tamaño y complejidad de las empresas.</a:t>
            </a:r>
          </a:p>
          <a:p>
            <a:pPr eaLnBrk="1" hangingPunct="1"/>
            <a:r>
              <a:rPr lang="es-ES" b="1" smtClean="0"/>
              <a:t> El resurgimiento  de la sociología de la burocracia</a:t>
            </a:r>
          </a:p>
          <a:p>
            <a:pPr eaLnBrk="1" hangingPunct="1"/>
            <a:endParaRPr lang="es-ES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  <p:bldP spid="5123" grpId="0"/>
      <p:bldP spid="51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4000" b="1" smtClean="0">
                <a:latin typeface="Algerian" pitchFamily="82" charset="0"/>
              </a:rPr>
              <a:t>CONCEPTO DE BUROCRACIA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s-ES" b="1" smtClean="0"/>
              <a:t>   FORMA DE ORGANIZACIÓN HUMANA, BASADA EN LA RACIONALIDAD, ADECUACION DE LOS MEDIOS A LOS FINES, DE FORMA DE GARANTIZAR LA MAXIMA EFICIENCIA POSIBLE.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/>
      <p:bldP spid="614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mtClean="0"/>
              <a:t>TIPOS DE SOCIEDAD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s-ES" smtClean="0"/>
              <a:t>SOCIEDAD TRADICONAL</a:t>
            </a:r>
          </a:p>
          <a:p>
            <a:pPr eaLnBrk="1" hangingPunct="1"/>
            <a:r>
              <a:rPr lang="es-ES" smtClean="0"/>
              <a:t>SOCIEDAD CARISMATICA</a:t>
            </a:r>
          </a:p>
          <a:p>
            <a:pPr eaLnBrk="1" hangingPunct="1"/>
            <a:r>
              <a:rPr lang="es-ES" smtClean="0"/>
              <a:t>SOCIEDAD LEGAL, RACIONAL O BUROCRATICA</a:t>
            </a:r>
          </a:p>
        </p:txBody>
      </p:sp>
      <p:pic>
        <p:nvPicPr>
          <p:cNvPr id="6" name="Picture 6" descr="weber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29652" y="6280035"/>
            <a:ext cx="525442" cy="577965"/>
          </a:xfrm>
          <a:prstGeom prst="rect">
            <a:avLst/>
          </a:prstGeom>
          <a:ln w="34925"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  <a:outerShdw blurRad="225425" dist="50800" dir="5220000" algn="ctr">
              <a:srgbClr val="000000">
                <a:alpha val="33000"/>
              </a:srgbClr>
            </a:outerShdw>
            <a:reflection blurRad="6350" stA="50000" endA="300" endPos="90000" dist="50800" dir="5400000" sy="-100000" algn="bl" rotWithShape="0"/>
          </a:effectLst>
          <a:scene3d>
            <a:camera prst="perspectiveContrastingLeftFacing"/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/>
      <p:bldP spid="717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37"/>
          <p:cNvGrpSpPr>
            <a:grpSpLocks/>
          </p:cNvGrpSpPr>
          <p:nvPr/>
        </p:nvGrpSpPr>
        <p:grpSpPr bwMode="auto">
          <a:xfrm>
            <a:off x="0" y="188913"/>
            <a:ext cx="9144000" cy="6048375"/>
            <a:chOff x="0" y="119"/>
            <a:chExt cx="5760" cy="3810"/>
          </a:xfrm>
        </p:grpSpPr>
        <p:sp>
          <p:nvSpPr>
            <p:cNvPr id="11268" name="Rectangle 4"/>
            <p:cNvSpPr>
              <a:spLocks noChangeArrowheads="1"/>
            </p:cNvSpPr>
            <p:nvPr/>
          </p:nvSpPr>
          <p:spPr bwMode="auto">
            <a:xfrm>
              <a:off x="567" y="119"/>
              <a:ext cx="4853" cy="544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style>
            <a:lnRef idx="0">
              <a:scrgbClr r="0" g="0" b="0"/>
            </a:lnRef>
            <a:fillRef idx="1003">
              <a:schemeClr val="lt1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/>
            <a:p>
              <a:pPr algn="ctr">
                <a:defRPr/>
              </a:pPr>
              <a:r>
                <a:rPr lang="es-ES" sz="2400" b="1"/>
                <a:t>TIPOS DE AUTORIDAD</a:t>
              </a:r>
            </a:p>
          </p:txBody>
        </p:sp>
        <p:sp>
          <p:nvSpPr>
            <p:cNvPr id="11269" name="AutoShape 5"/>
            <p:cNvSpPr>
              <a:spLocks noChangeArrowheads="1"/>
            </p:cNvSpPr>
            <p:nvPr/>
          </p:nvSpPr>
          <p:spPr bwMode="auto">
            <a:xfrm>
              <a:off x="2835" y="663"/>
              <a:ext cx="226" cy="227"/>
            </a:xfrm>
            <a:prstGeom prst="downArrow">
              <a:avLst>
                <a:gd name="adj1" fmla="val 50000"/>
                <a:gd name="adj2" fmla="val 25111"/>
              </a:avLst>
            </a:prstGeom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style>
            <a:lnRef idx="0">
              <a:scrgbClr r="0" g="0" b="0"/>
            </a:lnRef>
            <a:fillRef idx="1003">
              <a:schemeClr val="lt1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/>
            <a:p>
              <a:pPr>
                <a:defRPr/>
              </a:pPr>
              <a:endParaRPr lang="es-CO"/>
            </a:p>
          </p:txBody>
        </p:sp>
        <p:sp>
          <p:nvSpPr>
            <p:cNvPr id="8202" name="Line 7"/>
            <p:cNvSpPr>
              <a:spLocks noChangeShapeType="1"/>
            </p:cNvSpPr>
            <p:nvPr/>
          </p:nvSpPr>
          <p:spPr bwMode="auto">
            <a:xfrm flipH="1">
              <a:off x="521" y="890"/>
              <a:ext cx="471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1272" name="AutoShape 8"/>
            <p:cNvSpPr>
              <a:spLocks noChangeArrowheads="1"/>
            </p:cNvSpPr>
            <p:nvPr/>
          </p:nvSpPr>
          <p:spPr bwMode="auto">
            <a:xfrm>
              <a:off x="476" y="890"/>
              <a:ext cx="181" cy="227"/>
            </a:xfrm>
            <a:prstGeom prst="downArrow">
              <a:avLst>
                <a:gd name="adj1" fmla="val 50000"/>
                <a:gd name="adj2" fmla="val 31354"/>
              </a:avLst>
            </a:prstGeom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style>
            <a:lnRef idx="0">
              <a:scrgbClr r="0" g="0" b="0"/>
            </a:lnRef>
            <a:fillRef idx="1003">
              <a:schemeClr val="lt1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/>
            <a:p>
              <a:pPr>
                <a:defRPr/>
              </a:pPr>
              <a:endParaRPr lang="es-CO"/>
            </a:p>
          </p:txBody>
        </p:sp>
        <p:sp>
          <p:nvSpPr>
            <p:cNvPr id="11273" name="AutoShape 9"/>
            <p:cNvSpPr>
              <a:spLocks noChangeArrowheads="1"/>
            </p:cNvSpPr>
            <p:nvPr/>
          </p:nvSpPr>
          <p:spPr bwMode="auto">
            <a:xfrm>
              <a:off x="2835" y="890"/>
              <a:ext cx="181" cy="227"/>
            </a:xfrm>
            <a:prstGeom prst="downArrow">
              <a:avLst>
                <a:gd name="adj1" fmla="val 50000"/>
                <a:gd name="adj2" fmla="val 31354"/>
              </a:avLst>
            </a:prstGeom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style>
            <a:lnRef idx="0">
              <a:scrgbClr r="0" g="0" b="0"/>
            </a:lnRef>
            <a:fillRef idx="1003">
              <a:schemeClr val="lt1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/>
            <a:p>
              <a:pPr>
                <a:defRPr/>
              </a:pPr>
              <a:endParaRPr lang="es-CO"/>
            </a:p>
          </p:txBody>
        </p:sp>
        <p:sp>
          <p:nvSpPr>
            <p:cNvPr id="11274" name="AutoShape 10"/>
            <p:cNvSpPr>
              <a:spLocks noChangeArrowheads="1"/>
            </p:cNvSpPr>
            <p:nvPr/>
          </p:nvSpPr>
          <p:spPr bwMode="auto">
            <a:xfrm>
              <a:off x="5103" y="890"/>
              <a:ext cx="181" cy="227"/>
            </a:xfrm>
            <a:prstGeom prst="downArrow">
              <a:avLst>
                <a:gd name="adj1" fmla="val 50000"/>
                <a:gd name="adj2" fmla="val 31354"/>
              </a:avLst>
            </a:prstGeom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style>
            <a:lnRef idx="0">
              <a:scrgbClr r="0" g="0" b="0"/>
            </a:lnRef>
            <a:fillRef idx="1003">
              <a:schemeClr val="lt1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/>
            <a:p>
              <a:pPr>
                <a:defRPr/>
              </a:pPr>
              <a:endParaRPr lang="es-CO"/>
            </a:p>
          </p:txBody>
        </p:sp>
        <p:sp>
          <p:nvSpPr>
            <p:cNvPr id="11275" name="AutoShape 11"/>
            <p:cNvSpPr>
              <a:spLocks noChangeArrowheads="1"/>
            </p:cNvSpPr>
            <p:nvPr/>
          </p:nvSpPr>
          <p:spPr bwMode="auto">
            <a:xfrm>
              <a:off x="158" y="1117"/>
              <a:ext cx="862" cy="544"/>
            </a:xfrm>
            <a:prstGeom prst="roundRect">
              <a:avLst>
                <a:gd name="adj" fmla="val 16667"/>
              </a:avLst>
            </a:prstGeom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style>
            <a:lnRef idx="0">
              <a:scrgbClr r="0" g="0" b="0"/>
            </a:lnRef>
            <a:fillRef idx="1003">
              <a:schemeClr val="lt1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/>
            <a:p>
              <a:pPr algn="ctr">
                <a:defRPr/>
              </a:pPr>
              <a:r>
                <a:rPr lang="es-ES" sz="1600"/>
                <a:t>AUTORIDAD </a:t>
              </a:r>
            </a:p>
            <a:p>
              <a:pPr algn="ctr">
                <a:defRPr/>
              </a:pPr>
              <a:r>
                <a:rPr lang="es-ES" sz="1600"/>
                <a:t>TRADICIONAL</a:t>
              </a:r>
            </a:p>
          </p:txBody>
        </p:sp>
        <p:sp>
          <p:nvSpPr>
            <p:cNvPr id="11276" name="AutoShape 12"/>
            <p:cNvSpPr>
              <a:spLocks noChangeArrowheads="1"/>
            </p:cNvSpPr>
            <p:nvPr/>
          </p:nvSpPr>
          <p:spPr bwMode="auto">
            <a:xfrm>
              <a:off x="2472" y="1117"/>
              <a:ext cx="862" cy="544"/>
            </a:xfrm>
            <a:prstGeom prst="roundRect">
              <a:avLst>
                <a:gd name="adj" fmla="val 16667"/>
              </a:avLst>
            </a:prstGeom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style>
            <a:lnRef idx="0">
              <a:scrgbClr r="0" g="0" b="0"/>
            </a:lnRef>
            <a:fillRef idx="1003">
              <a:schemeClr val="lt1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/>
            <a:p>
              <a:pPr algn="ctr">
                <a:defRPr/>
              </a:pPr>
              <a:r>
                <a:rPr lang="es-ES" sz="1600"/>
                <a:t>AUTORIDAD </a:t>
              </a:r>
            </a:p>
            <a:p>
              <a:pPr algn="ctr">
                <a:defRPr/>
              </a:pPr>
              <a:r>
                <a:rPr lang="es-ES" sz="1600"/>
                <a:t>TRADICIONAL</a:t>
              </a:r>
            </a:p>
          </p:txBody>
        </p:sp>
        <p:sp>
          <p:nvSpPr>
            <p:cNvPr id="11277" name="AutoShape 13"/>
            <p:cNvSpPr>
              <a:spLocks noChangeArrowheads="1"/>
            </p:cNvSpPr>
            <p:nvPr/>
          </p:nvSpPr>
          <p:spPr bwMode="auto">
            <a:xfrm>
              <a:off x="4740" y="1117"/>
              <a:ext cx="862" cy="544"/>
            </a:xfrm>
            <a:prstGeom prst="roundRect">
              <a:avLst>
                <a:gd name="adj" fmla="val 16667"/>
              </a:avLst>
            </a:prstGeom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style>
            <a:lnRef idx="0">
              <a:scrgbClr r="0" g="0" b="0"/>
            </a:lnRef>
            <a:fillRef idx="1003">
              <a:schemeClr val="lt1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/>
            <a:p>
              <a:pPr algn="ctr">
                <a:defRPr/>
              </a:pPr>
              <a:r>
                <a:rPr lang="es-ES" sz="1600"/>
                <a:t>AUTORIDAD </a:t>
              </a:r>
            </a:p>
            <a:p>
              <a:pPr algn="ctr">
                <a:defRPr/>
              </a:pPr>
              <a:r>
                <a:rPr lang="es-ES" sz="1600"/>
                <a:t>TRADICIONAL</a:t>
              </a:r>
            </a:p>
          </p:txBody>
        </p:sp>
        <p:sp>
          <p:nvSpPr>
            <p:cNvPr id="11278" name="AutoShape 14"/>
            <p:cNvSpPr>
              <a:spLocks noChangeArrowheads="1"/>
            </p:cNvSpPr>
            <p:nvPr/>
          </p:nvSpPr>
          <p:spPr bwMode="auto">
            <a:xfrm>
              <a:off x="476" y="1661"/>
              <a:ext cx="181" cy="227"/>
            </a:xfrm>
            <a:prstGeom prst="downArrow">
              <a:avLst>
                <a:gd name="adj1" fmla="val 50000"/>
                <a:gd name="adj2" fmla="val 31354"/>
              </a:avLst>
            </a:prstGeom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style>
            <a:lnRef idx="0">
              <a:scrgbClr r="0" g="0" b="0"/>
            </a:lnRef>
            <a:fillRef idx="1003">
              <a:schemeClr val="lt1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/>
            <a:p>
              <a:pPr>
                <a:defRPr/>
              </a:pPr>
              <a:endParaRPr lang="es-CO"/>
            </a:p>
          </p:txBody>
        </p:sp>
        <p:sp>
          <p:nvSpPr>
            <p:cNvPr id="11279" name="AutoShape 15"/>
            <p:cNvSpPr>
              <a:spLocks noChangeArrowheads="1"/>
            </p:cNvSpPr>
            <p:nvPr/>
          </p:nvSpPr>
          <p:spPr bwMode="auto">
            <a:xfrm>
              <a:off x="0" y="1888"/>
              <a:ext cx="1316" cy="771"/>
            </a:xfrm>
            <a:prstGeom prst="roundRect">
              <a:avLst>
                <a:gd name="adj" fmla="val 16667"/>
              </a:avLst>
            </a:prstGeom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style>
            <a:lnRef idx="0">
              <a:scrgbClr r="0" g="0" b="0"/>
            </a:lnRef>
            <a:fillRef idx="1003">
              <a:schemeClr val="lt1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/>
            <a:p>
              <a:pPr algn="just">
                <a:defRPr/>
              </a:pPr>
              <a:r>
                <a:rPr lang="es-ES" sz="1200"/>
                <a:t>CUANDO SE ACEPTAN </a:t>
              </a:r>
            </a:p>
            <a:p>
              <a:pPr algn="just">
                <a:defRPr/>
              </a:pPr>
              <a:r>
                <a:rPr lang="es-ES" sz="1200"/>
                <a:t>LAS ORDENES PORQUE </a:t>
              </a:r>
            </a:p>
            <a:p>
              <a:pPr algn="just">
                <a:defRPr/>
              </a:pPr>
              <a:r>
                <a:rPr lang="es-ES" sz="1200"/>
                <a:t>SIEMPRE SE HAN</a:t>
              </a:r>
            </a:p>
            <a:p>
              <a:pPr algn="just">
                <a:defRPr/>
              </a:pPr>
              <a:r>
                <a:rPr lang="es-ES" sz="1200"/>
                <a:t>HECHO DE ESA FORMA</a:t>
              </a:r>
            </a:p>
          </p:txBody>
        </p:sp>
        <p:sp>
          <p:nvSpPr>
            <p:cNvPr id="11280" name="AutoShape 16"/>
            <p:cNvSpPr>
              <a:spLocks noChangeArrowheads="1"/>
            </p:cNvSpPr>
            <p:nvPr/>
          </p:nvSpPr>
          <p:spPr bwMode="auto">
            <a:xfrm>
              <a:off x="521" y="2659"/>
              <a:ext cx="181" cy="227"/>
            </a:xfrm>
            <a:prstGeom prst="downArrow">
              <a:avLst>
                <a:gd name="adj1" fmla="val 50000"/>
                <a:gd name="adj2" fmla="val 31354"/>
              </a:avLst>
            </a:prstGeom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style>
            <a:lnRef idx="0">
              <a:scrgbClr r="0" g="0" b="0"/>
            </a:lnRef>
            <a:fillRef idx="1003">
              <a:schemeClr val="lt1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/>
            <a:p>
              <a:pPr>
                <a:defRPr/>
              </a:pPr>
              <a:endParaRPr lang="es-CO"/>
            </a:p>
          </p:txBody>
        </p:sp>
        <p:sp>
          <p:nvSpPr>
            <p:cNvPr id="8230" name="Line 19"/>
            <p:cNvSpPr>
              <a:spLocks noChangeShapeType="1"/>
            </p:cNvSpPr>
            <p:nvPr/>
          </p:nvSpPr>
          <p:spPr bwMode="auto">
            <a:xfrm flipH="1">
              <a:off x="249" y="2886"/>
              <a:ext cx="104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1285" name="AutoShape 21"/>
            <p:cNvSpPr>
              <a:spLocks noChangeArrowheads="1"/>
            </p:cNvSpPr>
            <p:nvPr/>
          </p:nvSpPr>
          <p:spPr bwMode="auto">
            <a:xfrm>
              <a:off x="204" y="2886"/>
              <a:ext cx="158" cy="181"/>
            </a:xfrm>
            <a:prstGeom prst="downArrow">
              <a:avLst>
                <a:gd name="adj1" fmla="val 50000"/>
                <a:gd name="adj2" fmla="val 28639"/>
              </a:avLst>
            </a:prstGeom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style>
            <a:lnRef idx="0">
              <a:scrgbClr r="0" g="0" b="0"/>
            </a:lnRef>
            <a:fillRef idx="1003">
              <a:schemeClr val="lt1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/>
            <a:p>
              <a:pPr>
                <a:defRPr/>
              </a:pPr>
              <a:endParaRPr lang="es-CO"/>
            </a:p>
          </p:txBody>
        </p:sp>
        <p:sp>
          <p:nvSpPr>
            <p:cNvPr id="11286" name="AutoShape 22"/>
            <p:cNvSpPr>
              <a:spLocks noChangeArrowheads="1"/>
            </p:cNvSpPr>
            <p:nvPr/>
          </p:nvSpPr>
          <p:spPr bwMode="auto">
            <a:xfrm>
              <a:off x="1202" y="2886"/>
              <a:ext cx="158" cy="181"/>
            </a:xfrm>
            <a:prstGeom prst="downArrow">
              <a:avLst>
                <a:gd name="adj1" fmla="val 50000"/>
                <a:gd name="adj2" fmla="val 28639"/>
              </a:avLst>
            </a:prstGeom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style>
            <a:lnRef idx="0">
              <a:scrgbClr r="0" g="0" b="0"/>
            </a:lnRef>
            <a:fillRef idx="1003">
              <a:schemeClr val="lt1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/>
            <a:p>
              <a:pPr>
                <a:defRPr/>
              </a:pPr>
              <a:endParaRPr lang="es-CO"/>
            </a:p>
          </p:txBody>
        </p:sp>
        <p:sp>
          <p:nvSpPr>
            <p:cNvPr id="11287" name="AutoShape 23"/>
            <p:cNvSpPr>
              <a:spLocks noChangeArrowheads="1"/>
            </p:cNvSpPr>
            <p:nvPr/>
          </p:nvSpPr>
          <p:spPr bwMode="auto">
            <a:xfrm>
              <a:off x="0" y="3067"/>
              <a:ext cx="567" cy="545"/>
            </a:xfrm>
            <a:prstGeom prst="roundRect">
              <a:avLst>
                <a:gd name="adj" fmla="val 16667"/>
              </a:avLst>
            </a:prstGeom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style>
            <a:lnRef idx="0">
              <a:scrgbClr r="0" g="0" b="0"/>
            </a:lnRef>
            <a:fillRef idx="1003">
              <a:schemeClr val="lt1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/>
            <a:p>
              <a:pPr algn="ctr">
                <a:defRPr/>
              </a:pPr>
              <a:r>
                <a:rPr lang="es-ES" sz="1000"/>
                <a:t>FORMA</a:t>
              </a:r>
            </a:p>
            <a:p>
              <a:pPr algn="ctr">
                <a:defRPr/>
              </a:pPr>
              <a:r>
                <a:rPr lang="es-ES" sz="1000"/>
                <a:t>PATRIMONIAL</a:t>
              </a:r>
            </a:p>
          </p:txBody>
        </p:sp>
        <p:sp>
          <p:nvSpPr>
            <p:cNvPr id="11288" name="AutoShape 24"/>
            <p:cNvSpPr>
              <a:spLocks noChangeArrowheads="1"/>
            </p:cNvSpPr>
            <p:nvPr/>
          </p:nvSpPr>
          <p:spPr bwMode="auto">
            <a:xfrm>
              <a:off x="975" y="3067"/>
              <a:ext cx="567" cy="545"/>
            </a:xfrm>
            <a:prstGeom prst="roundRect">
              <a:avLst>
                <a:gd name="adj" fmla="val 16667"/>
              </a:avLst>
            </a:prstGeom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style>
            <a:lnRef idx="0">
              <a:scrgbClr r="0" g="0" b="0"/>
            </a:lnRef>
            <a:fillRef idx="1003">
              <a:schemeClr val="lt1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/>
            <a:p>
              <a:pPr algn="ctr">
                <a:defRPr/>
              </a:pPr>
              <a:r>
                <a:rPr lang="es-ES" sz="1200"/>
                <a:t>FORMA </a:t>
              </a:r>
            </a:p>
            <a:p>
              <a:pPr algn="ctr">
                <a:defRPr/>
              </a:pPr>
              <a:r>
                <a:rPr lang="es-ES" sz="1200"/>
                <a:t>FEUDAL</a:t>
              </a:r>
            </a:p>
          </p:txBody>
        </p:sp>
        <p:sp>
          <p:nvSpPr>
            <p:cNvPr id="11289" name="AutoShape 25"/>
            <p:cNvSpPr>
              <a:spLocks noChangeArrowheads="1"/>
            </p:cNvSpPr>
            <p:nvPr/>
          </p:nvSpPr>
          <p:spPr bwMode="auto">
            <a:xfrm>
              <a:off x="2835" y="1661"/>
              <a:ext cx="181" cy="227"/>
            </a:xfrm>
            <a:prstGeom prst="downArrow">
              <a:avLst>
                <a:gd name="adj1" fmla="val 50000"/>
                <a:gd name="adj2" fmla="val 31354"/>
              </a:avLst>
            </a:prstGeom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style>
            <a:lnRef idx="0">
              <a:scrgbClr r="0" g="0" b="0"/>
            </a:lnRef>
            <a:fillRef idx="1003">
              <a:schemeClr val="lt1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/>
            <a:p>
              <a:pPr>
                <a:defRPr/>
              </a:pPr>
              <a:endParaRPr lang="es-CO"/>
            </a:p>
          </p:txBody>
        </p:sp>
        <p:sp>
          <p:nvSpPr>
            <p:cNvPr id="11290" name="AutoShape 26"/>
            <p:cNvSpPr>
              <a:spLocks noChangeArrowheads="1"/>
            </p:cNvSpPr>
            <p:nvPr/>
          </p:nvSpPr>
          <p:spPr bwMode="auto">
            <a:xfrm>
              <a:off x="2290" y="1888"/>
              <a:ext cx="1361" cy="771"/>
            </a:xfrm>
            <a:prstGeom prst="roundRect">
              <a:avLst>
                <a:gd name="adj" fmla="val 16667"/>
              </a:avLst>
            </a:prstGeom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style>
            <a:lnRef idx="0">
              <a:scrgbClr r="0" g="0" b="0"/>
            </a:lnRef>
            <a:fillRef idx="1003">
              <a:schemeClr val="lt1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/>
            <a:p>
              <a:pPr algn="just">
                <a:defRPr/>
              </a:pPr>
              <a:r>
                <a:rPr lang="es-ES" sz="1200"/>
                <a:t>CUANDO SE ACEPTAN </a:t>
              </a:r>
            </a:p>
            <a:p>
              <a:pPr algn="just">
                <a:defRPr/>
              </a:pPr>
              <a:r>
                <a:rPr lang="es-ES" sz="1200"/>
                <a:t>LAS ORDENES POR </a:t>
              </a:r>
            </a:p>
            <a:p>
              <a:pPr algn="just">
                <a:defRPr/>
              </a:pPr>
              <a:r>
                <a:rPr lang="es-ES" sz="1200"/>
                <a:t>CAUSA DE LA INFLUENCIA</a:t>
              </a:r>
            </a:p>
            <a:p>
              <a:pPr algn="just">
                <a:defRPr/>
              </a:pPr>
              <a:r>
                <a:rPr lang="es-ES" sz="1200"/>
                <a:t>DE LA PERSONALIDAD Y </a:t>
              </a:r>
            </a:p>
            <a:p>
              <a:pPr algn="just">
                <a:defRPr/>
              </a:pPr>
              <a:r>
                <a:rPr lang="es-ES" sz="1200"/>
                <a:t>DEL LIDERAZGO </a:t>
              </a:r>
            </a:p>
            <a:p>
              <a:pPr algn="just">
                <a:defRPr/>
              </a:pPr>
              <a:r>
                <a:rPr lang="es-ES" sz="1200"/>
                <a:t>DEL SUPERIOR.</a:t>
              </a:r>
            </a:p>
          </p:txBody>
        </p:sp>
        <p:sp>
          <p:nvSpPr>
            <p:cNvPr id="11291" name="AutoShape 27"/>
            <p:cNvSpPr>
              <a:spLocks noChangeArrowheads="1"/>
            </p:cNvSpPr>
            <p:nvPr/>
          </p:nvSpPr>
          <p:spPr bwMode="auto">
            <a:xfrm>
              <a:off x="4399" y="1888"/>
              <a:ext cx="1361" cy="771"/>
            </a:xfrm>
            <a:prstGeom prst="roundRect">
              <a:avLst>
                <a:gd name="adj" fmla="val 16667"/>
              </a:avLst>
            </a:prstGeom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style>
            <a:lnRef idx="0">
              <a:scrgbClr r="0" g="0" b="0"/>
            </a:lnRef>
            <a:fillRef idx="1003">
              <a:schemeClr val="lt1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/>
            <a:p>
              <a:pPr algn="just">
                <a:defRPr/>
              </a:pPr>
              <a:r>
                <a:rPr lang="es-ES" sz="1200"/>
                <a:t>CUANDO SE ACEPTAN </a:t>
              </a:r>
            </a:p>
            <a:p>
              <a:pPr algn="just">
                <a:defRPr/>
              </a:pPr>
              <a:r>
                <a:rPr lang="es-ES" sz="1200"/>
                <a:t>LAS ORDENES PORQUE </a:t>
              </a:r>
            </a:p>
            <a:p>
              <a:pPr algn="just">
                <a:defRPr/>
              </a:pPr>
              <a:r>
                <a:rPr lang="es-ES" sz="1200"/>
                <a:t>ESTAN DE ACUERDO CON</a:t>
              </a:r>
            </a:p>
            <a:p>
              <a:pPr algn="just">
                <a:defRPr/>
              </a:pPr>
              <a:r>
                <a:rPr lang="es-ES" sz="1200"/>
                <a:t>CIERTOS PRECEPTOS O</a:t>
              </a:r>
            </a:p>
            <a:p>
              <a:pPr algn="just">
                <a:defRPr/>
              </a:pPr>
              <a:r>
                <a:rPr lang="es-ES" sz="1200"/>
                <a:t>NORMAS.</a:t>
              </a:r>
            </a:p>
          </p:txBody>
        </p:sp>
        <p:sp>
          <p:nvSpPr>
            <p:cNvPr id="11292" name="AutoShape 28"/>
            <p:cNvSpPr>
              <a:spLocks noChangeArrowheads="1"/>
            </p:cNvSpPr>
            <p:nvPr/>
          </p:nvSpPr>
          <p:spPr bwMode="auto">
            <a:xfrm>
              <a:off x="5012" y="1661"/>
              <a:ext cx="181" cy="227"/>
            </a:xfrm>
            <a:prstGeom prst="downArrow">
              <a:avLst>
                <a:gd name="adj1" fmla="val 50000"/>
                <a:gd name="adj2" fmla="val 31354"/>
              </a:avLst>
            </a:prstGeom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style>
            <a:lnRef idx="0">
              <a:scrgbClr r="0" g="0" b="0"/>
            </a:lnRef>
            <a:fillRef idx="1003">
              <a:schemeClr val="lt1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/>
            <a:p>
              <a:pPr>
                <a:defRPr/>
              </a:pPr>
              <a:endParaRPr lang="es-CO"/>
            </a:p>
          </p:txBody>
        </p:sp>
        <p:sp>
          <p:nvSpPr>
            <p:cNvPr id="11293" name="AutoShape 29"/>
            <p:cNvSpPr>
              <a:spLocks noChangeArrowheads="1"/>
            </p:cNvSpPr>
            <p:nvPr/>
          </p:nvSpPr>
          <p:spPr bwMode="auto">
            <a:xfrm>
              <a:off x="5012" y="2659"/>
              <a:ext cx="181" cy="227"/>
            </a:xfrm>
            <a:prstGeom prst="downArrow">
              <a:avLst>
                <a:gd name="adj1" fmla="val 50000"/>
                <a:gd name="adj2" fmla="val 31354"/>
              </a:avLst>
            </a:prstGeom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style>
            <a:lnRef idx="0">
              <a:scrgbClr r="0" g="0" b="0"/>
            </a:lnRef>
            <a:fillRef idx="1003">
              <a:schemeClr val="lt1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/>
            <a:p>
              <a:pPr>
                <a:defRPr/>
              </a:pPr>
              <a:endParaRPr lang="es-CO"/>
            </a:p>
          </p:txBody>
        </p:sp>
        <p:sp>
          <p:nvSpPr>
            <p:cNvPr id="8258" name="Line 30"/>
            <p:cNvSpPr>
              <a:spLocks noChangeShapeType="1"/>
            </p:cNvSpPr>
            <p:nvPr/>
          </p:nvSpPr>
          <p:spPr bwMode="auto">
            <a:xfrm flipH="1">
              <a:off x="3107" y="2886"/>
              <a:ext cx="226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1295" name="AutoShape 31"/>
            <p:cNvSpPr>
              <a:spLocks noChangeArrowheads="1"/>
            </p:cNvSpPr>
            <p:nvPr/>
          </p:nvSpPr>
          <p:spPr bwMode="auto">
            <a:xfrm>
              <a:off x="5239" y="2886"/>
              <a:ext cx="158" cy="181"/>
            </a:xfrm>
            <a:prstGeom prst="downArrow">
              <a:avLst>
                <a:gd name="adj1" fmla="val 50000"/>
                <a:gd name="adj2" fmla="val 28639"/>
              </a:avLst>
            </a:prstGeom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style>
            <a:lnRef idx="0">
              <a:scrgbClr r="0" g="0" b="0"/>
            </a:lnRef>
            <a:fillRef idx="1003">
              <a:schemeClr val="lt1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/>
            <a:p>
              <a:pPr>
                <a:defRPr/>
              </a:pPr>
              <a:endParaRPr lang="es-CO"/>
            </a:p>
          </p:txBody>
        </p:sp>
        <p:sp>
          <p:nvSpPr>
            <p:cNvPr id="11296" name="AutoShape 32"/>
            <p:cNvSpPr>
              <a:spLocks noChangeArrowheads="1"/>
            </p:cNvSpPr>
            <p:nvPr/>
          </p:nvSpPr>
          <p:spPr bwMode="auto">
            <a:xfrm>
              <a:off x="4150" y="2886"/>
              <a:ext cx="158" cy="181"/>
            </a:xfrm>
            <a:prstGeom prst="downArrow">
              <a:avLst>
                <a:gd name="adj1" fmla="val 50000"/>
                <a:gd name="adj2" fmla="val 28639"/>
              </a:avLst>
            </a:prstGeom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style>
            <a:lnRef idx="0">
              <a:scrgbClr r="0" g="0" b="0"/>
            </a:lnRef>
            <a:fillRef idx="1003">
              <a:schemeClr val="lt1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/>
            <a:p>
              <a:pPr>
                <a:defRPr/>
              </a:pPr>
              <a:endParaRPr lang="es-CO"/>
            </a:p>
          </p:txBody>
        </p:sp>
        <p:sp>
          <p:nvSpPr>
            <p:cNvPr id="11297" name="AutoShape 33"/>
            <p:cNvSpPr>
              <a:spLocks noChangeArrowheads="1"/>
            </p:cNvSpPr>
            <p:nvPr/>
          </p:nvSpPr>
          <p:spPr bwMode="auto">
            <a:xfrm>
              <a:off x="3061" y="2886"/>
              <a:ext cx="158" cy="181"/>
            </a:xfrm>
            <a:prstGeom prst="downArrow">
              <a:avLst>
                <a:gd name="adj1" fmla="val 50000"/>
                <a:gd name="adj2" fmla="val 28639"/>
              </a:avLst>
            </a:prstGeom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style>
            <a:lnRef idx="0">
              <a:scrgbClr r="0" g="0" b="0"/>
            </a:lnRef>
            <a:fillRef idx="1003">
              <a:schemeClr val="lt1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/>
            <a:p>
              <a:pPr>
                <a:defRPr/>
              </a:pPr>
              <a:endParaRPr lang="es-CO"/>
            </a:p>
          </p:txBody>
        </p:sp>
        <p:sp>
          <p:nvSpPr>
            <p:cNvPr id="11298" name="AutoShape 34"/>
            <p:cNvSpPr>
              <a:spLocks noChangeArrowheads="1"/>
            </p:cNvSpPr>
            <p:nvPr/>
          </p:nvSpPr>
          <p:spPr bwMode="auto">
            <a:xfrm>
              <a:off x="4921" y="3067"/>
              <a:ext cx="793" cy="862"/>
            </a:xfrm>
            <a:prstGeom prst="roundRect">
              <a:avLst>
                <a:gd name="adj" fmla="val 16667"/>
              </a:avLst>
            </a:prstGeom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style>
            <a:lnRef idx="0">
              <a:scrgbClr r="0" g="0" b="0"/>
            </a:lnRef>
            <a:fillRef idx="1003">
              <a:schemeClr val="lt1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/>
            <a:p>
              <a:pPr algn="ctr">
                <a:defRPr/>
              </a:pPr>
              <a:r>
                <a:rPr lang="es-ES" sz="1200"/>
                <a:t>SUPERIORIDAD</a:t>
              </a:r>
            </a:p>
            <a:p>
              <a:pPr algn="ctr">
                <a:defRPr/>
              </a:pPr>
              <a:r>
                <a:rPr lang="es-ES" sz="1200"/>
                <a:t>TECNICA</a:t>
              </a:r>
            </a:p>
            <a:p>
              <a:pPr algn="ctr">
                <a:defRPr/>
              </a:pPr>
              <a:r>
                <a:rPr lang="es-ES" sz="1200"/>
                <a:t>DEL </a:t>
              </a:r>
            </a:p>
            <a:p>
              <a:pPr algn="ctr">
                <a:defRPr/>
              </a:pPr>
              <a:r>
                <a:rPr lang="es-ES" sz="1200"/>
                <a:t>MODELO</a:t>
              </a:r>
            </a:p>
            <a:p>
              <a:pPr algn="ctr">
                <a:defRPr/>
              </a:pPr>
              <a:r>
                <a:rPr lang="es-ES" sz="1200"/>
                <a:t>BUROCRATICO</a:t>
              </a:r>
            </a:p>
          </p:txBody>
        </p:sp>
        <p:sp>
          <p:nvSpPr>
            <p:cNvPr id="11299" name="AutoShape 35"/>
            <p:cNvSpPr>
              <a:spLocks noChangeArrowheads="1"/>
            </p:cNvSpPr>
            <p:nvPr/>
          </p:nvSpPr>
          <p:spPr bwMode="auto">
            <a:xfrm>
              <a:off x="3878" y="3067"/>
              <a:ext cx="817" cy="817"/>
            </a:xfrm>
            <a:prstGeom prst="roundRect">
              <a:avLst>
                <a:gd name="adj" fmla="val 16667"/>
              </a:avLst>
            </a:prstGeom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style>
            <a:lnRef idx="0">
              <a:scrgbClr r="0" g="0" b="0"/>
            </a:lnRef>
            <a:fillRef idx="1003">
              <a:schemeClr val="lt1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/>
            <a:p>
              <a:pPr algn="ctr">
                <a:defRPr/>
              </a:pPr>
              <a:r>
                <a:rPr lang="es-ES" sz="1200"/>
                <a:t>CRECIMIENTO</a:t>
              </a:r>
            </a:p>
            <a:p>
              <a:pPr algn="ctr">
                <a:defRPr/>
              </a:pPr>
              <a:r>
                <a:rPr lang="es-ES" sz="1200"/>
                <a:t>CUANTITATIVO</a:t>
              </a:r>
            </a:p>
            <a:p>
              <a:pPr algn="ctr">
                <a:defRPr/>
              </a:pPr>
              <a:r>
                <a:rPr lang="es-ES" sz="1200"/>
                <a:t>Y CUALITATIVO</a:t>
              </a:r>
            </a:p>
          </p:txBody>
        </p:sp>
        <p:sp>
          <p:nvSpPr>
            <p:cNvPr id="11300" name="AutoShape 36"/>
            <p:cNvSpPr>
              <a:spLocks noChangeArrowheads="1"/>
            </p:cNvSpPr>
            <p:nvPr/>
          </p:nvSpPr>
          <p:spPr bwMode="auto">
            <a:xfrm>
              <a:off x="2835" y="3067"/>
              <a:ext cx="748" cy="817"/>
            </a:xfrm>
            <a:prstGeom prst="roundRect">
              <a:avLst>
                <a:gd name="adj" fmla="val 16667"/>
              </a:avLst>
            </a:prstGeom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style>
            <a:lnRef idx="0">
              <a:scrgbClr r="0" g="0" b="0"/>
            </a:lnRef>
            <a:fillRef idx="1003">
              <a:schemeClr val="lt1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/>
            <a:p>
              <a:pPr algn="ctr">
                <a:defRPr/>
              </a:pPr>
              <a:r>
                <a:rPr lang="es-ES" sz="1200"/>
                <a:t>DESARROLLO</a:t>
              </a:r>
            </a:p>
            <a:p>
              <a:pPr algn="ctr">
                <a:defRPr/>
              </a:pPr>
              <a:r>
                <a:rPr lang="es-ES" sz="1200"/>
                <a:t>DE LA </a:t>
              </a:r>
            </a:p>
            <a:p>
              <a:pPr algn="ctr">
                <a:defRPr/>
              </a:pPr>
              <a:r>
                <a:rPr lang="es-ES" sz="1200"/>
                <a:t>ECONOMIA</a:t>
              </a:r>
            </a:p>
            <a:p>
              <a:pPr algn="ctr">
                <a:defRPr/>
              </a:pPr>
              <a:r>
                <a:rPr lang="es-ES" sz="1200"/>
                <a:t>MONETARIA</a:t>
              </a:r>
            </a:p>
          </p:txBody>
        </p:sp>
      </p:grpSp>
      <p:pic>
        <p:nvPicPr>
          <p:cNvPr id="52" name="Picture 6" descr="weber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29652" y="6280035"/>
            <a:ext cx="525442" cy="577965"/>
          </a:xfrm>
          <a:prstGeom prst="rect">
            <a:avLst/>
          </a:prstGeom>
          <a:ln w="34925"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  <a:outerShdw blurRad="225425" dist="50800" dir="5220000" algn="ctr">
              <a:srgbClr val="000000">
                <a:alpha val="33000"/>
              </a:srgbClr>
            </a:outerShdw>
            <a:reflection blurRad="6350" stA="50000" endA="300" endPos="90000" dist="50800" dir="5400000" sy="-100000" algn="bl" rotWithShape="0"/>
          </a:effectLst>
          <a:scene3d>
            <a:camera prst="perspectiveContrastingLeftFacing"/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4000" b="1" smtClean="0">
                <a:latin typeface="Algerian" pitchFamily="82" charset="0"/>
              </a:rPr>
              <a:t>LAS CARACTERÍSTICAS DEL MODELO BUROCRÁTICO</a:t>
            </a:r>
          </a:p>
        </p:txBody>
      </p:sp>
      <p:sp>
        <p:nvSpPr>
          <p:cNvPr id="9219" name="Rectangle 4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Char char="v"/>
            </a:pPr>
            <a:r>
              <a:rPr lang="es-ES" sz="2400" b="1" smtClean="0"/>
              <a:t>Carácter legal de las normas y de los reglamentos.  </a:t>
            </a:r>
          </a:p>
          <a:p>
            <a:pPr eaLnBrk="1" hangingPunct="1">
              <a:buFont typeface="Wingdings" pitchFamily="2" charset="2"/>
              <a:buChar char="v"/>
            </a:pPr>
            <a:r>
              <a:rPr lang="es-ES" sz="2400" b="1" smtClean="0"/>
              <a:t>Carácter formal de las comunicaciones.  </a:t>
            </a:r>
          </a:p>
          <a:p>
            <a:pPr eaLnBrk="1" hangingPunct="1">
              <a:buFont typeface="Wingdings" pitchFamily="2" charset="2"/>
              <a:buChar char="v"/>
            </a:pPr>
            <a:r>
              <a:rPr lang="es-ES" sz="2400" b="1" smtClean="0"/>
              <a:t>Racionalidad en la división del trabajo.   </a:t>
            </a:r>
          </a:p>
          <a:p>
            <a:pPr eaLnBrk="1" hangingPunct="1">
              <a:buFont typeface="Wingdings" pitchFamily="2" charset="2"/>
              <a:buChar char="v"/>
            </a:pPr>
            <a:r>
              <a:rPr lang="es-ES" sz="2400" b="1" smtClean="0"/>
              <a:t>Impersonalidad en las relaciones. </a:t>
            </a:r>
          </a:p>
          <a:p>
            <a:pPr eaLnBrk="1" hangingPunct="1">
              <a:buFont typeface="Wingdings" pitchFamily="2" charset="2"/>
              <a:buChar char="v"/>
            </a:pPr>
            <a:r>
              <a:rPr lang="es-ES" sz="2400" b="1" smtClean="0"/>
              <a:t>Jerarquía autoridad.</a:t>
            </a:r>
          </a:p>
        </p:txBody>
      </p:sp>
      <p:sp>
        <p:nvSpPr>
          <p:cNvPr id="9220" name="Rectangle 5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Char char="v"/>
            </a:pPr>
            <a:r>
              <a:rPr lang="es-ES" sz="2400" b="1" smtClean="0"/>
              <a:t>Rutinas y procedimientos estandarizados.</a:t>
            </a:r>
          </a:p>
          <a:p>
            <a:pPr eaLnBrk="1" hangingPunct="1">
              <a:buFont typeface="Wingdings" pitchFamily="2" charset="2"/>
              <a:buChar char="v"/>
            </a:pPr>
            <a:r>
              <a:rPr lang="es-ES" sz="2400" b="1" smtClean="0"/>
              <a:t>Competencia técnica y meritocrática.  </a:t>
            </a:r>
          </a:p>
          <a:p>
            <a:pPr eaLnBrk="1" hangingPunct="1">
              <a:buFont typeface="Wingdings" pitchFamily="2" charset="2"/>
              <a:buChar char="v"/>
            </a:pPr>
            <a:r>
              <a:rPr lang="es-ES" sz="2400" b="1" smtClean="0"/>
              <a:t>Especialización de la administración y </a:t>
            </a:r>
          </a:p>
          <a:p>
            <a:pPr eaLnBrk="1" hangingPunct="1">
              <a:buFont typeface="Wingdings" pitchFamily="2" charset="2"/>
              <a:buChar char="v"/>
            </a:pPr>
            <a:r>
              <a:rPr lang="es-ES" sz="2400" b="1" smtClean="0"/>
              <a:t>Profesionalización de los participantes.  </a:t>
            </a:r>
          </a:p>
          <a:p>
            <a:pPr eaLnBrk="1" hangingPunct="1">
              <a:buFont typeface="Wingdings" pitchFamily="2" charset="2"/>
              <a:buChar char="v"/>
            </a:pPr>
            <a:r>
              <a:rPr lang="es-ES" sz="2400" b="1" smtClean="0"/>
              <a:t>Completa previsión del funcionamiento</a:t>
            </a:r>
            <a:r>
              <a:rPr lang="es-ES" sz="2400" smtClean="0"/>
              <a:t>.</a:t>
            </a:r>
          </a:p>
          <a:p>
            <a:pPr eaLnBrk="1" hangingPunct="1"/>
            <a:endParaRPr lang="es-ES" sz="2400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9219" grpId="0"/>
      <p:bldP spid="92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9"/>
          <p:cNvGrpSpPr>
            <a:grpSpLocks/>
          </p:cNvGrpSpPr>
          <p:nvPr/>
        </p:nvGrpSpPr>
        <p:grpSpPr bwMode="auto">
          <a:xfrm>
            <a:off x="468313" y="1412875"/>
            <a:ext cx="7273925" cy="2663825"/>
            <a:chOff x="295" y="890"/>
            <a:chExt cx="4582" cy="1678"/>
          </a:xfrm>
        </p:grpSpPr>
        <p:sp>
          <p:nvSpPr>
            <p:cNvPr id="15364" name="Rectangle 4"/>
            <p:cNvSpPr>
              <a:spLocks noChangeArrowheads="1"/>
            </p:cNvSpPr>
            <p:nvPr/>
          </p:nvSpPr>
          <p:spPr bwMode="auto">
            <a:xfrm>
              <a:off x="295" y="890"/>
              <a:ext cx="2041" cy="1678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style>
            <a:lnRef idx="0">
              <a:scrgbClr r="0" g="0" b="0"/>
            </a:lnRef>
            <a:fillRef idx="1003">
              <a:schemeClr val="lt1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/>
            <a:p>
              <a:pPr algn="just">
                <a:defRPr/>
              </a:pPr>
              <a:r>
                <a:rPr lang="es-ES" sz="1000" b="1"/>
                <a:t>LA BUROCRACIA SE BASA EN :</a:t>
              </a:r>
            </a:p>
            <a:p>
              <a:pPr algn="just">
                <a:defRPr/>
              </a:pPr>
              <a:endParaRPr lang="es-ES" sz="1000" b="1"/>
            </a:p>
            <a:p>
              <a:pPr algn="just">
                <a:defRPr/>
              </a:pPr>
              <a:r>
                <a:rPr lang="es-ES" sz="1000"/>
                <a:t>1.CARÁCTER LEGAL DE LAS NORMAS</a:t>
              </a:r>
            </a:p>
            <a:p>
              <a:pPr algn="just">
                <a:defRPr/>
              </a:pPr>
              <a:r>
                <a:rPr lang="es-ES" sz="1000"/>
                <a:t>2. CARÁCTER FORMAL DE LAS COMUNICACIONES</a:t>
              </a:r>
            </a:p>
            <a:p>
              <a:pPr algn="just">
                <a:defRPr/>
              </a:pPr>
              <a:r>
                <a:rPr lang="es-ES" sz="1000"/>
                <a:t>3.DIVISION DEL TRABAJO</a:t>
              </a:r>
            </a:p>
            <a:p>
              <a:pPr algn="just">
                <a:defRPr/>
              </a:pPr>
              <a:r>
                <a:rPr lang="es-ES" sz="1000"/>
                <a:t>4.IMPERSONALIDAD EN LAS RELACIONES</a:t>
              </a:r>
            </a:p>
            <a:p>
              <a:pPr algn="just">
                <a:defRPr/>
              </a:pPr>
              <a:r>
                <a:rPr lang="es-ES" sz="1000"/>
                <a:t>5.JERARQUIZACION  DE LA AUTORIDAD</a:t>
              </a:r>
            </a:p>
            <a:p>
              <a:pPr algn="just">
                <a:defRPr/>
              </a:pPr>
              <a:r>
                <a:rPr lang="es-ES" sz="1000"/>
                <a:t>6. RUTINAS Y PROCEDIMIENTOS.</a:t>
              </a:r>
            </a:p>
            <a:p>
              <a:pPr algn="just">
                <a:defRPr/>
              </a:pPr>
              <a:r>
                <a:rPr lang="es-ES" sz="1000"/>
                <a:t>7. COMPETENCIA TECNICA Y MERITO.</a:t>
              </a:r>
            </a:p>
            <a:p>
              <a:pPr algn="just">
                <a:defRPr/>
              </a:pPr>
              <a:r>
                <a:rPr lang="es-ES" sz="1000"/>
                <a:t>8.ESPECIALIZACION DE LA ADMINISTRACION</a:t>
              </a:r>
            </a:p>
            <a:p>
              <a:pPr algn="just">
                <a:defRPr/>
              </a:pPr>
              <a:r>
                <a:rPr lang="es-ES" sz="1000"/>
                <a:t>9.PROFESIONALIZACION</a:t>
              </a:r>
            </a:p>
            <a:p>
              <a:pPr algn="just">
                <a:defRPr/>
              </a:pPr>
              <a:r>
                <a:rPr lang="es-ES" sz="1000"/>
                <a:t>10. PREVISIBILIDAD DEL FUNCIONAMIENTO</a:t>
              </a:r>
            </a:p>
          </p:txBody>
        </p:sp>
        <p:sp>
          <p:nvSpPr>
            <p:cNvPr id="15365" name="AutoShape 5"/>
            <p:cNvSpPr>
              <a:spLocks noChangeArrowheads="1"/>
            </p:cNvSpPr>
            <p:nvPr/>
          </p:nvSpPr>
          <p:spPr bwMode="auto">
            <a:xfrm>
              <a:off x="2336" y="1570"/>
              <a:ext cx="226" cy="227"/>
            </a:xfrm>
            <a:prstGeom prst="rightArrow">
              <a:avLst>
                <a:gd name="adj1" fmla="val 50000"/>
                <a:gd name="adj2" fmla="val 25000"/>
              </a:avLst>
            </a:prstGeom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style>
            <a:lnRef idx="0">
              <a:scrgbClr r="0" g="0" b="0"/>
            </a:lnRef>
            <a:fillRef idx="1003">
              <a:schemeClr val="lt2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/>
            <a:p>
              <a:pPr>
                <a:defRPr/>
              </a:pPr>
              <a:endParaRPr lang="es-CO"/>
            </a:p>
          </p:txBody>
        </p:sp>
        <p:sp>
          <p:nvSpPr>
            <p:cNvPr id="15366" name="Rectangle 6"/>
            <p:cNvSpPr>
              <a:spLocks noChangeArrowheads="1"/>
            </p:cNvSpPr>
            <p:nvPr/>
          </p:nvSpPr>
          <p:spPr bwMode="auto">
            <a:xfrm>
              <a:off x="2562" y="1117"/>
              <a:ext cx="1044" cy="1179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style>
            <a:lnRef idx="0">
              <a:scrgbClr r="0" g="0" b="0"/>
            </a:lnRef>
            <a:fillRef idx="1003">
              <a:schemeClr val="lt1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/>
            <a:p>
              <a:pPr algn="just">
                <a:defRPr/>
              </a:pPr>
              <a:r>
                <a:rPr lang="es-ES" sz="1000" b="1"/>
                <a:t>CONSECUANCIAS </a:t>
              </a:r>
            </a:p>
            <a:p>
              <a:pPr algn="just">
                <a:defRPr/>
              </a:pPr>
              <a:r>
                <a:rPr lang="es-ES" sz="1000" b="1"/>
                <a:t>PREVISTAS:</a:t>
              </a:r>
            </a:p>
            <a:p>
              <a:pPr algn="just">
                <a:defRPr/>
              </a:pPr>
              <a:endParaRPr lang="es-ES" sz="1000" b="1"/>
            </a:p>
            <a:p>
              <a:pPr algn="just">
                <a:defRPr/>
              </a:pPr>
              <a:r>
                <a:rPr lang="es-ES" sz="1000"/>
                <a:t>PREVISIBILIDAD DEL </a:t>
              </a:r>
            </a:p>
            <a:p>
              <a:pPr algn="just">
                <a:defRPr/>
              </a:pPr>
              <a:r>
                <a:rPr lang="es-ES" sz="1000"/>
                <a:t>COMPROTAMIENTO </a:t>
              </a:r>
            </a:p>
            <a:p>
              <a:pPr algn="just">
                <a:defRPr/>
              </a:pPr>
              <a:r>
                <a:rPr lang="es-ES" sz="1000"/>
                <a:t>HUMANO.</a:t>
              </a:r>
            </a:p>
            <a:p>
              <a:pPr algn="just">
                <a:defRPr/>
              </a:pPr>
              <a:r>
                <a:rPr lang="es-ES" sz="1000"/>
                <a:t> ESTANDARIZACION DEL </a:t>
              </a:r>
            </a:p>
            <a:p>
              <a:pPr algn="just">
                <a:defRPr/>
              </a:pPr>
              <a:r>
                <a:rPr lang="es-ES" sz="1000"/>
                <a:t>DESEMPEÑO DE LOS</a:t>
              </a:r>
            </a:p>
            <a:p>
              <a:pPr algn="just">
                <a:defRPr/>
              </a:pPr>
              <a:r>
                <a:rPr lang="es-ES" sz="1000"/>
                <a:t>PARTICIPANTES.</a:t>
              </a:r>
            </a:p>
          </p:txBody>
        </p:sp>
        <p:sp>
          <p:nvSpPr>
            <p:cNvPr id="15367" name="AutoShape 7"/>
            <p:cNvSpPr>
              <a:spLocks noChangeArrowheads="1"/>
            </p:cNvSpPr>
            <p:nvPr/>
          </p:nvSpPr>
          <p:spPr bwMode="auto">
            <a:xfrm>
              <a:off x="3606" y="1570"/>
              <a:ext cx="226" cy="227"/>
            </a:xfrm>
            <a:prstGeom prst="rightArrow">
              <a:avLst>
                <a:gd name="adj1" fmla="val 50000"/>
                <a:gd name="adj2" fmla="val 25000"/>
              </a:avLst>
            </a:prstGeom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style>
            <a:lnRef idx="0">
              <a:scrgbClr r="0" g="0" b="0"/>
            </a:lnRef>
            <a:fillRef idx="1003">
              <a:schemeClr val="lt2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/>
            <a:p>
              <a:pPr>
                <a:defRPr/>
              </a:pPr>
              <a:endParaRPr lang="es-CO"/>
            </a:p>
          </p:txBody>
        </p:sp>
        <p:sp>
          <p:nvSpPr>
            <p:cNvPr id="15368" name="Rectangle 8"/>
            <p:cNvSpPr>
              <a:spLocks noChangeArrowheads="1"/>
            </p:cNvSpPr>
            <p:nvPr/>
          </p:nvSpPr>
          <p:spPr bwMode="auto">
            <a:xfrm>
              <a:off x="3833" y="1434"/>
              <a:ext cx="1044" cy="681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style>
            <a:lnRef idx="0">
              <a:scrgbClr r="0" g="0" b="0"/>
            </a:lnRef>
            <a:fillRef idx="1003">
              <a:schemeClr val="lt1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/>
            <a:p>
              <a:pPr algn="just">
                <a:defRPr/>
              </a:pPr>
              <a:r>
                <a:rPr lang="es-ES" sz="1200" b="1"/>
                <a:t>OBJETIVO:</a:t>
              </a:r>
            </a:p>
            <a:p>
              <a:pPr algn="just">
                <a:defRPr/>
              </a:pPr>
              <a:r>
                <a:rPr lang="es-ES" sz="1200"/>
                <a:t>Máxima eficiencia de </a:t>
              </a:r>
            </a:p>
            <a:p>
              <a:pPr algn="just">
                <a:defRPr/>
              </a:pPr>
              <a:r>
                <a:rPr lang="es-ES" sz="1200"/>
                <a:t>la Organización.</a:t>
              </a:r>
            </a:p>
          </p:txBody>
        </p:sp>
      </p:grpSp>
      <p:pic>
        <p:nvPicPr>
          <p:cNvPr id="10" name="Picture 6" descr="weber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29652" y="6280035"/>
            <a:ext cx="525442" cy="577965"/>
          </a:xfrm>
          <a:prstGeom prst="rect">
            <a:avLst/>
          </a:prstGeom>
          <a:ln w="34925"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  <a:outerShdw blurRad="225425" dist="50800" dir="5220000" algn="ctr">
              <a:srgbClr val="000000">
                <a:alpha val="33000"/>
              </a:srgbClr>
            </a:outerShdw>
            <a:reflection blurRad="6350" stA="50000" endA="300" endPos="90000" dist="50800" dir="5400000" sy="-100000" algn="bl" rotWithShape="0"/>
          </a:effectLst>
          <a:scene3d>
            <a:camera prst="perspectiveContrastingLeftFacing"/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4000" b="1" smtClean="0">
                <a:latin typeface="Algerian" pitchFamily="82" charset="0"/>
              </a:rPr>
              <a:t>VENTAJAS DE LA BUROCRACIA</a:t>
            </a:r>
          </a:p>
        </p:txBody>
      </p:sp>
      <p:sp>
        <p:nvSpPr>
          <p:cNvPr id="11267" name="Rectangle 5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s-ES" smtClean="0"/>
              <a:t>Racionalidad. </a:t>
            </a:r>
          </a:p>
          <a:p>
            <a:pPr eaLnBrk="1" hangingPunct="1"/>
            <a:r>
              <a:rPr lang="es-ES" smtClean="0"/>
              <a:t>Precisión en la definición</a:t>
            </a:r>
          </a:p>
          <a:p>
            <a:pPr eaLnBrk="1" hangingPunct="1"/>
            <a:r>
              <a:rPr lang="es-ES" smtClean="0"/>
              <a:t> Rapidez en las decisiones. </a:t>
            </a:r>
          </a:p>
          <a:p>
            <a:pPr eaLnBrk="1" hangingPunct="1"/>
            <a:r>
              <a:rPr lang="es-ES" smtClean="0"/>
              <a:t>Univocidad de interpretación</a:t>
            </a:r>
          </a:p>
          <a:p>
            <a:pPr eaLnBrk="1" hangingPunct="1"/>
            <a:r>
              <a:rPr lang="es-ES" smtClean="0"/>
              <a:t> Uniformidad de rutinas y procesos. </a:t>
            </a:r>
          </a:p>
          <a:p>
            <a:pPr eaLnBrk="1" hangingPunct="1"/>
            <a:endParaRPr lang="es-ES" smtClean="0"/>
          </a:p>
        </p:txBody>
      </p:sp>
      <p:sp>
        <p:nvSpPr>
          <p:cNvPr id="11268" name="Rectangle 6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/>
            <a:r>
              <a:rPr lang="es-ES" smtClean="0"/>
              <a:t> Continuidad de la organización </a:t>
            </a:r>
          </a:p>
          <a:p>
            <a:pPr eaLnBrk="1" hangingPunct="1"/>
            <a:r>
              <a:rPr lang="es-ES" smtClean="0"/>
              <a:t>Reducción de la  fricción entre  personas. </a:t>
            </a:r>
          </a:p>
          <a:p>
            <a:pPr eaLnBrk="1" hangingPunct="1"/>
            <a:r>
              <a:rPr lang="es-ES" smtClean="0"/>
              <a:t>Constancia</a:t>
            </a:r>
          </a:p>
          <a:p>
            <a:pPr eaLnBrk="1" hangingPunct="1"/>
            <a:r>
              <a:rPr lang="es-ES" smtClean="0"/>
              <a:t>Confiabilidad</a:t>
            </a:r>
          </a:p>
          <a:p>
            <a:pPr eaLnBrk="1" hangingPunct="1"/>
            <a:r>
              <a:rPr lang="es-ES" smtClean="0"/>
              <a:t>Beneficios</a:t>
            </a:r>
          </a:p>
        </p:txBody>
      </p:sp>
      <p:pic>
        <p:nvPicPr>
          <p:cNvPr id="7" name="Picture 6" descr="weber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29652" y="6280035"/>
            <a:ext cx="525442" cy="577965"/>
          </a:xfrm>
          <a:prstGeom prst="rect">
            <a:avLst/>
          </a:prstGeom>
          <a:ln w="34925"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  <a:outerShdw blurRad="225425" dist="50800" dir="5220000" algn="ctr">
              <a:srgbClr val="000000">
                <a:alpha val="33000"/>
              </a:srgbClr>
            </a:outerShdw>
            <a:reflection blurRad="6350" stA="50000" endA="300" endPos="90000" dist="50800" dir="5400000" sy="-100000" algn="bl" rotWithShape="0"/>
          </a:effectLst>
          <a:scene3d>
            <a:camera prst="perspectiveContrastingLeftFacing"/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/>
      <p:bldP spid="11267" grpId="0"/>
      <p:bldP spid="1126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4000" smtClean="0"/>
              <a:t>RACIONALIDAD BUROCRATICA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s-ES" smtClean="0"/>
              <a:t>   </a:t>
            </a:r>
            <a:r>
              <a:rPr lang="es-ES" sz="4800" smtClean="0"/>
              <a:t>Implica adecuación de los medios a los fines, en el contexto burocrático eso significa eficiencia.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  <p:bldP spid="1229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4000" smtClean="0"/>
              <a:t>DILEMAS DE LA BUROCRACIA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buFontTx/>
              <a:buNone/>
            </a:pPr>
            <a:r>
              <a:rPr lang="es-ES" sz="2800" smtClean="0"/>
              <a:t>   </a:t>
            </a:r>
            <a:r>
              <a:rPr lang="es-ES" sz="4000" smtClean="0"/>
              <a:t>Existen presiones  de fuerzas exteriores para motivar al burócrata a seguir otras normas diferentes de la organización y , el compromiso de los subordinados  con las reglas burócratas tienden a debilitarse.</a:t>
            </a:r>
          </a:p>
        </p:txBody>
      </p:sp>
      <p:pic>
        <p:nvPicPr>
          <p:cNvPr id="6" name="Picture 6" descr="weber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29652" y="6280035"/>
            <a:ext cx="525442" cy="577965"/>
          </a:xfrm>
          <a:prstGeom prst="rect">
            <a:avLst/>
          </a:prstGeom>
          <a:ln w="34925"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  <a:outerShdw blurRad="225425" dist="50800" dir="5220000" algn="ctr">
              <a:srgbClr val="000000">
                <a:alpha val="33000"/>
              </a:srgbClr>
            </a:outerShdw>
            <a:reflection blurRad="6350" stA="50000" endA="300" endPos="90000" dist="50800" dir="5400000" sy="-100000" algn="bl" rotWithShape="0"/>
          </a:effectLst>
          <a:scene3d>
            <a:camera prst="perspectiveContrastingLeftFacing"/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133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4000" smtClean="0"/>
              <a:t>DISFUCIONES DE LA BUROCRACIA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s-ES" sz="2400" smtClean="0"/>
              <a:t>Internalizacion de las reglas y apego a los reglamentos </a:t>
            </a:r>
          </a:p>
          <a:p>
            <a:pPr eaLnBrk="1" hangingPunct="1"/>
            <a:r>
              <a:rPr lang="es-ES" sz="2400" smtClean="0"/>
              <a:t>Exceso de formalismo y de papeleo</a:t>
            </a:r>
          </a:p>
          <a:p>
            <a:pPr eaLnBrk="1" hangingPunct="1"/>
            <a:r>
              <a:rPr lang="es-ES" sz="2400" smtClean="0"/>
              <a:t>Resistencia  a los cambios</a:t>
            </a:r>
          </a:p>
          <a:p>
            <a:pPr eaLnBrk="1" hangingPunct="1"/>
            <a:r>
              <a:rPr lang="es-ES" sz="2400" smtClean="0"/>
              <a:t>Despersonalización de la relación</a:t>
            </a:r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/>
            <a:r>
              <a:rPr lang="es-ES" sz="2400" smtClean="0"/>
              <a:t>Categorización como base del proceso decisorio</a:t>
            </a:r>
          </a:p>
          <a:p>
            <a:pPr eaLnBrk="1" hangingPunct="1"/>
            <a:r>
              <a:rPr lang="es-ES" sz="2400" smtClean="0"/>
              <a:t>Supercomformidad a las rutinas y a los procedimientos</a:t>
            </a:r>
          </a:p>
          <a:p>
            <a:pPr eaLnBrk="1" hangingPunct="1"/>
            <a:r>
              <a:rPr lang="es-ES" sz="2400" smtClean="0"/>
              <a:t>Exhibición de señales de autoridad</a:t>
            </a:r>
          </a:p>
          <a:p>
            <a:pPr eaLnBrk="1" hangingPunct="1"/>
            <a:r>
              <a:rPr lang="es-ES" sz="2400" smtClean="0"/>
              <a:t>Dificultad en la atención a clientes y conflictos con el publico</a:t>
            </a:r>
          </a:p>
        </p:txBody>
      </p:sp>
      <p:pic>
        <p:nvPicPr>
          <p:cNvPr id="7" name="Picture 6" descr="weber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29652" y="6280035"/>
            <a:ext cx="525442" cy="577965"/>
          </a:xfrm>
          <a:prstGeom prst="rect">
            <a:avLst/>
          </a:prstGeom>
          <a:ln w="34925"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  <a:outerShdw blurRad="225425" dist="50800" dir="5220000" algn="ctr">
              <a:srgbClr val="000000">
                <a:alpha val="33000"/>
              </a:srgbClr>
            </a:outerShdw>
            <a:reflection blurRad="6350" stA="50000" endA="300" endPos="90000" dist="50800" dir="5400000" sy="-100000" algn="bl" rotWithShape="0"/>
          </a:effectLst>
          <a:scene3d>
            <a:camera prst="perspectiveContrastingLeftFacing"/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/>
      <p:bldP spid="14339" grpId="0"/>
      <p:bldP spid="1434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267250" y="2928934"/>
            <a:ext cx="6609502" cy="923330"/>
          </a:xfrm>
          <a:prstGeom prst="rect">
            <a:avLst/>
          </a:prstGeom>
          <a:noFill/>
        </p:spPr>
        <p:txBody>
          <a:bodyPr>
            <a:spAutoFit/>
            <a:scene3d>
              <a:camera prst="perspectiveRigh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es-ES" sz="5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MUCHAS GRACIAS</a:t>
            </a:r>
            <a:endParaRPr lang="es-CO" sz="54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seño predeterminado">
  <a:themeElements>
    <a:clrScheme name="Personalizado 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00"/>
      </a:hlink>
      <a:folHlink>
        <a:srgbClr val="19194C"/>
      </a:folHlink>
    </a:clrScheme>
    <a:fontScheme name="Diseño predeterminad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500</Words>
  <Application>Microsoft Office PowerPoint</Application>
  <PresentationFormat>Presentación en pantalla (4:3)</PresentationFormat>
  <Paragraphs>128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Calibri</vt:lpstr>
      <vt:lpstr>Algerian</vt:lpstr>
      <vt:lpstr>Wingdings</vt:lpstr>
      <vt:lpstr>Diseño predeterminado</vt:lpstr>
      <vt:lpstr>MAX WEBER</vt:lpstr>
      <vt:lpstr>CONTENIDO</vt:lpstr>
      <vt:lpstr>MAX WEBER (1864-1920)</vt:lpstr>
      <vt:lpstr>ORIGEN DE LA TEORIA  DE LA BUROGRACIA</vt:lpstr>
      <vt:lpstr>CONCEPTO DE BUROCRACIA</vt:lpstr>
      <vt:lpstr>TIPOS DE SOCIEDAD</vt:lpstr>
      <vt:lpstr>Diapositiva 7</vt:lpstr>
      <vt:lpstr>LAS CARACTERÍSTICAS DEL MODELO BUROCRÁTICO</vt:lpstr>
      <vt:lpstr>Diapositiva 9</vt:lpstr>
      <vt:lpstr>VENTAJAS DE LA BUROCRACIA</vt:lpstr>
      <vt:lpstr>RACIONALIDAD BUROCRATICA</vt:lpstr>
      <vt:lpstr>DILEMAS DE LA BUROCRACIA</vt:lpstr>
      <vt:lpstr>DISFUCIONES DE LA BUROCRACIA</vt:lpstr>
      <vt:lpstr>Diapositiva 14</vt:lpstr>
    </vt:vector>
  </TitlesOfParts>
  <Company>Dark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MAX WEBER</dc:title>
  <dc:creator>***</dc:creator>
  <cp:lastModifiedBy>jorge lopez</cp:lastModifiedBy>
  <cp:revision>6</cp:revision>
  <dcterms:created xsi:type="dcterms:W3CDTF">2010-03-13T16:09:10Z</dcterms:created>
  <dcterms:modified xsi:type="dcterms:W3CDTF">2010-03-16T00:53:22Z</dcterms:modified>
</cp:coreProperties>
</file>