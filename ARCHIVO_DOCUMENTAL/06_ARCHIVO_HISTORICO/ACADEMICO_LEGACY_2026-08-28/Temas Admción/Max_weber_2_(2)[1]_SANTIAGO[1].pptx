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48" autoAdjust="0"/>
    <p:restoredTop sz="94709" autoAdjust="0"/>
  </p:normalViewPr>
  <p:slideViewPr>
    <p:cSldViewPr>
      <p:cViewPr varScale="1">
        <p:scale>
          <a:sx n="75" d="100"/>
          <a:sy n="75" d="100"/>
        </p:scale>
        <p:origin x="-86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27B9717-4A87-4F4E-A6FB-25DEDAD0831F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343173D-972D-4953-83BC-98E734D0A54A}" type="slidenum">
              <a:rPr lang="es-ES" smtClean="0"/>
              <a:pPr/>
              <a:t>‹Nº›</a:t>
            </a:fld>
            <a:endParaRPr lang="es-ES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la defensa de la organización burocrática</a:t>
            </a:r>
            <a:endParaRPr lang="es-ES" sz="6000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3573016"/>
            <a:ext cx="7835208" cy="641360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“quienes atribuyen los males de la organización y la sociedad. A la burocratización de las grandes organizaciones se están engañando a ellos mismos”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sociedades</a:t>
            </a:r>
            <a:endParaRPr lang="es-ES" sz="6000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429000"/>
            <a:ext cx="7772400" cy="1509712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Tradicional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Patriarcal y </a:t>
            </a:r>
            <a:r>
              <a:rPr lang="es-ES" sz="2400" dirty="0" err="1" smtClean="0">
                <a:latin typeface="Arial" pitchFamily="34" charset="0"/>
                <a:cs typeface="Arial" pitchFamily="34" charset="0"/>
              </a:rPr>
              <a:t>patrimonialista,Conservatismo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Ejemplo: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 familia, el clan, las tribus. 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Los 3 tipos de sociedades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717032"/>
            <a:ext cx="7763200" cy="497344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Carismática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Personalista, mística y arbitraria. Revolucionaria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Personas revolucionarias, partidos </a:t>
            </a:r>
            <a:r>
              <a:rPr lang="es-ES" sz="2400" dirty="0" err="1" smtClean="0">
                <a:latin typeface="Arial" pitchFamily="34" charset="0"/>
                <a:cs typeface="Arial" pitchFamily="34" charset="0"/>
              </a:rPr>
              <a:t>politicos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Los 3 tipos de sociedades 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501008"/>
            <a:ext cx="7763200" cy="713368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Legal, nacional o burocrática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Racionalidad de los medios y  de los objetivos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Ejemplo: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Grandes empresas, grandes sociedades, etc. 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Los 3 tipos de la autoridad 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s-ES" sz="2400" smtClean="0">
                <a:latin typeface="Arial" pitchFamily="34" charset="0"/>
                <a:cs typeface="Arial" pitchFamily="34" charset="0"/>
              </a:rPr>
              <a:t>Tradicional</a:t>
            </a:r>
          </a:p>
          <a:p>
            <a:r>
              <a:rPr lang="es-ES" sz="2400" smtClean="0">
                <a:latin typeface="Arial" pitchFamily="34" charset="0"/>
                <a:cs typeface="Arial" pitchFamily="34" charset="0"/>
              </a:rPr>
              <a:t>Características </a:t>
            </a:r>
          </a:p>
          <a:p>
            <a:r>
              <a:rPr lang="es-ES" sz="2400" smtClean="0">
                <a:latin typeface="Arial" pitchFamily="34" charset="0"/>
                <a:cs typeface="Arial" pitchFamily="34" charset="0"/>
              </a:rPr>
              <a:t>no es racional. Poder  heredado o delegado. Basado en el “señor</a:t>
            </a:r>
            <a:r>
              <a:rPr lang="es-ES" sz="3600" smtClean="0">
                <a:latin typeface="Algerian" pitchFamily="82" charset="0"/>
              </a:rPr>
              <a:t>”.</a:t>
            </a:r>
            <a:endParaRPr lang="es-ES" sz="3600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5536" y="3429000"/>
            <a:ext cx="7772400" cy="1156384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Tradicional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Legitimación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Tradición, hábitos usos y costumbres</a:t>
            </a:r>
          </a:p>
          <a:p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5536" y="3573016"/>
            <a:ext cx="7772400" cy="1516424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Tradicional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Aparato administrativo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Forma patrimonial y forma feudal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b="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645024"/>
            <a:ext cx="7763200" cy="1944216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Carismática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Características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No es racional, ni heredada, ni delegable. Basada en el “carisma”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3356992"/>
            <a:ext cx="7835208" cy="2304256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Carismática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Legitimación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Características personales (heroísmo, magia, poder mental) carismáticas del líder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3501008"/>
            <a:ext cx="7835208" cy="2592288"/>
          </a:xfrm>
        </p:spPr>
        <p:txBody>
          <a:bodyPr>
            <a:noAutofit/>
          </a:bodyPr>
          <a:lstStyle/>
          <a:p>
            <a:r>
              <a:rPr lang="es-ES" sz="2400" smtClean="0">
                <a:latin typeface="Arial" pitchFamily="34" charset="0"/>
                <a:cs typeface="Arial" pitchFamily="34" charset="0"/>
              </a:rPr>
              <a:t>Carismática</a:t>
            </a:r>
          </a:p>
          <a:p>
            <a:r>
              <a:rPr lang="es-ES" sz="2400" smtClean="0">
                <a:latin typeface="Arial" pitchFamily="34" charset="0"/>
                <a:cs typeface="Arial" pitchFamily="34" charset="0"/>
              </a:rPr>
              <a:t>Aparato administrativo</a:t>
            </a:r>
          </a:p>
          <a:p>
            <a:r>
              <a:rPr lang="es-ES" sz="2400" smtClean="0">
                <a:latin typeface="Arial" pitchFamily="34" charset="0"/>
                <a:cs typeface="Arial" pitchFamily="34" charset="0"/>
              </a:rPr>
              <a:t>Incontable e inestable. Elegido por la lealtad y devoción al líder y  no por cualidades técnicas</a:t>
            </a:r>
          </a:p>
          <a:p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3501008"/>
            <a:ext cx="7835208" cy="2664296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Legal, nacional o burocrática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Características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LEGAL, RACIONAL, impersonal formal. Meritocratica</a:t>
            </a:r>
            <a:r>
              <a:rPr lang="es-ES" sz="3600" dirty="0" smtClean="0">
                <a:latin typeface="Algerian" pitchFamily="82" charset="0"/>
              </a:rPr>
              <a:t>.</a:t>
            </a:r>
          </a:p>
          <a:p>
            <a:r>
              <a:rPr lang="es-ES" dirty="0" smtClean="0"/>
              <a:t>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3568" y="3501008"/>
            <a:ext cx="7619184" cy="2664296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Legal, nacional o burocrática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Legitimación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Justicia de la ley. Promulgación y reglamentación de normas legales previamente definidas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Los 3 tipos de </a:t>
            </a:r>
            <a:r>
              <a:rPr lang="es-ES" sz="6000" smtClean="0">
                <a:solidFill>
                  <a:schemeClr val="tx2"/>
                </a:solidFill>
                <a:latin typeface="Algerian" pitchFamily="82" charset="0"/>
              </a:rPr>
              <a:t>la autoridad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99592" y="4005064"/>
            <a:ext cx="7403160" cy="1440160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Legal, nacional o burocrática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Aparato administrativo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burocracia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Ventajas de la burocracia</a:t>
            </a:r>
            <a:endParaRPr lang="es-ES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11560" y="3717032"/>
            <a:ext cx="7700392" cy="2740560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Las ventajas de la burocracia para weber son:</a:t>
            </a:r>
          </a:p>
          <a:p>
            <a:pPr marL="457200" indent="-457200">
              <a:buAutoNum type="arabicParenR"/>
            </a:pPr>
            <a:r>
              <a:rPr lang="es-ES" sz="2400" dirty="0" smtClean="0">
                <a:latin typeface="Arial" pitchFamily="34" charset="0"/>
                <a:cs typeface="Arial" pitchFamily="34" charset="0"/>
              </a:rPr>
              <a:t>Racionalidad</a:t>
            </a:r>
          </a:p>
          <a:p>
            <a:pPr marL="457200" indent="-457200">
              <a:buAutoNum type="arabicParenR"/>
            </a:pPr>
            <a:r>
              <a:rPr lang="es-ES" sz="2400" dirty="0" smtClean="0">
                <a:latin typeface="Arial" pitchFamily="34" charset="0"/>
                <a:cs typeface="Arial" pitchFamily="34" charset="0"/>
              </a:rPr>
              <a:t>Precisión en la definición del cargo y en la operación</a:t>
            </a:r>
          </a:p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Ventajas de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645024"/>
            <a:ext cx="7763200" cy="2808312"/>
          </a:xfrm>
        </p:spPr>
        <p:txBody>
          <a:bodyPr>
            <a:normAutofit/>
          </a:bodyPr>
          <a:lstStyle/>
          <a:p>
            <a:endParaRPr lang="es-ES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s-ES" sz="2600" dirty="0" smtClean="0">
                <a:latin typeface="Arial" pitchFamily="34" charset="0"/>
                <a:cs typeface="Arial" pitchFamily="34" charset="0"/>
              </a:rPr>
              <a:t>5) Uniformidad de rutinas y procedimientos</a:t>
            </a:r>
          </a:p>
          <a:p>
            <a:r>
              <a:rPr lang="es-ES" sz="2600" dirty="0" smtClean="0">
                <a:latin typeface="Arial" pitchFamily="34" charset="0"/>
                <a:cs typeface="Arial" pitchFamily="34" charset="0"/>
              </a:rPr>
              <a:t>6) Continuidad de la organización</a:t>
            </a:r>
          </a:p>
          <a:p>
            <a:r>
              <a:rPr lang="es-ES" sz="2600" dirty="0" smtClean="0">
                <a:latin typeface="Arial" pitchFamily="34" charset="0"/>
                <a:cs typeface="Arial" pitchFamily="34" charset="0"/>
              </a:rPr>
              <a:t>7)</a:t>
            </a:r>
            <a:r>
              <a:rPr lang="es-ES" sz="2600" dirty="0" err="1" smtClean="0">
                <a:latin typeface="Arial" pitchFamily="34" charset="0"/>
                <a:cs typeface="Arial" pitchFamily="34" charset="0"/>
              </a:rPr>
              <a:t>Reduccion</a:t>
            </a:r>
            <a:r>
              <a:rPr lang="es-ES" sz="2600" dirty="0" smtClean="0">
                <a:latin typeface="Arial" pitchFamily="34" charset="0"/>
                <a:cs typeface="Arial" pitchFamily="34" charset="0"/>
              </a:rPr>
              <a:t> de la presión entre las personas 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Ventajas de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3573016"/>
            <a:ext cx="7835208" cy="2952328"/>
          </a:xfrm>
        </p:spPr>
        <p:txBody>
          <a:bodyPr>
            <a:normAutofit/>
          </a:bodyPr>
          <a:lstStyle/>
          <a:p>
            <a:endParaRPr lang="es-E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8) Constancia 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9)Confiabilidad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10) beneficios para las personas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sz="6000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11560" y="3501008"/>
            <a:ext cx="7700392" cy="645616"/>
          </a:xfrm>
        </p:spPr>
        <p:txBody>
          <a:bodyPr>
            <a:noAutofit/>
          </a:bodyPr>
          <a:lstStyle/>
          <a:p>
            <a:pPr marL="457200" indent="-457200"/>
            <a:r>
              <a:rPr lang="es-ES" sz="2400" dirty="0" smtClean="0">
                <a:latin typeface="Arial" pitchFamily="34" charset="0"/>
                <a:cs typeface="Arial" pitchFamily="34" charset="0"/>
              </a:rPr>
              <a:t>1)La burocracia no permite el adecuado crecimiento personal ni el desarrollo de personalidades maduras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187624" y="3501008"/>
            <a:ext cx="7115128" cy="713368"/>
          </a:xfrm>
        </p:spPr>
        <p:txBody>
          <a:bodyPr>
            <a:normAutofit fontScale="92500" lnSpcReduction="10000"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2) Desarrolla el conformismo y el “pensamiento de grupo”</a:t>
            </a:r>
          </a:p>
          <a:p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27584" y="3573016"/>
            <a:ext cx="7475168" cy="641360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3) No tiene en cuenta los problemas emergentes, no  anticipados, ni tampoco la “organización informal</a:t>
            </a:r>
            <a:r>
              <a:rPr lang="es-ES" sz="3600" dirty="0" smtClean="0">
                <a:latin typeface="Algerian" pitchFamily="82" charset="0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3568" y="3429000"/>
            <a:ext cx="7556376" cy="1084376"/>
          </a:xfrm>
        </p:spPr>
        <p:txBody>
          <a:bodyPr>
            <a:normAutofit/>
          </a:bodyPr>
          <a:lstStyle/>
          <a:p>
            <a:r>
              <a:rPr lang="es-ES" sz="2600" dirty="0" smtClean="0">
                <a:latin typeface="Arial" pitchFamily="34" charset="0"/>
                <a:cs typeface="Arial" pitchFamily="34" charset="0"/>
              </a:rPr>
              <a:t>4)Su sistema de control y autoridad son irremediablemente obsoletos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187624" y="3645024"/>
            <a:ext cx="7052320" cy="573608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5) No disponen de procesos jurídicos  adecuados 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475656" y="3645024"/>
            <a:ext cx="6827096" cy="936104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6) No dispone de medios para resolver diferencias y conflicto entre niveles, ni entre grupos funcionales.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403648" y="3789040"/>
            <a:ext cx="6899104" cy="425336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7) A causa de las decisiones jerárquicas, las comunicaciones así como las ideas innovadoras  se distorsionan  y  cortan.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99592" y="3501008"/>
            <a:ext cx="7403160" cy="713368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8) La totalidad de los recursos humanos de la organización no se utilizan a causa de falta de confianza, temor  de reprimendas, etc.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71600" y="3789040"/>
            <a:ext cx="7331152" cy="1008112"/>
          </a:xfrm>
        </p:spPr>
        <p:txBody>
          <a:bodyPr>
            <a:normAutofit fontScale="92500" lnSpcReduction="10000"/>
          </a:bodyPr>
          <a:lstStyle/>
          <a:p>
            <a:r>
              <a:rPr lang="es-ES" sz="3600" smtClean="0">
                <a:latin typeface="Arial" pitchFamily="34" charset="0"/>
                <a:cs typeface="Arial" pitchFamily="34" charset="0"/>
              </a:rPr>
              <a:t>9) Es incapaz de asimilar el flujo de nuevas y de científicos.</a:t>
            </a:r>
            <a:endParaRPr lang="es-ES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Criticas a la burocracia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3568" y="3573016"/>
            <a:ext cx="7619184" cy="641360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10) Modifica la personalidad de sus miembros de manera que estos se convierten en “hombres organización”, condicionados, romos y grises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364</TotalTime>
  <Words>553</Words>
  <Application>Microsoft Office PowerPoint</Application>
  <PresentationFormat>Presentación en pantalla (4:3)</PresentationFormat>
  <Paragraphs>88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Flujo</vt:lpstr>
      <vt:lpstr>la defensa de la organización burocrática</vt:lpstr>
      <vt:lpstr>Los 3 tipos de sociedades</vt:lpstr>
      <vt:lpstr>Los 3 tipos de sociedades</vt:lpstr>
      <vt:lpstr>Los 3 tipos de sociedades </vt:lpstr>
      <vt:lpstr>Los 3 tipos de la autoridad </vt:lpstr>
      <vt:lpstr>Los 3 tipos de la autoridad</vt:lpstr>
      <vt:lpstr>Los 3 tipos de la autoridad</vt:lpstr>
      <vt:lpstr>Los 3 tipos de la autoridad</vt:lpstr>
      <vt:lpstr>Los 3 tipos de la autoridad</vt:lpstr>
      <vt:lpstr>Los 3 tipos de la autoridad</vt:lpstr>
      <vt:lpstr>Los 3 tipos de la autoridad</vt:lpstr>
      <vt:lpstr>Los 3 tipos de la autoridad</vt:lpstr>
      <vt:lpstr>Los 3 tipos de la autoridad</vt:lpstr>
      <vt:lpstr>Ventajas de la burocracia</vt:lpstr>
      <vt:lpstr>Ventajas de la burocracia</vt:lpstr>
      <vt:lpstr>Ventajas de la burocracia</vt:lpstr>
      <vt:lpstr>Criticas a la burocracia</vt:lpstr>
      <vt:lpstr>Criticas a la burocracia</vt:lpstr>
      <vt:lpstr>Criticas a la burocracia</vt:lpstr>
      <vt:lpstr>Criticas a la burocracia</vt:lpstr>
      <vt:lpstr>Criticas a la burocracia</vt:lpstr>
      <vt:lpstr>Criticas a la burocracia</vt:lpstr>
      <vt:lpstr>Criticas a la burocracia</vt:lpstr>
      <vt:lpstr>Criticas a la burocracia</vt:lpstr>
      <vt:lpstr>Criticas a la burocracia</vt:lpstr>
      <vt:lpstr>Criticas a la burocracia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weber</dc:title>
  <dc:creator>!! Lau Garces !!</dc:creator>
  <cp:lastModifiedBy>USUARIO</cp:lastModifiedBy>
  <cp:revision>35</cp:revision>
  <dcterms:created xsi:type="dcterms:W3CDTF">2010-08-30T21:30:13Z</dcterms:created>
  <dcterms:modified xsi:type="dcterms:W3CDTF">2010-09-16T02:45:11Z</dcterms:modified>
</cp:coreProperties>
</file>